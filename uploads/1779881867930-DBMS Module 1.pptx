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94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583C92-92C3-4A41-8765-4638359CB1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142BA25-5D8A-4AC4-AF02-C9C0BF9D9FFA}">
      <dgm:prSet custT="1"/>
      <dgm:spPr/>
      <dgm:t>
        <a:bodyPr/>
        <a:lstStyle/>
        <a:p>
          <a:r>
            <a:rPr lang="en-US" sz="2400" b="1" i="0" baseline="0" dirty="0"/>
            <a:t>Three-Schema Architecture and Data Independence</a:t>
          </a:r>
          <a:endParaRPr lang="en-US" sz="2400" dirty="0"/>
        </a:p>
      </dgm:t>
    </dgm:pt>
    <dgm:pt modelId="{529CE31D-B993-462C-80F2-7D1DC185B35F}" type="parTrans" cxnId="{43E3AEA7-FF9C-4A50-99DF-E7FD838306F0}">
      <dgm:prSet/>
      <dgm:spPr/>
      <dgm:t>
        <a:bodyPr/>
        <a:lstStyle/>
        <a:p>
          <a:endParaRPr lang="en-US" sz="2400"/>
        </a:p>
      </dgm:t>
    </dgm:pt>
    <dgm:pt modelId="{B32DBA64-6AF1-4FE0-85EA-F58FA2E83171}" type="sibTrans" cxnId="{43E3AEA7-FF9C-4A50-99DF-E7FD838306F0}">
      <dgm:prSet/>
      <dgm:spPr/>
      <dgm:t>
        <a:bodyPr/>
        <a:lstStyle/>
        <a:p>
          <a:endParaRPr lang="en-US" sz="2400"/>
        </a:p>
      </dgm:t>
    </dgm:pt>
    <dgm:pt modelId="{0C52653B-4792-447F-886B-8E8ED22C82D1}">
      <dgm:prSet custT="1"/>
      <dgm:spPr/>
      <dgm:t>
        <a:bodyPr/>
        <a:lstStyle/>
        <a:p>
          <a:r>
            <a:rPr lang="en-US" sz="2400" b="1" i="0" baseline="0" dirty="0"/>
            <a:t>The Three-Schema Architecture</a:t>
          </a:r>
          <a:endParaRPr lang="en-US" sz="2400" dirty="0"/>
        </a:p>
      </dgm:t>
    </dgm:pt>
    <dgm:pt modelId="{7FEE8EA1-1E80-4584-BC94-28C5F16B5D50}" type="parTrans" cxnId="{147BD6C3-4952-4E4E-8E6F-1CE2DC75A0E1}">
      <dgm:prSet/>
      <dgm:spPr/>
      <dgm:t>
        <a:bodyPr/>
        <a:lstStyle/>
        <a:p>
          <a:endParaRPr lang="en-US" sz="2400"/>
        </a:p>
      </dgm:t>
    </dgm:pt>
    <dgm:pt modelId="{86B0EADD-2D97-4A58-8E64-C44BD15A8FAD}" type="sibTrans" cxnId="{147BD6C3-4952-4E4E-8E6F-1CE2DC75A0E1}">
      <dgm:prSet/>
      <dgm:spPr/>
      <dgm:t>
        <a:bodyPr/>
        <a:lstStyle/>
        <a:p>
          <a:endParaRPr lang="en-US" sz="2400"/>
        </a:p>
      </dgm:t>
    </dgm:pt>
    <dgm:pt modelId="{8715A394-1D03-4ACE-AD28-BEF1D06DBEE3}">
      <dgm:prSet custT="1"/>
      <dgm:spPr/>
      <dgm:t>
        <a:bodyPr/>
        <a:lstStyle/>
        <a:p>
          <a:r>
            <a:rPr lang="en-US" sz="2000" dirty="0"/>
            <a:t>The goal of the three-schema architecture is to separate the user applications from the physical database.</a:t>
          </a:r>
        </a:p>
      </dgm:t>
    </dgm:pt>
    <dgm:pt modelId="{F801B4B1-A690-4D0F-BF40-32E65C985853}" type="parTrans" cxnId="{6D63E332-EE8D-4D10-9C39-90C543B19764}">
      <dgm:prSet/>
      <dgm:spPr/>
      <dgm:t>
        <a:bodyPr/>
        <a:lstStyle/>
        <a:p>
          <a:endParaRPr lang="en-US" sz="2400"/>
        </a:p>
      </dgm:t>
    </dgm:pt>
    <dgm:pt modelId="{21056208-D966-4BC4-8314-B79431F83E78}" type="sibTrans" cxnId="{6D63E332-EE8D-4D10-9C39-90C543B19764}">
      <dgm:prSet/>
      <dgm:spPr/>
      <dgm:t>
        <a:bodyPr/>
        <a:lstStyle/>
        <a:p>
          <a:endParaRPr lang="en-US" sz="2400"/>
        </a:p>
      </dgm:t>
    </dgm:pt>
    <dgm:pt modelId="{D735494B-5C43-4A94-A314-149AC8BF9405}" type="pres">
      <dgm:prSet presAssocID="{76583C92-92C3-4A41-8765-4638359CB145}" presName="linear" presStyleCnt="0">
        <dgm:presLayoutVars>
          <dgm:animLvl val="lvl"/>
          <dgm:resizeHandles val="exact"/>
        </dgm:presLayoutVars>
      </dgm:prSet>
      <dgm:spPr/>
    </dgm:pt>
    <dgm:pt modelId="{1A41EFC8-019B-4C98-9D3B-0728AD8EAB9C}" type="pres">
      <dgm:prSet presAssocID="{D142BA25-5D8A-4AC4-AF02-C9C0BF9D9FFA}" presName="parentText" presStyleLbl="node1" presStyleIdx="0" presStyleCnt="2" custScaleY="67779">
        <dgm:presLayoutVars>
          <dgm:chMax val="0"/>
          <dgm:bulletEnabled val="1"/>
        </dgm:presLayoutVars>
      </dgm:prSet>
      <dgm:spPr/>
    </dgm:pt>
    <dgm:pt modelId="{052F36B4-E21E-4F3B-AA78-009AFBDC8A95}" type="pres">
      <dgm:prSet presAssocID="{B32DBA64-6AF1-4FE0-85EA-F58FA2E83171}" presName="spacer" presStyleCnt="0"/>
      <dgm:spPr/>
    </dgm:pt>
    <dgm:pt modelId="{2A5BA091-4183-4744-8F21-31DCD6C368CA}" type="pres">
      <dgm:prSet presAssocID="{0C52653B-4792-447F-886B-8E8ED22C82D1}" presName="parentText" presStyleLbl="node1" presStyleIdx="1" presStyleCnt="2" custScaleY="32465">
        <dgm:presLayoutVars>
          <dgm:chMax val="0"/>
          <dgm:bulletEnabled val="1"/>
        </dgm:presLayoutVars>
      </dgm:prSet>
      <dgm:spPr/>
    </dgm:pt>
    <dgm:pt modelId="{18B44B4F-BF52-4B50-9BC0-9EA13C0F2954}" type="pres">
      <dgm:prSet presAssocID="{0C52653B-4792-447F-886B-8E8ED22C82D1}" presName="childText" presStyleLbl="revTx" presStyleIdx="0" presStyleCnt="1">
        <dgm:presLayoutVars>
          <dgm:bulletEnabled val="1"/>
        </dgm:presLayoutVars>
      </dgm:prSet>
      <dgm:spPr/>
    </dgm:pt>
  </dgm:ptLst>
  <dgm:cxnLst>
    <dgm:cxn modelId="{6D63E332-EE8D-4D10-9C39-90C543B19764}" srcId="{0C52653B-4792-447F-886B-8E8ED22C82D1}" destId="{8715A394-1D03-4ACE-AD28-BEF1D06DBEE3}" srcOrd="0" destOrd="0" parTransId="{F801B4B1-A690-4D0F-BF40-32E65C985853}" sibTransId="{21056208-D966-4BC4-8314-B79431F83E78}"/>
    <dgm:cxn modelId="{B127036E-1BD2-4D48-9AD6-41F694A1459F}" type="presOf" srcId="{8715A394-1D03-4ACE-AD28-BEF1D06DBEE3}" destId="{18B44B4F-BF52-4B50-9BC0-9EA13C0F2954}" srcOrd="0" destOrd="0" presId="urn:microsoft.com/office/officeart/2005/8/layout/vList2"/>
    <dgm:cxn modelId="{43E3AEA7-FF9C-4A50-99DF-E7FD838306F0}" srcId="{76583C92-92C3-4A41-8765-4638359CB145}" destId="{D142BA25-5D8A-4AC4-AF02-C9C0BF9D9FFA}" srcOrd="0" destOrd="0" parTransId="{529CE31D-B993-462C-80F2-7D1DC185B35F}" sibTransId="{B32DBA64-6AF1-4FE0-85EA-F58FA2E83171}"/>
    <dgm:cxn modelId="{147BD6C3-4952-4E4E-8E6F-1CE2DC75A0E1}" srcId="{76583C92-92C3-4A41-8765-4638359CB145}" destId="{0C52653B-4792-447F-886B-8E8ED22C82D1}" srcOrd="1" destOrd="0" parTransId="{7FEE8EA1-1E80-4584-BC94-28C5F16B5D50}" sibTransId="{86B0EADD-2D97-4A58-8E64-C44BD15A8FAD}"/>
    <dgm:cxn modelId="{39407CD3-2A46-4C07-99DD-B95A76D84599}" type="presOf" srcId="{76583C92-92C3-4A41-8765-4638359CB145}" destId="{D735494B-5C43-4A94-A314-149AC8BF9405}" srcOrd="0" destOrd="0" presId="urn:microsoft.com/office/officeart/2005/8/layout/vList2"/>
    <dgm:cxn modelId="{BB5A9DE9-2D0A-4CB7-AD5D-6B0C0733D86F}" type="presOf" srcId="{D142BA25-5D8A-4AC4-AF02-C9C0BF9D9FFA}" destId="{1A41EFC8-019B-4C98-9D3B-0728AD8EAB9C}" srcOrd="0" destOrd="0" presId="urn:microsoft.com/office/officeart/2005/8/layout/vList2"/>
    <dgm:cxn modelId="{338821FC-1045-4012-9C13-C0F37F7C93E3}" type="presOf" srcId="{0C52653B-4792-447F-886B-8E8ED22C82D1}" destId="{2A5BA091-4183-4744-8F21-31DCD6C368CA}" srcOrd="0" destOrd="0" presId="urn:microsoft.com/office/officeart/2005/8/layout/vList2"/>
    <dgm:cxn modelId="{3E3D87A1-54B6-43D4-8BC6-052068E3F16E}" type="presParOf" srcId="{D735494B-5C43-4A94-A314-149AC8BF9405}" destId="{1A41EFC8-019B-4C98-9D3B-0728AD8EAB9C}" srcOrd="0" destOrd="0" presId="urn:microsoft.com/office/officeart/2005/8/layout/vList2"/>
    <dgm:cxn modelId="{DFA5F993-897B-41A2-867D-C50F67857143}" type="presParOf" srcId="{D735494B-5C43-4A94-A314-149AC8BF9405}" destId="{052F36B4-E21E-4F3B-AA78-009AFBDC8A95}" srcOrd="1" destOrd="0" presId="urn:microsoft.com/office/officeart/2005/8/layout/vList2"/>
    <dgm:cxn modelId="{23FAEC48-0E1C-4B65-BB4E-33C66F143795}" type="presParOf" srcId="{D735494B-5C43-4A94-A314-149AC8BF9405}" destId="{2A5BA091-4183-4744-8F21-31DCD6C368CA}" srcOrd="2" destOrd="0" presId="urn:microsoft.com/office/officeart/2005/8/layout/vList2"/>
    <dgm:cxn modelId="{BD634C23-CB71-416B-926D-A79E5305A3BC}" type="presParOf" srcId="{D735494B-5C43-4A94-A314-149AC8BF9405}" destId="{18B44B4F-BF52-4B50-9BC0-9EA13C0F2954}"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7A0865D-8EA8-4C3B-978D-5B0801310F7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3F053F1-9107-49E3-9337-2A9EE7824416}">
      <dgm:prSet custT="1"/>
      <dgm:spPr/>
      <dgm:t>
        <a:bodyPr/>
        <a:lstStyle/>
        <a:p>
          <a:r>
            <a:rPr lang="en-US" sz="2400" dirty="0"/>
            <a:t>In this architecture, schemas can be defined at the following three levels:</a:t>
          </a:r>
        </a:p>
      </dgm:t>
    </dgm:pt>
    <dgm:pt modelId="{599555F4-4F47-48FC-976B-A67386EAE5E8}" type="parTrans" cxnId="{D64DE931-62A7-4705-B408-9AD27548210C}">
      <dgm:prSet/>
      <dgm:spPr/>
      <dgm:t>
        <a:bodyPr/>
        <a:lstStyle/>
        <a:p>
          <a:endParaRPr lang="en-US"/>
        </a:p>
      </dgm:t>
    </dgm:pt>
    <dgm:pt modelId="{D61ED254-3E48-4817-A5E3-F73736DBF03A}" type="sibTrans" cxnId="{D64DE931-62A7-4705-B408-9AD27548210C}">
      <dgm:prSet/>
      <dgm:spPr/>
      <dgm:t>
        <a:bodyPr/>
        <a:lstStyle/>
        <a:p>
          <a:endParaRPr lang="en-US"/>
        </a:p>
      </dgm:t>
    </dgm:pt>
    <dgm:pt modelId="{65E845F2-545E-4807-8D92-0D0845ACC789}">
      <dgm:prSet custT="1"/>
      <dgm:spPr/>
      <dgm:t>
        <a:bodyPr/>
        <a:lstStyle/>
        <a:p>
          <a:r>
            <a:rPr lang="en-US" sz="2000" dirty="0"/>
            <a:t>1) </a:t>
          </a:r>
          <a:r>
            <a:rPr lang="en-US" sz="2400" dirty="0"/>
            <a:t>The </a:t>
          </a:r>
          <a:r>
            <a:rPr lang="en-US" sz="2400" b="1" dirty="0"/>
            <a:t>internal level </a:t>
          </a:r>
          <a:r>
            <a:rPr lang="en-US" sz="2400" dirty="0"/>
            <a:t>has an </a:t>
          </a:r>
          <a:r>
            <a:rPr lang="en-US" sz="2400" b="1" dirty="0"/>
            <a:t>internal schema</a:t>
          </a:r>
          <a:r>
            <a:rPr lang="en-US" sz="2400" dirty="0"/>
            <a:t>,</a:t>
          </a:r>
        </a:p>
      </dgm:t>
    </dgm:pt>
    <dgm:pt modelId="{9F34014F-C337-418E-8258-309F9E224D0E}" type="parTrans" cxnId="{4ED5C9F2-E5E2-47A2-847F-317301F33E64}">
      <dgm:prSet/>
      <dgm:spPr/>
      <dgm:t>
        <a:bodyPr/>
        <a:lstStyle/>
        <a:p>
          <a:endParaRPr lang="en-US"/>
        </a:p>
      </dgm:t>
    </dgm:pt>
    <dgm:pt modelId="{A9C73CC1-4191-49F0-A691-97F8FA2C89D8}" type="sibTrans" cxnId="{4ED5C9F2-E5E2-47A2-847F-317301F33E64}">
      <dgm:prSet/>
      <dgm:spPr/>
      <dgm:t>
        <a:bodyPr/>
        <a:lstStyle/>
        <a:p>
          <a:endParaRPr lang="en-US"/>
        </a:p>
      </dgm:t>
    </dgm:pt>
    <dgm:pt modelId="{B31551AE-73BB-42DA-858D-D816FBBA948B}">
      <dgm:prSet custT="1"/>
      <dgm:spPr/>
      <dgm:t>
        <a:bodyPr/>
        <a:lstStyle/>
        <a:p>
          <a:pPr algn="just"/>
          <a:r>
            <a:rPr lang="en-US" sz="2000" dirty="0"/>
            <a:t>-describes the physical storage structure of the database.</a:t>
          </a:r>
        </a:p>
      </dgm:t>
    </dgm:pt>
    <dgm:pt modelId="{CE84DE95-5326-4D5A-932D-5F7D49F54090}" type="parTrans" cxnId="{DB79F79C-F6C7-4CDD-8DD8-52388A4CC0DA}">
      <dgm:prSet/>
      <dgm:spPr/>
      <dgm:t>
        <a:bodyPr/>
        <a:lstStyle/>
        <a:p>
          <a:endParaRPr lang="en-US"/>
        </a:p>
      </dgm:t>
    </dgm:pt>
    <dgm:pt modelId="{A021A41A-C734-416D-991B-0D7ACAC62757}" type="sibTrans" cxnId="{DB79F79C-F6C7-4CDD-8DD8-52388A4CC0DA}">
      <dgm:prSet/>
      <dgm:spPr/>
      <dgm:t>
        <a:bodyPr/>
        <a:lstStyle/>
        <a:p>
          <a:endParaRPr lang="en-US"/>
        </a:p>
      </dgm:t>
    </dgm:pt>
    <dgm:pt modelId="{E66ED83A-8E0F-4781-945F-E1833173110B}">
      <dgm:prSet custT="1"/>
      <dgm:spPr/>
      <dgm:t>
        <a:bodyPr/>
        <a:lstStyle/>
        <a:p>
          <a:pPr algn="just"/>
          <a:r>
            <a:rPr lang="en-US" sz="2000" dirty="0"/>
            <a:t>-uses a physical data model and describes the complete details of data storage and access paths for the database</a:t>
          </a:r>
          <a:r>
            <a:rPr lang="en-US" sz="1800" dirty="0"/>
            <a:t>.</a:t>
          </a:r>
        </a:p>
      </dgm:t>
    </dgm:pt>
    <dgm:pt modelId="{F914C34D-B6FD-432B-B6BF-F6CD74E235D7}" type="parTrans" cxnId="{AD889D4E-0DF2-4094-8C07-9C44D7FC8BC0}">
      <dgm:prSet/>
      <dgm:spPr/>
      <dgm:t>
        <a:bodyPr/>
        <a:lstStyle/>
        <a:p>
          <a:endParaRPr lang="en-US"/>
        </a:p>
      </dgm:t>
    </dgm:pt>
    <dgm:pt modelId="{FBAB94D5-E49A-4C72-AE3E-DB28AB464592}" type="sibTrans" cxnId="{AD889D4E-0DF2-4094-8C07-9C44D7FC8BC0}">
      <dgm:prSet/>
      <dgm:spPr/>
      <dgm:t>
        <a:bodyPr/>
        <a:lstStyle/>
        <a:p>
          <a:endParaRPr lang="en-US"/>
        </a:p>
      </dgm:t>
    </dgm:pt>
    <dgm:pt modelId="{88D2C851-794A-4655-BFF6-40BD490996A5}">
      <dgm:prSet custT="1"/>
      <dgm:spPr/>
      <dgm:t>
        <a:bodyPr/>
        <a:lstStyle/>
        <a:p>
          <a:r>
            <a:rPr lang="en-US" sz="2400" dirty="0"/>
            <a:t>2) The </a:t>
          </a:r>
          <a:r>
            <a:rPr lang="en-US" sz="2400" b="1" dirty="0"/>
            <a:t>conceptual level </a:t>
          </a:r>
          <a:r>
            <a:rPr lang="en-US" sz="2400" dirty="0"/>
            <a:t>has a </a:t>
          </a:r>
          <a:r>
            <a:rPr lang="en-US" sz="2400" b="1" dirty="0"/>
            <a:t>conceptual schema</a:t>
          </a:r>
          <a:r>
            <a:rPr lang="en-US" sz="2400" dirty="0"/>
            <a:t>,</a:t>
          </a:r>
        </a:p>
      </dgm:t>
    </dgm:pt>
    <dgm:pt modelId="{68B50DE9-6EC4-4B24-80EE-240B6434E9D7}" type="parTrans" cxnId="{9A0D4937-5E3A-44AD-A10D-D0B815B5DAB9}">
      <dgm:prSet/>
      <dgm:spPr/>
      <dgm:t>
        <a:bodyPr/>
        <a:lstStyle/>
        <a:p>
          <a:endParaRPr lang="en-US"/>
        </a:p>
      </dgm:t>
    </dgm:pt>
    <dgm:pt modelId="{B5C2D770-901D-4671-84EC-B0A86D7E1926}" type="sibTrans" cxnId="{9A0D4937-5E3A-44AD-A10D-D0B815B5DAB9}">
      <dgm:prSet/>
      <dgm:spPr/>
      <dgm:t>
        <a:bodyPr/>
        <a:lstStyle/>
        <a:p>
          <a:endParaRPr lang="en-US"/>
        </a:p>
      </dgm:t>
    </dgm:pt>
    <dgm:pt modelId="{5C5B0928-D34B-4819-9A5C-638FE165F7BB}">
      <dgm:prSet custT="1"/>
      <dgm:spPr/>
      <dgm:t>
        <a:bodyPr/>
        <a:lstStyle/>
        <a:p>
          <a:pPr algn="just"/>
          <a:r>
            <a:rPr lang="en-US" sz="2000" dirty="0"/>
            <a:t>-describes the structure of the whole database for a community of users</a:t>
          </a:r>
        </a:p>
      </dgm:t>
    </dgm:pt>
    <dgm:pt modelId="{30CAF6C3-D8DF-40AA-A575-8F7640371A1F}" type="parTrans" cxnId="{E28FD8DB-F92A-4B34-8730-DEC78CD2D44C}">
      <dgm:prSet/>
      <dgm:spPr/>
      <dgm:t>
        <a:bodyPr/>
        <a:lstStyle/>
        <a:p>
          <a:endParaRPr lang="en-US"/>
        </a:p>
      </dgm:t>
    </dgm:pt>
    <dgm:pt modelId="{C1297C9F-B7D5-4097-B693-F7D10913E163}" type="sibTrans" cxnId="{E28FD8DB-F92A-4B34-8730-DEC78CD2D44C}">
      <dgm:prSet/>
      <dgm:spPr/>
      <dgm:t>
        <a:bodyPr/>
        <a:lstStyle/>
        <a:p>
          <a:endParaRPr lang="en-US"/>
        </a:p>
      </dgm:t>
    </dgm:pt>
    <dgm:pt modelId="{7BF253BB-FC1F-4FD8-96B5-219B87726025}">
      <dgm:prSet custT="1"/>
      <dgm:spPr/>
      <dgm:t>
        <a:bodyPr/>
        <a:lstStyle/>
        <a:p>
          <a:pPr algn="just"/>
          <a:r>
            <a:rPr lang="en-US" sz="2000" dirty="0"/>
            <a:t>-hides the details of physical storage structures and concentrates on describing entities, data types, relationships, user operations, and constraints</a:t>
          </a:r>
        </a:p>
      </dgm:t>
    </dgm:pt>
    <dgm:pt modelId="{9FD49A08-F62D-41C7-BAC9-144C9FF29502}" type="parTrans" cxnId="{E81FA74F-8FF3-4E08-BA0F-573C0F0F46AA}">
      <dgm:prSet/>
      <dgm:spPr/>
      <dgm:t>
        <a:bodyPr/>
        <a:lstStyle/>
        <a:p>
          <a:endParaRPr lang="en-US"/>
        </a:p>
      </dgm:t>
    </dgm:pt>
    <dgm:pt modelId="{C2A047C7-0AA7-463C-8374-2D0007F46BA5}" type="sibTrans" cxnId="{E81FA74F-8FF3-4E08-BA0F-573C0F0F46AA}">
      <dgm:prSet/>
      <dgm:spPr/>
      <dgm:t>
        <a:bodyPr/>
        <a:lstStyle/>
        <a:p>
          <a:endParaRPr lang="en-US"/>
        </a:p>
      </dgm:t>
    </dgm:pt>
    <dgm:pt modelId="{A88A0688-AFD4-4FBA-AAAE-531FDE449046}">
      <dgm:prSet custT="1"/>
      <dgm:spPr/>
      <dgm:t>
        <a:bodyPr/>
        <a:lstStyle/>
        <a:p>
          <a:pPr algn="just"/>
          <a:r>
            <a:rPr lang="en-US" sz="2000" dirty="0"/>
            <a:t>-representational data model is used to describe the conceptual schema when a database system is implemented</a:t>
          </a:r>
        </a:p>
      </dgm:t>
    </dgm:pt>
    <dgm:pt modelId="{2AE79881-DBE6-4B67-A096-04ABF770C63B}" type="parTrans" cxnId="{6BD6E398-DB02-45C4-A00C-C7DDF702A4FC}">
      <dgm:prSet/>
      <dgm:spPr/>
      <dgm:t>
        <a:bodyPr/>
        <a:lstStyle/>
        <a:p>
          <a:endParaRPr lang="en-US"/>
        </a:p>
      </dgm:t>
    </dgm:pt>
    <dgm:pt modelId="{E633A2D7-134A-48B8-9851-FF2C115C4891}" type="sibTrans" cxnId="{6BD6E398-DB02-45C4-A00C-C7DDF702A4FC}">
      <dgm:prSet/>
      <dgm:spPr/>
      <dgm:t>
        <a:bodyPr/>
        <a:lstStyle/>
        <a:p>
          <a:endParaRPr lang="en-US"/>
        </a:p>
      </dgm:t>
    </dgm:pt>
    <dgm:pt modelId="{30D38221-6D21-406B-A24E-FB78E5FDCD43}">
      <dgm:prSet custT="1"/>
      <dgm:spPr/>
      <dgm:t>
        <a:bodyPr/>
        <a:lstStyle/>
        <a:p>
          <a:pPr algn="just"/>
          <a:r>
            <a:rPr lang="en-US" sz="2000" dirty="0"/>
            <a:t>-This implementation conceptual schema is often based on a conceptual schema design in a high-level data model.</a:t>
          </a:r>
        </a:p>
      </dgm:t>
    </dgm:pt>
    <dgm:pt modelId="{A59B556B-06F0-42DC-8E94-BB57EC6F81C6}" type="parTrans" cxnId="{1B72B7CA-6E14-439B-847C-5A36B711E94D}">
      <dgm:prSet/>
      <dgm:spPr/>
      <dgm:t>
        <a:bodyPr/>
        <a:lstStyle/>
        <a:p>
          <a:endParaRPr lang="en-US"/>
        </a:p>
      </dgm:t>
    </dgm:pt>
    <dgm:pt modelId="{3B4172B4-716A-48DF-AE35-12B55C3BA475}" type="sibTrans" cxnId="{1B72B7CA-6E14-439B-847C-5A36B711E94D}">
      <dgm:prSet/>
      <dgm:spPr/>
      <dgm:t>
        <a:bodyPr/>
        <a:lstStyle/>
        <a:p>
          <a:endParaRPr lang="en-US"/>
        </a:p>
      </dgm:t>
    </dgm:pt>
    <dgm:pt modelId="{3F9D13F9-FDB7-4340-8053-ED45E49981AA}" type="pres">
      <dgm:prSet presAssocID="{97A0865D-8EA8-4C3B-978D-5B0801310F71}" presName="linear" presStyleCnt="0">
        <dgm:presLayoutVars>
          <dgm:animLvl val="lvl"/>
          <dgm:resizeHandles val="exact"/>
        </dgm:presLayoutVars>
      </dgm:prSet>
      <dgm:spPr/>
    </dgm:pt>
    <dgm:pt modelId="{58DE9335-C691-4126-BBD9-6A6F0579623F}" type="pres">
      <dgm:prSet presAssocID="{A3F053F1-9107-49E3-9337-2A9EE7824416}" presName="parentText" presStyleLbl="node1" presStyleIdx="0" presStyleCnt="3">
        <dgm:presLayoutVars>
          <dgm:chMax val="0"/>
          <dgm:bulletEnabled val="1"/>
        </dgm:presLayoutVars>
      </dgm:prSet>
      <dgm:spPr/>
    </dgm:pt>
    <dgm:pt modelId="{82B19563-E358-43BF-88D3-AEF3EDCDD424}" type="pres">
      <dgm:prSet presAssocID="{D61ED254-3E48-4817-A5E3-F73736DBF03A}" presName="spacer" presStyleCnt="0"/>
      <dgm:spPr/>
    </dgm:pt>
    <dgm:pt modelId="{213C6E5C-A7B0-42DD-8E22-30E2B987345A}" type="pres">
      <dgm:prSet presAssocID="{65E845F2-545E-4807-8D92-0D0845ACC789}" presName="parentText" presStyleLbl="node1" presStyleIdx="1" presStyleCnt="3">
        <dgm:presLayoutVars>
          <dgm:chMax val="0"/>
          <dgm:bulletEnabled val="1"/>
        </dgm:presLayoutVars>
      </dgm:prSet>
      <dgm:spPr/>
    </dgm:pt>
    <dgm:pt modelId="{4820E3E7-5BB4-4F18-AEAA-DED3236AA51A}" type="pres">
      <dgm:prSet presAssocID="{65E845F2-545E-4807-8D92-0D0845ACC789}" presName="childText" presStyleLbl="revTx" presStyleIdx="0" presStyleCnt="2">
        <dgm:presLayoutVars>
          <dgm:bulletEnabled val="1"/>
        </dgm:presLayoutVars>
      </dgm:prSet>
      <dgm:spPr/>
    </dgm:pt>
    <dgm:pt modelId="{2933E598-6D1A-454F-8DA4-2E7FA57534EE}" type="pres">
      <dgm:prSet presAssocID="{88D2C851-794A-4655-BFF6-40BD490996A5}" presName="parentText" presStyleLbl="node1" presStyleIdx="2" presStyleCnt="3">
        <dgm:presLayoutVars>
          <dgm:chMax val="0"/>
          <dgm:bulletEnabled val="1"/>
        </dgm:presLayoutVars>
      </dgm:prSet>
      <dgm:spPr/>
    </dgm:pt>
    <dgm:pt modelId="{C58E5E6F-7115-4FB5-831B-F798B92C425C}" type="pres">
      <dgm:prSet presAssocID="{88D2C851-794A-4655-BFF6-40BD490996A5}" presName="childText" presStyleLbl="revTx" presStyleIdx="1" presStyleCnt="2">
        <dgm:presLayoutVars>
          <dgm:bulletEnabled val="1"/>
        </dgm:presLayoutVars>
      </dgm:prSet>
      <dgm:spPr/>
    </dgm:pt>
  </dgm:ptLst>
  <dgm:cxnLst>
    <dgm:cxn modelId="{D64DE931-62A7-4705-B408-9AD27548210C}" srcId="{97A0865D-8EA8-4C3B-978D-5B0801310F71}" destId="{A3F053F1-9107-49E3-9337-2A9EE7824416}" srcOrd="0" destOrd="0" parTransId="{599555F4-4F47-48FC-976B-A67386EAE5E8}" sibTransId="{D61ED254-3E48-4817-A5E3-F73736DBF03A}"/>
    <dgm:cxn modelId="{9A0D4937-5E3A-44AD-A10D-D0B815B5DAB9}" srcId="{97A0865D-8EA8-4C3B-978D-5B0801310F71}" destId="{88D2C851-794A-4655-BFF6-40BD490996A5}" srcOrd="2" destOrd="0" parTransId="{68B50DE9-6EC4-4B24-80EE-240B6434E9D7}" sibTransId="{B5C2D770-901D-4671-84EC-B0A86D7E1926}"/>
    <dgm:cxn modelId="{02DF285B-A746-416A-A7D7-0F587C6476BE}" type="presOf" srcId="{97A0865D-8EA8-4C3B-978D-5B0801310F71}" destId="{3F9D13F9-FDB7-4340-8053-ED45E49981AA}" srcOrd="0" destOrd="0" presId="urn:microsoft.com/office/officeart/2005/8/layout/vList2"/>
    <dgm:cxn modelId="{B954FE5B-A819-4354-8DB6-B86E8FEBECD0}" type="presOf" srcId="{30D38221-6D21-406B-A24E-FB78E5FDCD43}" destId="{C58E5E6F-7115-4FB5-831B-F798B92C425C}" srcOrd="0" destOrd="3" presId="urn:microsoft.com/office/officeart/2005/8/layout/vList2"/>
    <dgm:cxn modelId="{AD889D4E-0DF2-4094-8C07-9C44D7FC8BC0}" srcId="{65E845F2-545E-4807-8D92-0D0845ACC789}" destId="{E66ED83A-8E0F-4781-945F-E1833173110B}" srcOrd="1" destOrd="0" parTransId="{F914C34D-B6FD-432B-B6BF-F6CD74E235D7}" sibTransId="{FBAB94D5-E49A-4C72-AE3E-DB28AB464592}"/>
    <dgm:cxn modelId="{E81FA74F-8FF3-4E08-BA0F-573C0F0F46AA}" srcId="{88D2C851-794A-4655-BFF6-40BD490996A5}" destId="{7BF253BB-FC1F-4FD8-96B5-219B87726025}" srcOrd="1" destOrd="0" parTransId="{9FD49A08-F62D-41C7-BAC9-144C9FF29502}" sibTransId="{C2A047C7-0AA7-463C-8374-2D0007F46BA5}"/>
    <dgm:cxn modelId="{4039C183-81D6-46E4-AC2E-2FA8E76BC779}" type="presOf" srcId="{A88A0688-AFD4-4FBA-AAAE-531FDE449046}" destId="{C58E5E6F-7115-4FB5-831B-F798B92C425C}" srcOrd="0" destOrd="2" presId="urn:microsoft.com/office/officeart/2005/8/layout/vList2"/>
    <dgm:cxn modelId="{021C2C87-E72F-480D-8228-2205351217C3}" type="presOf" srcId="{E66ED83A-8E0F-4781-945F-E1833173110B}" destId="{4820E3E7-5BB4-4F18-AEAA-DED3236AA51A}" srcOrd="0" destOrd="1" presId="urn:microsoft.com/office/officeart/2005/8/layout/vList2"/>
    <dgm:cxn modelId="{6BD6E398-DB02-45C4-A00C-C7DDF702A4FC}" srcId="{88D2C851-794A-4655-BFF6-40BD490996A5}" destId="{A88A0688-AFD4-4FBA-AAAE-531FDE449046}" srcOrd="2" destOrd="0" parTransId="{2AE79881-DBE6-4B67-A096-04ABF770C63B}" sibTransId="{E633A2D7-134A-48B8-9851-FF2C115C4891}"/>
    <dgm:cxn modelId="{DB79F79C-F6C7-4CDD-8DD8-52388A4CC0DA}" srcId="{65E845F2-545E-4807-8D92-0D0845ACC789}" destId="{B31551AE-73BB-42DA-858D-D816FBBA948B}" srcOrd="0" destOrd="0" parTransId="{CE84DE95-5326-4D5A-932D-5F7D49F54090}" sibTransId="{A021A41A-C734-416D-991B-0D7ACAC62757}"/>
    <dgm:cxn modelId="{1BED7DB8-ADA5-44E3-82D9-B3B76A155854}" type="presOf" srcId="{A3F053F1-9107-49E3-9337-2A9EE7824416}" destId="{58DE9335-C691-4126-BBD9-6A6F0579623F}" srcOrd="0" destOrd="0" presId="urn:microsoft.com/office/officeart/2005/8/layout/vList2"/>
    <dgm:cxn modelId="{1B72B7CA-6E14-439B-847C-5A36B711E94D}" srcId="{88D2C851-794A-4655-BFF6-40BD490996A5}" destId="{30D38221-6D21-406B-A24E-FB78E5FDCD43}" srcOrd="3" destOrd="0" parTransId="{A59B556B-06F0-42DC-8E94-BB57EC6F81C6}" sibTransId="{3B4172B4-716A-48DF-AE35-12B55C3BA475}"/>
    <dgm:cxn modelId="{C4F787CC-DA19-446D-BB9B-BDCE88CE12D7}" type="presOf" srcId="{5C5B0928-D34B-4819-9A5C-638FE165F7BB}" destId="{C58E5E6F-7115-4FB5-831B-F798B92C425C}" srcOrd="0" destOrd="0" presId="urn:microsoft.com/office/officeart/2005/8/layout/vList2"/>
    <dgm:cxn modelId="{A83AACCC-88A2-42EF-8344-B25B0FE4D396}" type="presOf" srcId="{65E845F2-545E-4807-8D92-0D0845ACC789}" destId="{213C6E5C-A7B0-42DD-8E22-30E2B987345A}" srcOrd="0" destOrd="0" presId="urn:microsoft.com/office/officeart/2005/8/layout/vList2"/>
    <dgm:cxn modelId="{6769C1D0-EC1C-472F-8E76-BA231AE814C9}" type="presOf" srcId="{B31551AE-73BB-42DA-858D-D816FBBA948B}" destId="{4820E3E7-5BB4-4F18-AEAA-DED3236AA51A}" srcOrd="0" destOrd="0" presId="urn:microsoft.com/office/officeart/2005/8/layout/vList2"/>
    <dgm:cxn modelId="{E28FD8DB-F92A-4B34-8730-DEC78CD2D44C}" srcId="{88D2C851-794A-4655-BFF6-40BD490996A5}" destId="{5C5B0928-D34B-4819-9A5C-638FE165F7BB}" srcOrd="0" destOrd="0" parTransId="{30CAF6C3-D8DF-40AA-A575-8F7640371A1F}" sibTransId="{C1297C9F-B7D5-4097-B693-F7D10913E163}"/>
    <dgm:cxn modelId="{0FA4E2E1-FDE4-4975-AD92-24E7AF99F539}" type="presOf" srcId="{7BF253BB-FC1F-4FD8-96B5-219B87726025}" destId="{C58E5E6F-7115-4FB5-831B-F798B92C425C}" srcOrd="0" destOrd="1" presId="urn:microsoft.com/office/officeart/2005/8/layout/vList2"/>
    <dgm:cxn modelId="{D8FF12EA-DE10-4042-9EFA-CDB800410D1D}" type="presOf" srcId="{88D2C851-794A-4655-BFF6-40BD490996A5}" destId="{2933E598-6D1A-454F-8DA4-2E7FA57534EE}" srcOrd="0" destOrd="0" presId="urn:microsoft.com/office/officeart/2005/8/layout/vList2"/>
    <dgm:cxn modelId="{4ED5C9F2-E5E2-47A2-847F-317301F33E64}" srcId="{97A0865D-8EA8-4C3B-978D-5B0801310F71}" destId="{65E845F2-545E-4807-8D92-0D0845ACC789}" srcOrd="1" destOrd="0" parTransId="{9F34014F-C337-418E-8258-309F9E224D0E}" sibTransId="{A9C73CC1-4191-49F0-A691-97F8FA2C89D8}"/>
    <dgm:cxn modelId="{CAB24DAA-2280-4DDD-83A6-D3F0BBED1078}" type="presParOf" srcId="{3F9D13F9-FDB7-4340-8053-ED45E49981AA}" destId="{58DE9335-C691-4126-BBD9-6A6F0579623F}" srcOrd="0" destOrd="0" presId="urn:microsoft.com/office/officeart/2005/8/layout/vList2"/>
    <dgm:cxn modelId="{B730B727-8BCB-4864-8E0A-513BCD05E6D5}" type="presParOf" srcId="{3F9D13F9-FDB7-4340-8053-ED45E49981AA}" destId="{82B19563-E358-43BF-88D3-AEF3EDCDD424}" srcOrd="1" destOrd="0" presId="urn:microsoft.com/office/officeart/2005/8/layout/vList2"/>
    <dgm:cxn modelId="{D4BB9EE7-789A-4052-85CF-894EB1F7B6B2}" type="presParOf" srcId="{3F9D13F9-FDB7-4340-8053-ED45E49981AA}" destId="{213C6E5C-A7B0-42DD-8E22-30E2B987345A}" srcOrd="2" destOrd="0" presId="urn:microsoft.com/office/officeart/2005/8/layout/vList2"/>
    <dgm:cxn modelId="{CDF49F6F-A8AB-48DE-B9DC-308A46DAAE98}" type="presParOf" srcId="{3F9D13F9-FDB7-4340-8053-ED45E49981AA}" destId="{4820E3E7-5BB4-4F18-AEAA-DED3236AA51A}" srcOrd="3" destOrd="0" presId="urn:microsoft.com/office/officeart/2005/8/layout/vList2"/>
    <dgm:cxn modelId="{1CB46665-A449-441F-B84E-BDEA3F4AF75E}" type="presParOf" srcId="{3F9D13F9-FDB7-4340-8053-ED45E49981AA}" destId="{2933E598-6D1A-454F-8DA4-2E7FA57534EE}" srcOrd="4" destOrd="0" presId="urn:microsoft.com/office/officeart/2005/8/layout/vList2"/>
    <dgm:cxn modelId="{AAF592DC-1CA3-4566-8F8F-CF1F8476959B}" type="presParOf" srcId="{3F9D13F9-FDB7-4340-8053-ED45E49981AA}" destId="{C58E5E6F-7115-4FB5-831B-F798B92C425C}"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B9BB63-B62D-4EB4-A99E-F6FE7FAC146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62D8405-5AEA-41A6-8E95-BC5A2C02EA86}">
      <dgm:prSet/>
      <dgm:spPr/>
      <dgm:t>
        <a:bodyPr/>
        <a:lstStyle/>
        <a:p>
          <a:r>
            <a:rPr lang="en-US" dirty="0"/>
            <a:t>3) The </a:t>
          </a:r>
          <a:r>
            <a:rPr lang="en-US" b="1" dirty="0"/>
            <a:t>external or view level </a:t>
          </a:r>
          <a:r>
            <a:rPr lang="en-US" dirty="0"/>
            <a:t>includes a number of </a:t>
          </a:r>
          <a:r>
            <a:rPr lang="en-US" b="1" dirty="0"/>
            <a:t>external schemas </a:t>
          </a:r>
          <a:r>
            <a:rPr lang="en-US" dirty="0"/>
            <a:t>or user views,</a:t>
          </a:r>
        </a:p>
      </dgm:t>
    </dgm:pt>
    <dgm:pt modelId="{C277FFE5-6B10-4098-9B01-F65DD6C079EE}" type="parTrans" cxnId="{E9F853A6-60D8-4BC7-93AF-6B7D55333A19}">
      <dgm:prSet/>
      <dgm:spPr/>
      <dgm:t>
        <a:bodyPr/>
        <a:lstStyle/>
        <a:p>
          <a:endParaRPr lang="en-US"/>
        </a:p>
      </dgm:t>
    </dgm:pt>
    <dgm:pt modelId="{3360B1A2-AF8F-4544-A41B-A6537CE2CA5C}" type="sibTrans" cxnId="{E9F853A6-60D8-4BC7-93AF-6B7D55333A19}">
      <dgm:prSet/>
      <dgm:spPr/>
      <dgm:t>
        <a:bodyPr/>
        <a:lstStyle/>
        <a:p>
          <a:endParaRPr lang="en-US"/>
        </a:p>
      </dgm:t>
    </dgm:pt>
    <dgm:pt modelId="{F2F574FD-7243-4502-B9CE-DC146E503479}">
      <dgm:prSet/>
      <dgm:spPr/>
      <dgm:t>
        <a:bodyPr/>
        <a:lstStyle/>
        <a:p>
          <a:pPr algn="just"/>
          <a:r>
            <a:rPr lang="en-US" dirty="0"/>
            <a:t>-describes the part of the database that a particular user group is interested in and hides the rest of the database from that user group.</a:t>
          </a:r>
        </a:p>
      </dgm:t>
    </dgm:pt>
    <dgm:pt modelId="{F9CA7E6B-4C0D-4D33-92D8-018B236B4F8D}" type="parTrans" cxnId="{337FB56D-CEE7-40BA-848C-6BFC77287489}">
      <dgm:prSet/>
      <dgm:spPr/>
      <dgm:t>
        <a:bodyPr/>
        <a:lstStyle/>
        <a:p>
          <a:endParaRPr lang="en-US"/>
        </a:p>
      </dgm:t>
    </dgm:pt>
    <dgm:pt modelId="{EDB00C08-76D1-4BB6-A7F8-5210DBF10F5C}" type="sibTrans" cxnId="{337FB56D-CEE7-40BA-848C-6BFC77287489}">
      <dgm:prSet/>
      <dgm:spPr/>
      <dgm:t>
        <a:bodyPr/>
        <a:lstStyle/>
        <a:p>
          <a:endParaRPr lang="en-US"/>
        </a:p>
      </dgm:t>
    </dgm:pt>
    <dgm:pt modelId="{9A1911E7-C571-4109-8F9D-870D222C0C2A}">
      <dgm:prSet/>
      <dgm:spPr/>
      <dgm:t>
        <a:bodyPr/>
        <a:lstStyle/>
        <a:p>
          <a:pPr algn="just"/>
          <a:r>
            <a:rPr lang="en-US" dirty="0"/>
            <a:t>-As in the previous level, each external schema is typically implemented using a representational data model, possibly based on an external schema design in a high-level data model.</a:t>
          </a:r>
        </a:p>
      </dgm:t>
    </dgm:pt>
    <dgm:pt modelId="{4FA3FBBF-CB7C-4994-A198-AE70FF5B7A7B}" type="parTrans" cxnId="{57810C5F-99AF-49F5-88FC-A5EA3E523714}">
      <dgm:prSet/>
      <dgm:spPr/>
      <dgm:t>
        <a:bodyPr/>
        <a:lstStyle/>
        <a:p>
          <a:endParaRPr lang="en-US"/>
        </a:p>
      </dgm:t>
    </dgm:pt>
    <dgm:pt modelId="{EBE0777B-7DBE-471A-ACAD-7C0A25453BC3}" type="sibTrans" cxnId="{57810C5F-99AF-49F5-88FC-A5EA3E523714}">
      <dgm:prSet/>
      <dgm:spPr/>
      <dgm:t>
        <a:bodyPr/>
        <a:lstStyle/>
        <a:p>
          <a:endParaRPr lang="en-US"/>
        </a:p>
      </dgm:t>
    </dgm:pt>
    <dgm:pt modelId="{EC534223-AD67-4A3F-A003-420075DD945C}" type="pres">
      <dgm:prSet presAssocID="{2DB9BB63-B62D-4EB4-A99E-F6FE7FAC1460}" presName="linear" presStyleCnt="0">
        <dgm:presLayoutVars>
          <dgm:animLvl val="lvl"/>
          <dgm:resizeHandles val="exact"/>
        </dgm:presLayoutVars>
      </dgm:prSet>
      <dgm:spPr/>
    </dgm:pt>
    <dgm:pt modelId="{15DD40A5-45BC-48D1-A79E-A7D13187625E}" type="pres">
      <dgm:prSet presAssocID="{D62D8405-5AEA-41A6-8E95-BC5A2C02EA86}" presName="parentText" presStyleLbl="node1" presStyleIdx="0" presStyleCnt="1">
        <dgm:presLayoutVars>
          <dgm:chMax val="0"/>
          <dgm:bulletEnabled val="1"/>
        </dgm:presLayoutVars>
      </dgm:prSet>
      <dgm:spPr/>
    </dgm:pt>
    <dgm:pt modelId="{CB0E5DD0-15CA-4697-8E47-63B462CB1245}" type="pres">
      <dgm:prSet presAssocID="{D62D8405-5AEA-41A6-8E95-BC5A2C02EA86}" presName="childText" presStyleLbl="revTx" presStyleIdx="0" presStyleCnt="1">
        <dgm:presLayoutVars>
          <dgm:bulletEnabled val="1"/>
        </dgm:presLayoutVars>
      </dgm:prSet>
      <dgm:spPr/>
    </dgm:pt>
  </dgm:ptLst>
  <dgm:cxnLst>
    <dgm:cxn modelId="{57810C5F-99AF-49F5-88FC-A5EA3E523714}" srcId="{D62D8405-5AEA-41A6-8E95-BC5A2C02EA86}" destId="{9A1911E7-C571-4109-8F9D-870D222C0C2A}" srcOrd="1" destOrd="0" parTransId="{4FA3FBBF-CB7C-4994-A198-AE70FF5B7A7B}" sibTransId="{EBE0777B-7DBE-471A-ACAD-7C0A25453BC3}"/>
    <dgm:cxn modelId="{D872A25F-8233-4085-925B-1F465C65A3FF}" type="presOf" srcId="{D62D8405-5AEA-41A6-8E95-BC5A2C02EA86}" destId="{15DD40A5-45BC-48D1-A79E-A7D13187625E}" srcOrd="0" destOrd="0" presId="urn:microsoft.com/office/officeart/2005/8/layout/vList2"/>
    <dgm:cxn modelId="{2D5D3060-1B40-4DB7-A299-313D4FCEF802}" type="presOf" srcId="{2DB9BB63-B62D-4EB4-A99E-F6FE7FAC1460}" destId="{EC534223-AD67-4A3F-A003-420075DD945C}" srcOrd="0" destOrd="0" presId="urn:microsoft.com/office/officeart/2005/8/layout/vList2"/>
    <dgm:cxn modelId="{C8763346-0F77-430F-AC0B-554A68A23277}" type="presOf" srcId="{9A1911E7-C571-4109-8F9D-870D222C0C2A}" destId="{CB0E5DD0-15CA-4697-8E47-63B462CB1245}" srcOrd="0" destOrd="1" presId="urn:microsoft.com/office/officeart/2005/8/layout/vList2"/>
    <dgm:cxn modelId="{337FB56D-CEE7-40BA-848C-6BFC77287489}" srcId="{D62D8405-5AEA-41A6-8E95-BC5A2C02EA86}" destId="{F2F574FD-7243-4502-B9CE-DC146E503479}" srcOrd="0" destOrd="0" parTransId="{F9CA7E6B-4C0D-4D33-92D8-018B236B4F8D}" sibTransId="{EDB00C08-76D1-4BB6-A7F8-5210DBF10F5C}"/>
    <dgm:cxn modelId="{4A8F75A5-2D5A-44DC-8994-6031990513B4}" type="presOf" srcId="{F2F574FD-7243-4502-B9CE-DC146E503479}" destId="{CB0E5DD0-15CA-4697-8E47-63B462CB1245}" srcOrd="0" destOrd="0" presId="urn:microsoft.com/office/officeart/2005/8/layout/vList2"/>
    <dgm:cxn modelId="{E9F853A6-60D8-4BC7-93AF-6B7D55333A19}" srcId="{2DB9BB63-B62D-4EB4-A99E-F6FE7FAC1460}" destId="{D62D8405-5AEA-41A6-8E95-BC5A2C02EA86}" srcOrd="0" destOrd="0" parTransId="{C277FFE5-6B10-4098-9B01-F65DD6C079EE}" sibTransId="{3360B1A2-AF8F-4544-A41B-A6537CE2CA5C}"/>
    <dgm:cxn modelId="{B5A57654-85D4-43EA-A76E-13C9DC5E9D9A}" type="presParOf" srcId="{EC534223-AD67-4A3F-A003-420075DD945C}" destId="{15DD40A5-45BC-48D1-A79E-A7D13187625E}" srcOrd="0" destOrd="0" presId="urn:microsoft.com/office/officeart/2005/8/layout/vList2"/>
    <dgm:cxn modelId="{B47330EA-25FD-4C06-96EB-BEA81F0BCEBF}" type="presParOf" srcId="{EC534223-AD67-4A3F-A003-420075DD945C}" destId="{CB0E5DD0-15CA-4697-8E47-63B462CB1245}"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68EB625-BD22-45E9-A240-CFE7528B29E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CB1DE6E-64AA-42F3-8B2D-F79F54377DED}">
      <dgm:prSet/>
      <dgm:spPr/>
      <dgm:t>
        <a:bodyPr/>
        <a:lstStyle/>
        <a:p>
          <a:r>
            <a:rPr lang="en-US" b="1"/>
            <a:t>Data Independence</a:t>
          </a:r>
          <a:endParaRPr lang="en-US"/>
        </a:p>
      </dgm:t>
    </dgm:pt>
    <dgm:pt modelId="{BDE815BB-0C81-4198-9089-63334E1A29C4}" type="parTrans" cxnId="{8D19B932-0867-495F-B42A-C498ACC426F4}">
      <dgm:prSet/>
      <dgm:spPr/>
      <dgm:t>
        <a:bodyPr/>
        <a:lstStyle/>
        <a:p>
          <a:endParaRPr lang="en-US"/>
        </a:p>
      </dgm:t>
    </dgm:pt>
    <dgm:pt modelId="{4E2FAFF7-D0E2-413C-B90C-3E0311ADFC40}" type="sibTrans" cxnId="{8D19B932-0867-495F-B42A-C498ACC426F4}">
      <dgm:prSet/>
      <dgm:spPr/>
      <dgm:t>
        <a:bodyPr/>
        <a:lstStyle/>
        <a:p>
          <a:endParaRPr lang="en-US"/>
        </a:p>
      </dgm:t>
    </dgm:pt>
    <dgm:pt modelId="{024A8EA3-A8AE-4267-B1EA-5B5FD283D464}">
      <dgm:prSet/>
      <dgm:spPr/>
      <dgm:t>
        <a:bodyPr/>
        <a:lstStyle/>
        <a:p>
          <a:r>
            <a:rPr lang="en-US" b="1" dirty="0"/>
            <a:t>Data independence</a:t>
          </a:r>
          <a:r>
            <a:rPr lang="en-US" dirty="0"/>
            <a:t>, which can be defined as the capacity to change the schema at one level of a database system without having to change the schema at the next higher level.</a:t>
          </a:r>
        </a:p>
      </dgm:t>
    </dgm:pt>
    <dgm:pt modelId="{FEC4D288-0221-4684-B62E-CEDA2FFD1C90}" type="parTrans" cxnId="{12498745-40F1-416C-8E86-01DCD6D4A666}">
      <dgm:prSet/>
      <dgm:spPr/>
      <dgm:t>
        <a:bodyPr/>
        <a:lstStyle/>
        <a:p>
          <a:endParaRPr lang="en-US"/>
        </a:p>
      </dgm:t>
    </dgm:pt>
    <dgm:pt modelId="{896226F0-4056-4ACE-AF79-492EFBFBA00D}" type="sibTrans" cxnId="{12498745-40F1-416C-8E86-01DCD6D4A666}">
      <dgm:prSet/>
      <dgm:spPr/>
      <dgm:t>
        <a:bodyPr/>
        <a:lstStyle/>
        <a:p>
          <a:endParaRPr lang="en-US"/>
        </a:p>
      </dgm:t>
    </dgm:pt>
    <dgm:pt modelId="{915B0BCA-0BEE-41F0-9BE5-65771C4E7B8C}" type="pres">
      <dgm:prSet presAssocID="{C68EB625-BD22-45E9-A240-CFE7528B29E7}" presName="linear" presStyleCnt="0">
        <dgm:presLayoutVars>
          <dgm:animLvl val="lvl"/>
          <dgm:resizeHandles val="exact"/>
        </dgm:presLayoutVars>
      </dgm:prSet>
      <dgm:spPr/>
    </dgm:pt>
    <dgm:pt modelId="{F914ED30-E77C-4FD8-B2AA-B44526E92D0E}" type="pres">
      <dgm:prSet presAssocID="{5CB1DE6E-64AA-42F3-8B2D-F79F54377DED}" presName="parentText" presStyleLbl="node1" presStyleIdx="0" presStyleCnt="1">
        <dgm:presLayoutVars>
          <dgm:chMax val="0"/>
          <dgm:bulletEnabled val="1"/>
        </dgm:presLayoutVars>
      </dgm:prSet>
      <dgm:spPr/>
    </dgm:pt>
    <dgm:pt modelId="{3C362B54-10C2-47F2-93C0-00758CB90C57}" type="pres">
      <dgm:prSet presAssocID="{5CB1DE6E-64AA-42F3-8B2D-F79F54377DED}" presName="childText" presStyleLbl="revTx" presStyleIdx="0" presStyleCnt="1">
        <dgm:presLayoutVars>
          <dgm:bulletEnabled val="1"/>
        </dgm:presLayoutVars>
      </dgm:prSet>
      <dgm:spPr/>
    </dgm:pt>
  </dgm:ptLst>
  <dgm:cxnLst>
    <dgm:cxn modelId="{8D19B932-0867-495F-B42A-C498ACC426F4}" srcId="{C68EB625-BD22-45E9-A240-CFE7528B29E7}" destId="{5CB1DE6E-64AA-42F3-8B2D-F79F54377DED}" srcOrd="0" destOrd="0" parTransId="{BDE815BB-0C81-4198-9089-63334E1A29C4}" sibTransId="{4E2FAFF7-D0E2-413C-B90C-3E0311ADFC40}"/>
    <dgm:cxn modelId="{12498745-40F1-416C-8E86-01DCD6D4A666}" srcId="{5CB1DE6E-64AA-42F3-8B2D-F79F54377DED}" destId="{024A8EA3-A8AE-4267-B1EA-5B5FD283D464}" srcOrd="0" destOrd="0" parTransId="{FEC4D288-0221-4684-B62E-CEDA2FFD1C90}" sibTransId="{896226F0-4056-4ACE-AF79-492EFBFBA00D}"/>
    <dgm:cxn modelId="{11CAEF66-4FE0-422C-BF7A-C7F1D66490A4}" type="presOf" srcId="{C68EB625-BD22-45E9-A240-CFE7528B29E7}" destId="{915B0BCA-0BEE-41F0-9BE5-65771C4E7B8C}" srcOrd="0" destOrd="0" presId="urn:microsoft.com/office/officeart/2005/8/layout/vList2"/>
    <dgm:cxn modelId="{6D4C1390-6FF1-438F-AA79-9709161D1668}" type="presOf" srcId="{5CB1DE6E-64AA-42F3-8B2D-F79F54377DED}" destId="{F914ED30-E77C-4FD8-B2AA-B44526E92D0E}" srcOrd="0" destOrd="0" presId="urn:microsoft.com/office/officeart/2005/8/layout/vList2"/>
    <dgm:cxn modelId="{D96570A0-6E6D-4FA4-B191-5BE1933F00F1}" type="presOf" srcId="{024A8EA3-A8AE-4267-B1EA-5B5FD283D464}" destId="{3C362B54-10C2-47F2-93C0-00758CB90C57}" srcOrd="0" destOrd="0" presId="urn:microsoft.com/office/officeart/2005/8/layout/vList2"/>
    <dgm:cxn modelId="{F8CA619F-AE6D-43C8-BA32-9B55F0F7966B}" type="presParOf" srcId="{915B0BCA-0BEE-41F0-9BE5-65771C4E7B8C}" destId="{F914ED30-E77C-4FD8-B2AA-B44526E92D0E}" srcOrd="0" destOrd="0" presId="urn:microsoft.com/office/officeart/2005/8/layout/vList2"/>
    <dgm:cxn modelId="{FAAB0EC5-B94B-4C75-B69A-6CD52DBA31F0}" type="presParOf" srcId="{915B0BCA-0BEE-41F0-9BE5-65771C4E7B8C}" destId="{3C362B54-10C2-47F2-93C0-00758CB90C57}"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D7DA4AD-7C4B-4359-966E-FB18DAB7AFE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73FC752-C6E4-4E47-80C5-68A64E35F091}">
      <dgm:prSet custT="1"/>
      <dgm:spPr/>
      <dgm:t>
        <a:bodyPr/>
        <a:lstStyle/>
        <a:p>
          <a:r>
            <a:rPr lang="en-US" sz="3200" b="1" i="0" baseline="0" dirty="0"/>
            <a:t>Database Languages and Interfaces</a:t>
          </a:r>
          <a:endParaRPr lang="en-US" sz="3200" dirty="0"/>
        </a:p>
      </dgm:t>
    </dgm:pt>
    <dgm:pt modelId="{7D5F065B-84F1-4E79-B9B1-416D9CAB5324}" type="parTrans" cxnId="{23C1A46D-6FF8-4F86-86F8-4138EF3CB10D}">
      <dgm:prSet/>
      <dgm:spPr/>
      <dgm:t>
        <a:bodyPr/>
        <a:lstStyle/>
        <a:p>
          <a:endParaRPr lang="en-US"/>
        </a:p>
      </dgm:t>
    </dgm:pt>
    <dgm:pt modelId="{FE9E96E0-3054-45F6-A11E-1DF2A30C59FD}" type="sibTrans" cxnId="{23C1A46D-6FF8-4F86-86F8-4138EF3CB10D}">
      <dgm:prSet/>
      <dgm:spPr/>
      <dgm:t>
        <a:bodyPr/>
        <a:lstStyle/>
        <a:p>
          <a:endParaRPr lang="en-US"/>
        </a:p>
      </dgm:t>
    </dgm:pt>
    <dgm:pt modelId="{600D3F77-8C2C-4D70-BD78-3AA92795BBDE}">
      <dgm:prSet/>
      <dgm:spPr/>
      <dgm:t>
        <a:bodyPr/>
        <a:lstStyle/>
        <a:p>
          <a:pPr algn="l">
            <a:buFont typeface="Wingdings" panose="05000000000000000000" pitchFamily="2" charset="2"/>
            <a:buChar char="Ø"/>
          </a:pPr>
          <a:r>
            <a:rPr lang="en-US" sz="2500" b="1" dirty="0"/>
            <a:t>DBMS Languages</a:t>
          </a:r>
          <a:endParaRPr lang="en-US" sz="2500" dirty="0"/>
        </a:p>
      </dgm:t>
    </dgm:pt>
    <dgm:pt modelId="{F524204B-591A-4418-841E-4C932CF42720}" type="parTrans" cxnId="{9105D251-C5C5-4088-A840-97C1DAFEA388}">
      <dgm:prSet/>
      <dgm:spPr/>
      <dgm:t>
        <a:bodyPr/>
        <a:lstStyle/>
        <a:p>
          <a:endParaRPr lang="en-US"/>
        </a:p>
      </dgm:t>
    </dgm:pt>
    <dgm:pt modelId="{EDA3E9A4-0150-41DE-A116-E118C143A244}" type="sibTrans" cxnId="{9105D251-C5C5-4088-A840-97C1DAFEA388}">
      <dgm:prSet/>
      <dgm:spPr/>
      <dgm:t>
        <a:bodyPr/>
        <a:lstStyle/>
        <a:p>
          <a:endParaRPr lang="en-US"/>
        </a:p>
      </dgm:t>
    </dgm:pt>
    <dgm:pt modelId="{B8C3F151-FFE2-4899-B89B-7064AA23E701}">
      <dgm:prSet custT="1"/>
      <dgm:spPr/>
      <dgm:t>
        <a:bodyPr/>
        <a:lstStyle/>
        <a:p>
          <a:pPr algn="just">
            <a:buFont typeface="Arial" panose="020B0604020202020204" pitchFamily="34" charset="0"/>
            <a:buChar char="•"/>
          </a:pPr>
          <a:r>
            <a:rPr lang="en-US" sz="2000" b="0" dirty="0"/>
            <a:t>In many DBMSs where no strict separation of levels is maintained, one language, called </a:t>
          </a:r>
          <a:r>
            <a:rPr lang="en-US" sz="2000" b="1" dirty="0"/>
            <a:t>Data definition language (DDL), </a:t>
          </a:r>
          <a:r>
            <a:rPr lang="en-US" sz="2000" dirty="0"/>
            <a:t>is used by the DBA and by database designers to define both schemas (conceptual and physical schemas).</a:t>
          </a:r>
        </a:p>
      </dgm:t>
    </dgm:pt>
    <dgm:pt modelId="{A1610650-7A7D-423C-85CC-C0DDC5EA2B2F}" type="parTrans" cxnId="{D894BC34-76B8-417E-BE1D-699402101187}">
      <dgm:prSet/>
      <dgm:spPr/>
      <dgm:t>
        <a:bodyPr/>
        <a:lstStyle/>
        <a:p>
          <a:endParaRPr lang="en-US"/>
        </a:p>
      </dgm:t>
    </dgm:pt>
    <dgm:pt modelId="{94F36D74-3362-401E-B16B-BD6334C68E1B}" type="sibTrans" cxnId="{D894BC34-76B8-417E-BE1D-699402101187}">
      <dgm:prSet/>
      <dgm:spPr/>
      <dgm:t>
        <a:bodyPr/>
        <a:lstStyle/>
        <a:p>
          <a:endParaRPr lang="en-US"/>
        </a:p>
      </dgm:t>
    </dgm:pt>
    <dgm:pt modelId="{A466BB97-5E1F-4E84-8FE0-305C74F71540}">
      <dgm:prSet custT="1"/>
      <dgm:spPr/>
      <dgm:t>
        <a:bodyPr/>
        <a:lstStyle/>
        <a:p>
          <a:pPr algn="just">
            <a:buFont typeface="Arial" panose="020B0604020202020204" pitchFamily="34" charset="0"/>
            <a:buChar char="•"/>
          </a:pPr>
          <a:r>
            <a:rPr lang="en-US" sz="2000" b="0" dirty="0"/>
            <a:t>Another language, the </a:t>
          </a:r>
          <a:r>
            <a:rPr lang="en-US" sz="2000" b="1" dirty="0"/>
            <a:t>Storage definition language (SDL), </a:t>
          </a:r>
          <a:r>
            <a:rPr lang="en-US" sz="2000" dirty="0"/>
            <a:t>is used to specify the internal schema.</a:t>
          </a:r>
        </a:p>
      </dgm:t>
    </dgm:pt>
    <dgm:pt modelId="{991E0CBE-DE25-4DD3-9525-E575CFA767A5}" type="parTrans" cxnId="{A524D4D4-9ED6-497B-94D5-96610180B229}">
      <dgm:prSet/>
      <dgm:spPr/>
      <dgm:t>
        <a:bodyPr/>
        <a:lstStyle/>
        <a:p>
          <a:endParaRPr lang="en-US"/>
        </a:p>
      </dgm:t>
    </dgm:pt>
    <dgm:pt modelId="{FAA23AED-1E3A-4D7C-9F99-24115B28D362}" type="sibTrans" cxnId="{A524D4D4-9ED6-497B-94D5-96610180B229}">
      <dgm:prSet/>
      <dgm:spPr/>
      <dgm:t>
        <a:bodyPr/>
        <a:lstStyle/>
        <a:p>
          <a:endParaRPr lang="en-US"/>
        </a:p>
      </dgm:t>
    </dgm:pt>
    <dgm:pt modelId="{B2710747-99EB-4A7F-81C1-AA0DEB49E98F}">
      <dgm:prSet custT="1"/>
      <dgm:spPr/>
      <dgm:t>
        <a:bodyPr/>
        <a:lstStyle/>
        <a:p>
          <a:pPr algn="just">
            <a:buFont typeface="Arial" panose="020B0604020202020204" pitchFamily="34" charset="0"/>
            <a:buChar char="•"/>
          </a:pPr>
          <a:r>
            <a:rPr lang="en-US" sz="2000" b="1" dirty="0"/>
            <a:t>View definition language (VDL), </a:t>
          </a:r>
          <a:r>
            <a:rPr lang="en-US" sz="2000" dirty="0"/>
            <a:t>to specify user views and their mappings to the conceptual schema.</a:t>
          </a:r>
        </a:p>
      </dgm:t>
    </dgm:pt>
    <dgm:pt modelId="{D36DFDFA-CA6C-42A1-9FA2-03A776E31D3F}" type="parTrans" cxnId="{6D2B0A6E-1D94-4478-B474-B5EC89CEE50A}">
      <dgm:prSet/>
      <dgm:spPr/>
      <dgm:t>
        <a:bodyPr/>
        <a:lstStyle/>
        <a:p>
          <a:endParaRPr lang="en-US"/>
        </a:p>
      </dgm:t>
    </dgm:pt>
    <dgm:pt modelId="{FFCAC6DF-8F20-4950-87E2-D896CFC9C58C}" type="sibTrans" cxnId="{6D2B0A6E-1D94-4478-B474-B5EC89CEE50A}">
      <dgm:prSet/>
      <dgm:spPr/>
      <dgm:t>
        <a:bodyPr/>
        <a:lstStyle/>
        <a:p>
          <a:endParaRPr lang="en-US"/>
        </a:p>
      </dgm:t>
    </dgm:pt>
    <dgm:pt modelId="{92449DD7-9F41-460E-B1D3-31462C95E0E8}">
      <dgm:prSet custT="1"/>
      <dgm:spPr/>
      <dgm:t>
        <a:bodyPr/>
        <a:lstStyle/>
        <a:p>
          <a:pPr algn="just">
            <a:buFont typeface="Arial" panose="020B0604020202020204" pitchFamily="34" charset="0"/>
            <a:buChar char="•"/>
          </a:pPr>
          <a:r>
            <a:rPr lang="en-US" sz="2000" b="1" dirty="0"/>
            <a:t>Data manipulation language</a:t>
          </a:r>
          <a:r>
            <a:rPr lang="en-US" sz="2000" dirty="0"/>
            <a:t>(</a:t>
          </a:r>
          <a:r>
            <a:rPr lang="en-US" sz="2000" b="1" dirty="0"/>
            <a:t>DML) </a:t>
          </a:r>
          <a:r>
            <a:rPr lang="en-US" sz="2000" dirty="0"/>
            <a:t>provides set of operations like retrieval, insertion, deletion, and modification of the data</a:t>
          </a:r>
          <a:r>
            <a:rPr lang="en-US" sz="3600" dirty="0"/>
            <a:t>. </a:t>
          </a:r>
        </a:p>
      </dgm:t>
    </dgm:pt>
    <dgm:pt modelId="{ACD984D7-0492-4189-BB5D-948BC2DF86DB}" type="parTrans" cxnId="{8AF412B5-F125-44BC-9544-8A0BF375E14F}">
      <dgm:prSet/>
      <dgm:spPr/>
      <dgm:t>
        <a:bodyPr/>
        <a:lstStyle/>
        <a:p>
          <a:endParaRPr lang="en-US"/>
        </a:p>
      </dgm:t>
    </dgm:pt>
    <dgm:pt modelId="{EE0E9731-51F6-4508-82B6-2A09A5D1C988}" type="sibTrans" cxnId="{8AF412B5-F125-44BC-9544-8A0BF375E14F}">
      <dgm:prSet/>
      <dgm:spPr/>
      <dgm:t>
        <a:bodyPr/>
        <a:lstStyle/>
        <a:p>
          <a:endParaRPr lang="en-US"/>
        </a:p>
      </dgm:t>
    </dgm:pt>
    <dgm:pt modelId="{D9499375-B485-4260-99B2-6001BA22BDD4}">
      <dgm:prSet custT="1"/>
      <dgm:spPr/>
      <dgm:t>
        <a:bodyPr/>
        <a:lstStyle/>
        <a:p>
          <a:pPr algn="just">
            <a:buFont typeface="Arial" panose="020B0604020202020204" pitchFamily="34" charset="0"/>
            <a:buChar char="•"/>
          </a:pPr>
          <a:r>
            <a:rPr lang="en-US" sz="2000" dirty="0"/>
            <a:t>Once the design of a database is completed and a DBMS is chosen to implement the database, the first step is to specify conceptual and internal schemas for the database and any mappings between the two.</a:t>
          </a:r>
        </a:p>
      </dgm:t>
    </dgm:pt>
    <dgm:pt modelId="{1182EE7B-A03A-41AA-8544-843637A1DBFC}" type="parTrans" cxnId="{8CBA484A-269F-4FA3-B70C-8D10CC418EFD}">
      <dgm:prSet/>
      <dgm:spPr/>
      <dgm:t>
        <a:bodyPr/>
        <a:lstStyle/>
        <a:p>
          <a:endParaRPr lang="en-US"/>
        </a:p>
      </dgm:t>
    </dgm:pt>
    <dgm:pt modelId="{BC307D4A-38BB-4743-8F54-65775F3591E0}" type="sibTrans" cxnId="{8CBA484A-269F-4FA3-B70C-8D10CC418EFD}">
      <dgm:prSet/>
      <dgm:spPr/>
      <dgm:t>
        <a:bodyPr/>
        <a:lstStyle/>
        <a:p>
          <a:endParaRPr lang="en-US"/>
        </a:p>
      </dgm:t>
    </dgm:pt>
    <dgm:pt modelId="{F10D3940-5106-49B1-81BD-A0C6BA6A4036}">
      <dgm:prSet custT="1"/>
      <dgm:spPr/>
      <dgm:t>
        <a:bodyPr/>
        <a:lstStyle/>
        <a:p>
          <a:pPr algn="just">
            <a:buFont typeface="Arial" panose="020B0604020202020204" pitchFamily="34" charset="0"/>
            <a:buChar char="•"/>
          </a:pPr>
          <a:r>
            <a:rPr lang="en-US" sz="2000" dirty="0"/>
            <a:t>In DBMSs where a clear separation is maintained between the conceptual and internal levels, the </a:t>
          </a:r>
          <a:r>
            <a:rPr lang="en-US" sz="2000" b="1" dirty="0"/>
            <a:t>DDL</a:t>
          </a:r>
          <a:r>
            <a:rPr lang="en-US" sz="2000" dirty="0"/>
            <a:t> is used to specify the conceptual schema only.</a:t>
          </a:r>
        </a:p>
      </dgm:t>
    </dgm:pt>
    <dgm:pt modelId="{43ECAC64-C047-42E7-9DB6-6EF7A1577C38}" type="parTrans" cxnId="{AD3EB3F9-D9EF-48E3-BEF5-6C206F3C6EA4}">
      <dgm:prSet/>
      <dgm:spPr/>
      <dgm:t>
        <a:bodyPr/>
        <a:lstStyle/>
        <a:p>
          <a:endParaRPr lang="en-US"/>
        </a:p>
      </dgm:t>
    </dgm:pt>
    <dgm:pt modelId="{C498F749-69A0-471F-9E2C-8E8471FDB33B}" type="sibTrans" cxnId="{AD3EB3F9-D9EF-48E3-BEF5-6C206F3C6EA4}">
      <dgm:prSet/>
      <dgm:spPr/>
      <dgm:t>
        <a:bodyPr/>
        <a:lstStyle/>
        <a:p>
          <a:endParaRPr lang="en-US"/>
        </a:p>
      </dgm:t>
    </dgm:pt>
    <dgm:pt modelId="{A10437CD-1EF7-4969-ACBA-CF582E1DBFC5}">
      <dgm:prSet custT="1"/>
      <dgm:spPr/>
      <dgm:t>
        <a:bodyPr/>
        <a:lstStyle/>
        <a:p>
          <a:pPr algn="just"/>
          <a:r>
            <a:rPr lang="en-US" sz="2000" dirty="0"/>
            <a:t>DBMS packages provide an integrated feature of above languages into a single language called </a:t>
          </a:r>
          <a:r>
            <a:rPr lang="en-US" sz="2000" b="1" dirty="0"/>
            <a:t>Structured Query Language (SQL).</a:t>
          </a:r>
          <a:endParaRPr lang="en-US" sz="2000" dirty="0"/>
        </a:p>
      </dgm:t>
    </dgm:pt>
    <dgm:pt modelId="{152F624D-2E4F-44CC-9D6A-34ECDCBC91BF}" type="parTrans" cxnId="{7E258F12-2F96-4ECB-93FC-D29376B376AA}">
      <dgm:prSet/>
      <dgm:spPr/>
      <dgm:t>
        <a:bodyPr/>
        <a:lstStyle/>
        <a:p>
          <a:endParaRPr lang="en-US"/>
        </a:p>
      </dgm:t>
    </dgm:pt>
    <dgm:pt modelId="{D249E151-42F1-42DD-B0E5-2D05F79A8CAD}" type="sibTrans" cxnId="{7E258F12-2F96-4ECB-93FC-D29376B376AA}">
      <dgm:prSet/>
      <dgm:spPr/>
      <dgm:t>
        <a:bodyPr/>
        <a:lstStyle/>
        <a:p>
          <a:endParaRPr lang="en-US"/>
        </a:p>
      </dgm:t>
    </dgm:pt>
    <dgm:pt modelId="{3613FB0C-1671-4A0C-8E5F-838EF5D65E8E}">
      <dgm:prSet custT="1"/>
      <dgm:spPr/>
      <dgm:t>
        <a:bodyPr/>
        <a:lstStyle/>
        <a:p>
          <a:pPr algn="just">
            <a:buFont typeface="Arial" panose="020B0604020202020204" pitchFamily="34" charset="0"/>
            <a:buChar char="•"/>
          </a:pPr>
          <a:endParaRPr lang="en-US" sz="2000" dirty="0"/>
        </a:p>
      </dgm:t>
    </dgm:pt>
    <dgm:pt modelId="{C8568BD4-993F-4C0D-9749-111E2DB4481F}" type="parTrans" cxnId="{08BCA085-E10E-4431-980E-B48EEA44AA0E}">
      <dgm:prSet/>
      <dgm:spPr/>
      <dgm:t>
        <a:bodyPr/>
        <a:lstStyle/>
        <a:p>
          <a:endParaRPr lang="en-US"/>
        </a:p>
      </dgm:t>
    </dgm:pt>
    <dgm:pt modelId="{59D0611A-10DC-4EE9-9C2D-87DB31698830}" type="sibTrans" cxnId="{08BCA085-E10E-4431-980E-B48EEA44AA0E}">
      <dgm:prSet/>
      <dgm:spPr/>
      <dgm:t>
        <a:bodyPr/>
        <a:lstStyle/>
        <a:p>
          <a:endParaRPr lang="en-US"/>
        </a:p>
      </dgm:t>
    </dgm:pt>
    <dgm:pt modelId="{EAAAF59D-71C0-431F-ADD2-EE0E4B667D5F}" type="pres">
      <dgm:prSet presAssocID="{7D7DA4AD-7C4B-4359-966E-FB18DAB7AFE9}" presName="linear" presStyleCnt="0">
        <dgm:presLayoutVars>
          <dgm:animLvl val="lvl"/>
          <dgm:resizeHandles val="exact"/>
        </dgm:presLayoutVars>
      </dgm:prSet>
      <dgm:spPr/>
    </dgm:pt>
    <dgm:pt modelId="{00D26DD4-2834-4568-A32F-3B42E2A935DF}" type="pres">
      <dgm:prSet presAssocID="{073FC752-C6E4-4E47-80C5-68A64E35F091}" presName="parentText" presStyleLbl="node1" presStyleIdx="0" presStyleCnt="1" custScaleY="339099">
        <dgm:presLayoutVars>
          <dgm:chMax val="0"/>
          <dgm:bulletEnabled val="1"/>
        </dgm:presLayoutVars>
      </dgm:prSet>
      <dgm:spPr/>
    </dgm:pt>
    <dgm:pt modelId="{0C985248-055B-4698-8DD6-A48E70AA3875}" type="pres">
      <dgm:prSet presAssocID="{073FC752-C6E4-4E47-80C5-68A64E35F091}" presName="childText" presStyleLbl="revTx" presStyleIdx="0" presStyleCnt="1" custScaleY="86935">
        <dgm:presLayoutVars>
          <dgm:bulletEnabled val="1"/>
        </dgm:presLayoutVars>
      </dgm:prSet>
      <dgm:spPr/>
    </dgm:pt>
  </dgm:ptLst>
  <dgm:cxnLst>
    <dgm:cxn modelId="{7E258F12-2F96-4ECB-93FC-D29376B376AA}" srcId="{073FC752-C6E4-4E47-80C5-68A64E35F091}" destId="{A10437CD-1EF7-4969-ACBA-CF582E1DBFC5}" srcOrd="8" destOrd="0" parTransId="{152F624D-2E4F-44CC-9D6A-34ECDCBC91BF}" sibTransId="{D249E151-42F1-42DD-B0E5-2D05F79A8CAD}"/>
    <dgm:cxn modelId="{6CA18A28-8AAB-4577-A553-550F0F0BF50F}" type="presOf" srcId="{3613FB0C-1671-4A0C-8E5F-838EF5D65E8E}" destId="{0C985248-055B-4698-8DD6-A48E70AA3875}" srcOrd="0" destOrd="4" presId="urn:microsoft.com/office/officeart/2005/8/layout/vList2"/>
    <dgm:cxn modelId="{D894BC34-76B8-417E-BE1D-699402101187}" srcId="{073FC752-C6E4-4E47-80C5-68A64E35F091}" destId="{B8C3F151-FFE2-4899-B89B-7064AA23E701}" srcOrd="2" destOrd="0" parTransId="{A1610650-7A7D-423C-85CC-C0DDC5EA2B2F}" sibTransId="{94F36D74-3362-401E-B16B-BD6334C68E1B}"/>
    <dgm:cxn modelId="{1729CF64-5FA4-4C67-BF76-AD124A20280F}" type="presOf" srcId="{D9499375-B485-4260-99B2-6001BA22BDD4}" destId="{0C985248-055B-4698-8DD6-A48E70AA3875}" srcOrd="0" destOrd="1" presId="urn:microsoft.com/office/officeart/2005/8/layout/vList2"/>
    <dgm:cxn modelId="{8CBA484A-269F-4FA3-B70C-8D10CC418EFD}" srcId="{073FC752-C6E4-4E47-80C5-68A64E35F091}" destId="{D9499375-B485-4260-99B2-6001BA22BDD4}" srcOrd="1" destOrd="0" parTransId="{1182EE7B-A03A-41AA-8544-843637A1DBFC}" sibTransId="{BC307D4A-38BB-4743-8F54-65775F3591E0}"/>
    <dgm:cxn modelId="{23C1A46D-6FF8-4F86-86F8-4138EF3CB10D}" srcId="{7D7DA4AD-7C4B-4359-966E-FB18DAB7AFE9}" destId="{073FC752-C6E4-4E47-80C5-68A64E35F091}" srcOrd="0" destOrd="0" parTransId="{7D5F065B-84F1-4E79-B9B1-416D9CAB5324}" sibTransId="{FE9E96E0-3054-45F6-A11E-1DF2A30C59FD}"/>
    <dgm:cxn modelId="{6D2B0A6E-1D94-4478-B474-B5EC89CEE50A}" srcId="{073FC752-C6E4-4E47-80C5-68A64E35F091}" destId="{B2710747-99EB-4A7F-81C1-AA0DEB49E98F}" srcOrd="6" destOrd="0" parTransId="{D36DFDFA-CA6C-42A1-9FA2-03A776E31D3F}" sibTransId="{FFCAC6DF-8F20-4950-87E2-D896CFC9C58C}"/>
    <dgm:cxn modelId="{FB733571-4B24-4DA0-95BB-D608AAC71A31}" type="presOf" srcId="{B8C3F151-FFE2-4899-B89B-7064AA23E701}" destId="{0C985248-055B-4698-8DD6-A48E70AA3875}" srcOrd="0" destOrd="2" presId="urn:microsoft.com/office/officeart/2005/8/layout/vList2"/>
    <dgm:cxn modelId="{9105D251-C5C5-4088-A840-97C1DAFEA388}" srcId="{073FC752-C6E4-4E47-80C5-68A64E35F091}" destId="{600D3F77-8C2C-4D70-BD78-3AA92795BBDE}" srcOrd="0" destOrd="0" parTransId="{F524204B-591A-4418-841E-4C932CF42720}" sibTransId="{EDA3E9A4-0150-41DE-A116-E118C143A244}"/>
    <dgm:cxn modelId="{C41CC272-276D-4B36-839E-07CA4BDC3D83}" type="presOf" srcId="{A10437CD-1EF7-4969-ACBA-CF582E1DBFC5}" destId="{0C985248-055B-4698-8DD6-A48E70AA3875}" srcOrd="0" destOrd="8" presId="urn:microsoft.com/office/officeart/2005/8/layout/vList2"/>
    <dgm:cxn modelId="{08BCA085-E10E-4431-980E-B48EEA44AA0E}" srcId="{073FC752-C6E4-4E47-80C5-68A64E35F091}" destId="{3613FB0C-1671-4A0C-8E5F-838EF5D65E8E}" srcOrd="4" destOrd="0" parTransId="{C8568BD4-993F-4C0D-9749-111E2DB4481F}" sibTransId="{59D0611A-10DC-4EE9-9C2D-87DB31698830}"/>
    <dgm:cxn modelId="{3B1F0987-F0F7-4B29-910E-E56BB13E3BCF}" type="presOf" srcId="{F10D3940-5106-49B1-81BD-A0C6BA6A4036}" destId="{0C985248-055B-4698-8DD6-A48E70AA3875}" srcOrd="0" destOrd="3" presId="urn:microsoft.com/office/officeart/2005/8/layout/vList2"/>
    <dgm:cxn modelId="{CB90DAA4-ED11-45A3-9537-85E0CA345D9C}" type="presOf" srcId="{A466BB97-5E1F-4E84-8FE0-305C74F71540}" destId="{0C985248-055B-4698-8DD6-A48E70AA3875}" srcOrd="0" destOrd="5" presId="urn:microsoft.com/office/officeart/2005/8/layout/vList2"/>
    <dgm:cxn modelId="{FF4F24AF-9B25-4F51-BC5C-89590BACB626}" type="presOf" srcId="{7D7DA4AD-7C4B-4359-966E-FB18DAB7AFE9}" destId="{EAAAF59D-71C0-431F-ADD2-EE0E4B667D5F}" srcOrd="0" destOrd="0" presId="urn:microsoft.com/office/officeart/2005/8/layout/vList2"/>
    <dgm:cxn modelId="{207CEAAF-C3A7-4D99-8068-9F208E5AB0A2}" type="presOf" srcId="{073FC752-C6E4-4E47-80C5-68A64E35F091}" destId="{00D26DD4-2834-4568-A32F-3B42E2A935DF}" srcOrd="0" destOrd="0" presId="urn:microsoft.com/office/officeart/2005/8/layout/vList2"/>
    <dgm:cxn modelId="{8AF412B5-F125-44BC-9544-8A0BF375E14F}" srcId="{073FC752-C6E4-4E47-80C5-68A64E35F091}" destId="{92449DD7-9F41-460E-B1D3-31462C95E0E8}" srcOrd="7" destOrd="0" parTransId="{ACD984D7-0492-4189-BB5D-948BC2DF86DB}" sibTransId="{EE0E9731-51F6-4508-82B6-2A09A5D1C988}"/>
    <dgm:cxn modelId="{A015CBBC-2549-4266-A6C2-2C650DF4F71F}" type="presOf" srcId="{B2710747-99EB-4A7F-81C1-AA0DEB49E98F}" destId="{0C985248-055B-4698-8DD6-A48E70AA3875}" srcOrd="0" destOrd="6" presId="urn:microsoft.com/office/officeart/2005/8/layout/vList2"/>
    <dgm:cxn modelId="{A524D4D4-9ED6-497B-94D5-96610180B229}" srcId="{073FC752-C6E4-4E47-80C5-68A64E35F091}" destId="{A466BB97-5E1F-4E84-8FE0-305C74F71540}" srcOrd="5" destOrd="0" parTransId="{991E0CBE-DE25-4DD3-9525-E575CFA767A5}" sibTransId="{FAA23AED-1E3A-4D7C-9F99-24115B28D362}"/>
    <dgm:cxn modelId="{1855F8DB-9EA8-493A-A6ED-A3FA9B88780E}" type="presOf" srcId="{92449DD7-9F41-460E-B1D3-31462C95E0E8}" destId="{0C985248-055B-4698-8DD6-A48E70AA3875}" srcOrd="0" destOrd="7" presId="urn:microsoft.com/office/officeart/2005/8/layout/vList2"/>
    <dgm:cxn modelId="{8AC2C7DC-BE81-4B10-B3FC-2CCDA921816D}" type="presOf" srcId="{600D3F77-8C2C-4D70-BD78-3AA92795BBDE}" destId="{0C985248-055B-4698-8DD6-A48E70AA3875}" srcOrd="0" destOrd="0" presId="urn:microsoft.com/office/officeart/2005/8/layout/vList2"/>
    <dgm:cxn modelId="{AD3EB3F9-D9EF-48E3-BEF5-6C206F3C6EA4}" srcId="{073FC752-C6E4-4E47-80C5-68A64E35F091}" destId="{F10D3940-5106-49B1-81BD-A0C6BA6A4036}" srcOrd="3" destOrd="0" parTransId="{43ECAC64-C047-42E7-9DB6-6EF7A1577C38}" sibTransId="{C498F749-69A0-471F-9E2C-8E8471FDB33B}"/>
    <dgm:cxn modelId="{5BEF952B-43E2-4E32-8235-6ABC3C756DA2}" type="presParOf" srcId="{EAAAF59D-71C0-431F-ADD2-EE0E4B667D5F}" destId="{00D26DD4-2834-4568-A32F-3B42E2A935DF}" srcOrd="0" destOrd="0" presId="urn:microsoft.com/office/officeart/2005/8/layout/vList2"/>
    <dgm:cxn modelId="{66F8204D-A0BC-4293-B446-D39DF9ADBA86}" type="presParOf" srcId="{EAAAF59D-71C0-431F-ADD2-EE0E4B667D5F}" destId="{0C985248-055B-4698-8DD6-A48E70AA3875}"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DF15CE8-E92C-46E4-A873-D21D39A3F9F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046F7F2-CC8C-4B99-8950-10B532A7C408}">
      <dgm:prSet custT="1"/>
      <dgm:spPr/>
      <dgm:t>
        <a:bodyPr/>
        <a:lstStyle/>
        <a:p>
          <a:r>
            <a:rPr lang="en-US" sz="2400" b="1"/>
            <a:t>The Database System Environment</a:t>
          </a:r>
          <a:endParaRPr lang="en-US" sz="2400"/>
        </a:p>
      </dgm:t>
    </dgm:pt>
    <dgm:pt modelId="{0D1505EF-3462-458F-B526-3F87C00C9951}" type="parTrans" cxnId="{CEE7669B-64AE-42EA-93A0-3911ECE1AE95}">
      <dgm:prSet/>
      <dgm:spPr/>
      <dgm:t>
        <a:bodyPr/>
        <a:lstStyle/>
        <a:p>
          <a:endParaRPr lang="en-US"/>
        </a:p>
      </dgm:t>
    </dgm:pt>
    <dgm:pt modelId="{EA53529B-03A0-4BB8-9F64-B1A59340D406}" type="sibTrans" cxnId="{CEE7669B-64AE-42EA-93A0-3911ECE1AE95}">
      <dgm:prSet/>
      <dgm:spPr/>
      <dgm:t>
        <a:bodyPr/>
        <a:lstStyle/>
        <a:p>
          <a:endParaRPr lang="en-US"/>
        </a:p>
      </dgm:t>
    </dgm:pt>
    <dgm:pt modelId="{9972552D-34C1-49D0-AE7E-07304CA04D7E}">
      <dgm:prSet custT="1"/>
      <dgm:spPr/>
      <dgm:t>
        <a:bodyPr/>
        <a:lstStyle/>
        <a:p>
          <a:r>
            <a:rPr lang="en-US" sz="2200" b="1" i="0" baseline="0"/>
            <a:t>DBMS Component Modules</a:t>
          </a:r>
          <a:endParaRPr lang="en-US" sz="2200"/>
        </a:p>
      </dgm:t>
    </dgm:pt>
    <dgm:pt modelId="{2472F908-E95A-48E8-B545-5649FE8C4D85}" type="parTrans" cxnId="{BA530CC0-B27C-487E-883B-17079264966A}">
      <dgm:prSet/>
      <dgm:spPr/>
      <dgm:t>
        <a:bodyPr/>
        <a:lstStyle/>
        <a:p>
          <a:endParaRPr lang="en-US"/>
        </a:p>
      </dgm:t>
    </dgm:pt>
    <dgm:pt modelId="{EE51331A-F329-4B8E-83AE-A114FAA40929}" type="sibTrans" cxnId="{BA530CC0-B27C-487E-883B-17079264966A}">
      <dgm:prSet/>
      <dgm:spPr/>
      <dgm:t>
        <a:bodyPr/>
        <a:lstStyle/>
        <a:p>
          <a:endParaRPr lang="en-US"/>
        </a:p>
      </dgm:t>
    </dgm:pt>
    <dgm:pt modelId="{42F50CD8-659E-4B9F-9A8F-AA0E95309690}" type="pres">
      <dgm:prSet presAssocID="{5DF15CE8-E92C-46E4-A873-D21D39A3F9F5}" presName="linear" presStyleCnt="0">
        <dgm:presLayoutVars>
          <dgm:animLvl val="lvl"/>
          <dgm:resizeHandles val="exact"/>
        </dgm:presLayoutVars>
      </dgm:prSet>
      <dgm:spPr/>
    </dgm:pt>
    <dgm:pt modelId="{B3897BD2-1915-4C43-876A-92D47120EEBB}" type="pres">
      <dgm:prSet presAssocID="{2046F7F2-CC8C-4B99-8950-10B532A7C408}" presName="parentText" presStyleLbl="node1" presStyleIdx="0" presStyleCnt="2" custScaleY="315799">
        <dgm:presLayoutVars>
          <dgm:chMax val="0"/>
          <dgm:bulletEnabled val="1"/>
        </dgm:presLayoutVars>
      </dgm:prSet>
      <dgm:spPr/>
    </dgm:pt>
    <dgm:pt modelId="{9941C775-2F5B-4C91-AA5B-2FD9C054F20B}" type="pres">
      <dgm:prSet presAssocID="{EA53529B-03A0-4BB8-9F64-B1A59340D406}" presName="spacer" presStyleCnt="0"/>
      <dgm:spPr/>
    </dgm:pt>
    <dgm:pt modelId="{F0BF8479-5768-4776-B1A4-E6A3AFEA255B}" type="pres">
      <dgm:prSet presAssocID="{9972552D-34C1-49D0-AE7E-07304CA04D7E}" presName="parentText" presStyleLbl="node1" presStyleIdx="1" presStyleCnt="2">
        <dgm:presLayoutVars>
          <dgm:chMax val="0"/>
          <dgm:bulletEnabled val="1"/>
        </dgm:presLayoutVars>
      </dgm:prSet>
      <dgm:spPr/>
    </dgm:pt>
  </dgm:ptLst>
  <dgm:cxnLst>
    <dgm:cxn modelId="{1B6ABF0F-4876-4BBF-97E6-E8D7B4B5AE65}" type="presOf" srcId="{9972552D-34C1-49D0-AE7E-07304CA04D7E}" destId="{F0BF8479-5768-4776-B1A4-E6A3AFEA255B}" srcOrd="0" destOrd="0" presId="urn:microsoft.com/office/officeart/2005/8/layout/vList2"/>
    <dgm:cxn modelId="{8E701114-41C0-4092-A8A6-8ABC4C12DE3F}" type="presOf" srcId="{2046F7F2-CC8C-4B99-8950-10B532A7C408}" destId="{B3897BD2-1915-4C43-876A-92D47120EEBB}" srcOrd="0" destOrd="0" presId="urn:microsoft.com/office/officeart/2005/8/layout/vList2"/>
    <dgm:cxn modelId="{5CAEE959-5A62-43D8-9980-154CA33D4AD7}" type="presOf" srcId="{5DF15CE8-E92C-46E4-A873-D21D39A3F9F5}" destId="{42F50CD8-659E-4B9F-9A8F-AA0E95309690}" srcOrd="0" destOrd="0" presId="urn:microsoft.com/office/officeart/2005/8/layout/vList2"/>
    <dgm:cxn modelId="{CEE7669B-64AE-42EA-93A0-3911ECE1AE95}" srcId="{5DF15CE8-E92C-46E4-A873-D21D39A3F9F5}" destId="{2046F7F2-CC8C-4B99-8950-10B532A7C408}" srcOrd="0" destOrd="0" parTransId="{0D1505EF-3462-458F-B526-3F87C00C9951}" sibTransId="{EA53529B-03A0-4BB8-9F64-B1A59340D406}"/>
    <dgm:cxn modelId="{BA530CC0-B27C-487E-883B-17079264966A}" srcId="{5DF15CE8-E92C-46E4-A873-D21D39A3F9F5}" destId="{9972552D-34C1-49D0-AE7E-07304CA04D7E}" srcOrd="1" destOrd="0" parTransId="{2472F908-E95A-48E8-B545-5649FE8C4D85}" sibTransId="{EE51331A-F329-4B8E-83AE-A114FAA40929}"/>
    <dgm:cxn modelId="{56133818-87E9-4BEA-972A-80B3F87EAA08}" type="presParOf" srcId="{42F50CD8-659E-4B9F-9A8F-AA0E95309690}" destId="{B3897BD2-1915-4C43-876A-92D47120EEBB}" srcOrd="0" destOrd="0" presId="urn:microsoft.com/office/officeart/2005/8/layout/vList2"/>
    <dgm:cxn modelId="{19D03F5D-44D7-4F60-9F8D-3D3F65FA934D}" type="presParOf" srcId="{42F50CD8-659E-4B9F-9A8F-AA0E95309690}" destId="{9941C775-2F5B-4C91-AA5B-2FD9C054F20B}" srcOrd="1" destOrd="0" presId="urn:microsoft.com/office/officeart/2005/8/layout/vList2"/>
    <dgm:cxn modelId="{9E5F70FA-D5B4-4F4F-A8A7-4B8F13D411F1}" type="presParOf" srcId="{42F50CD8-659E-4B9F-9A8F-AA0E95309690}" destId="{F0BF8479-5768-4776-B1A4-E6A3AFEA255B}"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416EDBC-6E62-43CA-8F6D-568D2C9695E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543A3F8-CD30-414D-89A9-667F7169F723}">
      <dgm:prSet/>
      <dgm:spPr/>
      <dgm:t>
        <a:bodyPr/>
        <a:lstStyle/>
        <a:p>
          <a:r>
            <a:rPr lang="en-US" b="1"/>
            <a:t>Database System Utilities</a:t>
          </a:r>
          <a:endParaRPr lang="en-US"/>
        </a:p>
      </dgm:t>
    </dgm:pt>
    <dgm:pt modelId="{932C583F-8D2C-45F3-9D8E-2759FF334F0C}" type="parTrans" cxnId="{12AB0BB5-5CA0-4229-AF6F-1FD04A272B1A}">
      <dgm:prSet/>
      <dgm:spPr/>
      <dgm:t>
        <a:bodyPr/>
        <a:lstStyle/>
        <a:p>
          <a:endParaRPr lang="en-US"/>
        </a:p>
      </dgm:t>
    </dgm:pt>
    <dgm:pt modelId="{95F7EE0A-6C53-49D8-8976-6F5DCF02621B}" type="sibTrans" cxnId="{12AB0BB5-5CA0-4229-AF6F-1FD04A272B1A}">
      <dgm:prSet/>
      <dgm:spPr/>
      <dgm:t>
        <a:bodyPr/>
        <a:lstStyle/>
        <a:p>
          <a:endParaRPr lang="en-US"/>
        </a:p>
      </dgm:t>
    </dgm:pt>
    <dgm:pt modelId="{0AB265BE-4824-4793-9107-677A366035B4}" type="pres">
      <dgm:prSet presAssocID="{5416EDBC-6E62-43CA-8F6D-568D2C9695E1}" presName="linear" presStyleCnt="0">
        <dgm:presLayoutVars>
          <dgm:animLvl val="lvl"/>
          <dgm:resizeHandles val="exact"/>
        </dgm:presLayoutVars>
      </dgm:prSet>
      <dgm:spPr/>
    </dgm:pt>
    <dgm:pt modelId="{251A1E16-9B7E-4FCE-A33A-172279D44E19}" type="pres">
      <dgm:prSet presAssocID="{9543A3F8-CD30-414D-89A9-667F7169F723}" presName="parentText" presStyleLbl="node1" presStyleIdx="0" presStyleCnt="1">
        <dgm:presLayoutVars>
          <dgm:chMax val="0"/>
          <dgm:bulletEnabled val="1"/>
        </dgm:presLayoutVars>
      </dgm:prSet>
      <dgm:spPr/>
    </dgm:pt>
  </dgm:ptLst>
  <dgm:cxnLst>
    <dgm:cxn modelId="{05C4A121-A063-460F-A865-79642863E4F4}" type="presOf" srcId="{5416EDBC-6E62-43CA-8F6D-568D2C9695E1}" destId="{0AB265BE-4824-4793-9107-677A366035B4}" srcOrd="0" destOrd="0" presId="urn:microsoft.com/office/officeart/2005/8/layout/vList2"/>
    <dgm:cxn modelId="{DE30DA74-065B-477B-A226-B887A665E747}" type="presOf" srcId="{9543A3F8-CD30-414D-89A9-667F7169F723}" destId="{251A1E16-9B7E-4FCE-A33A-172279D44E19}" srcOrd="0" destOrd="0" presId="urn:microsoft.com/office/officeart/2005/8/layout/vList2"/>
    <dgm:cxn modelId="{12AB0BB5-5CA0-4229-AF6F-1FD04A272B1A}" srcId="{5416EDBC-6E62-43CA-8F6D-568D2C9695E1}" destId="{9543A3F8-CD30-414D-89A9-667F7169F723}" srcOrd="0" destOrd="0" parTransId="{932C583F-8D2C-45F3-9D8E-2759FF334F0C}" sibTransId="{95F7EE0A-6C53-49D8-8976-6F5DCF02621B}"/>
    <dgm:cxn modelId="{AC0DD470-E1F2-49F2-BEE9-76C48F1C30F7}" type="presParOf" srcId="{0AB265BE-4824-4793-9107-677A366035B4}" destId="{251A1E16-9B7E-4FCE-A33A-172279D44E19}"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3C80B3F-7D85-4B60-8466-E65F3F6489B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FDA4B27-1E7F-45ED-9100-AFA20FACC01C}">
      <dgm:prSet custT="1"/>
      <dgm:spPr/>
      <dgm:t>
        <a:bodyPr/>
        <a:lstStyle/>
        <a:p>
          <a:r>
            <a:rPr lang="en-US" sz="2400" b="1" dirty="0"/>
            <a:t>Tools, Application Environments, and Communications Facilities</a:t>
          </a:r>
          <a:endParaRPr lang="en-US" sz="2400" dirty="0"/>
        </a:p>
      </dgm:t>
    </dgm:pt>
    <dgm:pt modelId="{2950C74A-125C-45DC-B4CA-2120AF417704}" type="parTrans" cxnId="{D8CBD6DA-1AF5-4FA7-B82A-9AD90ACC2754}">
      <dgm:prSet/>
      <dgm:spPr/>
      <dgm:t>
        <a:bodyPr/>
        <a:lstStyle/>
        <a:p>
          <a:endParaRPr lang="en-US"/>
        </a:p>
      </dgm:t>
    </dgm:pt>
    <dgm:pt modelId="{A1165E68-2E04-40FB-AC4A-52771C6B036C}" type="sibTrans" cxnId="{D8CBD6DA-1AF5-4FA7-B82A-9AD90ACC2754}">
      <dgm:prSet/>
      <dgm:spPr/>
      <dgm:t>
        <a:bodyPr/>
        <a:lstStyle/>
        <a:p>
          <a:endParaRPr lang="en-US"/>
        </a:p>
      </dgm:t>
    </dgm:pt>
    <dgm:pt modelId="{4FD27C96-44B8-4DAB-BE8E-997D8AB5B38C}">
      <dgm:prSet custT="1"/>
      <dgm:spPr/>
      <dgm:t>
        <a:bodyPr/>
        <a:lstStyle/>
        <a:p>
          <a:pPr algn="just"/>
          <a:r>
            <a:rPr lang="en-US" sz="2200" b="1" dirty="0"/>
            <a:t>CASE (Computer Aided Software Engineering) </a:t>
          </a:r>
          <a:r>
            <a:rPr lang="en-US" sz="2200" dirty="0"/>
            <a:t>tools are used in the design phase of database systems</a:t>
          </a:r>
        </a:p>
      </dgm:t>
    </dgm:pt>
    <dgm:pt modelId="{0447DF5A-A0D6-4103-9633-C90CD9642D29}" type="parTrans" cxnId="{CCE484B0-7419-4CB1-A99C-FB45268A8545}">
      <dgm:prSet/>
      <dgm:spPr/>
      <dgm:t>
        <a:bodyPr/>
        <a:lstStyle/>
        <a:p>
          <a:endParaRPr lang="en-US"/>
        </a:p>
      </dgm:t>
    </dgm:pt>
    <dgm:pt modelId="{5572591B-6DE1-4571-AB49-0D42F4C83618}" type="sibTrans" cxnId="{CCE484B0-7419-4CB1-A99C-FB45268A8545}">
      <dgm:prSet/>
      <dgm:spPr/>
      <dgm:t>
        <a:bodyPr/>
        <a:lstStyle/>
        <a:p>
          <a:endParaRPr lang="en-US"/>
        </a:p>
      </dgm:t>
    </dgm:pt>
    <dgm:pt modelId="{E674675D-4436-48A1-B3D4-8863CB2A9C5D}">
      <dgm:prSet custT="1"/>
      <dgm:spPr/>
      <dgm:t>
        <a:bodyPr/>
        <a:lstStyle/>
        <a:p>
          <a:pPr algn="just"/>
          <a:r>
            <a:rPr lang="en-US" sz="2200" b="1"/>
            <a:t>Data dictionary </a:t>
          </a:r>
          <a:r>
            <a:rPr lang="en-US" sz="2200"/>
            <a:t>(or data repository) </a:t>
          </a:r>
          <a:r>
            <a:rPr lang="en-US" sz="2200" b="1"/>
            <a:t>system </a:t>
          </a:r>
          <a:r>
            <a:rPr lang="en-US" sz="2200"/>
            <a:t>for storing catalog information about schemas and constraints</a:t>
          </a:r>
        </a:p>
      </dgm:t>
    </dgm:pt>
    <dgm:pt modelId="{7A919CCF-2A04-4FF5-AA91-928B86AF39BE}" type="parTrans" cxnId="{B3775958-C5BD-4414-ADF0-C164B2C41309}">
      <dgm:prSet/>
      <dgm:spPr/>
      <dgm:t>
        <a:bodyPr/>
        <a:lstStyle/>
        <a:p>
          <a:endParaRPr lang="en-US"/>
        </a:p>
      </dgm:t>
    </dgm:pt>
    <dgm:pt modelId="{B0BE41E4-6563-4F72-8D42-691BC7DBA140}" type="sibTrans" cxnId="{B3775958-C5BD-4414-ADF0-C164B2C41309}">
      <dgm:prSet/>
      <dgm:spPr/>
      <dgm:t>
        <a:bodyPr/>
        <a:lstStyle/>
        <a:p>
          <a:endParaRPr lang="en-US"/>
        </a:p>
      </dgm:t>
    </dgm:pt>
    <dgm:pt modelId="{42A735DF-5BFC-43EC-A333-8C61CCDE588B}">
      <dgm:prSet custT="1"/>
      <dgm:spPr/>
      <dgm:t>
        <a:bodyPr/>
        <a:lstStyle/>
        <a:p>
          <a:pPr algn="just"/>
          <a:r>
            <a:rPr lang="en-US" sz="2200" b="1"/>
            <a:t>Information repository </a:t>
          </a:r>
          <a:r>
            <a:rPr lang="en-US" sz="2200"/>
            <a:t>stores information such as design decisions, usage standards, application program  descriptions, and user information</a:t>
          </a:r>
        </a:p>
      </dgm:t>
    </dgm:pt>
    <dgm:pt modelId="{A336A260-F18B-446E-8D02-42A1F35700F0}" type="parTrans" cxnId="{97103622-483A-454C-876D-C11FCD6750F2}">
      <dgm:prSet/>
      <dgm:spPr/>
      <dgm:t>
        <a:bodyPr/>
        <a:lstStyle/>
        <a:p>
          <a:endParaRPr lang="en-US"/>
        </a:p>
      </dgm:t>
    </dgm:pt>
    <dgm:pt modelId="{B7ADF0BF-D14B-48D9-9D94-4A76ED894397}" type="sibTrans" cxnId="{97103622-483A-454C-876D-C11FCD6750F2}">
      <dgm:prSet/>
      <dgm:spPr/>
      <dgm:t>
        <a:bodyPr/>
        <a:lstStyle/>
        <a:p>
          <a:endParaRPr lang="en-US"/>
        </a:p>
      </dgm:t>
    </dgm:pt>
    <dgm:pt modelId="{1CA8C590-7E6E-49B3-BE74-2F6F0C8767E6}">
      <dgm:prSet custT="1"/>
      <dgm:spPr/>
      <dgm:t>
        <a:bodyPr/>
        <a:lstStyle/>
        <a:p>
          <a:pPr algn="just"/>
          <a:r>
            <a:rPr lang="en-US" sz="2200" b="1" dirty="0"/>
            <a:t>Application development environment </a:t>
          </a:r>
          <a:r>
            <a:rPr lang="en-US" sz="2200" dirty="0"/>
            <a:t>systems provide an environment for developing database applications, including database design, GUI development, querying and updating, and application program development</a:t>
          </a:r>
        </a:p>
      </dgm:t>
    </dgm:pt>
    <dgm:pt modelId="{A67B1B27-CDBC-42AD-939B-468E381FB0FF}" type="parTrans" cxnId="{AFE3914C-86F3-408D-8828-F10FEB0DF6A1}">
      <dgm:prSet/>
      <dgm:spPr/>
      <dgm:t>
        <a:bodyPr/>
        <a:lstStyle/>
        <a:p>
          <a:endParaRPr lang="en-US"/>
        </a:p>
      </dgm:t>
    </dgm:pt>
    <dgm:pt modelId="{0E43CF94-8ECE-416F-B6C1-54C959E41788}" type="sibTrans" cxnId="{AFE3914C-86F3-408D-8828-F10FEB0DF6A1}">
      <dgm:prSet/>
      <dgm:spPr/>
      <dgm:t>
        <a:bodyPr/>
        <a:lstStyle/>
        <a:p>
          <a:endParaRPr lang="en-US"/>
        </a:p>
      </dgm:t>
    </dgm:pt>
    <dgm:pt modelId="{95C8A224-12C2-4C8F-B7E2-D822735BDCCB}">
      <dgm:prSet custT="1"/>
      <dgm:spPr/>
      <dgm:t>
        <a:bodyPr/>
        <a:lstStyle/>
        <a:p>
          <a:pPr algn="just"/>
          <a:r>
            <a:rPr lang="en-US" sz="2200" b="1"/>
            <a:t>Communications software</a:t>
          </a:r>
          <a:r>
            <a:rPr lang="en-US" sz="2200"/>
            <a:t>, whose function is to allow users at locations remote from the database system site to access the database through computer terminals, workstations, or personal computers</a:t>
          </a:r>
        </a:p>
      </dgm:t>
    </dgm:pt>
    <dgm:pt modelId="{FAE9F80E-FBE3-4536-AC27-1C81874AF241}" type="parTrans" cxnId="{8FA17C50-33A8-4A63-8C1E-98D259F2C5BF}">
      <dgm:prSet/>
      <dgm:spPr/>
      <dgm:t>
        <a:bodyPr/>
        <a:lstStyle/>
        <a:p>
          <a:endParaRPr lang="en-US"/>
        </a:p>
      </dgm:t>
    </dgm:pt>
    <dgm:pt modelId="{0556B8D1-5150-4C19-92A0-6852CF0BA712}" type="sibTrans" cxnId="{8FA17C50-33A8-4A63-8C1E-98D259F2C5BF}">
      <dgm:prSet/>
      <dgm:spPr/>
      <dgm:t>
        <a:bodyPr/>
        <a:lstStyle/>
        <a:p>
          <a:endParaRPr lang="en-US"/>
        </a:p>
      </dgm:t>
    </dgm:pt>
    <dgm:pt modelId="{B474CF1D-E5B3-4772-AEA8-84F36216896D}">
      <dgm:prSet custT="1"/>
      <dgm:spPr/>
      <dgm:t>
        <a:bodyPr/>
        <a:lstStyle/>
        <a:p>
          <a:pPr algn="just"/>
          <a:r>
            <a:rPr lang="en-US" sz="2200"/>
            <a:t>These are connected to the database site through data communications hardware such as Internet routers, phone lines, long-haul networks, local networks, or satellite communication devices</a:t>
          </a:r>
        </a:p>
      </dgm:t>
    </dgm:pt>
    <dgm:pt modelId="{CB903417-8442-4BE6-A694-BFEA263B2352}" type="parTrans" cxnId="{B1D87C7A-55AF-49C0-9E71-B2937583E102}">
      <dgm:prSet/>
      <dgm:spPr/>
      <dgm:t>
        <a:bodyPr/>
        <a:lstStyle/>
        <a:p>
          <a:endParaRPr lang="en-US"/>
        </a:p>
      </dgm:t>
    </dgm:pt>
    <dgm:pt modelId="{E4E34C6F-D710-412F-8724-D0ACC2C7D412}" type="sibTrans" cxnId="{B1D87C7A-55AF-49C0-9E71-B2937583E102}">
      <dgm:prSet/>
      <dgm:spPr/>
      <dgm:t>
        <a:bodyPr/>
        <a:lstStyle/>
        <a:p>
          <a:endParaRPr lang="en-US"/>
        </a:p>
      </dgm:t>
    </dgm:pt>
    <dgm:pt modelId="{3F7A00C4-6689-4A2E-ADDC-CF32F5BFA1CE}">
      <dgm:prSet custT="1"/>
      <dgm:spPr/>
      <dgm:t>
        <a:bodyPr/>
        <a:lstStyle/>
        <a:p>
          <a:pPr algn="just"/>
          <a:r>
            <a:rPr lang="en-US" sz="2200" dirty="0"/>
            <a:t>The integrated DBMS and data communications system is called a </a:t>
          </a:r>
          <a:r>
            <a:rPr lang="en-US" sz="2200" b="1" dirty="0"/>
            <a:t>DB/DC system</a:t>
          </a:r>
          <a:endParaRPr lang="en-US" sz="2200" dirty="0"/>
        </a:p>
      </dgm:t>
    </dgm:pt>
    <dgm:pt modelId="{D84606D7-A47A-4F1E-92F5-E5A9E0DBED2B}" type="parTrans" cxnId="{759D07A1-E836-43DA-8A90-CA800E99B076}">
      <dgm:prSet/>
      <dgm:spPr/>
      <dgm:t>
        <a:bodyPr/>
        <a:lstStyle/>
        <a:p>
          <a:endParaRPr lang="en-US"/>
        </a:p>
      </dgm:t>
    </dgm:pt>
    <dgm:pt modelId="{8D1B61DD-014F-410A-9A04-807E9AE91CCF}" type="sibTrans" cxnId="{759D07A1-E836-43DA-8A90-CA800E99B076}">
      <dgm:prSet/>
      <dgm:spPr/>
      <dgm:t>
        <a:bodyPr/>
        <a:lstStyle/>
        <a:p>
          <a:endParaRPr lang="en-US"/>
        </a:p>
      </dgm:t>
    </dgm:pt>
    <dgm:pt modelId="{F4A9E520-B4AD-4143-A472-22FDCC5BC8E7}" type="pres">
      <dgm:prSet presAssocID="{33C80B3F-7D85-4B60-8466-E65F3F6489B4}" presName="linear" presStyleCnt="0">
        <dgm:presLayoutVars>
          <dgm:animLvl val="lvl"/>
          <dgm:resizeHandles val="exact"/>
        </dgm:presLayoutVars>
      </dgm:prSet>
      <dgm:spPr/>
    </dgm:pt>
    <dgm:pt modelId="{71F79338-FD74-4F9D-92AD-0E218A7D69A3}" type="pres">
      <dgm:prSet presAssocID="{FFDA4B27-1E7F-45ED-9100-AFA20FACC01C}" presName="parentText" presStyleLbl="node1" presStyleIdx="0" presStyleCnt="1" custScaleY="111549">
        <dgm:presLayoutVars>
          <dgm:chMax val="0"/>
          <dgm:bulletEnabled val="1"/>
        </dgm:presLayoutVars>
      </dgm:prSet>
      <dgm:spPr/>
    </dgm:pt>
    <dgm:pt modelId="{ACD337BA-2422-45FD-B205-002977C12D7C}" type="pres">
      <dgm:prSet presAssocID="{FFDA4B27-1E7F-45ED-9100-AFA20FACC01C}" presName="childText" presStyleLbl="revTx" presStyleIdx="0" presStyleCnt="1" custScaleY="81319">
        <dgm:presLayoutVars>
          <dgm:bulletEnabled val="1"/>
        </dgm:presLayoutVars>
      </dgm:prSet>
      <dgm:spPr/>
    </dgm:pt>
  </dgm:ptLst>
  <dgm:cxnLst>
    <dgm:cxn modelId="{97103622-483A-454C-876D-C11FCD6750F2}" srcId="{FFDA4B27-1E7F-45ED-9100-AFA20FACC01C}" destId="{42A735DF-5BFC-43EC-A333-8C61CCDE588B}" srcOrd="2" destOrd="0" parTransId="{A336A260-F18B-446E-8D02-42A1F35700F0}" sibTransId="{B7ADF0BF-D14B-48D9-9D94-4A76ED894397}"/>
    <dgm:cxn modelId="{E98AA332-632A-4AAE-B648-67A851DE8FA6}" type="presOf" srcId="{1CA8C590-7E6E-49B3-BE74-2F6F0C8767E6}" destId="{ACD337BA-2422-45FD-B205-002977C12D7C}" srcOrd="0" destOrd="3" presId="urn:microsoft.com/office/officeart/2005/8/layout/vList2"/>
    <dgm:cxn modelId="{2E489146-0D73-4FBC-8BF2-DBBCFFD88265}" type="presOf" srcId="{FFDA4B27-1E7F-45ED-9100-AFA20FACC01C}" destId="{71F79338-FD74-4F9D-92AD-0E218A7D69A3}" srcOrd="0" destOrd="0" presId="urn:microsoft.com/office/officeart/2005/8/layout/vList2"/>
    <dgm:cxn modelId="{800D5569-C69E-47AC-B919-431B84A17779}" type="presOf" srcId="{4FD27C96-44B8-4DAB-BE8E-997D8AB5B38C}" destId="{ACD337BA-2422-45FD-B205-002977C12D7C}" srcOrd="0" destOrd="0" presId="urn:microsoft.com/office/officeart/2005/8/layout/vList2"/>
    <dgm:cxn modelId="{F181CA49-B6C7-4425-B9B4-2D02A5EB15B2}" type="presOf" srcId="{B474CF1D-E5B3-4772-AEA8-84F36216896D}" destId="{ACD337BA-2422-45FD-B205-002977C12D7C}" srcOrd="0" destOrd="5" presId="urn:microsoft.com/office/officeart/2005/8/layout/vList2"/>
    <dgm:cxn modelId="{AFE3914C-86F3-408D-8828-F10FEB0DF6A1}" srcId="{FFDA4B27-1E7F-45ED-9100-AFA20FACC01C}" destId="{1CA8C590-7E6E-49B3-BE74-2F6F0C8767E6}" srcOrd="3" destOrd="0" parTransId="{A67B1B27-CDBC-42AD-939B-468E381FB0FF}" sibTransId="{0E43CF94-8ECE-416F-B6C1-54C959E41788}"/>
    <dgm:cxn modelId="{8FA17C50-33A8-4A63-8C1E-98D259F2C5BF}" srcId="{FFDA4B27-1E7F-45ED-9100-AFA20FACC01C}" destId="{95C8A224-12C2-4C8F-B7E2-D822735BDCCB}" srcOrd="4" destOrd="0" parTransId="{FAE9F80E-FBE3-4536-AC27-1C81874AF241}" sibTransId="{0556B8D1-5150-4C19-92A0-6852CF0BA712}"/>
    <dgm:cxn modelId="{B3775958-C5BD-4414-ADF0-C164B2C41309}" srcId="{FFDA4B27-1E7F-45ED-9100-AFA20FACC01C}" destId="{E674675D-4436-48A1-B3D4-8863CB2A9C5D}" srcOrd="1" destOrd="0" parTransId="{7A919CCF-2A04-4FF5-AA91-928B86AF39BE}" sibTransId="{B0BE41E4-6563-4F72-8D42-691BC7DBA140}"/>
    <dgm:cxn modelId="{B1D87C7A-55AF-49C0-9E71-B2937583E102}" srcId="{FFDA4B27-1E7F-45ED-9100-AFA20FACC01C}" destId="{B474CF1D-E5B3-4772-AEA8-84F36216896D}" srcOrd="5" destOrd="0" parTransId="{CB903417-8442-4BE6-A694-BFEA263B2352}" sibTransId="{E4E34C6F-D710-412F-8724-D0ACC2C7D412}"/>
    <dgm:cxn modelId="{53807F8A-7923-4F0D-A1E0-4152EB360C58}" type="presOf" srcId="{42A735DF-5BFC-43EC-A333-8C61CCDE588B}" destId="{ACD337BA-2422-45FD-B205-002977C12D7C}" srcOrd="0" destOrd="2" presId="urn:microsoft.com/office/officeart/2005/8/layout/vList2"/>
    <dgm:cxn modelId="{FEA0E791-98DD-42C6-A915-19F55B5BD516}" type="presOf" srcId="{3F7A00C4-6689-4A2E-ADDC-CF32F5BFA1CE}" destId="{ACD337BA-2422-45FD-B205-002977C12D7C}" srcOrd="0" destOrd="6" presId="urn:microsoft.com/office/officeart/2005/8/layout/vList2"/>
    <dgm:cxn modelId="{759D07A1-E836-43DA-8A90-CA800E99B076}" srcId="{FFDA4B27-1E7F-45ED-9100-AFA20FACC01C}" destId="{3F7A00C4-6689-4A2E-ADDC-CF32F5BFA1CE}" srcOrd="6" destOrd="0" parTransId="{D84606D7-A47A-4F1E-92F5-E5A9E0DBED2B}" sibTransId="{8D1B61DD-014F-410A-9A04-807E9AE91CCF}"/>
    <dgm:cxn modelId="{CCE484B0-7419-4CB1-A99C-FB45268A8545}" srcId="{FFDA4B27-1E7F-45ED-9100-AFA20FACC01C}" destId="{4FD27C96-44B8-4DAB-BE8E-997D8AB5B38C}" srcOrd="0" destOrd="0" parTransId="{0447DF5A-A0D6-4103-9633-C90CD9642D29}" sibTransId="{5572591B-6DE1-4571-AB49-0D42F4C83618}"/>
    <dgm:cxn modelId="{1BC0D7B1-A8BC-4ECB-A757-071CB1392F7B}" type="presOf" srcId="{33C80B3F-7D85-4B60-8466-E65F3F6489B4}" destId="{F4A9E520-B4AD-4143-A472-22FDCC5BC8E7}" srcOrd="0" destOrd="0" presId="urn:microsoft.com/office/officeart/2005/8/layout/vList2"/>
    <dgm:cxn modelId="{51F656BC-6F1B-4691-9698-89E5130453C8}" type="presOf" srcId="{E674675D-4436-48A1-B3D4-8863CB2A9C5D}" destId="{ACD337BA-2422-45FD-B205-002977C12D7C}" srcOrd="0" destOrd="1" presId="urn:microsoft.com/office/officeart/2005/8/layout/vList2"/>
    <dgm:cxn modelId="{D8CBD6DA-1AF5-4FA7-B82A-9AD90ACC2754}" srcId="{33C80B3F-7D85-4B60-8466-E65F3F6489B4}" destId="{FFDA4B27-1E7F-45ED-9100-AFA20FACC01C}" srcOrd="0" destOrd="0" parTransId="{2950C74A-125C-45DC-B4CA-2120AF417704}" sibTransId="{A1165E68-2E04-40FB-AC4A-52771C6B036C}"/>
    <dgm:cxn modelId="{9E9D8CFF-1EA2-4B9F-B829-B2FE56B506BA}" type="presOf" srcId="{95C8A224-12C2-4C8F-B7E2-D822735BDCCB}" destId="{ACD337BA-2422-45FD-B205-002977C12D7C}" srcOrd="0" destOrd="4" presId="urn:microsoft.com/office/officeart/2005/8/layout/vList2"/>
    <dgm:cxn modelId="{0D32710F-4495-4900-87F0-1D0661C55AA9}" type="presParOf" srcId="{F4A9E520-B4AD-4143-A472-22FDCC5BC8E7}" destId="{71F79338-FD74-4F9D-92AD-0E218A7D69A3}" srcOrd="0" destOrd="0" presId="urn:microsoft.com/office/officeart/2005/8/layout/vList2"/>
    <dgm:cxn modelId="{44B58A77-E8B2-4F3A-BEC5-A8AB87FF6AA5}" type="presParOf" srcId="{F4A9E520-B4AD-4143-A472-22FDCC5BC8E7}" destId="{ACD337BA-2422-45FD-B205-002977C12D7C}"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EB835F8-D240-45DC-9082-C5099942E20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25938CC-E1A3-47C2-9216-C9CB19581947}">
      <dgm:prSet custT="1"/>
      <dgm:spPr/>
      <dgm:t>
        <a:bodyPr/>
        <a:lstStyle/>
        <a:p>
          <a:r>
            <a:rPr lang="en-US" sz="2800" b="1" i="0" baseline="0" dirty="0"/>
            <a:t>Data Modeling Using the Entity–Relationship (ER) Model</a:t>
          </a:r>
          <a:endParaRPr lang="en-US" sz="2800" dirty="0"/>
        </a:p>
      </dgm:t>
    </dgm:pt>
    <dgm:pt modelId="{2FC892E1-EDD8-4C0A-B442-A2624982CF6D}" type="parTrans" cxnId="{80929B42-738C-4BA1-AFA4-BD2F2A2DD645}">
      <dgm:prSet/>
      <dgm:spPr/>
      <dgm:t>
        <a:bodyPr/>
        <a:lstStyle/>
        <a:p>
          <a:endParaRPr lang="en-US"/>
        </a:p>
      </dgm:t>
    </dgm:pt>
    <dgm:pt modelId="{502D0D72-63E0-433D-A9B0-A427A368EB20}" type="sibTrans" cxnId="{80929B42-738C-4BA1-AFA4-BD2F2A2DD645}">
      <dgm:prSet/>
      <dgm:spPr/>
      <dgm:t>
        <a:bodyPr/>
        <a:lstStyle/>
        <a:p>
          <a:endParaRPr lang="en-US"/>
        </a:p>
      </dgm:t>
    </dgm:pt>
    <dgm:pt modelId="{043EEFA0-1F84-43F3-B672-37EA9324CE0F}">
      <dgm:prSet custT="1"/>
      <dgm:spPr/>
      <dgm:t>
        <a:bodyPr/>
        <a:lstStyle/>
        <a:p>
          <a:r>
            <a:rPr lang="en-US" sz="2400" b="1" dirty="0"/>
            <a:t>Entity Types, Entity Sets, Attributes, and Keys</a:t>
          </a:r>
          <a:endParaRPr lang="en-US" sz="2400" dirty="0"/>
        </a:p>
      </dgm:t>
    </dgm:pt>
    <dgm:pt modelId="{6C26947B-1340-4255-A7F8-DD1603298AAE}" type="parTrans" cxnId="{0ADEDE8B-4DA2-40F9-ADD1-030455212A98}">
      <dgm:prSet/>
      <dgm:spPr/>
      <dgm:t>
        <a:bodyPr/>
        <a:lstStyle/>
        <a:p>
          <a:endParaRPr lang="en-US"/>
        </a:p>
      </dgm:t>
    </dgm:pt>
    <dgm:pt modelId="{B7985A2C-C68A-438B-959B-9215BD181A25}" type="sibTrans" cxnId="{0ADEDE8B-4DA2-40F9-ADD1-030455212A98}">
      <dgm:prSet/>
      <dgm:spPr/>
      <dgm:t>
        <a:bodyPr/>
        <a:lstStyle/>
        <a:p>
          <a:endParaRPr lang="en-US"/>
        </a:p>
      </dgm:t>
    </dgm:pt>
    <dgm:pt modelId="{7A184D87-381A-4F30-8458-AE6767604EE3}">
      <dgm:prSet custT="1"/>
      <dgm:spPr/>
      <dgm:t>
        <a:bodyPr/>
        <a:lstStyle/>
        <a:p>
          <a:endParaRPr lang="en-US" sz="2000" dirty="0"/>
        </a:p>
      </dgm:t>
    </dgm:pt>
    <dgm:pt modelId="{66B4C230-4330-4F37-8033-C2DBECDEDC16}" type="parTrans" cxnId="{94F151C3-EF4D-469A-9D79-4D8DB96056C3}">
      <dgm:prSet/>
      <dgm:spPr/>
      <dgm:t>
        <a:bodyPr/>
        <a:lstStyle/>
        <a:p>
          <a:endParaRPr lang="en-US"/>
        </a:p>
      </dgm:t>
    </dgm:pt>
    <dgm:pt modelId="{F16B6AE3-79CC-460F-99DF-02B3B347D189}" type="sibTrans" cxnId="{94F151C3-EF4D-469A-9D79-4D8DB96056C3}">
      <dgm:prSet/>
      <dgm:spPr/>
      <dgm:t>
        <a:bodyPr/>
        <a:lstStyle/>
        <a:p>
          <a:endParaRPr lang="en-US"/>
        </a:p>
      </dgm:t>
    </dgm:pt>
    <dgm:pt modelId="{A3C7C2DA-F156-40CD-BFF6-D2BD3239E611}" type="pres">
      <dgm:prSet presAssocID="{3EB835F8-D240-45DC-9082-C5099942E20A}" presName="linear" presStyleCnt="0">
        <dgm:presLayoutVars>
          <dgm:animLvl val="lvl"/>
          <dgm:resizeHandles val="exact"/>
        </dgm:presLayoutVars>
      </dgm:prSet>
      <dgm:spPr/>
    </dgm:pt>
    <dgm:pt modelId="{124DC6DD-1107-4A0C-A4E0-4E83B5A5DF96}" type="pres">
      <dgm:prSet presAssocID="{725938CC-E1A3-47C2-9216-C9CB19581947}" presName="parentText" presStyleLbl="node1" presStyleIdx="0" presStyleCnt="2" custScaleY="166689">
        <dgm:presLayoutVars>
          <dgm:chMax val="0"/>
          <dgm:bulletEnabled val="1"/>
        </dgm:presLayoutVars>
      </dgm:prSet>
      <dgm:spPr/>
    </dgm:pt>
    <dgm:pt modelId="{8C433509-A60A-4DBE-AAA6-C9F7841D65A2}" type="pres">
      <dgm:prSet presAssocID="{502D0D72-63E0-433D-A9B0-A427A368EB20}" presName="spacer" presStyleCnt="0"/>
      <dgm:spPr/>
    </dgm:pt>
    <dgm:pt modelId="{6BB74643-9AC2-44A8-A106-5682D56BB2DF}" type="pres">
      <dgm:prSet presAssocID="{043EEFA0-1F84-43F3-B672-37EA9324CE0F}" presName="parentText" presStyleLbl="node1" presStyleIdx="1" presStyleCnt="2">
        <dgm:presLayoutVars>
          <dgm:chMax val="0"/>
          <dgm:bulletEnabled val="1"/>
        </dgm:presLayoutVars>
      </dgm:prSet>
      <dgm:spPr/>
    </dgm:pt>
    <dgm:pt modelId="{E43DE380-1EEF-46E9-8C6B-A371E73C45AF}" type="pres">
      <dgm:prSet presAssocID="{043EEFA0-1F84-43F3-B672-37EA9324CE0F}" presName="childText" presStyleLbl="revTx" presStyleIdx="0" presStyleCnt="1" custScaleY="408882">
        <dgm:presLayoutVars>
          <dgm:bulletEnabled val="1"/>
        </dgm:presLayoutVars>
      </dgm:prSet>
      <dgm:spPr/>
    </dgm:pt>
  </dgm:ptLst>
  <dgm:cxnLst>
    <dgm:cxn modelId="{33CFD319-9974-4A19-BA76-BE57799C5875}" type="presOf" srcId="{725938CC-E1A3-47C2-9216-C9CB19581947}" destId="{124DC6DD-1107-4A0C-A4E0-4E83B5A5DF96}" srcOrd="0" destOrd="0" presId="urn:microsoft.com/office/officeart/2005/8/layout/vList2"/>
    <dgm:cxn modelId="{1E6F4029-46A9-4D38-A6F4-7E2642E2BA0A}" type="presOf" srcId="{043EEFA0-1F84-43F3-B672-37EA9324CE0F}" destId="{6BB74643-9AC2-44A8-A106-5682D56BB2DF}" srcOrd="0" destOrd="0" presId="urn:microsoft.com/office/officeart/2005/8/layout/vList2"/>
    <dgm:cxn modelId="{80929B42-738C-4BA1-AFA4-BD2F2A2DD645}" srcId="{3EB835F8-D240-45DC-9082-C5099942E20A}" destId="{725938CC-E1A3-47C2-9216-C9CB19581947}" srcOrd="0" destOrd="0" parTransId="{2FC892E1-EDD8-4C0A-B442-A2624982CF6D}" sibTransId="{502D0D72-63E0-433D-A9B0-A427A368EB20}"/>
    <dgm:cxn modelId="{0ADEDE8B-4DA2-40F9-ADD1-030455212A98}" srcId="{3EB835F8-D240-45DC-9082-C5099942E20A}" destId="{043EEFA0-1F84-43F3-B672-37EA9324CE0F}" srcOrd="1" destOrd="0" parTransId="{6C26947B-1340-4255-A7F8-DD1603298AAE}" sibTransId="{B7985A2C-C68A-438B-959B-9215BD181A25}"/>
    <dgm:cxn modelId="{CB9361B6-DCD3-48DB-AFA6-86356A103740}" type="presOf" srcId="{3EB835F8-D240-45DC-9082-C5099942E20A}" destId="{A3C7C2DA-F156-40CD-BFF6-D2BD3239E611}" srcOrd="0" destOrd="0" presId="urn:microsoft.com/office/officeart/2005/8/layout/vList2"/>
    <dgm:cxn modelId="{94F151C3-EF4D-469A-9D79-4D8DB96056C3}" srcId="{043EEFA0-1F84-43F3-B672-37EA9324CE0F}" destId="{7A184D87-381A-4F30-8458-AE6767604EE3}" srcOrd="0" destOrd="0" parTransId="{66B4C230-4330-4F37-8033-C2DBECDEDC16}" sibTransId="{F16B6AE3-79CC-460F-99DF-02B3B347D189}"/>
    <dgm:cxn modelId="{F95EE9DB-FE37-43BA-B458-028CA2E8371A}" type="presOf" srcId="{7A184D87-381A-4F30-8458-AE6767604EE3}" destId="{E43DE380-1EEF-46E9-8C6B-A371E73C45AF}" srcOrd="0" destOrd="0" presId="urn:microsoft.com/office/officeart/2005/8/layout/vList2"/>
    <dgm:cxn modelId="{81761246-BC8F-45D9-839A-C3F0F963A7A0}" type="presParOf" srcId="{A3C7C2DA-F156-40CD-BFF6-D2BD3239E611}" destId="{124DC6DD-1107-4A0C-A4E0-4E83B5A5DF96}" srcOrd="0" destOrd="0" presId="urn:microsoft.com/office/officeart/2005/8/layout/vList2"/>
    <dgm:cxn modelId="{6BD1C512-E7EC-4685-9624-4E97FD0E9608}" type="presParOf" srcId="{A3C7C2DA-F156-40CD-BFF6-D2BD3239E611}" destId="{8C433509-A60A-4DBE-AAA6-C9F7841D65A2}" srcOrd="1" destOrd="0" presId="urn:microsoft.com/office/officeart/2005/8/layout/vList2"/>
    <dgm:cxn modelId="{1B6D326B-22EF-43B3-A9BA-E2131EE6A12C}" type="presParOf" srcId="{A3C7C2DA-F156-40CD-BFF6-D2BD3239E611}" destId="{6BB74643-9AC2-44A8-A106-5682D56BB2DF}" srcOrd="2" destOrd="0" presId="urn:microsoft.com/office/officeart/2005/8/layout/vList2"/>
    <dgm:cxn modelId="{50B4D525-5A76-49FD-BDBE-4403BE4412A5}" type="presParOf" srcId="{A3C7C2DA-F156-40CD-BFF6-D2BD3239E611}" destId="{E43DE380-1EEF-46E9-8C6B-A371E73C45AF}"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B9C3751-634E-4EFB-A670-CB0476FB49D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5AFB9EC-A7B9-4C8E-BBB1-7281D61030AE}">
      <dgm:prSet/>
      <dgm:spPr/>
      <dgm:t>
        <a:bodyPr/>
        <a:lstStyle/>
        <a:p>
          <a:r>
            <a:rPr lang="en-US" b="1"/>
            <a:t>Entity Types, Entity Sets, Keys, and Value Sets</a:t>
          </a:r>
          <a:endParaRPr lang="en-US"/>
        </a:p>
      </dgm:t>
    </dgm:pt>
    <dgm:pt modelId="{E9E78FF7-487F-4CFC-B9CB-AAD7BD93315C}" type="parTrans" cxnId="{E210789B-910C-44F5-9478-A8927651E241}">
      <dgm:prSet/>
      <dgm:spPr/>
      <dgm:t>
        <a:bodyPr/>
        <a:lstStyle/>
        <a:p>
          <a:endParaRPr lang="en-US"/>
        </a:p>
      </dgm:t>
    </dgm:pt>
    <dgm:pt modelId="{55C688F7-BA5F-4418-A82A-FBAB821466D4}" type="sibTrans" cxnId="{E210789B-910C-44F5-9478-A8927651E241}">
      <dgm:prSet/>
      <dgm:spPr/>
      <dgm:t>
        <a:bodyPr/>
        <a:lstStyle/>
        <a:p>
          <a:endParaRPr lang="en-US"/>
        </a:p>
      </dgm:t>
    </dgm:pt>
    <dgm:pt modelId="{38A8BAFE-58BE-47D4-816C-27C45CB17B2C}">
      <dgm:prSet custT="1"/>
      <dgm:spPr/>
      <dgm:t>
        <a:bodyPr/>
        <a:lstStyle/>
        <a:p>
          <a:r>
            <a:rPr lang="en-US" sz="2400" b="1"/>
            <a:t>Entity Types and Entity Sets</a:t>
          </a:r>
          <a:endParaRPr lang="en-US" sz="2400"/>
        </a:p>
      </dgm:t>
    </dgm:pt>
    <dgm:pt modelId="{0CD0CFBD-5F49-4E86-846F-72ECB692FC27}" type="parTrans" cxnId="{7CF5F9BE-DC13-4D98-B006-76F50E0FFD9A}">
      <dgm:prSet/>
      <dgm:spPr/>
      <dgm:t>
        <a:bodyPr/>
        <a:lstStyle/>
        <a:p>
          <a:endParaRPr lang="en-US"/>
        </a:p>
      </dgm:t>
    </dgm:pt>
    <dgm:pt modelId="{B69B698D-8741-4352-BF44-A7DC974BEB06}" type="sibTrans" cxnId="{7CF5F9BE-DC13-4D98-B006-76F50E0FFD9A}">
      <dgm:prSet/>
      <dgm:spPr/>
      <dgm:t>
        <a:bodyPr/>
        <a:lstStyle/>
        <a:p>
          <a:endParaRPr lang="en-US"/>
        </a:p>
      </dgm:t>
    </dgm:pt>
    <dgm:pt modelId="{7EA89913-D1F6-459F-8B8B-7D6371321EE0}">
      <dgm:prSet/>
      <dgm:spPr/>
      <dgm:t>
        <a:bodyPr/>
        <a:lstStyle/>
        <a:p>
          <a:endParaRPr lang="en-US" dirty="0"/>
        </a:p>
      </dgm:t>
    </dgm:pt>
    <dgm:pt modelId="{FA2C4FBC-F441-4BFD-B9F2-78F3BF95CB00}" type="parTrans" cxnId="{561EF0B0-B4BF-4AF5-9FE2-A10E77D85368}">
      <dgm:prSet/>
      <dgm:spPr/>
      <dgm:t>
        <a:bodyPr/>
        <a:lstStyle/>
        <a:p>
          <a:endParaRPr lang="en-US"/>
        </a:p>
      </dgm:t>
    </dgm:pt>
    <dgm:pt modelId="{38E622C0-DF83-4B20-B132-FAD7AC9D3F59}" type="sibTrans" cxnId="{561EF0B0-B4BF-4AF5-9FE2-A10E77D85368}">
      <dgm:prSet/>
      <dgm:spPr/>
      <dgm:t>
        <a:bodyPr/>
        <a:lstStyle/>
        <a:p>
          <a:endParaRPr lang="en-US"/>
        </a:p>
      </dgm:t>
    </dgm:pt>
    <dgm:pt modelId="{3FAD6D88-05F1-4586-8744-D77D9F3F37A7}" type="pres">
      <dgm:prSet presAssocID="{7B9C3751-634E-4EFB-A670-CB0476FB49D6}" presName="linear" presStyleCnt="0">
        <dgm:presLayoutVars>
          <dgm:animLvl val="lvl"/>
          <dgm:resizeHandles val="exact"/>
        </dgm:presLayoutVars>
      </dgm:prSet>
      <dgm:spPr/>
    </dgm:pt>
    <dgm:pt modelId="{3DDEC8D3-EDBE-4767-9668-A8D2EB54190F}" type="pres">
      <dgm:prSet presAssocID="{95AFB9EC-A7B9-4C8E-BBB1-7281D61030AE}" presName="parentText" presStyleLbl="node1" presStyleIdx="0" presStyleCnt="2">
        <dgm:presLayoutVars>
          <dgm:chMax val="0"/>
          <dgm:bulletEnabled val="1"/>
        </dgm:presLayoutVars>
      </dgm:prSet>
      <dgm:spPr/>
    </dgm:pt>
    <dgm:pt modelId="{59C93598-7274-4AD8-8872-2645B62FF0E6}" type="pres">
      <dgm:prSet presAssocID="{55C688F7-BA5F-4418-A82A-FBAB821466D4}" presName="spacer" presStyleCnt="0"/>
      <dgm:spPr/>
    </dgm:pt>
    <dgm:pt modelId="{21F03D01-66ED-4B85-A76A-FCF7C536BFAB}" type="pres">
      <dgm:prSet presAssocID="{38A8BAFE-58BE-47D4-816C-27C45CB17B2C}" presName="parentText" presStyleLbl="node1" presStyleIdx="1" presStyleCnt="2" custScaleY="54877">
        <dgm:presLayoutVars>
          <dgm:chMax val="0"/>
          <dgm:bulletEnabled val="1"/>
        </dgm:presLayoutVars>
      </dgm:prSet>
      <dgm:spPr/>
    </dgm:pt>
    <dgm:pt modelId="{6298E6B8-6287-4167-9035-26F10AF01F92}" type="pres">
      <dgm:prSet presAssocID="{38A8BAFE-58BE-47D4-816C-27C45CB17B2C}" presName="childText" presStyleLbl="revTx" presStyleIdx="0" presStyleCnt="1">
        <dgm:presLayoutVars>
          <dgm:bulletEnabled val="1"/>
        </dgm:presLayoutVars>
      </dgm:prSet>
      <dgm:spPr/>
    </dgm:pt>
  </dgm:ptLst>
  <dgm:cxnLst>
    <dgm:cxn modelId="{B1F67287-6B1F-4B8A-BF9C-7F8B243AD273}" type="presOf" srcId="{95AFB9EC-A7B9-4C8E-BBB1-7281D61030AE}" destId="{3DDEC8D3-EDBE-4767-9668-A8D2EB54190F}" srcOrd="0" destOrd="0" presId="urn:microsoft.com/office/officeart/2005/8/layout/vList2"/>
    <dgm:cxn modelId="{C8D7798F-3E55-4FDF-8E41-EC2438C9D791}" type="presOf" srcId="{7EA89913-D1F6-459F-8B8B-7D6371321EE0}" destId="{6298E6B8-6287-4167-9035-26F10AF01F92}" srcOrd="0" destOrd="0" presId="urn:microsoft.com/office/officeart/2005/8/layout/vList2"/>
    <dgm:cxn modelId="{E210789B-910C-44F5-9478-A8927651E241}" srcId="{7B9C3751-634E-4EFB-A670-CB0476FB49D6}" destId="{95AFB9EC-A7B9-4C8E-BBB1-7281D61030AE}" srcOrd="0" destOrd="0" parTransId="{E9E78FF7-487F-4CFC-B9CB-AAD7BD93315C}" sibTransId="{55C688F7-BA5F-4418-A82A-FBAB821466D4}"/>
    <dgm:cxn modelId="{561EF0B0-B4BF-4AF5-9FE2-A10E77D85368}" srcId="{38A8BAFE-58BE-47D4-816C-27C45CB17B2C}" destId="{7EA89913-D1F6-459F-8B8B-7D6371321EE0}" srcOrd="0" destOrd="0" parTransId="{FA2C4FBC-F441-4BFD-B9F2-78F3BF95CB00}" sibTransId="{38E622C0-DF83-4B20-B132-FAD7AC9D3F59}"/>
    <dgm:cxn modelId="{7CF5F9BE-DC13-4D98-B006-76F50E0FFD9A}" srcId="{7B9C3751-634E-4EFB-A670-CB0476FB49D6}" destId="{38A8BAFE-58BE-47D4-816C-27C45CB17B2C}" srcOrd="1" destOrd="0" parTransId="{0CD0CFBD-5F49-4E86-846F-72ECB692FC27}" sibTransId="{B69B698D-8741-4352-BF44-A7DC974BEB06}"/>
    <dgm:cxn modelId="{531E68C2-9B1E-483D-A5DC-C12D6FE7735B}" type="presOf" srcId="{7B9C3751-634E-4EFB-A670-CB0476FB49D6}" destId="{3FAD6D88-05F1-4586-8744-D77D9F3F37A7}" srcOrd="0" destOrd="0" presId="urn:microsoft.com/office/officeart/2005/8/layout/vList2"/>
    <dgm:cxn modelId="{3BA41ECB-3CDD-48F7-9259-565E65785D52}" type="presOf" srcId="{38A8BAFE-58BE-47D4-816C-27C45CB17B2C}" destId="{21F03D01-66ED-4B85-A76A-FCF7C536BFAB}" srcOrd="0" destOrd="0" presId="urn:microsoft.com/office/officeart/2005/8/layout/vList2"/>
    <dgm:cxn modelId="{01496B0E-CE90-4034-A6AB-691D7A79BB12}" type="presParOf" srcId="{3FAD6D88-05F1-4586-8744-D77D9F3F37A7}" destId="{3DDEC8D3-EDBE-4767-9668-A8D2EB54190F}" srcOrd="0" destOrd="0" presId="urn:microsoft.com/office/officeart/2005/8/layout/vList2"/>
    <dgm:cxn modelId="{DDB65E34-BC34-461A-9F14-B8E2763BAAC7}" type="presParOf" srcId="{3FAD6D88-05F1-4586-8744-D77D9F3F37A7}" destId="{59C93598-7274-4AD8-8872-2645B62FF0E6}" srcOrd="1" destOrd="0" presId="urn:microsoft.com/office/officeart/2005/8/layout/vList2"/>
    <dgm:cxn modelId="{CDE3A72E-F8EE-4CE9-96C4-F5132F94763F}" type="presParOf" srcId="{3FAD6D88-05F1-4586-8744-D77D9F3F37A7}" destId="{21F03D01-66ED-4B85-A76A-FCF7C536BFAB}" srcOrd="2" destOrd="0" presId="urn:microsoft.com/office/officeart/2005/8/layout/vList2"/>
    <dgm:cxn modelId="{B0010D45-7BEE-4B0C-8493-224FD20A9AC4}" type="presParOf" srcId="{3FAD6D88-05F1-4586-8744-D77D9F3F37A7}" destId="{6298E6B8-6287-4167-9035-26F10AF01F92}"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60C32BF-B5C1-43B7-8A0D-C40D2572B5A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B64C06E-1AFF-4B52-B57E-D077A4A775DE}">
      <dgm:prSet custT="1"/>
      <dgm:spPr/>
      <dgm:t>
        <a:bodyPr/>
        <a:lstStyle/>
        <a:p>
          <a:r>
            <a:rPr lang="en-US" sz="2400" b="1" dirty="0"/>
            <a:t>Relationship Types, Relationship Sets, Roles, and Structural Constraints</a:t>
          </a:r>
          <a:endParaRPr lang="en-US" sz="2400" dirty="0"/>
        </a:p>
      </dgm:t>
    </dgm:pt>
    <dgm:pt modelId="{52F499EC-E5E1-45FC-BE9E-E03A50BA211D}" type="parTrans" cxnId="{923B7420-2A0E-46D7-91BB-4B001D3D48A2}">
      <dgm:prSet/>
      <dgm:spPr/>
      <dgm:t>
        <a:bodyPr/>
        <a:lstStyle/>
        <a:p>
          <a:endParaRPr lang="en-US"/>
        </a:p>
      </dgm:t>
    </dgm:pt>
    <dgm:pt modelId="{CD819208-3EB0-487A-A4EF-6AF56D91FFB7}" type="sibTrans" cxnId="{923B7420-2A0E-46D7-91BB-4B001D3D48A2}">
      <dgm:prSet/>
      <dgm:spPr/>
      <dgm:t>
        <a:bodyPr/>
        <a:lstStyle/>
        <a:p>
          <a:endParaRPr lang="en-US"/>
        </a:p>
      </dgm:t>
    </dgm:pt>
    <dgm:pt modelId="{69585690-485D-4307-8859-5F9607E09D20}">
      <dgm:prSet custT="1"/>
      <dgm:spPr/>
      <dgm:t>
        <a:bodyPr/>
        <a:lstStyle/>
        <a:p>
          <a:pPr algn="just"/>
          <a:r>
            <a:rPr lang="en-US" sz="2000" b="0" i="0" baseline="0" dirty="0"/>
            <a:t>Whenever an attribute of one entity type refers to another entity type, some relationship exists. </a:t>
          </a:r>
          <a:endParaRPr lang="en-US" sz="2000" dirty="0"/>
        </a:p>
      </dgm:t>
    </dgm:pt>
    <dgm:pt modelId="{96C1FA5F-61DC-4EBA-9382-EA33E5E7F6C2}" type="parTrans" cxnId="{704816E6-9985-40AC-91DF-E70AB7F2A5D4}">
      <dgm:prSet/>
      <dgm:spPr/>
      <dgm:t>
        <a:bodyPr/>
        <a:lstStyle/>
        <a:p>
          <a:endParaRPr lang="en-US"/>
        </a:p>
      </dgm:t>
    </dgm:pt>
    <dgm:pt modelId="{F75F7A1F-FACC-41EC-B77A-692FB0B7E1F3}" type="sibTrans" cxnId="{704816E6-9985-40AC-91DF-E70AB7F2A5D4}">
      <dgm:prSet/>
      <dgm:spPr/>
      <dgm:t>
        <a:bodyPr/>
        <a:lstStyle/>
        <a:p>
          <a:endParaRPr lang="en-US"/>
        </a:p>
      </dgm:t>
    </dgm:pt>
    <dgm:pt modelId="{D6FDAEF9-C397-4F41-97E2-1C02DEAF7254}">
      <dgm:prSet custT="1"/>
      <dgm:spPr/>
      <dgm:t>
        <a:bodyPr/>
        <a:lstStyle/>
        <a:p>
          <a:pPr algn="just"/>
          <a:r>
            <a:rPr lang="en-US" sz="2000" b="0" i="0" baseline="0"/>
            <a:t>For example: </a:t>
          </a:r>
          <a:endParaRPr lang="en-US" sz="2000"/>
        </a:p>
      </dgm:t>
    </dgm:pt>
    <dgm:pt modelId="{F30BC6F0-B2E5-4355-8C25-02132D928716}" type="parTrans" cxnId="{B6E5E510-902C-42B6-8BB9-B2B6A4B33D08}">
      <dgm:prSet/>
      <dgm:spPr/>
      <dgm:t>
        <a:bodyPr/>
        <a:lstStyle/>
        <a:p>
          <a:endParaRPr lang="en-US"/>
        </a:p>
      </dgm:t>
    </dgm:pt>
    <dgm:pt modelId="{4FC776E2-A73A-40B1-AF8D-8B7D6225FD11}" type="sibTrans" cxnId="{B6E5E510-902C-42B6-8BB9-B2B6A4B33D08}">
      <dgm:prSet/>
      <dgm:spPr/>
      <dgm:t>
        <a:bodyPr/>
        <a:lstStyle/>
        <a:p>
          <a:endParaRPr lang="en-US"/>
        </a:p>
      </dgm:t>
    </dgm:pt>
    <dgm:pt modelId="{C9DCABC7-2F0A-449D-AB28-63AD762517EB}">
      <dgm:prSet custT="1"/>
      <dgm:spPr/>
      <dgm:t>
        <a:bodyPr/>
        <a:lstStyle/>
        <a:p>
          <a:pPr algn="just"/>
          <a:r>
            <a:rPr lang="en-US" sz="2000" b="0" i="0" baseline="0"/>
            <a:t>the attribute Manager of DEPARTMENT refers to an employee who manages the department; </a:t>
          </a:r>
          <a:endParaRPr lang="en-US" sz="2000"/>
        </a:p>
      </dgm:t>
    </dgm:pt>
    <dgm:pt modelId="{2312E5D7-E2D7-4B8A-BCF1-5B271AD05AA5}" type="parTrans" cxnId="{476AF3AA-DBAB-4AE5-B37A-49838F3BBF61}">
      <dgm:prSet/>
      <dgm:spPr/>
      <dgm:t>
        <a:bodyPr/>
        <a:lstStyle/>
        <a:p>
          <a:endParaRPr lang="en-US"/>
        </a:p>
      </dgm:t>
    </dgm:pt>
    <dgm:pt modelId="{70AB4E74-E768-42B9-935A-D0664F0AD4BC}" type="sibTrans" cxnId="{476AF3AA-DBAB-4AE5-B37A-49838F3BBF61}">
      <dgm:prSet/>
      <dgm:spPr/>
      <dgm:t>
        <a:bodyPr/>
        <a:lstStyle/>
        <a:p>
          <a:endParaRPr lang="en-US"/>
        </a:p>
      </dgm:t>
    </dgm:pt>
    <dgm:pt modelId="{95B8C5D9-E350-4C93-AA97-8215932DA5A5}">
      <dgm:prSet custT="1"/>
      <dgm:spPr/>
      <dgm:t>
        <a:bodyPr/>
        <a:lstStyle/>
        <a:p>
          <a:pPr algn="just"/>
          <a:r>
            <a:rPr lang="en-US" sz="2000" b="0" i="0" baseline="0" dirty="0"/>
            <a:t>the attribute Controlling department</a:t>
          </a:r>
          <a:r>
            <a:rPr lang="en-US" sz="2000" dirty="0"/>
            <a:t> </a:t>
          </a:r>
          <a:r>
            <a:rPr lang="en-US" sz="2000" b="0" i="0" baseline="0" dirty="0"/>
            <a:t>of PROJECT refers to the department that controls the project; </a:t>
          </a:r>
          <a:endParaRPr lang="en-US" sz="2000" dirty="0"/>
        </a:p>
      </dgm:t>
    </dgm:pt>
    <dgm:pt modelId="{5E369F2C-BD52-4D54-BE23-26A94077F980}" type="parTrans" cxnId="{0296D2DD-AED2-41D1-BEA1-2CC712E17719}">
      <dgm:prSet/>
      <dgm:spPr/>
      <dgm:t>
        <a:bodyPr/>
        <a:lstStyle/>
        <a:p>
          <a:endParaRPr lang="en-US"/>
        </a:p>
      </dgm:t>
    </dgm:pt>
    <dgm:pt modelId="{B318BB2D-A5ED-473C-BB95-0BC4D7E087DE}" type="sibTrans" cxnId="{0296D2DD-AED2-41D1-BEA1-2CC712E17719}">
      <dgm:prSet/>
      <dgm:spPr/>
      <dgm:t>
        <a:bodyPr/>
        <a:lstStyle/>
        <a:p>
          <a:endParaRPr lang="en-US"/>
        </a:p>
      </dgm:t>
    </dgm:pt>
    <dgm:pt modelId="{1DAA3C72-B57C-4A90-BA58-FE8376A5EBE0}">
      <dgm:prSet custT="1"/>
      <dgm:spPr/>
      <dgm:t>
        <a:bodyPr/>
        <a:lstStyle/>
        <a:p>
          <a:pPr algn="just"/>
          <a:r>
            <a:rPr lang="en-US" sz="2000" b="0" i="0" baseline="0" dirty="0"/>
            <a:t>the attribute Supervisor of EMPLOYEE refers to another employee (the one who supervises this employee); </a:t>
          </a:r>
          <a:endParaRPr lang="en-US" sz="2000" dirty="0"/>
        </a:p>
      </dgm:t>
    </dgm:pt>
    <dgm:pt modelId="{BA460619-EED6-4DC1-A020-AAFEB09AB17F}" type="parTrans" cxnId="{ADF28B2F-C2A6-406D-BE58-EA05EE38DD2B}">
      <dgm:prSet/>
      <dgm:spPr/>
      <dgm:t>
        <a:bodyPr/>
        <a:lstStyle/>
        <a:p>
          <a:endParaRPr lang="en-US"/>
        </a:p>
      </dgm:t>
    </dgm:pt>
    <dgm:pt modelId="{D7A8C83E-FAE3-4B8C-B765-450FDA66002D}" type="sibTrans" cxnId="{ADF28B2F-C2A6-406D-BE58-EA05EE38DD2B}">
      <dgm:prSet/>
      <dgm:spPr/>
      <dgm:t>
        <a:bodyPr/>
        <a:lstStyle/>
        <a:p>
          <a:endParaRPr lang="en-US"/>
        </a:p>
      </dgm:t>
    </dgm:pt>
    <dgm:pt modelId="{B6363F0E-88FD-4E8F-9B0C-68CFD35DB075}">
      <dgm:prSet custT="1"/>
      <dgm:spPr/>
      <dgm:t>
        <a:bodyPr/>
        <a:lstStyle/>
        <a:p>
          <a:pPr algn="just"/>
          <a:r>
            <a:rPr lang="en-US" sz="2000" b="0" i="0" baseline="0" dirty="0"/>
            <a:t>the attribute Department of EMPLOYEE refers to the department for which the employee works; and so on.</a:t>
          </a:r>
          <a:endParaRPr lang="en-US" sz="2000" dirty="0"/>
        </a:p>
      </dgm:t>
    </dgm:pt>
    <dgm:pt modelId="{141C6C75-5170-47B4-B352-D0B445417CA7}" type="parTrans" cxnId="{FB1EA8D3-A11E-4858-82BE-FA82BB57E648}">
      <dgm:prSet/>
      <dgm:spPr/>
      <dgm:t>
        <a:bodyPr/>
        <a:lstStyle/>
        <a:p>
          <a:endParaRPr lang="en-US"/>
        </a:p>
      </dgm:t>
    </dgm:pt>
    <dgm:pt modelId="{D0273129-41B3-4A5A-AC57-2E620728B5B7}" type="sibTrans" cxnId="{FB1EA8D3-A11E-4858-82BE-FA82BB57E648}">
      <dgm:prSet/>
      <dgm:spPr/>
      <dgm:t>
        <a:bodyPr/>
        <a:lstStyle/>
        <a:p>
          <a:endParaRPr lang="en-US"/>
        </a:p>
      </dgm:t>
    </dgm:pt>
    <dgm:pt modelId="{F9E75D61-28D5-4086-A5C5-D14BAF9BA7BC}">
      <dgm:prSet custT="1"/>
      <dgm:spPr/>
      <dgm:t>
        <a:bodyPr/>
        <a:lstStyle/>
        <a:p>
          <a:pPr algn="just"/>
          <a:r>
            <a:rPr lang="en-US" sz="2000" b="0" i="0" baseline="0" dirty="0"/>
            <a:t>In the ER model, these references should not be represented as attributes but as </a:t>
          </a:r>
          <a:r>
            <a:rPr lang="en-US" sz="2000" b="1" i="0" baseline="0" dirty="0"/>
            <a:t>relationships.</a:t>
          </a:r>
          <a:endParaRPr lang="en-US" sz="2000" dirty="0"/>
        </a:p>
      </dgm:t>
    </dgm:pt>
    <dgm:pt modelId="{D2901CE1-0D3C-4E53-A402-BFF588743DBF}" type="parTrans" cxnId="{6E30AF5B-297F-4C10-80D4-EF5E78DE5195}">
      <dgm:prSet/>
      <dgm:spPr/>
      <dgm:t>
        <a:bodyPr/>
        <a:lstStyle/>
        <a:p>
          <a:endParaRPr lang="en-US"/>
        </a:p>
      </dgm:t>
    </dgm:pt>
    <dgm:pt modelId="{4CC75344-8F5F-48ED-A728-E599B19AD056}" type="sibTrans" cxnId="{6E30AF5B-297F-4C10-80D4-EF5E78DE5195}">
      <dgm:prSet/>
      <dgm:spPr/>
      <dgm:t>
        <a:bodyPr/>
        <a:lstStyle/>
        <a:p>
          <a:endParaRPr lang="en-US"/>
        </a:p>
      </dgm:t>
    </dgm:pt>
    <dgm:pt modelId="{7403A058-88E9-4C2D-A47F-50A25B8EE499}">
      <dgm:prSet/>
      <dgm:spPr/>
      <dgm:t>
        <a:bodyPr/>
        <a:lstStyle/>
        <a:p>
          <a:r>
            <a:rPr lang="en-US" b="1" i="0" baseline="0"/>
            <a:t>Relationship Types, Sets, and Instances</a:t>
          </a:r>
          <a:endParaRPr lang="en-US"/>
        </a:p>
      </dgm:t>
    </dgm:pt>
    <dgm:pt modelId="{E1218E27-D5C8-401F-B999-AA9FE3874C18}" type="parTrans" cxnId="{59BE692F-89EF-4F15-9C81-661C6076B1A3}">
      <dgm:prSet/>
      <dgm:spPr/>
      <dgm:t>
        <a:bodyPr/>
        <a:lstStyle/>
        <a:p>
          <a:endParaRPr lang="en-US"/>
        </a:p>
      </dgm:t>
    </dgm:pt>
    <dgm:pt modelId="{8C88BDC0-E4E3-458C-9247-FBEE49A7D4F2}" type="sibTrans" cxnId="{59BE692F-89EF-4F15-9C81-661C6076B1A3}">
      <dgm:prSet/>
      <dgm:spPr/>
      <dgm:t>
        <a:bodyPr/>
        <a:lstStyle/>
        <a:p>
          <a:endParaRPr lang="en-US"/>
        </a:p>
      </dgm:t>
    </dgm:pt>
    <dgm:pt modelId="{5CC797C0-C7A7-4947-B3B5-CF267DC4A5A7}">
      <dgm:prSet custT="1"/>
      <dgm:spPr/>
      <dgm:t>
        <a:bodyPr/>
        <a:lstStyle/>
        <a:p>
          <a:pPr algn="just"/>
          <a:r>
            <a:rPr lang="en-US" sz="2000" dirty="0"/>
            <a:t>A </a:t>
          </a:r>
          <a:r>
            <a:rPr lang="en-US" sz="2000" b="1" dirty="0"/>
            <a:t>relationship type </a:t>
          </a:r>
          <a:r>
            <a:rPr lang="en-US" sz="2000" dirty="0"/>
            <a:t>R among n entity types E1, E2, . . . , En defines a set of associations—or a relationship set—among entities from these entity types.</a:t>
          </a:r>
        </a:p>
      </dgm:t>
    </dgm:pt>
    <dgm:pt modelId="{FCC2EB57-81B3-48A2-B48B-D50C2A7A7E09}" type="parTrans" cxnId="{32748769-9050-4E5A-B543-F9864DC7D84B}">
      <dgm:prSet/>
      <dgm:spPr/>
      <dgm:t>
        <a:bodyPr/>
        <a:lstStyle/>
        <a:p>
          <a:endParaRPr lang="en-US"/>
        </a:p>
      </dgm:t>
    </dgm:pt>
    <dgm:pt modelId="{765062D2-57BD-4BF5-8FDD-76CDAFF6EE01}" type="sibTrans" cxnId="{32748769-9050-4E5A-B543-F9864DC7D84B}">
      <dgm:prSet/>
      <dgm:spPr/>
      <dgm:t>
        <a:bodyPr/>
        <a:lstStyle/>
        <a:p>
          <a:endParaRPr lang="en-US"/>
        </a:p>
      </dgm:t>
    </dgm:pt>
    <dgm:pt modelId="{E71C7E27-B3EF-45F0-A7E3-DF39848A1008}">
      <dgm:prSet custT="1"/>
      <dgm:spPr/>
      <dgm:t>
        <a:bodyPr/>
        <a:lstStyle/>
        <a:p>
          <a:pPr algn="just"/>
          <a:r>
            <a:rPr lang="en-US" sz="2000" b="0" i="0" baseline="0" dirty="0"/>
            <a:t>Similar to the case of entity types and entity sets, a relationship type and its corresponding relationship set are customarily referred to by the </a:t>
          </a:r>
          <a:r>
            <a:rPr lang="en-US" sz="2000" b="0" i="1" baseline="0" dirty="0"/>
            <a:t>same name</a:t>
          </a:r>
          <a:r>
            <a:rPr lang="en-US" sz="2000" b="0" i="0" baseline="0" dirty="0"/>
            <a:t>, </a:t>
          </a:r>
          <a:r>
            <a:rPr lang="en-US" sz="2000" b="0" i="1" baseline="0" dirty="0"/>
            <a:t>R</a:t>
          </a:r>
          <a:r>
            <a:rPr lang="en-US" sz="2000" b="0" i="0" baseline="0" dirty="0"/>
            <a:t>.</a:t>
          </a:r>
          <a:endParaRPr lang="en-US" sz="2000" dirty="0"/>
        </a:p>
      </dgm:t>
    </dgm:pt>
    <dgm:pt modelId="{748A8FC4-A4D9-4B2C-A870-99E67D2C7EB2}" type="parTrans" cxnId="{0339A5C3-576F-46F5-B362-2B3681397FBD}">
      <dgm:prSet/>
      <dgm:spPr/>
      <dgm:t>
        <a:bodyPr/>
        <a:lstStyle/>
        <a:p>
          <a:endParaRPr lang="en-US"/>
        </a:p>
      </dgm:t>
    </dgm:pt>
    <dgm:pt modelId="{5154CCA7-2BBE-4E1A-9778-252AD01AF3C7}" type="sibTrans" cxnId="{0339A5C3-576F-46F5-B362-2B3681397FBD}">
      <dgm:prSet/>
      <dgm:spPr/>
      <dgm:t>
        <a:bodyPr/>
        <a:lstStyle/>
        <a:p>
          <a:endParaRPr lang="en-US"/>
        </a:p>
      </dgm:t>
    </dgm:pt>
    <dgm:pt modelId="{2659BF75-E460-4F25-82C4-CF9C7CB6B0CE}" type="pres">
      <dgm:prSet presAssocID="{360C32BF-B5C1-43B7-8A0D-C40D2572B5A1}" presName="linear" presStyleCnt="0">
        <dgm:presLayoutVars>
          <dgm:animLvl val="lvl"/>
          <dgm:resizeHandles val="exact"/>
        </dgm:presLayoutVars>
      </dgm:prSet>
      <dgm:spPr/>
    </dgm:pt>
    <dgm:pt modelId="{294B8374-4E6A-4432-90A1-CE00DBFAB0B1}" type="pres">
      <dgm:prSet presAssocID="{CB64C06E-1AFF-4B52-B57E-D077A4A775DE}" presName="parentText" presStyleLbl="node1" presStyleIdx="0" presStyleCnt="2">
        <dgm:presLayoutVars>
          <dgm:chMax val="0"/>
          <dgm:bulletEnabled val="1"/>
        </dgm:presLayoutVars>
      </dgm:prSet>
      <dgm:spPr/>
    </dgm:pt>
    <dgm:pt modelId="{D118B101-DFB3-433B-A73A-5E22258C150A}" type="pres">
      <dgm:prSet presAssocID="{CB64C06E-1AFF-4B52-B57E-D077A4A775DE}" presName="childText" presStyleLbl="revTx" presStyleIdx="0" presStyleCnt="2">
        <dgm:presLayoutVars>
          <dgm:bulletEnabled val="1"/>
        </dgm:presLayoutVars>
      </dgm:prSet>
      <dgm:spPr/>
    </dgm:pt>
    <dgm:pt modelId="{4A06F80C-E795-4410-B085-D8A5C1738DE2}" type="pres">
      <dgm:prSet presAssocID="{7403A058-88E9-4C2D-A47F-50A25B8EE499}" presName="parentText" presStyleLbl="node1" presStyleIdx="1" presStyleCnt="2" custScaleY="35771">
        <dgm:presLayoutVars>
          <dgm:chMax val="0"/>
          <dgm:bulletEnabled val="1"/>
        </dgm:presLayoutVars>
      </dgm:prSet>
      <dgm:spPr/>
    </dgm:pt>
    <dgm:pt modelId="{82C3F1A4-4031-4560-A447-B2298A7AF99A}" type="pres">
      <dgm:prSet presAssocID="{7403A058-88E9-4C2D-A47F-50A25B8EE499}" presName="childText" presStyleLbl="revTx" presStyleIdx="1" presStyleCnt="2">
        <dgm:presLayoutVars>
          <dgm:bulletEnabled val="1"/>
        </dgm:presLayoutVars>
      </dgm:prSet>
      <dgm:spPr/>
    </dgm:pt>
  </dgm:ptLst>
  <dgm:cxnLst>
    <dgm:cxn modelId="{B6E5E510-902C-42B6-8BB9-B2B6A4B33D08}" srcId="{CB64C06E-1AFF-4B52-B57E-D077A4A775DE}" destId="{D6FDAEF9-C397-4F41-97E2-1C02DEAF7254}" srcOrd="1" destOrd="0" parTransId="{F30BC6F0-B2E5-4355-8C25-02132D928716}" sibTransId="{4FC776E2-A73A-40B1-AF8D-8B7D6225FD11}"/>
    <dgm:cxn modelId="{923B7420-2A0E-46D7-91BB-4B001D3D48A2}" srcId="{360C32BF-B5C1-43B7-8A0D-C40D2572B5A1}" destId="{CB64C06E-1AFF-4B52-B57E-D077A4A775DE}" srcOrd="0" destOrd="0" parTransId="{52F499EC-E5E1-45FC-BE9E-E03A50BA211D}" sibTransId="{CD819208-3EB0-487A-A4EF-6AF56D91FFB7}"/>
    <dgm:cxn modelId="{078ED622-9974-4D43-98FE-81614C890BF1}" type="presOf" srcId="{360C32BF-B5C1-43B7-8A0D-C40D2572B5A1}" destId="{2659BF75-E460-4F25-82C4-CF9C7CB6B0CE}" srcOrd="0" destOrd="0" presId="urn:microsoft.com/office/officeart/2005/8/layout/vList2"/>
    <dgm:cxn modelId="{91498824-1045-4552-9E8A-68544C1CF0AC}" type="presOf" srcId="{CB64C06E-1AFF-4B52-B57E-D077A4A775DE}" destId="{294B8374-4E6A-4432-90A1-CE00DBFAB0B1}" srcOrd="0" destOrd="0" presId="urn:microsoft.com/office/officeart/2005/8/layout/vList2"/>
    <dgm:cxn modelId="{59BE692F-89EF-4F15-9C81-661C6076B1A3}" srcId="{360C32BF-B5C1-43B7-8A0D-C40D2572B5A1}" destId="{7403A058-88E9-4C2D-A47F-50A25B8EE499}" srcOrd="1" destOrd="0" parTransId="{E1218E27-D5C8-401F-B999-AA9FE3874C18}" sibTransId="{8C88BDC0-E4E3-458C-9247-FBEE49A7D4F2}"/>
    <dgm:cxn modelId="{ADF28B2F-C2A6-406D-BE58-EA05EE38DD2B}" srcId="{D6FDAEF9-C397-4F41-97E2-1C02DEAF7254}" destId="{1DAA3C72-B57C-4A90-BA58-FE8376A5EBE0}" srcOrd="2" destOrd="0" parTransId="{BA460619-EED6-4DC1-A020-AAFEB09AB17F}" sibTransId="{D7A8C83E-FAE3-4B8C-B765-450FDA66002D}"/>
    <dgm:cxn modelId="{6E30AF5B-297F-4C10-80D4-EF5E78DE5195}" srcId="{CB64C06E-1AFF-4B52-B57E-D077A4A775DE}" destId="{F9E75D61-28D5-4086-A5C5-D14BAF9BA7BC}" srcOrd="2" destOrd="0" parTransId="{D2901CE1-0D3C-4E53-A402-BFF588743DBF}" sibTransId="{4CC75344-8F5F-48ED-A728-E599B19AD056}"/>
    <dgm:cxn modelId="{50E4D445-370B-4469-89C1-A38FB240BBF3}" type="presOf" srcId="{7403A058-88E9-4C2D-A47F-50A25B8EE499}" destId="{4A06F80C-E795-4410-B085-D8A5C1738DE2}" srcOrd="0" destOrd="0" presId="urn:microsoft.com/office/officeart/2005/8/layout/vList2"/>
    <dgm:cxn modelId="{32748769-9050-4E5A-B543-F9864DC7D84B}" srcId="{7403A058-88E9-4C2D-A47F-50A25B8EE499}" destId="{5CC797C0-C7A7-4947-B3B5-CF267DC4A5A7}" srcOrd="0" destOrd="0" parTransId="{FCC2EB57-81B3-48A2-B48B-D50C2A7A7E09}" sibTransId="{765062D2-57BD-4BF5-8FDD-76CDAFF6EE01}"/>
    <dgm:cxn modelId="{86E9016B-2CF4-4B12-BEA8-863D5D242539}" type="presOf" srcId="{C9DCABC7-2F0A-449D-AB28-63AD762517EB}" destId="{D118B101-DFB3-433B-A73A-5E22258C150A}" srcOrd="0" destOrd="2" presId="urn:microsoft.com/office/officeart/2005/8/layout/vList2"/>
    <dgm:cxn modelId="{D4BCFA6E-8498-4E8F-8AF8-A54DCD3C1104}" type="presOf" srcId="{D6FDAEF9-C397-4F41-97E2-1C02DEAF7254}" destId="{D118B101-DFB3-433B-A73A-5E22258C150A}" srcOrd="0" destOrd="1" presId="urn:microsoft.com/office/officeart/2005/8/layout/vList2"/>
    <dgm:cxn modelId="{29CF8674-49F7-4603-BA30-F4139D3BCCF6}" type="presOf" srcId="{B6363F0E-88FD-4E8F-9B0C-68CFD35DB075}" destId="{D118B101-DFB3-433B-A73A-5E22258C150A}" srcOrd="0" destOrd="5" presId="urn:microsoft.com/office/officeart/2005/8/layout/vList2"/>
    <dgm:cxn modelId="{5F16F88A-90AB-47D3-82BB-84A9487E3FE9}" type="presOf" srcId="{1DAA3C72-B57C-4A90-BA58-FE8376A5EBE0}" destId="{D118B101-DFB3-433B-A73A-5E22258C150A}" srcOrd="0" destOrd="4" presId="urn:microsoft.com/office/officeart/2005/8/layout/vList2"/>
    <dgm:cxn modelId="{476AF3AA-DBAB-4AE5-B37A-49838F3BBF61}" srcId="{D6FDAEF9-C397-4F41-97E2-1C02DEAF7254}" destId="{C9DCABC7-2F0A-449D-AB28-63AD762517EB}" srcOrd="0" destOrd="0" parTransId="{2312E5D7-E2D7-4B8A-BCF1-5B271AD05AA5}" sibTransId="{70AB4E74-E768-42B9-935A-D0664F0AD4BC}"/>
    <dgm:cxn modelId="{633201AF-74A6-45CE-97DE-CC161C5A9C03}" type="presOf" srcId="{69585690-485D-4307-8859-5F9607E09D20}" destId="{D118B101-DFB3-433B-A73A-5E22258C150A}" srcOrd="0" destOrd="0" presId="urn:microsoft.com/office/officeart/2005/8/layout/vList2"/>
    <dgm:cxn modelId="{DAF6E4B6-561D-483A-ACA5-4AECC513CFAE}" type="presOf" srcId="{E71C7E27-B3EF-45F0-A7E3-DF39848A1008}" destId="{82C3F1A4-4031-4560-A447-B2298A7AF99A}" srcOrd="0" destOrd="1" presId="urn:microsoft.com/office/officeart/2005/8/layout/vList2"/>
    <dgm:cxn modelId="{0339A5C3-576F-46F5-B362-2B3681397FBD}" srcId="{7403A058-88E9-4C2D-A47F-50A25B8EE499}" destId="{E71C7E27-B3EF-45F0-A7E3-DF39848A1008}" srcOrd="1" destOrd="0" parTransId="{748A8FC4-A4D9-4B2C-A870-99E67D2C7EB2}" sibTransId="{5154CCA7-2BBE-4E1A-9778-252AD01AF3C7}"/>
    <dgm:cxn modelId="{111031CC-2614-4B4A-AA18-9D56E6EFB07E}" type="presOf" srcId="{F9E75D61-28D5-4086-A5C5-D14BAF9BA7BC}" destId="{D118B101-DFB3-433B-A73A-5E22258C150A}" srcOrd="0" destOrd="6" presId="urn:microsoft.com/office/officeart/2005/8/layout/vList2"/>
    <dgm:cxn modelId="{FB1EA8D3-A11E-4858-82BE-FA82BB57E648}" srcId="{D6FDAEF9-C397-4F41-97E2-1C02DEAF7254}" destId="{B6363F0E-88FD-4E8F-9B0C-68CFD35DB075}" srcOrd="3" destOrd="0" parTransId="{141C6C75-5170-47B4-B352-D0B445417CA7}" sibTransId="{D0273129-41B3-4A5A-AC57-2E620728B5B7}"/>
    <dgm:cxn modelId="{0296D2DD-AED2-41D1-BEA1-2CC712E17719}" srcId="{D6FDAEF9-C397-4F41-97E2-1C02DEAF7254}" destId="{95B8C5D9-E350-4C93-AA97-8215932DA5A5}" srcOrd="1" destOrd="0" parTransId="{5E369F2C-BD52-4D54-BE23-26A94077F980}" sibTransId="{B318BB2D-A5ED-473C-BB95-0BC4D7E087DE}"/>
    <dgm:cxn modelId="{704816E6-9985-40AC-91DF-E70AB7F2A5D4}" srcId="{CB64C06E-1AFF-4B52-B57E-D077A4A775DE}" destId="{69585690-485D-4307-8859-5F9607E09D20}" srcOrd="0" destOrd="0" parTransId="{96C1FA5F-61DC-4EBA-9382-EA33E5E7F6C2}" sibTransId="{F75F7A1F-FACC-41EC-B77A-692FB0B7E1F3}"/>
    <dgm:cxn modelId="{B6F962EB-DAF5-48A4-A60E-39FCF8F38F84}" type="presOf" srcId="{95B8C5D9-E350-4C93-AA97-8215932DA5A5}" destId="{D118B101-DFB3-433B-A73A-5E22258C150A}" srcOrd="0" destOrd="3" presId="urn:microsoft.com/office/officeart/2005/8/layout/vList2"/>
    <dgm:cxn modelId="{2FE363F6-20DD-4BBE-A98A-37F9383B504E}" type="presOf" srcId="{5CC797C0-C7A7-4947-B3B5-CF267DC4A5A7}" destId="{82C3F1A4-4031-4560-A447-B2298A7AF99A}" srcOrd="0" destOrd="0" presId="urn:microsoft.com/office/officeart/2005/8/layout/vList2"/>
    <dgm:cxn modelId="{B7046F45-8886-4B99-BC01-E854AFF3A2CB}" type="presParOf" srcId="{2659BF75-E460-4F25-82C4-CF9C7CB6B0CE}" destId="{294B8374-4E6A-4432-90A1-CE00DBFAB0B1}" srcOrd="0" destOrd="0" presId="urn:microsoft.com/office/officeart/2005/8/layout/vList2"/>
    <dgm:cxn modelId="{AFCA0749-756F-4BA9-A255-D6F10E60306E}" type="presParOf" srcId="{2659BF75-E460-4F25-82C4-CF9C7CB6B0CE}" destId="{D118B101-DFB3-433B-A73A-5E22258C150A}" srcOrd="1" destOrd="0" presId="urn:microsoft.com/office/officeart/2005/8/layout/vList2"/>
    <dgm:cxn modelId="{5A4F039A-C7A3-4576-8767-161041375810}" type="presParOf" srcId="{2659BF75-E460-4F25-82C4-CF9C7CB6B0CE}" destId="{4A06F80C-E795-4410-B085-D8A5C1738DE2}" srcOrd="2" destOrd="0" presId="urn:microsoft.com/office/officeart/2005/8/layout/vList2"/>
    <dgm:cxn modelId="{E0B51282-73C5-4A18-B7CF-BF2D0618B1B5}" type="presParOf" srcId="{2659BF75-E460-4F25-82C4-CF9C7CB6B0CE}" destId="{82C3F1A4-4031-4560-A447-B2298A7AF99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55C6D4E-ACA9-4BAB-986C-EDF57E4AAAE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EDEB51F-9CCB-4514-8E6E-FC5A14625842}">
      <dgm:prSet custT="1"/>
      <dgm:spPr/>
      <dgm:t>
        <a:bodyPr/>
        <a:lstStyle/>
        <a:p>
          <a:r>
            <a:rPr lang="en-US" sz="2000" dirty="0"/>
            <a:t>Relationship Degree, Role Names, and Recursive Relationships</a:t>
          </a:r>
        </a:p>
      </dgm:t>
    </dgm:pt>
    <dgm:pt modelId="{82D2D1F8-26AC-4BB2-BDBF-241715CDC98A}" type="parTrans" cxnId="{61466087-3638-4EC8-97C8-409371F1AE38}">
      <dgm:prSet/>
      <dgm:spPr/>
      <dgm:t>
        <a:bodyPr/>
        <a:lstStyle/>
        <a:p>
          <a:endParaRPr lang="en-US"/>
        </a:p>
      </dgm:t>
    </dgm:pt>
    <dgm:pt modelId="{C8C9DB83-47FA-4205-BDCE-1602B3D6A06D}" type="sibTrans" cxnId="{61466087-3638-4EC8-97C8-409371F1AE38}">
      <dgm:prSet/>
      <dgm:spPr/>
      <dgm:t>
        <a:bodyPr/>
        <a:lstStyle/>
        <a:p>
          <a:endParaRPr lang="en-US"/>
        </a:p>
      </dgm:t>
    </dgm:pt>
    <dgm:pt modelId="{F0819B80-3D93-4101-9A91-D76523BA8237}" type="pres">
      <dgm:prSet presAssocID="{755C6D4E-ACA9-4BAB-986C-EDF57E4AAAE4}" presName="linear" presStyleCnt="0">
        <dgm:presLayoutVars>
          <dgm:animLvl val="lvl"/>
          <dgm:resizeHandles val="exact"/>
        </dgm:presLayoutVars>
      </dgm:prSet>
      <dgm:spPr/>
    </dgm:pt>
    <dgm:pt modelId="{BB3ACFC1-45DA-425F-8C85-4EDB271238B2}" type="pres">
      <dgm:prSet presAssocID="{7EDEB51F-9CCB-4514-8E6E-FC5A14625842}" presName="parentText" presStyleLbl="node1" presStyleIdx="0" presStyleCnt="1" custScaleY="100076">
        <dgm:presLayoutVars>
          <dgm:chMax val="0"/>
          <dgm:bulletEnabled val="1"/>
        </dgm:presLayoutVars>
      </dgm:prSet>
      <dgm:spPr/>
    </dgm:pt>
  </dgm:ptLst>
  <dgm:cxnLst>
    <dgm:cxn modelId="{8EC73C6B-1AB7-487A-AACC-750FE25C634F}" type="presOf" srcId="{7EDEB51F-9CCB-4514-8E6E-FC5A14625842}" destId="{BB3ACFC1-45DA-425F-8C85-4EDB271238B2}" srcOrd="0" destOrd="0" presId="urn:microsoft.com/office/officeart/2005/8/layout/vList2"/>
    <dgm:cxn modelId="{61466087-3638-4EC8-97C8-409371F1AE38}" srcId="{755C6D4E-ACA9-4BAB-986C-EDF57E4AAAE4}" destId="{7EDEB51F-9CCB-4514-8E6E-FC5A14625842}" srcOrd="0" destOrd="0" parTransId="{82D2D1F8-26AC-4BB2-BDBF-241715CDC98A}" sibTransId="{C8C9DB83-47FA-4205-BDCE-1602B3D6A06D}"/>
    <dgm:cxn modelId="{0CBA55C4-6567-4896-A91C-051F3D1C24A8}" type="presOf" srcId="{755C6D4E-ACA9-4BAB-986C-EDF57E4AAAE4}" destId="{F0819B80-3D93-4101-9A91-D76523BA8237}" srcOrd="0" destOrd="0" presId="urn:microsoft.com/office/officeart/2005/8/layout/vList2"/>
    <dgm:cxn modelId="{9FC95A59-04BF-4627-AB2E-0AFDEDD27D1E}" type="presParOf" srcId="{F0819B80-3D93-4101-9A91-D76523BA8237}" destId="{BB3ACFC1-45DA-425F-8C85-4EDB271238B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5F9F276-109F-46E6-89A2-B62F8292381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BEF4888-4B5B-4E52-9DFE-40766E611EE5}">
      <dgm:prSet/>
      <dgm:spPr/>
      <dgm:t>
        <a:bodyPr/>
        <a:lstStyle/>
        <a:p>
          <a:r>
            <a:rPr lang="en-US" b="1"/>
            <a:t>Constraints on Binary Relationship Types</a:t>
          </a:r>
          <a:endParaRPr lang="en-US"/>
        </a:p>
      </dgm:t>
    </dgm:pt>
    <dgm:pt modelId="{98B4EDAD-BB08-4001-9A0B-4029308ADC22}" type="parTrans" cxnId="{9FD0AF94-3430-4894-B1A7-9D368DA5F7DE}">
      <dgm:prSet/>
      <dgm:spPr/>
      <dgm:t>
        <a:bodyPr/>
        <a:lstStyle/>
        <a:p>
          <a:endParaRPr lang="en-US"/>
        </a:p>
      </dgm:t>
    </dgm:pt>
    <dgm:pt modelId="{F27A7086-4D74-4BA1-8D6F-BE289CFDB481}" type="sibTrans" cxnId="{9FD0AF94-3430-4894-B1A7-9D368DA5F7DE}">
      <dgm:prSet/>
      <dgm:spPr/>
      <dgm:t>
        <a:bodyPr/>
        <a:lstStyle/>
        <a:p>
          <a:endParaRPr lang="en-US"/>
        </a:p>
      </dgm:t>
    </dgm:pt>
    <dgm:pt modelId="{BED72E36-DA51-4339-8388-7BE7BB0CF79A}" type="pres">
      <dgm:prSet presAssocID="{25F9F276-109F-46E6-89A2-B62F82923819}" presName="linear" presStyleCnt="0">
        <dgm:presLayoutVars>
          <dgm:animLvl val="lvl"/>
          <dgm:resizeHandles val="exact"/>
        </dgm:presLayoutVars>
      </dgm:prSet>
      <dgm:spPr/>
    </dgm:pt>
    <dgm:pt modelId="{CE8DBCE8-4944-40DA-95CE-7E9E781E6DCD}" type="pres">
      <dgm:prSet presAssocID="{ABEF4888-4B5B-4E52-9DFE-40766E611EE5}" presName="parentText" presStyleLbl="node1" presStyleIdx="0" presStyleCnt="1">
        <dgm:presLayoutVars>
          <dgm:chMax val="0"/>
          <dgm:bulletEnabled val="1"/>
        </dgm:presLayoutVars>
      </dgm:prSet>
      <dgm:spPr/>
    </dgm:pt>
  </dgm:ptLst>
  <dgm:cxnLst>
    <dgm:cxn modelId="{9FD0AF94-3430-4894-B1A7-9D368DA5F7DE}" srcId="{25F9F276-109F-46E6-89A2-B62F82923819}" destId="{ABEF4888-4B5B-4E52-9DFE-40766E611EE5}" srcOrd="0" destOrd="0" parTransId="{98B4EDAD-BB08-4001-9A0B-4029308ADC22}" sibTransId="{F27A7086-4D74-4BA1-8D6F-BE289CFDB481}"/>
    <dgm:cxn modelId="{DBCDACE6-C0FA-4A19-803A-6B4D78EBF448}" type="presOf" srcId="{ABEF4888-4B5B-4E52-9DFE-40766E611EE5}" destId="{CE8DBCE8-4944-40DA-95CE-7E9E781E6DCD}" srcOrd="0" destOrd="0" presId="urn:microsoft.com/office/officeart/2005/8/layout/vList2"/>
    <dgm:cxn modelId="{D1A7B2FE-B547-4FE5-A1D5-E09E4867C425}" type="presOf" srcId="{25F9F276-109F-46E6-89A2-B62F82923819}" destId="{BED72E36-DA51-4339-8388-7BE7BB0CF79A}" srcOrd="0" destOrd="0" presId="urn:microsoft.com/office/officeart/2005/8/layout/vList2"/>
    <dgm:cxn modelId="{A392DE67-33B6-4D49-8857-11B93EB83C04}" type="presParOf" srcId="{BED72E36-DA51-4339-8388-7BE7BB0CF79A}" destId="{CE8DBCE8-4944-40DA-95CE-7E9E781E6DC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8961C6D-4DFF-4630-BDD2-07D5DE8ADB6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1A4C35D-C526-4987-9691-55D6FF184168}">
      <dgm:prSet/>
      <dgm:spPr/>
      <dgm:t>
        <a:bodyPr/>
        <a:lstStyle/>
        <a:p>
          <a:r>
            <a:rPr lang="en-US" b="1"/>
            <a:t>Weak Entity Types</a:t>
          </a:r>
          <a:endParaRPr lang="en-US"/>
        </a:p>
      </dgm:t>
    </dgm:pt>
    <dgm:pt modelId="{BBF9726B-DB9E-4442-A0CE-B693E4DD4D9D}" type="parTrans" cxnId="{590F71FF-F1D0-4952-8919-8181468509A2}">
      <dgm:prSet/>
      <dgm:spPr/>
      <dgm:t>
        <a:bodyPr/>
        <a:lstStyle/>
        <a:p>
          <a:endParaRPr lang="en-US"/>
        </a:p>
      </dgm:t>
    </dgm:pt>
    <dgm:pt modelId="{C7418E48-31E9-4DF0-BBA3-F7F28FD526D4}" type="sibTrans" cxnId="{590F71FF-F1D0-4952-8919-8181468509A2}">
      <dgm:prSet/>
      <dgm:spPr/>
      <dgm:t>
        <a:bodyPr/>
        <a:lstStyle/>
        <a:p>
          <a:endParaRPr lang="en-US"/>
        </a:p>
      </dgm:t>
    </dgm:pt>
    <dgm:pt modelId="{B099E9CA-49BD-4C35-8F67-A5D6A5A3D476}" type="pres">
      <dgm:prSet presAssocID="{68961C6D-4DFF-4630-BDD2-07D5DE8ADB6B}" presName="linear" presStyleCnt="0">
        <dgm:presLayoutVars>
          <dgm:animLvl val="lvl"/>
          <dgm:resizeHandles val="exact"/>
        </dgm:presLayoutVars>
      </dgm:prSet>
      <dgm:spPr/>
    </dgm:pt>
    <dgm:pt modelId="{026104AC-88EF-4484-B915-A20C48063936}" type="pres">
      <dgm:prSet presAssocID="{D1A4C35D-C526-4987-9691-55D6FF184168}" presName="parentText" presStyleLbl="node1" presStyleIdx="0" presStyleCnt="1">
        <dgm:presLayoutVars>
          <dgm:chMax val="0"/>
          <dgm:bulletEnabled val="1"/>
        </dgm:presLayoutVars>
      </dgm:prSet>
      <dgm:spPr/>
    </dgm:pt>
  </dgm:ptLst>
  <dgm:cxnLst>
    <dgm:cxn modelId="{1C5A2625-6BA2-4299-A700-A2BF07AB6844}" type="presOf" srcId="{D1A4C35D-C526-4987-9691-55D6FF184168}" destId="{026104AC-88EF-4484-B915-A20C48063936}" srcOrd="0" destOrd="0" presId="urn:microsoft.com/office/officeart/2005/8/layout/vList2"/>
    <dgm:cxn modelId="{0C04D2E9-F03F-4951-8CE3-A3FB088DA724}" type="presOf" srcId="{68961C6D-4DFF-4630-BDD2-07D5DE8ADB6B}" destId="{B099E9CA-49BD-4C35-8F67-A5D6A5A3D476}" srcOrd="0" destOrd="0" presId="urn:microsoft.com/office/officeart/2005/8/layout/vList2"/>
    <dgm:cxn modelId="{590F71FF-F1D0-4952-8919-8181468509A2}" srcId="{68961C6D-4DFF-4630-BDD2-07D5DE8ADB6B}" destId="{D1A4C35D-C526-4987-9691-55D6FF184168}" srcOrd="0" destOrd="0" parTransId="{BBF9726B-DB9E-4442-A0CE-B693E4DD4D9D}" sibTransId="{C7418E48-31E9-4DF0-BBA3-F7F28FD526D4}"/>
    <dgm:cxn modelId="{8F2AF532-B265-4F17-AEDC-C7F3B7BA97F9}" type="presParOf" srcId="{B099E9CA-49BD-4C35-8F67-A5D6A5A3D476}" destId="{026104AC-88EF-4484-B915-A20C48063936}"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F321A863-674C-4DA4-98AD-1F7E6A94314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7CC37E9-A1E4-4DDD-86E0-A236B7ADB4C8}">
      <dgm:prSet custT="1"/>
      <dgm:spPr/>
      <dgm:t>
        <a:bodyPr/>
        <a:lstStyle/>
        <a:p>
          <a:r>
            <a:rPr lang="en-US" sz="2600" b="1"/>
            <a:t>ER Diagrams, Naming Conventions, and Design Issues</a:t>
          </a:r>
          <a:endParaRPr lang="en-US" sz="2600"/>
        </a:p>
      </dgm:t>
    </dgm:pt>
    <dgm:pt modelId="{F0C9E962-64F8-42B3-BCFC-73C092C54BFB}" type="parTrans" cxnId="{3A2BBD79-5FA7-4888-9F49-12E37416D082}">
      <dgm:prSet/>
      <dgm:spPr/>
      <dgm:t>
        <a:bodyPr/>
        <a:lstStyle/>
        <a:p>
          <a:endParaRPr lang="en-US"/>
        </a:p>
      </dgm:t>
    </dgm:pt>
    <dgm:pt modelId="{AACF2FE5-CB02-4E2B-90AF-3EABFFEDD7D9}" type="sibTrans" cxnId="{3A2BBD79-5FA7-4888-9F49-12E37416D082}">
      <dgm:prSet/>
      <dgm:spPr/>
      <dgm:t>
        <a:bodyPr/>
        <a:lstStyle/>
        <a:p>
          <a:endParaRPr lang="en-US"/>
        </a:p>
      </dgm:t>
    </dgm:pt>
    <dgm:pt modelId="{C8A7293A-FD72-4C98-BD88-ECB0CFF2C3FA}">
      <dgm:prSet custT="1"/>
      <dgm:spPr/>
      <dgm:t>
        <a:bodyPr/>
        <a:lstStyle/>
        <a:p>
          <a:r>
            <a:rPr lang="en-US" sz="2200" b="1" i="0" baseline="0"/>
            <a:t>Proper Naming of Schema Constructs</a:t>
          </a:r>
          <a:endParaRPr lang="en-US" sz="2200"/>
        </a:p>
      </dgm:t>
    </dgm:pt>
    <dgm:pt modelId="{D10F9090-BDA4-4663-A833-B783EA247C1A}" type="parTrans" cxnId="{86A6DA7C-694A-46DF-B131-5E295F0B9517}">
      <dgm:prSet/>
      <dgm:spPr/>
      <dgm:t>
        <a:bodyPr/>
        <a:lstStyle/>
        <a:p>
          <a:endParaRPr lang="en-US"/>
        </a:p>
      </dgm:t>
    </dgm:pt>
    <dgm:pt modelId="{9D007479-832E-4E08-A246-9B92EAFC266A}" type="sibTrans" cxnId="{86A6DA7C-694A-46DF-B131-5E295F0B9517}">
      <dgm:prSet/>
      <dgm:spPr/>
      <dgm:t>
        <a:bodyPr/>
        <a:lstStyle/>
        <a:p>
          <a:endParaRPr lang="en-US"/>
        </a:p>
      </dgm:t>
    </dgm:pt>
    <dgm:pt modelId="{B3B7C463-30F5-4345-BAA4-C57BF20C3023}" type="pres">
      <dgm:prSet presAssocID="{F321A863-674C-4DA4-98AD-1F7E6A94314D}" presName="linear" presStyleCnt="0">
        <dgm:presLayoutVars>
          <dgm:animLvl val="lvl"/>
          <dgm:resizeHandles val="exact"/>
        </dgm:presLayoutVars>
      </dgm:prSet>
      <dgm:spPr/>
    </dgm:pt>
    <dgm:pt modelId="{4D69E503-E853-4A64-92EA-B11A626A25C6}" type="pres">
      <dgm:prSet presAssocID="{97CC37E9-A1E4-4DDD-86E0-A236B7ADB4C8}" presName="parentText" presStyleLbl="node1" presStyleIdx="0" presStyleCnt="2" custScaleY="213867">
        <dgm:presLayoutVars>
          <dgm:chMax val="0"/>
          <dgm:bulletEnabled val="1"/>
        </dgm:presLayoutVars>
      </dgm:prSet>
      <dgm:spPr/>
    </dgm:pt>
    <dgm:pt modelId="{B402FEA2-A018-40B5-9411-42D5A092988E}" type="pres">
      <dgm:prSet presAssocID="{AACF2FE5-CB02-4E2B-90AF-3EABFFEDD7D9}" presName="spacer" presStyleCnt="0"/>
      <dgm:spPr/>
    </dgm:pt>
    <dgm:pt modelId="{CBC9929F-62B8-4F64-941B-B1F092C649CF}" type="pres">
      <dgm:prSet presAssocID="{C8A7293A-FD72-4C98-BD88-ECB0CFF2C3FA}" presName="parentText" presStyleLbl="node1" presStyleIdx="1" presStyleCnt="2">
        <dgm:presLayoutVars>
          <dgm:chMax val="0"/>
          <dgm:bulletEnabled val="1"/>
        </dgm:presLayoutVars>
      </dgm:prSet>
      <dgm:spPr/>
    </dgm:pt>
  </dgm:ptLst>
  <dgm:cxnLst>
    <dgm:cxn modelId="{3A2BBD79-5FA7-4888-9F49-12E37416D082}" srcId="{F321A863-674C-4DA4-98AD-1F7E6A94314D}" destId="{97CC37E9-A1E4-4DDD-86E0-A236B7ADB4C8}" srcOrd="0" destOrd="0" parTransId="{F0C9E962-64F8-42B3-BCFC-73C092C54BFB}" sibTransId="{AACF2FE5-CB02-4E2B-90AF-3EABFFEDD7D9}"/>
    <dgm:cxn modelId="{86A6DA7C-694A-46DF-B131-5E295F0B9517}" srcId="{F321A863-674C-4DA4-98AD-1F7E6A94314D}" destId="{C8A7293A-FD72-4C98-BD88-ECB0CFF2C3FA}" srcOrd="1" destOrd="0" parTransId="{D10F9090-BDA4-4663-A833-B783EA247C1A}" sibTransId="{9D007479-832E-4E08-A246-9B92EAFC266A}"/>
    <dgm:cxn modelId="{9253C0B1-3C61-4E45-8FA6-A25B7B371899}" type="presOf" srcId="{97CC37E9-A1E4-4DDD-86E0-A236B7ADB4C8}" destId="{4D69E503-E853-4A64-92EA-B11A626A25C6}" srcOrd="0" destOrd="0" presId="urn:microsoft.com/office/officeart/2005/8/layout/vList2"/>
    <dgm:cxn modelId="{C6D206B4-B205-4401-AF47-647F5FB6352E}" type="presOf" srcId="{C8A7293A-FD72-4C98-BD88-ECB0CFF2C3FA}" destId="{CBC9929F-62B8-4F64-941B-B1F092C649CF}" srcOrd="0" destOrd="0" presId="urn:microsoft.com/office/officeart/2005/8/layout/vList2"/>
    <dgm:cxn modelId="{5DDC6CFC-78B9-4608-A0B7-BE6F42737153}" type="presOf" srcId="{F321A863-674C-4DA4-98AD-1F7E6A94314D}" destId="{B3B7C463-30F5-4345-BAA4-C57BF20C3023}" srcOrd="0" destOrd="0" presId="urn:microsoft.com/office/officeart/2005/8/layout/vList2"/>
    <dgm:cxn modelId="{8BFDC271-430F-4CB8-A1E4-AEAE5A54EBA9}" type="presParOf" srcId="{B3B7C463-30F5-4345-BAA4-C57BF20C3023}" destId="{4D69E503-E853-4A64-92EA-B11A626A25C6}" srcOrd="0" destOrd="0" presId="urn:microsoft.com/office/officeart/2005/8/layout/vList2"/>
    <dgm:cxn modelId="{82B1896E-223E-4CC6-90DC-B67E4E3BC0FB}" type="presParOf" srcId="{B3B7C463-30F5-4345-BAA4-C57BF20C3023}" destId="{B402FEA2-A018-40B5-9411-42D5A092988E}" srcOrd="1" destOrd="0" presId="urn:microsoft.com/office/officeart/2005/8/layout/vList2"/>
    <dgm:cxn modelId="{2B631192-77F4-4A28-BE4A-99EA8BC5F267}" type="presParOf" srcId="{B3B7C463-30F5-4345-BAA4-C57BF20C3023}" destId="{CBC9929F-62B8-4F64-941B-B1F092C649CF}"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3D30009-DAEE-4C13-971A-68BE6F9C5B5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CC48C53-8BBB-4E1C-AC57-E0A52FF1AE95}">
      <dgm:prSet/>
      <dgm:spPr/>
      <dgm:t>
        <a:bodyPr/>
        <a:lstStyle/>
        <a:p>
          <a:r>
            <a:rPr lang="en-US" b="1"/>
            <a:t>Design Choices for ER Conceptual Design</a:t>
          </a:r>
          <a:endParaRPr lang="en-US"/>
        </a:p>
      </dgm:t>
    </dgm:pt>
    <dgm:pt modelId="{BCBF86DB-3D4B-4B65-B6FE-1A4F0DFBC945}" type="parTrans" cxnId="{D4FB407E-DB6A-40EB-B483-8276548D7C7B}">
      <dgm:prSet/>
      <dgm:spPr/>
      <dgm:t>
        <a:bodyPr/>
        <a:lstStyle/>
        <a:p>
          <a:endParaRPr lang="en-US"/>
        </a:p>
      </dgm:t>
    </dgm:pt>
    <dgm:pt modelId="{734CAAB0-A2D0-4F03-BDA9-6577D9241F21}" type="sibTrans" cxnId="{D4FB407E-DB6A-40EB-B483-8276548D7C7B}">
      <dgm:prSet/>
      <dgm:spPr/>
      <dgm:t>
        <a:bodyPr/>
        <a:lstStyle/>
        <a:p>
          <a:endParaRPr lang="en-US"/>
        </a:p>
      </dgm:t>
    </dgm:pt>
    <dgm:pt modelId="{084613A5-DDCA-4EF7-A5BB-F0DC83120039}" type="pres">
      <dgm:prSet presAssocID="{C3D30009-DAEE-4C13-971A-68BE6F9C5B51}" presName="linear" presStyleCnt="0">
        <dgm:presLayoutVars>
          <dgm:animLvl val="lvl"/>
          <dgm:resizeHandles val="exact"/>
        </dgm:presLayoutVars>
      </dgm:prSet>
      <dgm:spPr/>
    </dgm:pt>
    <dgm:pt modelId="{53594C29-302A-4ECA-BD61-019B2A4A33D3}" type="pres">
      <dgm:prSet presAssocID="{4CC48C53-8BBB-4E1C-AC57-E0A52FF1AE95}" presName="parentText" presStyleLbl="node1" presStyleIdx="0" presStyleCnt="1">
        <dgm:presLayoutVars>
          <dgm:chMax val="0"/>
          <dgm:bulletEnabled val="1"/>
        </dgm:presLayoutVars>
      </dgm:prSet>
      <dgm:spPr/>
    </dgm:pt>
  </dgm:ptLst>
  <dgm:cxnLst>
    <dgm:cxn modelId="{0508245E-9A54-4578-9483-1239A8CB900E}" type="presOf" srcId="{4CC48C53-8BBB-4E1C-AC57-E0A52FF1AE95}" destId="{53594C29-302A-4ECA-BD61-019B2A4A33D3}" srcOrd="0" destOrd="0" presId="urn:microsoft.com/office/officeart/2005/8/layout/vList2"/>
    <dgm:cxn modelId="{D4FB407E-DB6A-40EB-B483-8276548D7C7B}" srcId="{C3D30009-DAEE-4C13-971A-68BE6F9C5B51}" destId="{4CC48C53-8BBB-4E1C-AC57-E0A52FF1AE95}" srcOrd="0" destOrd="0" parTransId="{BCBF86DB-3D4B-4B65-B6FE-1A4F0DFBC945}" sibTransId="{734CAAB0-A2D0-4F03-BDA9-6577D9241F21}"/>
    <dgm:cxn modelId="{A33010E5-0046-4E59-BE38-588DC635DD97}" type="presOf" srcId="{C3D30009-DAEE-4C13-971A-68BE6F9C5B51}" destId="{084613A5-DDCA-4EF7-A5BB-F0DC83120039}" srcOrd="0" destOrd="0" presId="urn:microsoft.com/office/officeart/2005/8/layout/vList2"/>
    <dgm:cxn modelId="{5B2A002A-11FE-4890-972A-E8C6E147294B}" type="presParOf" srcId="{084613A5-DDCA-4EF7-A5BB-F0DC83120039}" destId="{53594C29-302A-4ECA-BD61-019B2A4A33D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351A13F-E488-4DBE-A55C-69FC68835D7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775BE0D-B54C-457A-8CCD-44FEB7F66A04}">
      <dgm:prSet/>
      <dgm:spPr/>
      <dgm:t>
        <a:bodyPr/>
        <a:lstStyle/>
        <a:p>
          <a:r>
            <a:rPr lang="en-US" b="1" i="0" baseline="0"/>
            <a:t>Alternative Notations for ER Diagrams</a:t>
          </a:r>
          <a:endParaRPr lang="en-US"/>
        </a:p>
      </dgm:t>
    </dgm:pt>
    <dgm:pt modelId="{349678EE-68BE-4ECC-A1C3-F0E94784A7C7}" type="parTrans" cxnId="{2226C9B9-6F3C-4602-847D-024233BE909C}">
      <dgm:prSet/>
      <dgm:spPr/>
      <dgm:t>
        <a:bodyPr/>
        <a:lstStyle/>
        <a:p>
          <a:endParaRPr lang="en-US"/>
        </a:p>
      </dgm:t>
    </dgm:pt>
    <dgm:pt modelId="{776B84C4-A85F-4B1F-8C97-7EFCC41E68D0}" type="sibTrans" cxnId="{2226C9B9-6F3C-4602-847D-024233BE909C}">
      <dgm:prSet/>
      <dgm:spPr/>
      <dgm:t>
        <a:bodyPr/>
        <a:lstStyle/>
        <a:p>
          <a:endParaRPr lang="en-US"/>
        </a:p>
      </dgm:t>
    </dgm:pt>
    <dgm:pt modelId="{AC745AF7-5FA8-4481-B0B4-0001AF357F48}" type="pres">
      <dgm:prSet presAssocID="{8351A13F-E488-4DBE-A55C-69FC68835D70}" presName="linear" presStyleCnt="0">
        <dgm:presLayoutVars>
          <dgm:animLvl val="lvl"/>
          <dgm:resizeHandles val="exact"/>
        </dgm:presLayoutVars>
      </dgm:prSet>
      <dgm:spPr/>
    </dgm:pt>
    <dgm:pt modelId="{B81DBDA6-255A-48F0-9F70-7BAC952513F6}" type="pres">
      <dgm:prSet presAssocID="{4775BE0D-B54C-457A-8CCD-44FEB7F66A04}" presName="parentText" presStyleLbl="node1" presStyleIdx="0" presStyleCnt="1">
        <dgm:presLayoutVars>
          <dgm:chMax val="0"/>
          <dgm:bulletEnabled val="1"/>
        </dgm:presLayoutVars>
      </dgm:prSet>
      <dgm:spPr/>
    </dgm:pt>
  </dgm:ptLst>
  <dgm:cxnLst>
    <dgm:cxn modelId="{70AEE052-84CA-41B2-8420-88D0117CE195}" type="presOf" srcId="{4775BE0D-B54C-457A-8CCD-44FEB7F66A04}" destId="{B81DBDA6-255A-48F0-9F70-7BAC952513F6}" srcOrd="0" destOrd="0" presId="urn:microsoft.com/office/officeart/2005/8/layout/vList2"/>
    <dgm:cxn modelId="{9D6A8B9A-5A60-4EDD-BBA6-196C14DA3C61}" type="presOf" srcId="{8351A13F-E488-4DBE-A55C-69FC68835D70}" destId="{AC745AF7-5FA8-4481-B0B4-0001AF357F48}" srcOrd="0" destOrd="0" presId="urn:microsoft.com/office/officeart/2005/8/layout/vList2"/>
    <dgm:cxn modelId="{2226C9B9-6F3C-4602-847D-024233BE909C}" srcId="{8351A13F-E488-4DBE-A55C-69FC68835D70}" destId="{4775BE0D-B54C-457A-8CCD-44FEB7F66A04}" srcOrd="0" destOrd="0" parTransId="{349678EE-68BE-4ECC-A1C3-F0E94784A7C7}" sibTransId="{776B84C4-A85F-4B1F-8C97-7EFCC41E68D0}"/>
    <dgm:cxn modelId="{1431D365-9459-466B-AF50-0F71844CEA2A}" type="presParOf" srcId="{AC745AF7-5FA8-4481-B0B4-0001AF357F48}" destId="{B81DBDA6-255A-48F0-9F70-7BAC952513F6}"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CA8BABEF-D5A5-4235-8E91-100AC73A688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4375653-F4A6-425A-9798-9EF2F34C9038}">
      <dgm:prSet/>
      <dgm:spPr/>
      <dgm:t>
        <a:bodyPr/>
        <a:lstStyle/>
        <a:p>
          <a:r>
            <a:rPr lang="en-US" b="1"/>
            <a:t>Summary of the notation for ER diagrams</a:t>
          </a:r>
          <a:endParaRPr lang="en-US"/>
        </a:p>
      </dgm:t>
    </dgm:pt>
    <dgm:pt modelId="{D2EFE578-21D5-492B-8D9A-067F5136C9E4}" type="parTrans" cxnId="{F49483FC-EC4D-46AC-8470-0A9B13858D5D}">
      <dgm:prSet/>
      <dgm:spPr/>
      <dgm:t>
        <a:bodyPr/>
        <a:lstStyle/>
        <a:p>
          <a:endParaRPr lang="en-US"/>
        </a:p>
      </dgm:t>
    </dgm:pt>
    <dgm:pt modelId="{02EA4207-4AB1-44A1-A5DF-25E8FF4BF4CF}" type="sibTrans" cxnId="{F49483FC-EC4D-46AC-8470-0A9B13858D5D}">
      <dgm:prSet/>
      <dgm:spPr/>
      <dgm:t>
        <a:bodyPr/>
        <a:lstStyle/>
        <a:p>
          <a:endParaRPr lang="en-US"/>
        </a:p>
      </dgm:t>
    </dgm:pt>
    <dgm:pt modelId="{007959BD-2E15-4006-A9E4-24111BF82F1C}" type="pres">
      <dgm:prSet presAssocID="{CA8BABEF-D5A5-4235-8E91-100AC73A688F}" presName="linear" presStyleCnt="0">
        <dgm:presLayoutVars>
          <dgm:animLvl val="lvl"/>
          <dgm:resizeHandles val="exact"/>
        </dgm:presLayoutVars>
      </dgm:prSet>
      <dgm:spPr/>
    </dgm:pt>
    <dgm:pt modelId="{7396FBBC-2919-477C-A6D2-585A5EE3F12A}" type="pres">
      <dgm:prSet presAssocID="{D4375653-F4A6-425A-9798-9EF2F34C9038}" presName="parentText" presStyleLbl="node1" presStyleIdx="0" presStyleCnt="1">
        <dgm:presLayoutVars>
          <dgm:chMax val="0"/>
          <dgm:bulletEnabled val="1"/>
        </dgm:presLayoutVars>
      </dgm:prSet>
      <dgm:spPr/>
    </dgm:pt>
  </dgm:ptLst>
  <dgm:cxnLst>
    <dgm:cxn modelId="{689CBB04-97DA-4DBB-909A-50196C3081D3}" type="presOf" srcId="{D4375653-F4A6-425A-9798-9EF2F34C9038}" destId="{7396FBBC-2919-477C-A6D2-585A5EE3F12A}" srcOrd="0" destOrd="0" presId="urn:microsoft.com/office/officeart/2005/8/layout/vList2"/>
    <dgm:cxn modelId="{9F31FE8D-7E1D-4BB5-8320-C8246B2DABD3}" type="presOf" srcId="{CA8BABEF-D5A5-4235-8E91-100AC73A688F}" destId="{007959BD-2E15-4006-A9E4-24111BF82F1C}" srcOrd="0" destOrd="0" presId="urn:microsoft.com/office/officeart/2005/8/layout/vList2"/>
    <dgm:cxn modelId="{F49483FC-EC4D-46AC-8470-0A9B13858D5D}" srcId="{CA8BABEF-D5A5-4235-8E91-100AC73A688F}" destId="{D4375653-F4A6-425A-9798-9EF2F34C9038}" srcOrd="0" destOrd="0" parTransId="{D2EFE578-21D5-492B-8D9A-067F5136C9E4}" sibTransId="{02EA4207-4AB1-44A1-A5DF-25E8FF4BF4CF}"/>
    <dgm:cxn modelId="{69933F85-2682-4BEC-BE80-CCB403133BD2}" type="presParOf" srcId="{007959BD-2E15-4006-A9E4-24111BF82F1C}" destId="{7396FBBC-2919-477C-A6D2-585A5EE3F12A}"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F53FCAC6-486F-4AEB-8C42-59983FE52CA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DA2393D-AF6C-4101-8D12-7B2065CEF607}">
      <dgm:prSet custT="1"/>
      <dgm:spPr/>
      <dgm:t>
        <a:bodyPr/>
        <a:lstStyle/>
        <a:p>
          <a:r>
            <a:rPr lang="en-US" sz="2200" b="1" i="0" baseline="0"/>
            <a:t>Example of Other Notation:</a:t>
          </a:r>
          <a:endParaRPr lang="en-US" sz="2200"/>
        </a:p>
      </dgm:t>
    </dgm:pt>
    <dgm:pt modelId="{AAC5A8F5-DA0A-4707-A969-1FBC28357FBE}" type="parTrans" cxnId="{D01272BB-37F3-4884-8F1A-04925D57F71E}">
      <dgm:prSet/>
      <dgm:spPr/>
      <dgm:t>
        <a:bodyPr/>
        <a:lstStyle/>
        <a:p>
          <a:endParaRPr lang="en-US"/>
        </a:p>
      </dgm:t>
    </dgm:pt>
    <dgm:pt modelId="{59D6F446-91EC-411A-B591-645CADDABEB4}" type="sibTrans" cxnId="{D01272BB-37F3-4884-8F1A-04925D57F71E}">
      <dgm:prSet/>
      <dgm:spPr/>
      <dgm:t>
        <a:bodyPr/>
        <a:lstStyle/>
        <a:p>
          <a:endParaRPr lang="en-US"/>
        </a:p>
      </dgm:t>
    </dgm:pt>
    <dgm:pt modelId="{7A2B05DB-E8FA-4A0E-85E1-71A55B61FF7B}">
      <dgm:prSet custT="1"/>
      <dgm:spPr/>
      <dgm:t>
        <a:bodyPr/>
        <a:lstStyle/>
        <a:p>
          <a:r>
            <a:rPr lang="en-US" sz="2200" b="1" i="0" baseline="0" dirty="0"/>
            <a:t>UML Class Diagrams</a:t>
          </a:r>
        </a:p>
      </dgm:t>
    </dgm:pt>
    <dgm:pt modelId="{F542D355-53CA-48A8-8F7D-8879FABDE15B}" type="sibTrans" cxnId="{AAB35C63-3180-43DC-89B2-01961E31210A}">
      <dgm:prSet/>
      <dgm:spPr/>
      <dgm:t>
        <a:bodyPr/>
        <a:lstStyle/>
        <a:p>
          <a:endParaRPr lang="en-US"/>
        </a:p>
      </dgm:t>
    </dgm:pt>
    <dgm:pt modelId="{C83DDF6A-B8A5-41B5-A357-AA86D9519DB7}" type="parTrans" cxnId="{AAB35C63-3180-43DC-89B2-01961E31210A}">
      <dgm:prSet/>
      <dgm:spPr/>
      <dgm:t>
        <a:bodyPr/>
        <a:lstStyle/>
        <a:p>
          <a:endParaRPr lang="en-US"/>
        </a:p>
      </dgm:t>
    </dgm:pt>
    <dgm:pt modelId="{39B7B02E-4781-41CD-AFCA-D5CDDA714A37}" type="pres">
      <dgm:prSet presAssocID="{F53FCAC6-486F-4AEB-8C42-59983FE52CAE}" presName="linear" presStyleCnt="0">
        <dgm:presLayoutVars>
          <dgm:animLvl val="lvl"/>
          <dgm:resizeHandles val="exact"/>
        </dgm:presLayoutVars>
      </dgm:prSet>
      <dgm:spPr/>
    </dgm:pt>
    <dgm:pt modelId="{DA515539-2220-4AAB-B68A-D0426EE997CC}" type="pres">
      <dgm:prSet presAssocID="{9DA2393D-AF6C-4101-8D12-7B2065CEF607}" presName="parentText" presStyleLbl="node1" presStyleIdx="0" presStyleCnt="2" custScaleY="45540">
        <dgm:presLayoutVars>
          <dgm:chMax val="0"/>
          <dgm:bulletEnabled val="1"/>
        </dgm:presLayoutVars>
      </dgm:prSet>
      <dgm:spPr/>
    </dgm:pt>
    <dgm:pt modelId="{B766F707-E769-48B7-A2BB-8438C5FD9903}" type="pres">
      <dgm:prSet presAssocID="{59D6F446-91EC-411A-B591-645CADDABEB4}" presName="spacer" presStyleCnt="0"/>
      <dgm:spPr/>
    </dgm:pt>
    <dgm:pt modelId="{644DD45B-27FF-4FC5-9FAA-6D820B1B6F65}" type="pres">
      <dgm:prSet presAssocID="{7A2B05DB-E8FA-4A0E-85E1-71A55B61FF7B}" presName="parentText" presStyleLbl="node1" presStyleIdx="1" presStyleCnt="2" custScaleY="41798">
        <dgm:presLayoutVars>
          <dgm:chMax val="0"/>
          <dgm:bulletEnabled val="1"/>
        </dgm:presLayoutVars>
      </dgm:prSet>
      <dgm:spPr/>
    </dgm:pt>
  </dgm:ptLst>
  <dgm:cxnLst>
    <dgm:cxn modelId="{AAB35C63-3180-43DC-89B2-01961E31210A}" srcId="{F53FCAC6-486F-4AEB-8C42-59983FE52CAE}" destId="{7A2B05DB-E8FA-4A0E-85E1-71A55B61FF7B}" srcOrd="1" destOrd="0" parTransId="{C83DDF6A-B8A5-41B5-A357-AA86D9519DB7}" sibTransId="{F542D355-53CA-48A8-8F7D-8879FABDE15B}"/>
    <dgm:cxn modelId="{AAD5B496-B0E9-4126-8162-3A228B3088F0}" type="presOf" srcId="{F53FCAC6-486F-4AEB-8C42-59983FE52CAE}" destId="{39B7B02E-4781-41CD-AFCA-D5CDDA714A37}" srcOrd="0" destOrd="0" presId="urn:microsoft.com/office/officeart/2005/8/layout/vList2"/>
    <dgm:cxn modelId="{D01272BB-37F3-4884-8F1A-04925D57F71E}" srcId="{F53FCAC6-486F-4AEB-8C42-59983FE52CAE}" destId="{9DA2393D-AF6C-4101-8D12-7B2065CEF607}" srcOrd="0" destOrd="0" parTransId="{AAC5A8F5-DA0A-4707-A969-1FBC28357FBE}" sibTransId="{59D6F446-91EC-411A-B591-645CADDABEB4}"/>
    <dgm:cxn modelId="{1265CBBC-8E14-46BC-91D3-73C139B50C5A}" type="presOf" srcId="{7A2B05DB-E8FA-4A0E-85E1-71A55B61FF7B}" destId="{644DD45B-27FF-4FC5-9FAA-6D820B1B6F65}" srcOrd="0" destOrd="0" presId="urn:microsoft.com/office/officeart/2005/8/layout/vList2"/>
    <dgm:cxn modelId="{F1B8FFE4-903E-4E8F-9052-45487607B6C9}" type="presOf" srcId="{9DA2393D-AF6C-4101-8D12-7B2065CEF607}" destId="{DA515539-2220-4AAB-B68A-D0426EE997CC}" srcOrd="0" destOrd="0" presId="urn:microsoft.com/office/officeart/2005/8/layout/vList2"/>
    <dgm:cxn modelId="{ED326C31-C35D-4105-8432-68400420DD34}" type="presParOf" srcId="{39B7B02E-4781-41CD-AFCA-D5CDDA714A37}" destId="{DA515539-2220-4AAB-B68A-D0426EE997CC}" srcOrd="0" destOrd="0" presId="urn:microsoft.com/office/officeart/2005/8/layout/vList2"/>
    <dgm:cxn modelId="{5B34C608-2725-420D-B95D-2C501FF49AA2}" type="presParOf" srcId="{39B7B02E-4781-41CD-AFCA-D5CDDA714A37}" destId="{B766F707-E769-48B7-A2BB-8438C5FD9903}" srcOrd="1" destOrd="0" presId="urn:microsoft.com/office/officeart/2005/8/layout/vList2"/>
    <dgm:cxn modelId="{CC322A3D-9934-4522-B086-245A618C2981}" type="presParOf" srcId="{39B7B02E-4781-41CD-AFCA-D5CDDA714A37}" destId="{644DD45B-27FF-4FC5-9FAA-6D820B1B6F65}"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6B59C56C-4776-4BBD-865B-444300F3AA2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5E71B15-3AF3-4613-8E9E-3AF6B4E1EFA6}">
      <dgm:prSet custT="1"/>
      <dgm:spPr/>
      <dgm:t>
        <a:bodyPr/>
        <a:lstStyle/>
        <a:p>
          <a:r>
            <a:rPr lang="en-US" sz="2400" b="1" i="0" baseline="0"/>
            <a:t>Relationship Types of Degree Higher than Two</a:t>
          </a:r>
          <a:endParaRPr lang="en-US" sz="2400"/>
        </a:p>
      </dgm:t>
    </dgm:pt>
    <dgm:pt modelId="{FF57642C-0C32-4718-94C7-69760E91BCA7}" type="parTrans" cxnId="{9A1FBBD2-807D-49A4-A772-1CE46D0950F2}">
      <dgm:prSet/>
      <dgm:spPr/>
      <dgm:t>
        <a:bodyPr/>
        <a:lstStyle/>
        <a:p>
          <a:endParaRPr lang="en-US"/>
        </a:p>
      </dgm:t>
    </dgm:pt>
    <dgm:pt modelId="{4CBC9DB1-C1DA-4457-BB60-80DA8FA23923}" type="sibTrans" cxnId="{9A1FBBD2-807D-49A4-A772-1CE46D0950F2}">
      <dgm:prSet/>
      <dgm:spPr/>
      <dgm:t>
        <a:bodyPr/>
        <a:lstStyle/>
        <a:p>
          <a:endParaRPr lang="en-US"/>
        </a:p>
      </dgm:t>
    </dgm:pt>
    <dgm:pt modelId="{87C437CF-DA9A-4D34-A7BC-A9D84262A056}">
      <dgm:prSet custT="1"/>
      <dgm:spPr/>
      <dgm:t>
        <a:bodyPr/>
        <a:lstStyle/>
        <a:p>
          <a:r>
            <a:rPr lang="en-US" sz="2200" b="1" i="0" baseline="0"/>
            <a:t>Choosing between Binary and Ternary (or Higher-Degree) Relationships</a:t>
          </a:r>
          <a:endParaRPr lang="en-US" sz="2200"/>
        </a:p>
      </dgm:t>
    </dgm:pt>
    <dgm:pt modelId="{D97EE8B0-5FD9-4957-AEF5-8376C4511D67}" type="parTrans" cxnId="{7A05A4BD-AD5D-4845-827A-DFD42314E292}">
      <dgm:prSet/>
      <dgm:spPr/>
      <dgm:t>
        <a:bodyPr/>
        <a:lstStyle/>
        <a:p>
          <a:endParaRPr lang="en-US"/>
        </a:p>
      </dgm:t>
    </dgm:pt>
    <dgm:pt modelId="{BC7DCCFF-9477-42F8-B83B-DDD20790BF71}" type="sibTrans" cxnId="{7A05A4BD-AD5D-4845-827A-DFD42314E292}">
      <dgm:prSet/>
      <dgm:spPr/>
      <dgm:t>
        <a:bodyPr/>
        <a:lstStyle/>
        <a:p>
          <a:endParaRPr lang="en-US"/>
        </a:p>
      </dgm:t>
    </dgm:pt>
    <dgm:pt modelId="{FD9A711D-7B87-4F48-A779-DF1DCD0690DB}" type="pres">
      <dgm:prSet presAssocID="{6B59C56C-4776-4BBD-865B-444300F3AA2C}" presName="linear" presStyleCnt="0">
        <dgm:presLayoutVars>
          <dgm:animLvl val="lvl"/>
          <dgm:resizeHandles val="exact"/>
        </dgm:presLayoutVars>
      </dgm:prSet>
      <dgm:spPr/>
    </dgm:pt>
    <dgm:pt modelId="{9E49156D-7040-4BF3-AE29-31CED975D036}" type="pres">
      <dgm:prSet presAssocID="{15E71B15-3AF3-4613-8E9E-3AF6B4E1EFA6}" presName="parentText" presStyleLbl="node1" presStyleIdx="0" presStyleCnt="2" custScaleY="178146">
        <dgm:presLayoutVars>
          <dgm:chMax val="0"/>
          <dgm:bulletEnabled val="1"/>
        </dgm:presLayoutVars>
      </dgm:prSet>
      <dgm:spPr/>
    </dgm:pt>
    <dgm:pt modelId="{EC80249D-3A60-4A31-9AD2-8F3191F1F0C9}" type="pres">
      <dgm:prSet presAssocID="{4CBC9DB1-C1DA-4457-BB60-80DA8FA23923}" presName="spacer" presStyleCnt="0"/>
      <dgm:spPr/>
    </dgm:pt>
    <dgm:pt modelId="{20FD16CA-5782-45CF-87E9-59E9759960C1}" type="pres">
      <dgm:prSet presAssocID="{87C437CF-DA9A-4D34-A7BC-A9D84262A056}" presName="parentText" presStyleLbl="node1" presStyleIdx="1" presStyleCnt="2">
        <dgm:presLayoutVars>
          <dgm:chMax val="0"/>
          <dgm:bulletEnabled val="1"/>
        </dgm:presLayoutVars>
      </dgm:prSet>
      <dgm:spPr/>
    </dgm:pt>
  </dgm:ptLst>
  <dgm:cxnLst>
    <dgm:cxn modelId="{42AAD25E-83F4-4E80-947D-B59CC7279B15}" type="presOf" srcId="{15E71B15-3AF3-4613-8E9E-3AF6B4E1EFA6}" destId="{9E49156D-7040-4BF3-AE29-31CED975D036}" srcOrd="0" destOrd="0" presId="urn:microsoft.com/office/officeart/2005/8/layout/vList2"/>
    <dgm:cxn modelId="{7A05A4BD-AD5D-4845-827A-DFD42314E292}" srcId="{6B59C56C-4776-4BBD-865B-444300F3AA2C}" destId="{87C437CF-DA9A-4D34-A7BC-A9D84262A056}" srcOrd="1" destOrd="0" parTransId="{D97EE8B0-5FD9-4957-AEF5-8376C4511D67}" sibTransId="{BC7DCCFF-9477-42F8-B83B-DDD20790BF71}"/>
    <dgm:cxn modelId="{175391C5-5D9F-41AE-B2B3-E6FD8BBDADC5}" type="presOf" srcId="{6B59C56C-4776-4BBD-865B-444300F3AA2C}" destId="{FD9A711D-7B87-4F48-A779-DF1DCD0690DB}" srcOrd="0" destOrd="0" presId="urn:microsoft.com/office/officeart/2005/8/layout/vList2"/>
    <dgm:cxn modelId="{9A1FBBD2-807D-49A4-A772-1CE46D0950F2}" srcId="{6B59C56C-4776-4BBD-865B-444300F3AA2C}" destId="{15E71B15-3AF3-4613-8E9E-3AF6B4E1EFA6}" srcOrd="0" destOrd="0" parTransId="{FF57642C-0C32-4718-94C7-69760E91BCA7}" sibTransId="{4CBC9DB1-C1DA-4457-BB60-80DA8FA23923}"/>
    <dgm:cxn modelId="{6FC679DD-D37A-4405-8844-4EB7ED9B4689}" type="presOf" srcId="{87C437CF-DA9A-4D34-A7BC-A9D84262A056}" destId="{20FD16CA-5782-45CF-87E9-59E9759960C1}" srcOrd="0" destOrd="0" presId="urn:microsoft.com/office/officeart/2005/8/layout/vList2"/>
    <dgm:cxn modelId="{5193E68F-EDFB-4A9D-812E-434FE5DC4915}" type="presParOf" srcId="{FD9A711D-7B87-4F48-A779-DF1DCD0690DB}" destId="{9E49156D-7040-4BF3-AE29-31CED975D036}" srcOrd="0" destOrd="0" presId="urn:microsoft.com/office/officeart/2005/8/layout/vList2"/>
    <dgm:cxn modelId="{2D2A323A-1EE9-4CB7-A08D-1F64FDA21F77}" type="presParOf" srcId="{FD9A711D-7B87-4F48-A779-DF1DCD0690DB}" destId="{EC80249D-3A60-4A31-9AD2-8F3191F1F0C9}" srcOrd="1" destOrd="0" presId="urn:microsoft.com/office/officeart/2005/8/layout/vList2"/>
    <dgm:cxn modelId="{C6A1733A-D613-463F-B857-8187E089F8B4}" type="presParOf" srcId="{FD9A711D-7B87-4F48-A779-DF1DCD0690DB}" destId="{20FD16CA-5782-45CF-87E9-59E9759960C1}"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25C7A9E9-FFEC-445C-AFB1-0F4B3D019FF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E7A3876-1EC8-4AD5-8E16-3262AF37D1CD}">
      <dgm:prSet/>
      <dgm:spPr/>
      <dgm:t>
        <a:bodyPr/>
        <a:lstStyle/>
        <a:p>
          <a:r>
            <a:rPr lang="en-US" b="1"/>
            <a:t>An ER diagram UNIVERSITY DB</a:t>
          </a:r>
          <a:endParaRPr lang="en-US"/>
        </a:p>
      </dgm:t>
    </dgm:pt>
    <dgm:pt modelId="{5A0D7D50-E8C7-4C84-A594-CCBAFC21B765}" type="parTrans" cxnId="{E2DAF760-FDEE-4882-939A-63CCE7E25DB9}">
      <dgm:prSet/>
      <dgm:spPr/>
      <dgm:t>
        <a:bodyPr/>
        <a:lstStyle/>
        <a:p>
          <a:endParaRPr lang="en-US"/>
        </a:p>
      </dgm:t>
    </dgm:pt>
    <dgm:pt modelId="{9935F73D-461B-40DF-B091-EEC122E28663}" type="sibTrans" cxnId="{E2DAF760-FDEE-4882-939A-63CCE7E25DB9}">
      <dgm:prSet/>
      <dgm:spPr/>
      <dgm:t>
        <a:bodyPr/>
        <a:lstStyle/>
        <a:p>
          <a:endParaRPr lang="en-US"/>
        </a:p>
      </dgm:t>
    </dgm:pt>
    <dgm:pt modelId="{D2680950-502B-445B-84B6-3549ACFE5D85}" type="pres">
      <dgm:prSet presAssocID="{25C7A9E9-FFEC-445C-AFB1-0F4B3D019FFF}" presName="linear" presStyleCnt="0">
        <dgm:presLayoutVars>
          <dgm:animLvl val="lvl"/>
          <dgm:resizeHandles val="exact"/>
        </dgm:presLayoutVars>
      </dgm:prSet>
      <dgm:spPr/>
    </dgm:pt>
    <dgm:pt modelId="{592A67DB-DA86-41A8-945B-3D2FF23FC4C1}" type="pres">
      <dgm:prSet presAssocID="{DE7A3876-1EC8-4AD5-8E16-3262AF37D1CD}" presName="parentText" presStyleLbl="node1" presStyleIdx="0" presStyleCnt="1">
        <dgm:presLayoutVars>
          <dgm:chMax val="0"/>
          <dgm:bulletEnabled val="1"/>
        </dgm:presLayoutVars>
      </dgm:prSet>
      <dgm:spPr/>
    </dgm:pt>
  </dgm:ptLst>
  <dgm:cxnLst>
    <dgm:cxn modelId="{49451921-FA55-4155-BECF-5A873F354372}" type="presOf" srcId="{25C7A9E9-FFEC-445C-AFB1-0F4B3D019FFF}" destId="{D2680950-502B-445B-84B6-3549ACFE5D85}" srcOrd="0" destOrd="0" presId="urn:microsoft.com/office/officeart/2005/8/layout/vList2"/>
    <dgm:cxn modelId="{E2DAF760-FDEE-4882-939A-63CCE7E25DB9}" srcId="{25C7A9E9-FFEC-445C-AFB1-0F4B3D019FFF}" destId="{DE7A3876-1EC8-4AD5-8E16-3262AF37D1CD}" srcOrd="0" destOrd="0" parTransId="{5A0D7D50-E8C7-4C84-A594-CCBAFC21B765}" sibTransId="{9935F73D-461B-40DF-B091-EEC122E28663}"/>
    <dgm:cxn modelId="{99F9087E-95EE-4BFF-9F93-230CFAF82951}" type="presOf" srcId="{DE7A3876-1EC8-4AD5-8E16-3262AF37D1CD}" destId="{592A67DB-DA86-41A8-945B-3D2FF23FC4C1}" srcOrd="0" destOrd="0" presId="urn:microsoft.com/office/officeart/2005/8/layout/vList2"/>
    <dgm:cxn modelId="{782566FC-4F7F-4746-8A57-7FFA0DA760C2}" type="presParOf" srcId="{D2680950-502B-445B-84B6-3549ACFE5D85}" destId="{592A67DB-DA86-41A8-945B-3D2FF23FC4C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3D79131C-726F-4EEB-81B5-CC63F78EFDD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B3C5C0A-1A92-4B73-AB02-5C1D95E561C0}">
      <dgm:prSet/>
      <dgm:spPr/>
      <dgm:t>
        <a:bodyPr/>
        <a:lstStyle/>
        <a:p>
          <a:r>
            <a:rPr lang="en-US" b="1"/>
            <a:t>An ER diagram for an AIRLINE DB</a:t>
          </a:r>
          <a:endParaRPr lang="en-US"/>
        </a:p>
      </dgm:t>
    </dgm:pt>
    <dgm:pt modelId="{01E166CB-0B57-4077-8C84-F191602DFD54}" type="parTrans" cxnId="{0F34BBE5-170D-4E92-BE97-5C69F0CCDBC3}">
      <dgm:prSet/>
      <dgm:spPr/>
      <dgm:t>
        <a:bodyPr/>
        <a:lstStyle/>
        <a:p>
          <a:endParaRPr lang="en-US"/>
        </a:p>
      </dgm:t>
    </dgm:pt>
    <dgm:pt modelId="{455AD478-02FF-4359-98C7-9928A42DEC15}" type="sibTrans" cxnId="{0F34BBE5-170D-4E92-BE97-5C69F0CCDBC3}">
      <dgm:prSet/>
      <dgm:spPr/>
      <dgm:t>
        <a:bodyPr/>
        <a:lstStyle/>
        <a:p>
          <a:endParaRPr lang="en-US"/>
        </a:p>
      </dgm:t>
    </dgm:pt>
    <dgm:pt modelId="{5E88E3D6-CD60-4858-81BD-B79E3B96CDB4}" type="pres">
      <dgm:prSet presAssocID="{3D79131C-726F-4EEB-81B5-CC63F78EFDD0}" presName="linear" presStyleCnt="0">
        <dgm:presLayoutVars>
          <dgm:animLvl val="lvl"/>
          <dgm:resizeHandles val="exact"/>
        </dgm:presLayoutVars>
      </dgm:prSet>
      <dgm:spPr/>
    </dgm:pt>
    <dgm:pt modelId="{5DDE80B2-248E-47AC-A2F5-ABC14C07672F}" type="pres">
      <dgm:prSet presAssocID="{9B3C5C0A-1A92-4B73-AB02-5C1D95E561C0}" presName="parentText" presStyleLbl="node1" presStyleIdx="0" presStyleCnt="1">
        <dgm:presLayoutVars>
          <dgm:chMax val="0"/>
          <dgm:bulletEnabled val="1"/>
        </dgm:presLayoutVars>
      </dgm:prSet>
      <dgm:spPr/>
    </dgm:pt>
  </dgm:ptLst>
  <dgm:cxnLst>
    <dgm:cxn modelId="{CC13887F-A50E-4322-92D9-B53E8509FD56}" type="presOf" srcId="{3D79131C-726F-4EEB-81B5-CC63F78EFDD0}" destId="{5E88E3D6-CD60-4858-81BD-B79E3B96CDB4}" srcOrd="0" destOrd="0" presId="urn:microsoft.com/office/officeart/2005/8/layout/vList2"/>
    <dgm:cxn modelId="{3BB8FEC8-31B1-42D6-B1EB-5FD6B90E50A5}" type="presOf" srcId="{9B3C5C0A-1A92-4B73-AB02-5C1D95E561C0}" destId="{5DDE80B2-248E-47AC-A2F5-ABC14C07672F}" srcOrd="0" destOrd="0" presId="urn:microsoft.com/office/officeart/2005/8/layout/vList2"/>
    <dgm:cxn modelId="{0F34BBE5-170D-4E92-BE97-5C69F0CCDBC3}" srcId="{3D79131C-726F-4EEB-81B5-CC63F78EFDD0}" destId="{9B3C5C0A-1A92-4B73-AB02-5C1D95E561C0}" srcOrd="0" destOrd="0" parTransId="{01E166CB-0B57-4077-8C84-F191602DFD54}" sibTransId="{455AD478-02FF-4359-98C7-9928A42DEC15}"/>
    <dgm:cxn modelId="{3A78D2EF-767F-4275-8677-A570CB820C98}" type="presParOf" srcId="{5E88E3D6-CD60-4858-81BD-B79E3B96CDB4}" destId="{5DDE80B2-248E-47AC-A2F5-ABC14C07672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C9B9417-FB83-4E85-BB89-59A08F4F48B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53C42FD-1EDD-4691-A683-9F047E1ABE9C}">
      <dgm:prSet/>
      <dgm:spPr/>
      <dgm:t>
        <a:bodyPr/>
        <a:lstStyle/>
        <a:p>
          <a:r>
            <a:rPr lang="en-US" b="1"/>
            <a:t>An ER diagram for BANK DB</a:t>
          </a:r>
          <a:endParaRPr lang="en-US"/>
        </a:p>
      </dgm:t>
    </dgm:pt>
    <dgm:pt modelId="{6C8BCF8C-B5E1-480A-AF9E-88865BD9CFA1}" type="parTrans" cxnId="{853CB31B-396F-4C5B-A732-082C0A1DE0A9}">
      <dgm:prSet/>
      <dgm:spPr/>
      <dgm:t>
        <a:bodyPr/>
        <a:lstStyle/>
        <a:p>
          <a:endParaRPr lang="en-US"/>
        </a:p>
      </dgm:t>
    </dgm:pt>
    <dgm:pt modelId="{5EBD8600-FF43-4377-8B2A-AF80241C8743}" type="sibTrans" cxnId="{853CB31B-396F-4C5B-A732-082C0A1DE0A9}">
      <dgm:prSet/>
      <dgm:spPr/>
      <dgm:t>
        <a:bodyPr/>
        <a:lstStyle/>
        <a:p>
          <a:endParaRPr lang="en-US"/>
        </a:p>
      </dgm:t>
    </dgm:pt>
    <dgm:pt modelId="{5EE942BC-99FE-417F-BF1D-349DFE33F2B8}" type="pres">
      <dgm:prSet presAssocID="{FC9B9417-FB83-4E85-BB89-59A08F4F48BC}" presName="linear" presStyleCnt="0">
        <dgm:presLayoutVars>
          <dgm:animLvl val="lvl"/>
          <dgm:resizeHandles val="exact"/>
        </dgm:presLayoutVars>
      </dgm:prSet>
      <dgm:spPr/>
    </dgm:pt>
    <dgm:pt modelId="{2068E8D4-1E83-4CA3-BF42-B44B8E0F73C4}" type="pres">
      <dgm:prSet presAssocID="{A53C42FD-1EDD-4691-A683-9F047E1ABE9C}" presName="parentText" presStyleLbl="node1" presStyleIdx="0" presStyleCnt="1">
        <dgm:presLayoutVars>
          <dgm:chMax val="0"/>
          <dgm:bulletEnabled val="1"/>
        </dgm:presLayoutVars>
      </dgm:prSet>
      <dgm:spPr/>
    </dgm:pt>
  </dgm:ptLst>
  <dgm:cxnLst>
    <dgm:cxn modelId="{853CB31B-396F-4C5B-A732-082C0A1DE0A9}" srcId="{FC9B9417-FB83-4E85-BB89-59A08F4F48BC}" destId="{A53C42FD-1EDD-4691-A683-9F047E1ABE9C}" srcOrd="0" destOrd="0" parTransId="{6C8BCF8C-B5E1-480A-AF9E-88865BD9CFA1}" sibTransId="{5EBD8600-FF43-4377-8B2A-AF80241C8743}"/>
    <dgm:cxn modelId="{BA5DE85A-D709-4BE4-BD67-075A00BFFFA7}" type="presOf" srcId="{FC9B9417-FB83-4E85-BB89-59A08F4F48BC}" destId="{5EE942BC-99FE-417F-BF1D-349DFE33F2B8}" srcOrd="0" destOrd="0" presId="urn:microsoft.com/office/officeart/2005/8/layout/vList2"/>
    <dgm:cxn modelId="{3E62497D-F47F-4104-8E0F-F24AB7A8485B}" type="presOf" srcId="{A53C42FD-1EDD-4691-A683-9F047E1ABE9C}" destId="{2068E8D4-1E83-4CA3-BF42-B44B8E0F73C4}" srcOrd="0" destOrd="0" presId="urn:microsoft.com/office/officeart/2005/8/layout/vList2"/>
    <dgm:cxn modelId="{FD0B5176-BE10-457D-B818-846F601FFA5C}" type="presParOf" srcId="{5EE942BC-99FE-417F-BF1D-349DFE33F2B8}" destId="{2068E8D4-1E83-4CA3-BF42-B44B8E0F73C4}"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41EFC8-019B-4C98-9D3B-0728AD8EAB9C}">
      <dsp:nvSpPr>
        <dsp:cNvPr id="0" name=""/>
        <dsp:cNvSpPr/>
      </dsp:nvSpPr>
      <dsp:spPr>
        <a:xfrm>
          <a:off x="0" y="31031"/>
          <a:ext cx="11636476" cy="81204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baseline="0" dirty="0"/>
            <a:t>Three-Schema Architecture and Data Independence</a:t>
          </a:r>
          <a:endParaRPr lang="en-US" sz="2400" kern="1200" dirty="0"/>
        </a:p>
      </dsp:txBody>
      <dsp:txXfrm>
        <a:off x="39641" y="70672"/>
        <a:ext cx="11557194" cy="732764"/>
      </dsp:txXfrm>
    </dsp:sp>
    <dsp:sp modelId="{2A5BA091-4183-4744-8F21-31DCD6C368CA}">
      <dsp:nvSpPr>
        <dsp:cNvPr id="0" name=""/>
        <dsp:cNvSpPr/>
      </dsp:nvSpPr>
      <dsp:spPr>
        <a:xfrm>
          <a:off x="0" y="1027397"/>
          <a:ext cx="11636476" cy="38895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baseline="0" dirty="0"/>
            <a:t>The Three-Schema Architecture</a:t>
          </a:r>
          <a:endParaRPr lang="en-US" sz="2400" kern="1200" dirty="0"/>
        </a:p>
      </dsp:txBody>
      <dsp:txXfrm>
        <a:off x="18987" y="1046384"/>
        <a:ext cx="11598502" cy="350982"/>
      </dsp:txXfrm>
    </dsp:sp>
    <dsp:sp modelId="{18B44B4F-BF52-4B50-9BC0-9EA13C0F2954}">
      <dsp:nvSpPr>
        <dsp:cNvPr id="0" name=""/>
        <dsp:cNvSpPr/>
      </dsp:nvSpPr>
      <dsp:spPr>
        <a:xfrm>
          <a:off x="0" y="1416354"/>
          <a:ext cx="11636476" cy="1059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9458"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The goal of the three-schema architecture is to separate the user applications from the physical database.</a:t>
          </a:r>
        </a:p>
      </dsp:txBody>
      <dsp:txXfrm>
        <a:off x="0" y="1416354"/>
        <a:ext cx="11636476" cy="10598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DE9335-C691-4126-BBD9-6A6F0579623F}">
      <dsp:nvSpPr>
        <dsp:cNvPr id="0" name=""/>
        <dsp:cNvSpPr/>
      </dsp:nvSpPr>
      <dsp:spPr>
        <a:xfrm>
          <a:off x="0" y="3462"/>
          <a:ext cx="11651226" cy="56102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In this architecture, schemas can be defined at the following three levels:</a:t>
          </a:r>
        </a:p>
      </dsp:txBody>
      <dsp:txXfrm>
        <a:off x="27387" y="30849"/>
        <a:ext cx="11596452" cy="506254"/>
      </dsp:txXfrm>
    </dsp:sp>
    <dsp:sp modelId="{213C6E5C-A7B0-42DD-8E22-30E2B987345A}">
      <dsp:nvSpPr>
        <dsp:cNvPr id="0" name=""/>
        <dsp:cNvSpPr/>
      </dsp:nvSpPr>
      <dsp:spPr>
        <a:xfrm>
          <a:off x="0" y="578300"/>
          <a:ext cx="11651226" cy="56102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1) </a:t>
          </a:r>
          <a:r>
            <a:rPr lang="en-US" sz="2400" kern="1200" dirty="0"/>
            <a:t>The </a:t>
          </a:r>
          <a:r>
            <a:rPr lang="en-US" sz="2400" b="1" kern="1200" dirty="0"/>
            <a:t>internal level </a:t>
          </a:r>
          <a:r>
            <a:rPr lang="en-US" sz="2400" kern="1200" dirty="0"/>
            <a:t>has an </a:t>
          </a:r>
          <a:r>
            <a:rPr lang="en-US" sz="2400" b="1" kern="1200" dirty="0"/>
            <a:t>internal schema</a:t>
          </a:r>
          <a:r>
            <a:rPr lang="en-US" sz="2400" kern="1200" dirty="0"/>
            <a:t>,</a:t>
          </a:r>
        </a:p>
      </dsp:txBody>
      <dsp:txXfrm>
        <a:off x="27387" y="605687"/>
        <a:ext cx="11596452" cy="506254"/>
      </dsp:txXfrm>
    </dsp:sp>
    <dsp:sp modelId="{4820E3E7-5BB4-4F18-AEAA-DED3236AA51A}">
      <dsp:nvSpPr>
        <dsp:cNvPr id="0" name=""/>
        <dsp:cNvSpPr/>
      </dsp:nvSpPr>
      <dsp:spPr>
        <a:xfrm>
          <a:off x="0" y="1139329"/>
          <a:ext cx="11651226" cy="913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9926"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kern="1200" dirty="0"/>
            <a:t>-describes the physical storage structure of the database.</a:t>
          </a:r>
        </a:p>
        <a:p>
          <a:pPr marL="228600" lvl="1" indent="-228600" algn="just" defTabSz="889000">
            <a:lnSpc>
              <a:spcPct val="90000"/>
            </a:lnSpc>
            <a:spcBef>
              <a:spcPct val="0"/>
            </a:spcBef>
            <a:spcAft>
              <a:spcPct val="20000"/>
            </a:spcAft>
            <a:buChar char="•"/>
          </a:pPr>
          <a:r>
            <a:rPr lang="en-US" sz="2000" kern="1200" dirty="0"/>
            <a:t>-uses a physical data model and describes the complete details of data storage and access paths for the database</a:t>
          </a:r>
          <a:r>
            <a:rPr lang="en-US" sz="1800" kern="1200" dirty="0"/>
            <a:t>.</a:t>
          </a:r>
        </a:p>
      </dsp:txBody>
      <dsp:txXfrm>
        <a:off x="0" y="1139329"/>
        <a:ext cx="11651226" cy="913182"/>
      </dsp:txXfrm>
    </dsp:sp>
    <dsp:sp modelId="{2933E598-6D1A-454F-8DA4-2E7FA57534EE}">
      <dsp:nvSpPr>
        <dsp:cNvPr id="0" name=""/>
        <dsp:cNvSpPr/>
      </dsp:nvSpPr>
      <dsp:spPr>
        <a:xfrm>
          <a:off x="0" y="2052511"/>
          <a:ext cx="11651226" cy="56102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2) The </a:t>
          </a:r>
          <a:r>
            <a:rPr lang="en-US" sz="2400" b="1" kern="1200" dirty="0"/>
            <a:t>conceptual level </a:t>
          </a:r>
          <a:r>
            <a:rPr lang="en-US" sz="2400" kern="1200" dirty="0"/>
            <a:t>has a </a:t>
          </a:r>
          <a:r>
            <a:rPr lang="en-US" sz="2400" b="1" kern="1200" dirty="0"/>
            <a:t>conceptual schema</a:t>
          </a:r>
          <a:r>
            <a:rPr lang="en-US" sz="2400" kern="1200" dirty="0"/>
            <a:t>,</a:t>
          </a:r>
        </a:p>
      </dsp:txBody>
      <dsp:txXfrm>
        <a:off x="27387" y="2079898"/>
        <a:ext cx="11596452" cy="506254"/>
      </dsp:txXfrm>
    </dsp:sp>
    <dsp:sp modelId="{C58E5E6F-7115-4FB5-831B-F798B92C425C}">
      <dsp:nvSpPr>
        <dsp:cNvPr id="0" name=""/>
        <dsp:cNvSpPr/>
      </dsp:nvSpPr>
      <dsp:spPr>
        <a:xfrm>
          <a:off x="0" y="2613540"/>
          <a:ext cx="11651226" cy="2104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9926"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kern="1200" dirty="0"/>
            <a:t>-describes the structure of the whole database for a community of users</a:t>
          </a:r>
        </a:p>
        <a:p>
          <a:pPr marL="228600" lvl="1" indent="-228600" algn="just" defTabSz="889000">
            <a:lnSpc>
              <a:spcPct val="90000"/>
            </a:lnSpc>
            <a:spcBef>
              <a:spcPct val="0"/>
            </a:spcBef>
            <a:spcAft>
              <a:spcPct val="20000"/>
            </a:spcAft>
            <a:buChar char="•"/>
          </a:pPr>
          <a:r>
            <a:rPr lang="en-US" sz="2000" kern="1200" dirty="0"/>
            <a:t>-hides the details of physical storage structures and concentrates on describing entities, data types, relationships, user operations, and constraints</a:t>
          </a:r>
        </a:p>
        <a:p>
          <a:pPr marL="228600" lvl="1" indent="-228600" algn="just" defTabSz="889000">
            <a:lnSpc>
              <a:spcPct val="90000"/>
            </a:lnSpc>
            <a:spcBef>
              <a:spcPct val="0"/>
            </a:spcBef>
            <a:spcAft>
              <a:spcPct val="20000"/>
            </a:spcAft>
            <a:buChar char="•"/>
          </a:pPr>
          <a:r>
            <a:rPr lang="en-US" sz="2000" kern="1200" dirty="0"/>
            <a:t>-representational data model is used to describe the conceptual schema when a database system is implemented</a:t>
          </a:r>
        </a:p>
        <a:p>
          <a:pPr marL="228600" lvl="1" indent="-228600" algn="just" defTabSz="889000">
            <a:lnSpc>
              <a:spcPct val="90000"/>
            </a:lnSpc>
            <a:spcBef>
              <a:spcPct val="0"/>
            </a:spcBef>
            <a:spcAft>
              <a:spcPct val="20000"/>
            </a:spcAft>
            <a:buChar char="•"/>
          </a:pPr>
          <a:r>
            <a:rPr lang="en-US" sz="2000" kern="1200" dirty="0"/>
            <a:t>-This implementation conceptual schema is often based on a conceptual schema design in a high-level data model.</a:t>
          </a:r>
        </a:p>
      </dsp:txBody>
      <dsp:txXfrm>
        <a:off x="0" y="2613540"/>
        <a:ext cx="11651226" cy="21042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DD40A5-45BC-48D1-A79E-A7D13187625E}">
      <dsp:nvSpPr>
        <dsp:cNvPr id="0" name=""/>
        <dsp:cNvSpPr/>
      </dsp:nvSpPr>
      <dsp:spPr>
        <a:xfrm>
          <a:off x="0" y="66074"/>
          <a:ext cx="11606981" cy="6236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3) The </a:t>
          </a:r>
          <a:r>
            <a:rPr lang="en-US" sz="2600" b="1" kern="1200" dirty="0"/>
            <a:t>external or view level </a:t>
          </a:r>
          <a:r>
            <a:rPr lang="en-US" sz="2600" kern="1200" dirty="0"/>
            <a:t>includes a number of </a:t>
          </a:r>
          <a:r>
            <a:rPr lang="en-US" sz="2600" b="1" kern="1200" dirty="0"/>
            <a:t>external schemas </a:t>
          </a:r>
          <a:r>
            <a:rPr lang="en-US" sz="2600" kern="1200" dirty="0"/>
            <a:t>or user views,</a:t>
          </a:r>
        </a:p>
      </dsp:txBody>
      <dsp:txXfrm>
        <a:off x="30442" y="96516"/>
        <a:ext cx="11546097" cy="562726"/>
      </dsp:txXfrm>
    </dsp:sp>
    <dsp:sp modelId="{CB0E5DD0-15CA-4697-8E47-63B462CB1245}">
      <dsp:nvSpPr>
        <dsp:cNvPr id="0" name=""/>
        <dsp:cNvSpPr/>
      </dsp:nvSpPr>
      <dsp:spPr>
        <a:xfrm>
          <a:off x="0" y="689684"/>
          <a:ext cx="11606981" cy="1264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8522" tIns="33020" rIns="184912" bIns="33020" numCol="1" spcCol="1270" anchor="t" anchorCtr="0">
          <a:noAutofit/>
        </a:bodyPr>
        <a:lstStyle/>
        <a:p>
          <a:pPr marL="228600" lvl="1" indent="-228600" algn="just" defTabSz="889000">
            <a:lnSpc>
              <a:spcPct val="90000"/>
            </a:lnSpc>
            <a:spcBef>
              <a:spcPct val="0"/>
            </a:spcBef>
            <a:spcAft>
              <a:spcPct val="20000"/>
            </a:spcAft>
            <a:buChar char="•"/>
          </a:pPr>
          <a:r>
            <a:rPr lang="en-US" sz="2000" kern="1200" dirty="0"/>
            <a:t>-describes the part of the database that a particular user group is interested in and hides the rest of the database from that user group.</a:t>
          </a:r>
        </a:p>
        <a:p>
          <a:pPr marL="228600" lvl="1" indent="-228600" algn="just" defTabSz="889000">
            <a:lnSpc>
              <a:spcPct val="90000"/>
            </a:lnSpc>
            <a:spcBef>
              <a:spcPct val="0"/>
            </a:spcBef>
            <a:spcAft>
              <a:spcPct val="20000"/>
            </a:spcAft>
            <a:buChar char="•"/>
          </a:pPr>
          <a:r>
            <a:rPr lang="en-US" sz="2000" kern="1200" dirty="0"/>
            <a:t>-As in the previous level, each external schema is typically implemented using a representational data model, possibly based on an external schema design in a high-level data model.</a:t>
          </a:r>
        </a:p>
      </dsp:txBody>
      <dsp:txXfrm>
        <a:off x="0" y="689684"/>
        <a:ext cx="11606981" cy="126477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14ED30-E77C-4FD8-B2AA-B44526E92D0E}">
      <dsp:nvSpPr>
        <dsp:cNvPr id="0" name=""/>
        <dsp:cNvSpPr/>
      </dsp:nvSpPr>
      <dsp:spPr>
        <a:xfrm>
          <a:off x="0" y="90995"/>
          <a:ext cx="11651226" cy="71954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t>Data Independence</a:t>
          </a:r>
          <a:endParaRPr lang="en-US" sz="3000" kern="1200"/>
        </a:p>
      </dsp:txBody>
      <dsp:txXfrm>
        <a:off x="35125" y="126120"/>
        <a:ext cx="11580976" cy="649299"/>
      </dsp:txXfrm>
    </dsp:sp>
    <dsp:sp modelId="{3C362B54-10C2-47F2-93C0-00758CB90C57}">
      <dsp:nvSpPr>
        <dsp:cNvPr id="0" name=""/>
        <dsp:cNvSpPr/>
      </dsp:nvSpPr>
      <dsp:spPr>
        <a:xfrm>
          <a:off x="0" y="810545"/>
          <a:ext cx="11651226" cy="729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9926"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b="1" kern="1200" dirty="0"/>
            <a:t>Data independence</a:t>
          </a:r>
          <a:r>
            <a:rPr lang="en-US" sz="2300" kern="1200" dirty="0"/>
            <a:t>, which can be defined as the capacity to change the schema at one level of a database system without having to change the schema at the next higher level.</a:t>
          </a:r>
        </a:p>
      </dsp:txBody>
      <dsp:txXfrm>
        <a:off x="0" y="810545"/>
        <a:ext cx="11651226" cy="7296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D26DD4-2834-4568-A32F-3B42E2A935DF}">
      <dsp:nvSpPr>
        <dsp:cNvPr id="0" name=""/>
        <dsp:cNvSpPr/>
      </dsp:nvSpPr>
      <dsp:spPr>
        <a:xfrm>
          <a:off x="0" y="2049"/>
          <a:ext cx="11484243" cy="74897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i="0" kern="1200" baseline="0" dirty="0"/>
            <a:t>Database Languages and Interfaces</a:t>
          </a:r>
          <a:endParaRPr lang="en-US" sz="3200" kern="1200" dirty="0"/>
        </a:p>
      </dsp:txBody>
      <dsp:txXfrm>
        <a:off x="36562" y="38611"/>
        <a:ext cx="11411119" cy="675853"/>
      </dsp:txXfrm>
    </dsp:sp>
    <dsp:sp modelId="{0C985248-055B-4698-8DD6-A48E70AA3875}">
      <dsp:nvSpPr>
        <dsp:cNvPr id="0" name=""/>
        <dsp:cNvSpPr/>
      </dsp:nvSpPr>
      <dsp:spPr>
        <a:xfrm>
          <a:off x="0" y="751027"/>
          <a:ext cx="11484243" cy="12782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4625" tIns="25400" rIns="142240" bIns="25400" numCol="1" spcCol="1270" anchor="t" anchorCtr="0">
          <a:noAutofit/>
        </a:bodyPr>
        <a:lstStyle/>
        <a:p>
          <a:pPr marL="228600" lvl="1" indent="-228600" algn="l" defTabSz="1111250">
            <a:lnSpc>
              <a:spcPct val="90000"/>
            </a:lnSpc>
            <a:spcBef>
              <a:spcPct val="0"/>
            </a:spcBef>
            <a:spcAft>
              <a:spcPct val="20000"/>
            </a:spcAft>
            <a:buFont typeface="Wingdings" panose="05000000000000000000" pitchFamily="2" charset="2"/>
            <a:buChar char="Ø"/>
          </a:pPr>
          <a:r>
            <a:rPr lang="en-US" sz="2500" b="1" kern="1200" dirty="0"/>
            <a:t>DBMS Languages</a:t>
          </a:r>
          <a:endParaRPr lang="en-US" sz="2500" kern="1200" dirty="0"/>
        </a:p>
        <a:p>
          <a:pPr marL="228600" lvl="1" indent="-228600" algn="just" defTabSz="889000">
            <a:lnSpc>
              <a:spcPct val="90000"/>
            </a:lnSpc>
            <a:spcBef>
              <a:spcPct val="0"/>
            </a:spcBef>
            <a:spcAft>
              <a:spcPct val="20000"/>
            </a:spcAft>
            <a:buFont typeface="Arial" panose="020B0604020202020204" pitchFamily="34" charset="0"/>
            <a:buChar char="•"/>
          </a:pPr>
          <a:r>
            <a:rPr lang="en-US" sz="2000" kern="1200" dirty="0"/>
            <a:t>Once the design of a database is completed and a DBMS is chosen to implement the database, the first step is to specify conceptual and internal schemas for the database and any mappings between the two.</a:t>
          </a:r>
        </a:p>
        <a:p>
          <a:pPr marL="228600" lvl="1" indent="-228600" algn="just" defTabSz="889000">
            <a:lnSpc>
              <a:spcPct val="90000"/>
            </a:lnSpc>
            <a:spcBef>
              <a:spcPct val="0"/>
            </a:spcBef>
            <a:spcAft>
              <a:spcPct val="20000"/>
            </a:spcAft>
            <a:buFont typeface="Arial" panose="020B0604020202020204" pitchFamily="34" charset="0"/>
            <a:buChar char="•"/>
          </a:pPr>
          <a:r>
            <a:rPr lang="en-US" sz="2000" b="0" kern="1200" dirty="0"/>
            <a:t>In many DBMSs where no strict separation of levels is maintained, one language, called </a:t>
          </a:r>
          <a:r>
            <a:rPr lang="en-US" sz="2000" b="1" kern="1200" dirty="0"/>
            <a:t>Data definition language (DDL), </a:t>
          </a:r>
          <a:r>
            <a:rPr lang="en-US" sz="2000" kern="1200" dirty="0"/>
            <a:t>is used by the DBA and by database designers to define both schemas (conceptual and physical schemas).</a:t>
          </a:r>
        </a:p>
        <a:p>
          <a:pPr marL="228600" lvl="1" indent="-228600" algn="just" defTabSz="889000">
            <a:lnSpc>
              <a:spcPct val="90000"/>
            </a:lnSpc>
            <a:spcBef>
              <a:spcPct val="0"/>
            </a:spcBef>
            <a:spcAft>
              <a:spcPct val="20000"/>
            </a:spcAft>
            <a:buFont typeface="Arial" panose="020B0604020202020204" pitchFamily="34" charset="0"/>
            <a:buChar char="•"/>
          </a:pPr>
          <a:r>
            <a:rPr lang="en-US" sz="2000" kern="1200" dirty="0"/>
            <a:t>In DBMSs where a clear separation is maintained between the conceptual and internal levels, the </a:t>
          </a:r>
          <a:r>
            <a:rPr lang="en-US" sz="2000" b="1" kern="1200" dirty="0"/>
            <a:t>DDL</a:t>
          </a:r>
          <a:r>
            <a:rPr lang="en-US" sz="2000" kern="1200" dirty="0"/>
            <a:t> is used to specify the conceptual schema only.</a:t>
          </a:r>
        </a:p>
        <a:p>
          <a:pPr marL="228600" lvl="1" indent="-228600" algn="just" defTabSz="889000">
            <a:lnSpc>
              <a:spcPct val="90000"/>
            </a:lnSpc>
            <a:spcBef>
              <a:spcPct val="0"/>
            </a:spcBef>
            <a:spcAft>
              <a:spcPct val="20000"/>
            </a:spcAft>
            <a:buFont typeface="Arial" panose="020B0604020202020204" pitchFamily="34" charset="0"/>
            <a:buChar char="•"/>
          </a:pPr>
          <a:endParaRPr lang="en-US" sz="2000" kern="1200" dirty="0"/>
        </a:p>
        <a:p>
          <a:pPr marL="228600" lvl="1" indent="-228600" algn="just" defTabSz="889000">
            <a:lnSpc>
              <a:spcPct val="90000"/>
            </a:lnSpc>
            <a:spcBef>
              <a:spcPct val="0"/>
            </a:spcBef>
            <a:spcAft>
              <a:spcPct val="20000"/>
            </a:spcAft>
            <a:buFont typeface="Arial" panose="020B0604020202020204" pitchFamily="34" charset="0"/>
            <a:buChar char="•"/>
          </a:pPr>
          <a:r>
            <a:rPr lang="en-US" sz="2000" b="0" kern="1200" dirty="0"/>
            <a:t>Another language, the </a:t>
          </a:r>
          <a:r>
            <a:rPr lang="en-US" sz="2000" b="1" kern="1200" dirty="0"/>
            <a:t>Storage definition language (SDL), </a:t>
          </a:r>
          <a:r>
            <a:rPr lang="en-US" sz="2000" kern="1200" dirty="0"/>
            <a:t>is used to specify the internal schema.</a:t>
          </a:r>
        </a:p>
        <a:p>
          <a:pPr marL="228600" lvl="1" indent="-228600" algn="just" defTabSz="889000">
            <a:lnSpc>
              <a:spcPct val="90000"/>
            </a:lnSpc>
            <a:spcBef>
              <a:spcPct val="0"/>
            </a:spcBef>
            <a:spcAft>
              <a:spcPct val="20000"/>
            </a:spcAft>
            <a:buFont typeface="Arial" panose="020B0604020202020204" pitchFamily="34" charset="0"/>
            <a:buChar char="•"/>
          </a:pPr>
          <a:r>
            <a:rPr lang="en-US" sz="2000" b="1" kern="1200" dirty="0"/>
            <a:t>View definition language (VDL), </a:t>
          </a:r>
          <a:r>
            <a:rPr lang="en-US" sz="2000" kern="1200" dirty="0"/>
            <a:t>to specify user views and their mappings to the conceptual schema.</a:t>
          </a:r>
        </a:p>
        <a:p>
          <a:pPr marL="228600" lvl="1" indent="-228600" algn="just" defTabSz="889000">
            <a:lnSpc>
              <a:spcPct val="90000"/>
            </a:lnSpc>
            <a:spcBef>
              <a:spcPct val="0"/>
            </a:spcBef>
            <a:spcAft>
              <a:spcPct val="20000"/>
            </a:spcAft>
            <a:buFont typeface="Arial" panose="020B0604020202020204" pitchFamily="34" charset="0"/>
            <a:buChar char="•"/>
          </a:pPr>
          <a:r>
            <a:rPr lang="en-US" sz="2000" b="1" kern="1200" dirty="0"/>
            <a:t>Data manipulation language</a:t>
          </a:r>
          <a:r>
            <a:rPr lang="en-US" sz="2000" kern="1200" dirty="0"/>
            <a:t>(</a:t>
          </a:r>
          <a:r>
            <a:rPr lang="en-US" sz="2000" b="1" kern="1200" dirty="0"/>
            <a:t>DML) </a:t>
          </a:r>
          <a:r>
            <a:rPr lang="en-US" sz="2000" kern="1200" dirty="0"/>
            <a:t>provides set of operations like retrieval, insertion, deletion, and modification of the data</a:t>
          </a:r>
          <a:r>
            <a:rPr lang="en-US" sz="3600" kern="1200" dirty="0"/>
            <a:t>. </a:t>
          </a:r>
        </a:p>
        <a:p>
          <a:pPr marL="228600" lvl="1" indent="-228600" algn="just" defTabSz="889000">
            <a:lnSpc>
              <a:spcPct val="90000"/>
            </a:lnSpc>
            <a:spcBef>
              <a:spcPct val="0"/>
            </a:spcBef>
            <a:spcAft>
              <a:spcPct val="20000"/>
            </a:spcAft>
            <a:buChar char="•"/>
          </a:pPr>
          <a:r>
            <a:rPr lang="en-US" sz="2000" kern="1200" dirty="0"/>
            <a:t>DBMS packages provide an integrated feature of above languages into a single language called </a:t>
          </a:r>
          <a:r>
            <a:rPr lang="en-US" sz="2000" b="1" kern="1200" dirty="0"/>
            <a:t>Structured Query Language (SQL).</a:t>
          </a:r>
          <a:endParaRPr lang="en-US" sz="2000" kern="1200" dirty="0"/>
        </a:p>
      </dsp:txBody>
      <dsp:txXfrm>
        <a:off x="0" y="751027"/>
        <a:ext cx="11484243" cy="127824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897BD2-1915-4C43-876A-92D47120EEBB}">
      <dsp:nvSpPr>
        <dsp:cNvPr id="0" name=""/>
        <dsp:cNvSpPr/>
      </dsp:nvSpPr>
      <dsp:spPr>
        <a:xfrm>
          <a:off x="0" y="32721"/>
          <a:ext cx="11670224" cy="9900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The Database System Environment</a:t>
          </a:r>
          <a:endParaRPr lang="en-US" sz="2400" kern="1200"/>
        </a:p>
      </dsp:txBody>
      <dsp:txXfrm>
        <a:off x="48331" y="81052"/>
        <a:ext cx="11573562" cy="893398"/>
      </dsp:txXfrm>
    </dsp:sp>
    <dsp:sp modelId="{F0BF8479-5768-4776-B1A4-E6A3AFEA255B}">
      <dsp:nvSpPr>
        <dsp:cNvPr id="0" name=""/>
        <dsp:cNvSpPr/>
      </dsp:nvSpPr>
      <dsp:spPr>
        <a:xfrm>
          <a:off x="0" y="1033117"/>
          <a:ext cx="11670224" cy="3135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i="0" kern="1200" baseline="0"/>
            <a:t>DBMS Component Modules</a:t>
          </a:r>
          <a:endParaRPr lang="en-US" sz="2200" kern="1200"/>
        </a:p>
      </dsp:txBody>
      <dsp:txXfrm>
        <a:off x="15304" y="1048421"/>
        <a:ext cx="11639616" cy="28290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1A1E16-9B7E-4FCE-A33A-172279D44E19}">
      <dsp:nvSpPr>
        <dsp:cNvPr id="0" name=""/>
        <dsp:cNvSpPr/>
      </dsp:nvSpPr>
      <dsp:spPr>
        <a:xfrm>
          <a:off x="0" y="7385"/>
          <a:ext cx="11778711" cy="52767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Database System Utilities</a:t>
          </a:r>
          <a:endParaRPr lang="en-US" sz="2200" kern="1200"/>
        </a:p>
      </dsp:txBody>
      <dsp:txXfrm>
        <a:off x="25759" y="33144"/>
        <a:ext cx="11727193" cy="47615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F79338-FD74-4F9D-92AD-0E218A7D69A3}">
      <dsp:nvSpPr>
        <dsp:cNvPr id="0" name=""/>
        <dsp:cNvSpPr/>
      </dsp:nvSpPr>
      <dsp:spPr>
        <a:xfrm>
          <a:off x="0" y="2099"/>
          <a:ext cx="11732217" cy="5615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Tools, Application Environments, and Communications Facilities</a:t>
          </a:r>
          <a:endParaRPr lang="en-US" sz="2400" kern="1200" dirty="0"/>
        </a:p>
      </dsp:txBody>
      <dsp:txXfrm>
        <a:off x="27411" y="29510"/>
        <a:ext cx="11677395" cy="506698"/>
      </dsp:txXfrm>
    </dsp:sp>
    <dsp:sp modelId="{ACD337BA-2422-45FD-B205-002977C12D7C}">
      <dsp:nvSpPr>
        <dsp:cNvPr id="0" name=""/>
        <dsp:cNvSpPr/>
      </dsp:nvSpPr>
      <dsp:spPr>
        <a:xfrm>
          <a:off x="0" y="563619"/>
          <a:ext cx="11732217" cy="3489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2498" tIns="27940" rIns="156464" bIns="27940" numCol="1" spcCol="1270" anchor="t" anchorCtr="0">
          <a:noAutofit/>
        </a:bodyPr>
        <a:lstStyle/>
        <a:p>
          <a:pPr marL="228600" lvl="1" indent="-228600" algn="just" defTabSz="977900">
            <a:lnSpc>
              <a:spcPct val="90000"/>
            </a:lnSpc>
            <a:spcBef>
              <a:spcPct val="0"/>
            </a:spcBef>
            <a:spcAft>
              <a:spcPct val="20000"/>
            </a:spcAft>
            <a:buChar char="•"/>
          </a:pPr>
          <a:r>
            <a:rPr lang="en-US" sz="2200" b="1" kern="1200" dirty="0"/>
            <a:t>CASE (Computer Aided Software Engineering) </a:t>
          </a:r>
          <a:r>
            <a:rPr lang="en-US" sz="2200" kern="1200" dirty="0"/>
            <a:t>tools are used in the design phase of database systems</a:t>
          </a:r>
        </a:p>
        <a:p>
          <a:pPr marL="228600" lvl="1" indent="-228600" algn="just" defTabSz="977900">
            <a:lnSpc>
              <a:spcPct val="90000"/>
            </a:lnSpc>
            <a:spcBef>
              <a:spcPct val="0"/>
            </a:spcBef>
            <a:spcAft>
              <a:spcPct val="20000"/>
            </a:spcAft>
            <a:buChar char="•"/>
          </a:pPr>
          <a:r>
            <a:rPr lang="en-US" sz="2200" b="1" kern="1200"/>
            <a:t>Data dictionary </a:t>
          </a:r>
          <a:r>
            <a:rPr lang="en-US" sz="2200" kern="1200"/>
            <a:t>(or data repository) </a:t>
          </a:r>
          <a:r>
            <a:rPr lang="en-US" sz="2200" b="1" kern="1200"/>
            <a:t>system </a:t>
          </a:r>
          <a:r>
            <a:rPr lang="en-US" sz="2200" kern="1200"/>
            <a:t>for storing catalog information about schemas and constraints</a:t>
          </a:r>
        </a:p>
        <a:p>
          <a:pPr marL="228600" lvl="1" indent="-228600" algn="just" defTabSz="977900">
            <a:lnSpc>
              <a:spcPct val="90000"/>
            </a:lnSpc>
            <a:spcBef>
              <a:spcPct val="0"/>
            </a:spcBef>
            <a:spcAft>
              <a:spcPct val="20000"/>
            </a:spcAft>
            <a:buChar char="•"/>
          </a:pPr>
          <a:r>
            <a:rPr lang="en-US" sz="2200" b="1" kern="1200"/>
            <a:t>Information repository </a:t>
          </a:r>
          <a:r>
            <a:rPr lang="en-US" sz="2200" kern="1200"/>
            <a:t>stores information such as design decisions, usage standards, application program  descriptions, and user information</a:t>
          </a:r>
        </a:p>
        <a:p>
          <a:pPr marL="228600" lvl="1" indent="-228600" algn="just" defTabSz="977900">
            <a:lnSpc>
              <a:spcPct val="90000"/>
            </a:lnSpc>
            <a:spcBef>
              <a:spcPct val="0"/>
            </a:spcBef>
            <a:spcAft>
              <a:spcPct val="20000"/>
            </a:spcAft>
            <a:buChar char="•"/>
          </a:pPr>
          <a:r>
            <a:rPr lang="en-US" sz="2200" b="1" kern="1200" dirty="0"/>
            <a:t>Application development environment </a:t>
          </a:r>
          <a:r>
            <a:rPr lang="en-US" sz="2200" kern="1200" dirty="0"/>
            <a:t>systems provide an environment for developing database applications, including database design, GUI development, querying and updating, and application program development</a:t>
          </a:r>
        </a:p>
        <a:p>
          <a:pPr marL="228600" lvl="1" indent="-228600" algn="just" defTabSz="977900">
            <a:lnSpc>
              <a:spcPct val="90000"/>
            </a:lnSpc>
            <a:spcBef>
              <a:spcPct val="0"/>
            </a:spcBef>
            <a:spcAft>
              <a:spcPct val="20000"/>
            </a:spcAft>
            <a:buChar char="•"/>
          </a:pPr>
          <a:r>
            <a:rPr lang="en-US" sz="2200" b="1" kern="1200"/>
            <a:t>Communications software</a:t>
          </a:r>
          <a:r>
            <a:rPr lang="en-US" sz="2200" kern="1200"/>
            <a:t>, whose function is to allow users at locations remote from the database system site to access the database through computer terminals, workstations, or personal computers</a:t>
          </a:r>
        </a:p>
        <a:p>
          <a:pPr marL="228600" lvl="1" indent="-228600" algn="just" defTabSz="977900">
            <a:lnSpc>
              <a:spcPct val="90000"/>
            </a:lnSpc>
            <a:spcBef>
              <a:spcPct val="0"/>
            </a:spcBef>
            <a:spcAft>
              <a:spcPct val="20000"/>
            </a:spcAft>
            <a:buChar char="•"/>
          </a:pPr>
          <a:r>
            <a:rPr lang="en-US" sz="2200" kern="1200"/>
            <a:t>These are connected to the database site through data communications hardware such as Internet routers, phone lines, long-haul networks, local networks, or satellite communication devices</a:t>
          </a:r>
        </a:p>
        <a:p>
          <a:pPr marL="228600" lvl="1" indent="-228600" algn="just" defTabSz="977900">
            <a:lnSpc>
              <a:spcPct val="90000"/>
            </a:lnSpc>
            <a:spcBef>
              <a:spcPct val="0"/>
            </a:spcBef>
            <a:spcAft>
              <a:spcPct val="20000"/>
            </a:spcAft>
            <a:buChar char="•"/>
          </a:pPr>
          <a:r>
            <a:rPr lang="en-US" sz="2200" kern="1200" dirty="0"/>
            <a:t>The integrated DBMS and data communications system is called a </a:t>
          </a:r>
          <a:r>
            <a:rPr lang="en-US" sz="2200" b="1" kern="1200" dirty="0"/>
            <a:t>DB/DC system</a:t>
          </a:r>
          <a:endParaRPr lang="en-US" sz="2200" kern="1200" dirty="0"/>
        </a:p>
      </dsp:txBody>
      <dsp:txXfrm>
        <a:off x="0" y="563619"/>
        <a:ext cx="11732217" cy="348923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4DC6DD-1107-4A0C-A4E0-4E83B5A5DF96}">
      <dsp:nvSpPr>
        <dsp:cNvPr id="0" name=""/>
        <dsp:cNvSpPr/>
      </dsp:nvSpPr>
      <dsp:spPr>
        <a:xfrm>
          <a:off x="0" y="838"/>
          <a:ext cx="11685723" cy="106155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baseline="0" dirty="0"/>
            <a:t>Data Modeling Using the Entity–Relationship (ER) Model</a:t>
          </a:r>
          <a:endParaRPr lang="en-US" sz="2800" kern="1200" dirty="0"/>
        </a:p>
      </dsp:txBody>
      <dsp:txXfrm>
        <a:off x="51821" y="52659"/>
        <a:ext cx="11582081" cy="957917"/>
      </dsp:txXfrm>
    </dsp:sp>
    <dsp:sp modelId="{6BB74643-9AC2-44A8-A106-5682D56BB2DF}">
      <dsp:nvSpPr>
        <dsp:cNvPr id="0" name=""/>
        <dsp:cNvSpPr/>
      </dsp:nvSpPr>
      <dsp:spPr>
        <a:xfrm>
          <a:off x="0" y="1075911"/>
          <a:ext cx="11685723" cy="63685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Entity Types, Entity Sets, Attributes, and Keys</a:t>
          </a:r>
          <a:endParaRPr lang="en-US" sz="2400" kern="1200" dirty="0"/>
        </a:p>
      </dsp:txBody>
      <dsp:txXfrm>
        <a:off x="31088" y="1106999"/>
        <a:ext cx="11623547" cy="574674"/>
      </dsp:txXfrm>
    </dsp:sp>
    <dsp:sp modelId="{E43DE380-1EEF-46E9-8C6B-A371E73C45AF}">
      <dsp:nvSpPr>
        <dsp:cNvPr id="0" name=""/>
        <dsp:cNvSpPr/>
      </dsp:nvSpPr>
      <dsp:spPr>
        <a:xfrm>
          <a:off x="0" y="1712761"/>
          <a:ext cx="11685723" cy="317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1022" tIns="25400" rIns="142240" bIns="25400" numCol="1" spcCol="1270" anchor="t" anchorCtr="0">
          <a:noAutofit/>
        </a:bodyPr>
        <a:lstStyle/>
        <a:p>
          <a:pPr marL="228600" lvl="1" indent="-228600" algn="l" defTabSz="889000">
            <a:lnSpc>
              <a:spcPct val="90000"/>
            </a:lnSpc>
            <a:spcBef>
              <a:spcPct val="0"/>
            </a:spcBef>
            <a:spcAft>
              <a:spcPct val="20000"/>
            </a:spcAft>
            <a:buChar char="•"/>
          </a:pPr>
          <a:endParaRPr lang="en-US" sz="2000" kern="1200" dirty="0"/>
        </a:p>
      </dsp:txBody>
      <dsp:txXfrm>
        <a:off x="0" y="1712761"/>
        <a:ext cx="11685723" cy="31772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DEC8D3-EDBE-4767-9668-A8D2EB54190F}">
      <dsp:nvSpPr>
        <dsp:cNvPr id="0" name=""/>
        <dsp:cNvSpPr/>
      </dsp:nvSpPr>
      <dsp:spPr>
        <a:xfrm>
          <a:off x="0" y="2302"/>
          <a:ext cx="11701220" cy="83947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kern="1200"/>
            <a:t>Entity Types, Entity Sets, Keys, and Value Sets</a:t>
          </a:r>
          <a:endParaRPr lang="en-US" sz="3400" kern="1200"/>
        </a:p>
      </dsp:txBody>
      <dsp:txXfrm>
        <a:off x="40980" y="43282"/>
        <a:ext cx="11619260" cy="757514"/>
      </dsp:txXfrm>
    </dsp:sp>
    <dsp:sp modelId="{21F03D01-66ED-4B85-A76A-FCF7C536BFAB}">
      <dsp:nvSpPr>
        <dsp:cNvPr id="0" name=""/>
        <dsp:cNvSpPr/>
      </dsp:nvSpPr>
      <dsp:spPr>
        <a:xfrm>
          <a:off x="0" y="942577"/>
          <a:ext cx="11701220" cy="46067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Entity Types and Entity Sets</a:t>
          </a:r>
          <a:endParaRPr lang="en-US" sz="2400" kern="1200"/>
        </a:p>
      </dsp:txBody>
      <dsp:txXfrm>
        <a:off x="22488" y="965065"/>
        <a:ext cx="11656244" cy="415702"/>
      </dsp:txXfrm>
    </dsp:sp>
    <dsp:sp modelId="{6298E6B8-6287-4167-9035-26F10AF01F92}">
      <dsp:nvSpPr>
        <dsp:cNvPr id="0" name=""/>
        <dsp:cNvSpPr/>
      </dsp:nvSpPr>
      <dsp:spPr>
        <a:xfrm>
          <a:off x="0" y="1403256"/>
          <a:ext cx="11701220" cy="579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1514" tIns="43180" rIns="241808" bIns="43180" numCol="1" spcCol="1270" anchor="t" anchorCtr="0">
          <a:noAutofit/>
        </a:bodyPr>
        <a:lstStyle/>
        <a:p>
          <a:pPr marL="228600" lvl="1" indent="-228600" algn="l" defTabSz="1200150">
            <a:lnSpc>
              <a:spcPct val="90000"/>
            </a:lnSpc>
            <a:spcBef>
              <a:spcPct val="0"/>
            </a:spcBef>
            <a:spcAft>
              <a:spcPct val="20000"/>
            </a:spcAft>
            <a:buChar char="•"/>
          </a:pPr>
          <a:endParaRPr lang="en-US" sz="2700" kern="1200" dirty="0"/>
        </a:p>
      </dsp:txBody>
      <dsp:txXfrm>
        <a:off x="0" y="1403256"/>
        <a:ext cx="11701220" cy="5796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4B8374-4E6A-4432-90A1-CE00DBFAB0B1}">
      <dsp:nvSpPr>
        <dsp:cNvPr id="0" name=""/>
        <dsp:cNvSpPr/>
      </dsp:nvSpPr>
      <dsp:spPr>
        <a:xfrm>
          <a:off x="0" y="147375"/>
          <a:ext cx="11654726" cy="127120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Relationship Types, Relationship Sets, Roles, and Structural Constraints</a:t>
          </a:r>
          <a:endParaRPr lang="en-US" sz="2400" kern="1200" dirty="0"/>
        </a:p>
      </dsp:txBody>
      <dsp:txXfrm>
        <a:off x="62055" y="209430"/>
        <a:ext cx="11530616" cy="1147095"/>
      </dsp:txXfrm>
    </dsp:sp>
    <dsp:sp modelId="{D118B101-DFB3-433B-A73A-5E22258C150A}">
      <dsp:nvSpPr>
        <dsp:cNvPr id="0" name=""/>
        <dsp:cNvSpPr/>
      </dsp:nvSpPr>
      <dsp:spPr>
        <a:xfrm>
          <a:off x="0" y="1418580"/>
          <a:ext cx="11654726" cy="2962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0038"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b="0" i="0" kern="1200" baseline="0" dirty="0"/>
            <a:t>Whenever an attribute of one entity type refers to another entity type, some relationship exists. </a:t>
          </a:r>
          <a:endParaRPr lang="en-US" sz="2000" kern="1200" dirty="0"/>
        </a:p>
        <a:p>
          <a:pPr marL="228600" lvl="1" indent="-228600" algn="just" defTabSz="889000">
            <a:lnSpc>
              <a:spcPct val="90000"/>
            </a:lnSpc>
            <a:spcBef>
              <a:spcPct val="0"/>
            </a:spcBef>
            <a:spcAft>
              <a:spcPct val="20000"/>
            </a:spcAft>
            <a:buChar char="•"/>
          </a:pPr>
          <a:r>
            <a:rPr lang="en-US" sz="2000" b="0" i="0" kern="1200" baseline="0"/>
            <a:t>For example: </a:t>
          </a:r>
          <a:endParaRPr lang="en-US" sz="2000" kern="1200"/>
        </a:p>
        <a:p>
          <a:pPr marL="457200" lvl="2" indent="-228600" algn="just" defTabSz="889000">
            <a:lnSpc>
              <a:spcPct val="90000"/>
            </a:lnSpc>
            <a:spcBef>
              <a:spcPct val="0"/>
            </a:spcBef>
            <a:spcAft>
              <a:spcPct val="20000"/>
            </a:spcAft>
            <a:buChar char="•"/>
          </a:pPr>
          <a:r>
            <a:rPr lang="en-US" sz="2000" b="0" i="0" kern="1200" baseline="0"/>
            <a:t>the attribute Manager of DEPARTMENT refers to an employee who manages the department; </a:t>
          </a:r>
          <a:endParaRPr lang="en-US" sz="2000" kern="1200"/>
        </a:p>
        <a:p>
          <a:pPr marL="457200" lvl="2" indent="-228600" algn="just" defTabSz="889000">
            <a:lnSpc>
              <a:spcPct val="90000"/>
            </a:lnSpc>
            <a:spcBef>
              <a:spcPct val="0"/>
            </a:spcBef>
            <a:spcAft>
              <a:spcPct val="20000"/>
            </a:spcAft>
            <a:buChar char="•"/>
          </a:pPr>
          <a:r>
            <a:rPr lang="en-US" sz="2000" b="0" i="0" kern="1200" baseline="0" dirty="0"/>
            <a:t>the attribute Controlling department</a:t>
          </a:r>
          <a:r>
            <a:rPr lang="en-US" sz="2000" kern="1200" dirty="0"/>
            <a:t> </a:t>
          </a:r>
          <a:r>
            <a:rPr lang="en-US" sz="2000" b="0" i="0" kern="1200" baseline="0" dirty="0"/>
            <a:t>of PROJECT refers to the department that controls the project; </a:t>
          </a:r>
          <a:endParaRPr lang="en-US" sz="2000" kern="1200" dirty="0"/>
        </a:p>
        <a:p>
          <a:pPr marL="457200" lvl="2" indent="-228600" algn="just" defTabSz="889000">
            <a:lnSpc>
              <a:spcPct val="90000"/>
            </a:lnSpc>
            <a:spcBef>
              <a:spcPct val="0"/>
            </a:spcBef>
            <a:spcAft>
              <a:spcPct val="20000"/>
            </a:spcAft>
            <a:buChar char="•"/>
          </a:pPr>
          <a:r>
            <a:rPr lang="en-US" sz="2000" b="0" i="0" kern="1200" baseline="0" dirty="0"/>
            <a:t>the attribute Supervisor of EMPLOYEE refers to another employee (the one who supervises this employee); </a:t>
          </a:r>
          <a:endParaRPr lang="en-US" sz="2000" kern="1200" dirty="0"/>
        </a:p>
        <a:p>
          <a:pPr marL="457200" lvl="2" indent="-228600" algn="just" defTabSz="889000">
            <a:lnSpc>
              <a:spcPct val="90000"/>
            </a:lnSpc>
            <a:spcBef>
              <a:spcPct val="0"/>
            </a:spcBef>
            <a:spcAft>
              <a:spcPct val="20000"/>
            </a:spcAft>
            <a:buChar char="•"/>
          </a:pPr>
          <a:r>
            <a:rPr lang="en-US" sz="2000" b="0" i="0" kern="1200" baseline="0" dirty="0"/>
            <a:t>the attribute Department of EMPLOYEE refers to the department for which the employee works; and so on.</a:t>
          </a:r>
          <a:endParaRPr lang="en-US" sz="2000" kern="1200" dirty="0"/>
        </a:p>
        <a:p>
          <a:pPr marL="228600" lvl="1" indent="-228600" algn="just" defTabSz="889000">
            <a:lnSpc>
              <a:spcPct val="90000"/>
            </a:lnSpc>
            <a:spcBef>
              <a:spcPct val="0"/>
            </a:spcBef>
            <a:spcAft>
              <a:spcPct val="20000"/>
            </a:spcAft>
            <a:buChar char="•"/>
          </a:pPr>
          <a:r>
            <a:rPr lang="en-US" sz="2000" b="0" i="0" kern="1200" baseline="0" dirty="0"/>
            <a:t>In the ER model, these references should not be represented as attributes but as </a:t>
          </a:r>
          <a:r>
            <a:rPr lang="en-US" sz="2000" b="1" i="0" kern="1200" baseline="0" dirty="0"/>
            <a:t>relationships.</a:t>
          </a:r>
          <a:endParaRPr lang="en-US" sz="2000" kern="1200" dirty="0"/>
        </a:p>
      </dsp:txBody>
      <dsp:txXfrm>
        <a:off x="0" y="1418580"/>
        <a:ext cx="11654726" cy="2962170"/>
      </dsp:txXfrm>
    </dsp:sp>
    <dsp:sp modelId="{4A06F80C-E795-4410-B085-D8A5C1738DE2}">
      <dsp:nvSpPr>
        <dsp:cNvPr id="0" name=""/>
        <dsp:cNvSpPr/>
      </dsp:nvSpPr>
      <dsp:spPr>
        <a:xfrm>
          <a:off x="0" y="4380750"/>
          <a:ext cx="11654726" cy="45472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0" kern="1200" baseline="0"/>
            <a:t>Relationship Types, Sets, and Instances</a:t>
          </a:r>
          <a:endParaRPr lang="en-US" sz="1900" kern="1200"/>
        </a:p>
      </dsp:txBody>
      <dsp:txXfrm>
        <a:off x="22198" y="4402948"/>
        <a:ext cx="11610330" cy="410326"/>
      </dsp:txXfrm>
    </dsp:sp>
    <dsp:sp modelId="{82C3F1A4-4031-4560-A447-B2298A7AF99A}">
      <dsp:nvSpPr>
        <dsp:cNvPr id="0" name=""/>
        <dsp:cNvSpPr/>
      </dsp:nvSpPr>
      <dsp:spPr>
        <a:xfrm>
          <a:off x="0" y="4835473"/>
          <a:ext cx="11654726" cy="1234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0038"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kern="1200" dirty="0"/>
            <a:t>A </a:t>
          </a:r>
          <a:r>
            <a:rPr lang="en-US" sz="2000" b="1" kern="1200" dirty="0"/>
            <a:t>relationship type </a:t>
          </a:r>
          <a:r>
            <a:rPr lang="en-US" sz="2000" kern="1200" dirty="0"/>
            <a:t>R among n entity types E1, E2, . . . , En defines a set of associations—or a relationship set—among entities from these entity types.</a:t>
          </a:r>
        </a:p>
        <a:p>
          <a:pPr marL="228600" lvl="1" indent="-228600" algn="just" defTabSz="889000">
            <a:lnSpc>
              <a:spcPct val="90000"/>
            </a:lnSpc>
            <a:spcBef>
              <a:spcPct val="0"/>
            </a:spcBef>
            <a:spcAft>
              <a:spcPct val="20000"/>
            </a:spcAft>
            <a:buChar char="•"/>
          </a:pPr>
          <a:r>
            <a:rPr lang="en-US" sz="2000" b="0" i="0" kern="1200" baseline="0" dirty="0"/>
            <a:t>Similar to the case of entity types and entity sets, a relationship type and its corresponding relationship set are customarily referred to by the </a:t>
          </a:r>
          <a:r>
            <a:rPr lang="en-US" sz="2000" b="0" i="1" kern="1200" baseline="0" dirty="0"/>
            <a:t>same name</a:t>
          </a:r>
          <a:r>
            <a:rPr lang="en-US" sz="2000" b="0" i="0" kern="1200" baseline="0" dirty="0"/>
            <a:t>, </a:t>
          </a:r>
          <a:r>
            <a:rPr lang="en-US" sz="2000" b="0" i="1" kern="1200" baseline="0" dirty="0"/>
            <a:t>R</a:t>
          </a:r>
          <a:r>
            <a:rPr lang="en-US" sz="2000" b="0" i="0" kern="1200" baseline="0" dirty="0"/>
            <a:t>.</a:t>
          </a:r>
          <a:endParaRPr lang="en-US" sz="2000" kern="1200" dirty="0"/>
        </a:p>
      </dsp:txBody>
      <dsp:txXfrm>
        <a:off x="0" y="4835473"/>
        <a:ext cx="11654726" cy="123423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3ACFC1-45DA-425F-8C85-4EDB271238B2}">
      <dsp:nvSpPr>
        <dsp:cNvPr id="0" name=""/>
        <dsp:cNvSpPr/>
      </dsp:nvSpPr>
      <dsp:spPr>
        <a:xfrm>
          <a:off x="0" y="29463"/>
          <a:ext cx="11561736" cy="4215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Relationship Degree, Role Names, and Recursive Relationships</a:t>
          </a:r>
        </a:p>
      </dsp:txBody>
      <dsp:txXfrm>
        <a:off x="20577" y="50040"/>
        <a:ext cx="11520582" cy="38036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8DBCE8-4944-40DA-95CE-7E9E781E6DCD}">
      <dsp:nvSpPr>
        <dsp:cNvPr id="0" name=""/>
        <dsp:cNvSpPr/>
      </dsp:nvSpPr>
      <dsp:spPr>
        <a:xfrm>
          <a:off x="0" y="8860"/>
          <a:ext cx="11716719" cy="4317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Constraints on Binary Relationship Types</a:t>
          </a:r>
          <a:endParaRPr lang="en-US" sz="1800" kern="1200"/>
        </a:p>
      </dsp:txBody>
      <dsp:txXfrm>
        <a:off x="21075" y="29935"/>
        <a:ext cx="11674569" cy="38958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6104AC-88EF-4484-B915-A20C48063936}">
      <dsp:nvSpPr>
        <dsp:cNvPr id="0" name=""/>
        <dsp:cNvSpPr/>
      </dsp:nvSpPr>
      <dsp:spPr>
        <a:xfrm>
          <a:off x="0" y="11360"/>
          <a:ext cx="11236271" cy="6236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a:t>Weak Entity Types</a:t>
          </a:r>
          <a:endParaRPr lang="en-US" sz="2600" kern="1200"/>
        </a:p>
      </dsp:txBody>
      <dsp:txXfrm>
        <a:off x="30442" y="41802"/>
        <a:ext cx="11175387" cy="56272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69E503-E853-4A64-92EA-B11A626A25C6}">
      <dsp:nvSpPr>
        <dsp:cNvPr id="0" name=""/>
        <dsp:cNvSpPr/>
      </dsp:nvSpPr>
      <dsp:spPr>
        <a:xfrm>
          <a:off x="0" y="396"/>
          <a:ext cx="11685722" cy="78471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a:t>ER Diagrams, Naming Conventions, and Design Issues</a:t>
          </a:r>
          <a:endParaRPr lang="en-US" sz="2600" kern="1200"/>
        </a:p>
      </dsp:txBody>
      <dsp:txXfrm>
        <a:off x="38307" y="38703"/>
        <a:ext cx="11609108" cy="708104"/>
      </dsp:txXfrm>
    </dsp:sp>
    <dsp:sp modelId="{CBC9929F-62B8-4F64-941B-B1F092C649CF}">
      <dsp:nvSpPr>
        <dsp:cNvPr id="0" name=""/>
        <dsp:cNvSpPr/>
      </dsp:nvSpPr>
      <dsp:spPr>
        <a:xfrm>
          <a:off x="0" y="795057"/>
          <a:ext cx="11685722" cy="36691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i="0" kern="1200" baseline="0"/>
            <a:t>Proper Naming of Schema Constructs</a:t>
          </a:r>
          <a:endParaRPr lang="en-US" sz="2200" kern="1200"/>
        </a:p>
      </dsp:txBody>
      <dsp:txXfrm>
        <a:off x="17912" y="812969"/>
        <a:ext cx="11649898" cy="33109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594C29-302A-4ECA-BD61-019B2A4A33D3}">
      <dsp:nvSpPr>
        <dsp:cNvPr id="0" name=""/>
        <dsp:cNvSpPr/>
      </dsp:nvSpPr>
      <dsp:spPr>
        <a:xfrm>
          <a:off x="0" y="8859"/>
          <a:ext cx="11344759" cy="4317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Design Choices for ER Conceptual Design</a:t>
          </a:r>
          <a:endParaRPr lang="en-US" sz="1800" kern="1200"/>
        </a:p>
      </dsp:txBody>
      <dsp:txXfrm>
        <a:off x="21075" y="29934"/>
        <a:ext cx="11302609" cy="38958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1DBDA6-255A-48F0-9F70-7BAC952513F6}">
      <dsp:nvSpPr>
        <dsp:cNvPr id="0" name=""/>
        <dsp:cNvSpPr/>
      </dsp:nvSpPr>
      <dsp:spPr>
        <a:xfrm>
          <a:off x="0" y="8860"/>
          <a:ext cx="11499741" cy="4317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a:t>Alternative Notations for ER Diagrams</a:t>
          </a:r>
          <a:endParaRPr lang="en-US" sz="1800" kern="1200"/>
        </a:p>
      </dsp:txBody>
      <dsp:txXfrm>
        <a:off x="21075" y="29935"/>
        <a:ext cx="11457591" cy="38958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96FBBC-2919-477C-A6D2-585A5EE3F12A}">
      <dsp:nvSpPr>
        <dsp:cNvPr id="0" name=""/>
        <dsp:cNvSpPr/>
      </dsp:nvSpPr>
      <dsp:spPr>
        <a:xfrm>
          <a:off x="0" y="9597"/>
          <a:ext cx="10337369" cy="3837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Summary of the notation for ER diagrams</a:t>
          </a:r>
          <a:endParaRPr lang="en-US" sz="1600" kern="1200"/>
        </a:p>
      </dsp:txBody>
      <dsp:txXfrm>
        <a:off x="18734" y="28331"/>
        <a:ext cx="10299901" cy="34629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515539-2220-4AAB-B68A-D0426EE997CC}">
      <dsp:nvSpPr>
        <dsp:cNvPr id="0" name=""/>
        <dsp:cNvSpPr/>
      </dsp:nvSpPr>
      <dsp:spPr>
        <a:xfrm>
          <a:off x="0" y="3435"/>
          <a:ext cx="11143282" cy="40920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i="0" kern="1200" baseline="0"/>
            <a:t>Example of Other Notation:</a:t>
          </a:r>
          <a:endParaRPr lang="en-US" sz="2200" kern="1200"/>
        </a:p>
      </dsp:txBody>
      <dsp:txXfrm>
        <a:off x="19976" y="23411"/>
        <a:ext cx="11103330" cy="369252"/>
      </dsp:txXfrm>
    </dsp:sp>
    <dsp:sp modelId="{644DD45B-27FF-4FC5-9FAA-6D820B1B6F65}">
      <dsp:nvSpPr>
        <dsp:cNvPr id="0" name=""/>
        <dsp:cNvSpPr/>
      </dsp:nvSpPr>
      <dsp:spPr>
        <a:xfrm>
          <a:off x="0" y="550880"/>
          <a:ext cx="11143282" cy="3755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i="0" kern="1200" baseline="0" dirty="0"/>
            <a:t>UML Class Diagrams</a:t>
          </a:r>
        </a:p>
      </dsp:txBody>
      <dsp:txXfrm>
        <a:off x="18334" y="569214"/>
        <a:ext cx="11106614" cy="33891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49156D-7040-4BF3-AE29-31CED975D036}">
      <dsp:nvSpPr>
        <dsp:cNvPr id="0" name=""/>
        <dsp:cNvSpPr/>
      </dsp:nvSpPr>
      <dsp:spPr>
        <a:xfrm>
          <a:off x="0" y="608"/>
          <a:ext cx="11732217" cy="77652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baseline="0"/>
            <a:t>Relationship Types of Degree Higher than Two</a:t>
          </a:r>
          <a:endParaRPr lang="en-US" sz="2400" kern="1200"/>
        </a:p>
      </dsp:txBody>
      <dsp:txXfrm>
        <a:off x="37907" y="38515"/>
        <a:ext cx="11656403" cy="700712"/>
      </dsp:txXfrm>
    </dsp:sp>
    <dsp:sp modelId="{20FD16CA-5782-45CF-87E9-59E9759960C1}">
      <dsp:nvSpPr>
        <dsp:cNvPr id="0" name=""/>
        <dsp:cNvSpPr/>
      </dsp:nvSpPr>
      <dsp:spPr>
        <a:xfrm>
          <a:off x="0" y="787865"/>
          <a:ext cx="11732217" cy="43589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i="0" kern="1200" baseline="0"/>
            <a:t>Choosing between Binary and Ternary (or Higher-Degree) Relationships</a:t>
          </a:r>
          <a:endParaRPr lang="en-US" sz="2200" kern="1200"/>
        </a:p>
      </dsp:txBody>
      <dsp:txXfrm>
        <a:off x="21279" y="809144"/>
        <a:ext cx="11689659" cy="39333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2A67DB-DA86-41A8-945B-3D2FF23FC4C1}">
      <dsp:nvSpPr>
        <dsp:cNvPr id="0" name=""/>
        <dsp:cNvSpPr/>
      </dsp:nvSpPr>
      <dsp:spPr>
        <a:xfrm>
          <a:off x="0" y="4778"/>
          <a:ext cx="4479010" cy="35977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An ER diagram UNIVERSITY DB</a:t>
          </a:r>
          <a:endParaRPr lang="en-US" sz="1500" kern="1200"/>
        </a:p>
      </dsp:txBody>
      <dsp:txXfrm>
        <a:off x="17563" y="22341"/>
        <a:ext cx="4443884" cy="324648"/>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DE80B2-248E-47AC-A2F5-ABC14C07672F}">
      <dsp:nvSpPr>
        <dsp:cNvPr id="0" name=""/>
        <dsp:cNvSpPr/>
      </dsp:nvSpPr>
      <dsp:spPr>
        <a:xfrm>
          <a:off x="0" y="71323"/>
          <a:ext cx="3890075" cy="50368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An ER diagram for an AIRLINE DB</a:t>
          </a:r>
          <a:endParaRPr lang="en-US" sz="2100" kern="1200"/>
        </a:p>
      </dsp:txBody>
      <dsp:txXfrm>
        <a:off x="24588" y="95911"/>
        <a:ext cx="3840899" cy="454509"/>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68E8D4-1E83-4CA3-BF42-B44B8E0F73C4}">
      <dsp:nvSpPr>
        <dsp:cNvPr id="0" name=""/>
        <dsp:cNvSpPr/>
      </dsp:nvSpPr>
      <dsp:spPr>
        <a:xfrm>
          <a:off x="0" y="23353"/>
          <a:ext cx="4014061" cy="59962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t>An ER diagram for BANK DB</a:t>
          </a:r>
          <a:endParaRPr lang="en-US" sz="2500" kern="1200"/>
        </a:p>
      </dsp:txBody>
      <dsp:txXfrm>
        <a:off x="29271" y="52624"/>
        <a:ext cx="3955519" cy="54108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C02019-BD17-4AE6-81EA-44E5E258944E}"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081A77-8FC3-412A-9302-12BA9D22D65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464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02019-BD17-4AE6-81EA-44E5E258944E}"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081A77-8FC3-412A-9302-12BA9D22D65B}" type="slidenum">
              <a:rPr lang="en-IN" smtClean="0"/>
              <a:t>‹#›</a:t>
            </a:fld>
            <a:endParaRPr lang="en-IN"/>
          </a:p>
        </p:txBody>
      </p:sp>
    </p:spTree>
    <p:extLst>
      <p:ext uri="{BB962C8B-B14F-4D97-AF65-F5344CB8AC3E}">
        <p14:creationId xmlns:p14="http://schemas.microsoft.com/office/powerpoint/2010/main" val="3616514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C02019-BD17-4AE6-81EA-44E5E258944E}"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081A77-8FC3-412A-9302-12BA9D22D65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9625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C02019-BD17-4AE6-81EA-44E5E258944E}" type="datetimeFigureOut">
              <a:rPr lang="en-IN" smtClean="0"/>
              <a:t>25-03-2026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081A77-8FC3-412A-9302-12BA9D22D65B}" type="slidenum">
              <a:rPr lang="en-IN" smtClean="0"/>
              <a:t>‹#›</a:t>
            </a:fld>
            <a:endParaRPr lang="en-IN"/>
          </a:p>
        </p:txBody>
      </p:sp>
    </p:spTree>
    <p:extLst>
      <p:ext uri="{BB962C8B-B14F-4D97-AF65-F5344CB8AC3E}">
        <p14:creationId xmlns:p14="http://schemas.microsoft.com/office/powerpoint/2010/main" val="980086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C02019-BD17-4AE6-81EA-44E5E258944E}" type="datetimeFigureOut">
              <a:rPr lang="en-IN" smtClean="0"/>
              <a:t>25-03-2026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6081A77-8FC3-412A-9302-12BA9D22D65B}" type="slidenum">
              <a:rPr lang="en-IN" smtClean="0"/>
              <a:t>‹#›</a:t>
            </a:fld>
            <a:endParaRPr lang="en-IN"/>
          </a:p>
        </p:txBody>
      </p:sp>
    </p:spTree>
    <p:extLst>
      <p:ext uri="{BB962C8B-B14F-4D97-AF65-F5344CB8AC3E}">
        <p14:creationId xmlns:p14="http://schemas.microsoft.com/office/powerpoint/2010/main" val="3357955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C02019-BD17-4AE6-81EA-44E5E258944E}" type="datetimeFigureOut">
              <a:rPr lang="en-IN" smtClean="0"/>
              <a:t>25-03-2026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6081A77-8FC3-412A-9302-12BA9D22D65B}" type="slidenum">
              <a:rPr lang="en-IN" smtClean="0"/>
              <a:t>‹#›</a:t>
            </a:fld>
            <a:endParaRPr lang="en-IN"/>
          </a:p>
        </p:txBody>
      </p:sp>
    </p:spTree>
    <p:extLst>
      <p:ext uri="{BB962C8B-B14F-4D97-AF65-F5344CB8AC3E}">
        <p14:creationId xmlns:p14="http://schemas.microsoft.com/office/powerpoint/2010/main" val="760781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6C02019-BD17-4AE6-81EA-44E5E258944E}" type="datetimeFigureOut">
              <a:rPr lang="en-IN" smtClean="0"/>
              <a:t>25-03-2026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56081A77-8FC3-412A-9302-12BA9D22D65B}" type="slidenum">
              <a:rPr lang="en-IN" smtClean="0"/>
              <a:t>‹#›</a:t>
            </a:fld>
            <a:endParaRPr lang="en-IN"/>
          </a:p>
        </p:txBody>
      </p:sp>
    </p:spTree>
    <p:extLst>
      <p:ext uri="{BB962C8B-B14F-4D97-AF65-F5344CB8AC3E}">
        <p14:creationId xmlns:p14="http://schemas.microsoft.com/office/powerpoint/2010/main" val="13431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6C02019-BD17-4AE6-81EA-44E5E258944E}" type="datetimeFigureOut">
              <a:rPr lang="en-IN" smtClean="0"/>
              <a:t>25-03-2026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6081A77-8FC3-412A-9302-12BA9D22D65B}" type="slidenum">
              <a:rPr lang="en-IN" smtClean="0"/>
              <a:t>‹#›</a:t>
            </a:fld>
            <a:endParaRPr lang="en-IN"/>
          </a:p>
        </p:txBody>
      </p:sp>
    </p:spTree>
    <p:extLst>
      <p:ext uri="{BB962C8B-B14F-4D97-AF65-F5344CB8AC3E}">
        <p14:creationId xmlns:p14="http://schemas.microsoft.com/office/powerpoint/2010/main" val="3781311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C02019-BD17-4AE6-81EA-44E5E258944E}" type="datetimeFigureOut">
              <a:rPr lang="en-IN" smtClean="0"/>
              <a:t>25-03-2026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081A77-8FC3-412A-9302-12BA9D22D65B}" type="slidenum">
              <a:rPr lang="en-IN" smtClean="0"/>
              <a:t>‹#›</a:t>
            </a:fld>
            <a:endParaRPr lang="en-IN"/>
          </a:p>
        </p:txBody>
      </p:sp>
    </p:spTree>
    <p:extLst>
      <p:ext uri="{BB962C8B-B14F-4D97-AF65-F5344CB8AC3E}">
        <p14:creationId xmlns:p14="http://schemas.microsoft.com/office/powerpoint/2010/main" val="1875607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02019-BD17-4AE6-81EA-44E5E258944E}"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081A77-8FC3-412A-9302-12BA9D22D65B}" type="slidenum">
              <a:rPr lang="en-IN" smtClean="0"/>
              <a:t>‹#›</a:t>
            </a:fld>
            <a:endParaRPr lang="en-IN"/>
          </a:p>
        </p:txBody>
      </p:sp>
    </p:spTree>
    <p:extLst>
      <p:ext uri="{BB962C8B-B14F-4D97-AF65-F5344CB8AC3E}">
        <p14:creationId xmlns:p14="http://schemas.microsoft.com/office/powerpoint/2010/main" val="455043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02019-BD17-4AE6-81EA-44E5E258944E}"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081A77-8FC3-412A-9302-12BA9D22D65B}" type="slidenum">
              <a:rPr lang="en-IN" smtClean="0"/>
              <a:t>‹#›</a:t>
            </a:fld>
            <a:endParaRPr lang="en-IN"/>
          </a:p>
        </p:txBody>
      </p:sp>
    </p:spTree>
    <p:extLst>
      <p:ext uri="{BB962C8B-B14F-4D97-AF65-F5344CB8AC3E}">
        <p14:creationId xmlns:p14="http://schemas.microsoft.com/office/powerpoint/2010/main" val="1569575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6C02019-BD17-4AE6-81EA-44E5E258944E}" type="datetimeFigureOut">
              <a:rPr lang="en-IN" smtClean="0"/>
              <a:t>25-03-2026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6081A77-8FC3-412A-9302-12BA9D22D65B}"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464552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0.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1.png"/><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15.png"/><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22.png"/><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7.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7.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7.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7.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7.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6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18.xml"/><Relationship Id="rId7" Type="http://schemas.openxmlformats.org/officeDocument/2006/relationships/image" Target="../media/image30.png"/><Relationship Id="rId2" Type="http://schemas.openxmlformats.org/officeDocument/2006/relationships/diagramData" Target="../diagrams/data18.xml"/><Relationship Id="rId1" Type="http://schemas.openxmlformats.org/officeDocument/2006/relationships/slideLayout" Target="../slideLayouts/slideLayout7.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19.xml"/><Relationship Id="rId7" Type="http://schemas.openxmlformats.org/officeDocument/2006/relationships/image" Target="../media/image31.png"/><Relationship Id="rId2" Type="http://schemas.openxmlformats.org/officeDocument/2006/relationships/diagramData" Target="../diagrams/data19.xml"/><Relationship Id="rId1" Type="http://schemas.openxmlformats.org/officeDocument/2006/relationships/slideLayout" Target="../slideLayouts/slideLayout7.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7.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6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21.xml"/><Relationship Id="rId7" Type="http://schemas.openxmlformats.org/officeDocument/2006/relationships/image" Target="../media/image33.png"/><Relationship Id="rId2" Type="http://schemas.openxmlformats.org/officeDocument/2006/relationships/diagramData" Target="../diagrams/data21.xml"/><Relationship Id="rId1" Type="http://schemas.openxmlformats.org/officeDocument/2006/relationships/slideLayout" Target="../slideLayouts/slideLayout7.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22.xml"/><Relationship Id="rId7" Type="http://schemas.openxmlformats.org/officeDocument/2006/relationships/image" Target="../media/image34.png"/><Relationship Id="rId2" Type="http://schemas.openxmlformats.org/officeDocument/2006/relationships/diagramData" Target="../diagrams/data22.xml"/><Relationship Id="rId1" Type="http://schemas.openxmlformats.org/officeDocument/2006/relationships/slideLayout" Target="../slideLayouts/slideLayout7.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23.xml"/><Relationship Id="rId7" Type="http://schemas.openxmlformats.org/officeDocument/2006/relationships/image" Target="../media/image35.png"/><Relationship Id="rId2" Type="http://schemas.openxmlformats.org/officeDocument/2006/relationships/diagramData" Target="../diagrams/data23.xml"/><Relationship Id="rId1" Type="http://schemas.openxmlformats.org/officeDocument/2006/relationships/slideLayout" Target="../slideLayouts/slideLayout7.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819D8-6634-7859-B3AD-39F60A8FD3B4}"/>
              </a:ext>
            </a:extLst>
          </p:cNvPr>
          <p:cNvSpPr>
            <a:spLocks noGrp="1"/>
          </p:cNvSpPr>
          <p:nvPr>
            <p:ph type="ctrTitle"/>
          </p:nvPr>
        </p:nvSpPr>
        <p:spPr/>
        <p:txBody>
          <a:bodyPr/>
          <a:lstStyle/>
          <a:p>
            <a:r>
              <a:rPr lang="en-IN" dirty="0"/>
              <a:t>Database Management System</a:t>
            </a:r>
          </a:p>
        </p:txBody>
      </p:sp>
      <p:sp>
        <p:nvSpPr>
          <p:cNvPr id="3" name="Subtitle 2">
            <a:extLst>
              <a:ext uri="{FF2B5EF4-FFF2-40B4-BE49-F238E27FC236}">
                <a16:creationId xmlns:a16="http://schemas.microsoft.com/office/drawing/2014/main" id="{97854DF2-C22A-8CFE-E558-075CC7D678F6}"/>
              </a:ext>
            </a:extLst>
          </p:cNvPr>
          <p:cNvSpPr>
            <a:spLocks noGrp="1"/>
          </p:cNvSpPr>
          <p:nvPr>
            <p:ph type="subTitle" idx="1"/>
          </p:nvPr>
        </p:nvSpPr>
        <p:spPr/>
        <p:txBody>
          <a:bodyPr>
            <a:normAutofit fontScale="85000" lnSpcReduction="20000"/>
          </a:bodyPr>
          <a:lstStyle/>
          <a:p>
            <a:r>
              <a:rPr lang="en-IN" dirty="0"/>
              <a:t>Module 1</a:t>
            </a:r>
          </a:p>
          <a:p>
            <a:endParaRPr lang="en-IN" dirty="0"/>
          </a:p>
          <a:p>
            <a:r>
              <a:rPr lang="en-IN" dirty="0"/>
              <a:t>Prof. sharanabasappa noola</a:t>
            </a:r>
          </a:p>
          <a:p>
            <a:endParaRPr lang="en-IN" dirty="0"/>
          </a:p>
        </p:txBody>
      </p:sp>
    </p:spTree>
    <p:extLst>
      <p:ext uri="{BB962C8B-B14F-4D97-AF65-F5344CB8AC3E}">
        <p14:creationId xmlns:p14="http://schemas.microsoft.com/office/powerpoint/2010/main" val="3252324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AFC07-9E63-13F4-55F5-A4929BEF8BFD}"/>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8F6E8BB6-1347-BECA-002A-6B281F302A18}"/>
              </a:ext>
            </a:extLst>
          </p:cNvPr>
          <p:cNvSpPr>
            <a:spLocks noGrp="1"/>
          </p:cNvSpPr>
          <p:nvPr>
            <p:ph idx="1"/>
          </p:nvPr>
        </p:nvSpPr>
        <p:spPr/>
        <p:txBody>
          <a:bodyPr>
            <a:normAutofit/>
          </a:bodyPr>
          <a:lstStyle/>
          <a:p>
            <a:pPr algn="just">
              <a:buFont typeface="Wingdings" panose="05000000000000000000" pitchFamily="2" charset="2"/>
              <a:buChar char="§"/>
            </a:pPr>
            <a:r>
              <a:rPr lang="en-US" sz="1800" dirty="0">
                <a:effectLst/>
                <a:ea typeface="Calibri" panose="020F0502020204030204" pitchFamily="34" charset="0"/>
              </a:rPr>
              <a:t>A</a:t>
            </a:r>
            <a:r>
              <a:rPr lang="en-US" sz="1800" spc="-5" dirty="0">
                <a:effectLst/>
                <a:ea typeface="Calibri" panose="020F0502020204030204" pitchFamily="34" charset="0"/>
              </a:rPr>
              <a:t> </a:t>
            </a:r>
            <a:r>
              <a:rPr lang="en-US" sz="1800" b="1" dirty="0">
                <a:effectLst/>
                <a:ea typeface="Calibri" panose="020F0502020204030204" pitchFamily="34" charset="0"/>
              </a:rPr>
              <a:t>database</a:t>
            </a:r>
            <a:r>
              <a:rPr lang="en-US" sz="1800" b="1" spc="-10" dirty="0">
                <a:effectLst/>
                <a:ea typeface="Calibri" panose="020F0502020204030204" pitchFamily="34" charset="0"/>
              </a:rPr>
              <a:t> </a:t>
            </a:r>
            <a:r>
              <a:rPr lang="en-US" sz="1800" dirty="0">
                <a:effectLst/>
                <a:ea typeface="Calibri" panose="020F0502020204030204" pitchFamily="34" charset="0"/>
              </a:rPr>
              <a:t>is</a:t>
            </a:r>
            <a:r>
              <a:rPr lang="en-US" sz="1800" spc="-15" dirty="0">
                <a:effectLst/>
                <a:ea typeface="Calibri" panose="020F0502020204030204" pitchFamily="34" charset="0"/>
              </a:rPr>
              <a:t> </a:t>
            </a:r>
            <a:r>
              <a:rPr lang="en-US" sz="1800" dirty="0">
                <a:effectLst/>
                <a:ea typeface="Calibri" panose="020F0502020204030204" pitchFamily="34" charset="0"/>
              </a:rPr>
              <a:t>a</a:t>
            </a:r>
            <a:r>
              <a:rPr lang="en-US" sz="1800" spc="-10" dirty="0">
                <a:effectLst/>
                <a:ea typeface="Calibri" panose="020F0502020204030204" pitchFamily="34" charset="0"/>
              </a:rPr>
              <a:t> </a:t>
            </a:r>
            <a:r>
              <a:rPr lang="en-US" sz="1800" dirty="0">
                <a:effectLst/>
                <a:ea typeface="Calibri" panose="020F0502020204030204" pitchFamily="34" charset="0"/>
              </a:rPr>
              <a:t>collection</a:t>
            </a:r>
            <a:r>
              <a:rPr lang="en-US" sz="1800" spc="-20" dirty="0">
                <a:effectLst/>
                <a:ea typeface="Calibri" panose="020F0502020204030204" pitchFamily="34" charset="0"/>
              </a:rPr>
              <a:t> </a:t>
            </a:r>
            <a:r>
              <a:rPr lang="en-US" sz="1800" dirty="0">
                <a:effectLst/>
                <a:ea typeface="Calibri" panose="020F0502020204030204" pitchFamily="34" charset="0"/>
              </a:rPr>
              <a:t>of</a:t>
            </a:r>
            <a:r>
              <a:rPr lang="en-US" sz="1800" spc="-10" dirty="0">
                <a:effectLst/>
                <a:ea typeface="Calibri" panose="020F0502020204030204" pitchFamily="34" charset="0"/>
              </a:rPr>
              <a:t> </a:t>
            </a:r>
            <a:r>
              <a:rPr lang="en-US" sz="1800" dirty="0">
                <a:effectLst/>
                <a:ea typeface="Calibri" panose="020F0502020204030204" pitchFamily="34" charset="0"/>
              </a:rPr>
              <a:t>related</a:t>
            </a:r>
            <a:r>
              <a:rPr lang="en-US" sz="1800" spc="-15" dirty="0">
                <a:effectLst/>
                <a:ea typeface="Calibri" panose="020F0502020204030204" pitchFamily="34" charset="0"/>
              </a:rPr>
              <a:t> </a:t>
            </a:r>
            <a:r>
              <a:rPr lang="en-US" sz="1800" dirty="0">
                <a:effectLst/>
                <a:ea typeface="Calibri" panose="020F0502020204030204" pitchFamily="34" charset="0"/>
              </a:rPr>
              <a:t>data.</a:t>
            </a:r>
          </a:p>
          <a:p>
            <a:pPr algn="just">
              <a:buFont typeface="Wingdings" panose="05000000000000000000" pitchFamily="2" charset="2"/>
              <a:buChar char="§"/>
            </a:pPr>
            <a:r>
              <a:rPr lang="en-US" sz="1800" dirty="0">
                <a:effectLst/>
                <a:ea typeface="Calibri" panose="020F0502020204030204" pitchFamily="34" charset="0"/>
              </a:rPr>
              <a:t>A </a:t>
            </a:r>
            <a:r>
              <a:rPr lang="en-US" sz="1800" b="1" dirty="0">
                <a:effectLst/>
                <a:ea typeface="Calibri" panose="020F0502020204030204" pitchFamily="34" charset="0"/>
              </a:rPr>
              <a:t>data </a:t>
            </a:r>
            <a:r>
              <a:rPr lang="en-US" sz="1800" dirty="0">
                <a:effectLst/>
                <a:ea typeface="Calibri" panose="020F0502020204030204" pitchFamily="34" charset="0"/>
              </a:rPr>
              <a:t>mean</a:t>
            </a:r>
            <a:r>
              <a:rPr lang="en-US" sz="1800" spc="-15" dirty="0">
                <a:effectLst/>
                <a:ea typeface="Calibri" panose="020F0502020204030204" pitchFamily="34" charset="0"/>
              </a:rPr>
              <a:t> </a:t>
            </a:r>
            <a:r>
              <a:rPr lang="en-US" sz="1800" dirty="0">
                <a:effectLst/>
                <a:ea typeface="Calibri" panose="020F0502020204030204" pitchFamily="34" charset="0"/>
              </a:rPr>
              <a:t>known</a:t>
            </a:r>
            <a:r>
              <a:rPr lang="en-US" sz="1800" spc="-10" dirty="0">
                <a:effectLst/>
                <a:ea typeface="Calibri" panose="020F0502020204030204" pitchFamily="34" charset="0"/>
              </a:rPr>
              <a:t> </a:t>
            </a:r>
            <a:r>
              <a:rPr lang="en-US" sz="1800" dirty="0">
                <a:effectLst/>
                <a:ea typeface="Calibri" panose="020F0502020204030204" pitchFamily="34" charset="0"/>
              </a:rPr>
              <a:t>facts</a:t>
            </a:r>
            <a:r>
              <a:rPr lang="en-US" sz="1800" spc="-10" dirty="0">
                <a:effectLst/>
                <a:ea typeface="Calibri" panose="020F0502020204030204" pitchFamily="34" charset="0"/>
              </a:rPr>
              <a:t> </a:t>
            </a:r>
            <a:r>
              <a:rPr lang="en-US" sz="1800" dirty="0">
                <a:effectLst/>
                <a:ea typeface="Calibri" panose="020F0502020204030204" pitchFamily="34" charset="0"/>
              </a:rPr>
              <a:t>that</a:t>
            </a:r>
            <a:r>
              <a:rPr lang="en-US" sz="1800" spc="-20" dirty="0">
                <a:effectLst/>
                <a:ea typeface="Calibri" panose="020F0502020204030204" pitchFamily="34" charset="0"/>
              </a:rPr>
              <a:t> </a:t>
            </a:r>
            <a:r>
              <a:rPr lang="en-US" sz="1800" dirty="0">
                <a:effectLst/>
                <a:ea typeface="Calibri" panose="020F0502020204030204" pitchFamily="34" charset="0"/>
              </a:rPr>
              <a:t>can</a:t>
            </a:r>
            <a:r>
              <a:rPr lang="en-US" sz="1800" spc="10" dirty="0">
                <a:effectLst/>
                <a:ea typeface="Calibri" panose="020F0502020204030204" pitchFamily="34" charset="0"/>
              </a:rPr>
              <a:t> </a:t>
            </a:r>
            <a:r>
              <a:rPr lang="en-US" sz="1800" dirty="0">
                <a:effectLst/>
                <a:ea typeface="Calibri" panose="020F0502020204030204" pitchFamily="34" charset="0"/>
              </a:rPr>
              <a:t>be</a:t>
            </a:r>
            <a:r>
              <a:rPr lang="en-US" sz="1800" spc="-10" dirty="0">
                <a:effectLst/>
                <a:ea typeface="Calibri" panose="020F0502020204030204" pitchFamily="34" charset="0"/>
              </a:rPr>
              <a:t> </a:t>
            </a:r>
            <a:r>
              <a:rPr lang="en-US" sz="1800" dirty="0">
                <a:effectLst/>
                <a:ea typeface="Calibri" panose="020F0502020204030204" pitchFamily="34" charset="0"/>
              </a:rPr>
              <a:t>recorded</a:t>
            </a:r>
            <a:r>
              <a:rPr lang="en-US" sz="1800" spc="10" dirty="0">
                <a:effectLst/>
                <a:ea typeface="Calibri" panose="020F0502020204030204" pitchFamily="34" charset="0"/>
              </a:rPr>
              <a:t> </a:t>
            </a:r>
            <a:r>
              <a:rPr lang="en-US" sz="1800" dirty="0">
                <a:effectLst/>
                <a:ea typeface="Calibri" panose="020F0502020204030204" pitchFamily="34" charset="0"/>
              </a:rPr>
              <a:t>and</a:t>
            </a:r>
            <a:r>
              <a:rPr lang="en-US" sz="1800" spc="-15" dirty="0">
                <a:effectLst/>
                <a:ea typeface="Calibri" panose="020F0502020204030204" pitchFamily="34" charset="0"/>
              </a:rPr>
              <a:t> </a:t>
            </a:r>
            <a:r>
              <a:rPr lang="en-US" sz="1800" dirty="0">
                <a:effectLst/>
                <a:ea typeface="Calibri" panose="020F0502020204030204" pitchFamily="34" charset="0"/>
              </a:rPr>
              <a:t>that</a:t>
            </a:r>
            <a:r>
              <a:rPr lang="en-US" sz="1800" spc="-25" dirty="0">
                <a:effectLst/>
                <a:ea typeface="Calibri" panose="020F0502020204030204" pitchFamily="34" charset="0"/>
              </a:rPr>
              <a:t> </a:t>
            </a:r>
            <a:r>
              <a:rPr lang="en-US" sz="1800" dirty="0">
                <a:effectLst/>
                <a:ea typeface="Calibri" panose="020F0502020204030204" pitchFamily="34" charset="0"/>
              </a:rPr>
              <a:t>have</a:t>
            </a:r>
            <a:r>
              <a:rPr lang="en-US" sz="1800" spc="-10" dirty="0">
                <a:effectLst/>
                <a:ea typeface="Calibri" panose="020F0502020204030204" pitchFamily="34" charset="0"/>
              </a:rPr>
              <a:t> </a:t>
            </a:r>
            <a:r>
              <a:rPr lang="en-US" sz="1800" dirty="0">
                <a:effectLst/>
                <a:ea typeface="Calibri" panose="020F0502020204030204" pitchFamily="34" charset="0"/>
              </a:rPr>
              <a:t>implicit</a:t>
            </a:r>
            <a:r>
              <a:rPr lang="en-US" sz="1800" spc="-15" dirty="0">
                <a:effectLst/>
                <a:ea typeface="Calibri" panose="020F0502020204030204" pitchFamily="34" charset="0"/>
              </a:rPr>
              <a:t> </a:t>
            </a:r>
            <a:r>
              <a:rPr lang="en-US" sz="1800" dirty="0">
                <a:effectLst/>
                <a:ea typeface="Calibri" panose="020F0502020204030204" pitchFamily="34" charset="0"/>
              </a:rPr>
              <a:t>meaning.</a:t>
            </a:r>
          </a:p>
          <a:p>
            <a:pPr algn="just">
              <a:buFont typeface="Wingdings" panose="05000000000000000000" pitchFamily="2" charset="2"/>
              <a:buChar char="§"/>
            </a:pPr>
            <a:r>
              <a:rPr lang="en-US" sz="1800" dirty="0">
                <a:effectLst/>
                <a:ea typeface="Calibri" panose="020F0502020204030204" pitchFamily="34" charset="0"/>
              </a:rPr>
              <a:t>For </a:t>
            </a:r>
            <a:r>
              <a:rPr lang="en-US" sz="1800" dirty="0" err="1">
                <a:effectLst/>
                <a:ea typeface="Calibri" panose="020F0502020204030204" pitchFamily="34" charset="0"/>
              </a:rPr>
              <a:t>eg</a:t>
            </a:r>
            <a:r>
              <a:rPr lang="en-US" sz="1800" dirty="0">
                <a:effectLst/>
                <a:ea typeface="Calibri" panose="020F0502020204030204" pitchFamily="34" charset="0"/>
              </a:rPr>
              <a:t>, consider the names, telephone numbers, and addresses of the people you know.</a:t>
            </a:r>
          </a:p>
          <a:p>
            <a:pPr algn="just">
              <a:buFont typeface="Wingdings" panose="05000000000000000000" pitchFamily="2" charset="2"/>
              <a:buChar char="§"/>
            </a:pPr>
            <a:r>
              <a:rPr lang="en-US" sz="1600" dirty="0"/>
              <a:t>These can be stored in the form of tables.</a:t>
            </a:r>
            <a:endParaRPr lang="en-US" sz="1800" dirty="0">
              <a:ea typeface="Calibri" panose="020F0502020204030204" pitchFamily="34" charset="0"/>
            </a:endParaRPr>
          </a:p>
          <a:p>
            <a:pPr algn="just">
              <a:buFont typeface="Wingdings" panose="05000000000000000000" pitchFamily="2" charset="2"/>
              <a:buChar char="§"/>
            </a:pPr>
            <a:r>
              <a:rPr lang="en-US" sz="1800" dirty="0">
                <a:effectLst/>
                <a:ea typeface="Calibri" panose="020F0502020204030204" pitchFamily="34" charset="0"/>
              </a:rPr>
              <a:t>This</a:t>
            </a:r>
            <a:r>
              <a:rPr lang="en-US" sz="1800" spc="-10" dirty="0">
                <a:effectLst/>
                <a:ea typeface="Calibri" panose="020F0502020204030204" pitchFamily="34" charset="0"/>
              </a:rPr>
              <a:t> </a:t>
            </a:r>
            <a:r>
              <a:rPr lang="en-US" sz="1800" dirty="0">
                <a:effectLst/>
                <a:ea typeface="Calibri" panose="020F0502020204030204" pitchFamily="34" charset="0"/>
              </a:rPr>
              <a:t>collection</a:t>
            </a:r>
            <a:r>
              <a:rPr lang="en-US" sz="1800" spc="-15" dirty="0">
                <a:effectLst/>
                <a:ea typeface="Calibri" panose="020F0502020204030204" pitchFamily="34" charset="0"/>
              </a:rPr>
              <a:t> </a:t>
            </a:r>
            <a:r>
              <a:rPr lang="en-US" sz="1800" dirty="0">
                <a:effectLst/>
                <a:ea typeface="Calibri" panose="020F0502020204030204" pitchFamily="34" charset="0"/>
              </a:rPr>
              <a:t>of</a:t>
            </a:r>
            <a:r>
              <a:rPr lang="en-US" sz="1800" spc="-10" dirty="0">
                <a:effectLst/>
                <a:ea typeface="Calibri" panose="020F0502020204030204" pitchFamily="34" charset="0"/>
              </a:rPr>
              <a:t> </a:t>
            </a:r>
            <a:r>
              <a:rPr lang="en-US" sz="1800" dirty="0">
                <a:effectLst/>
                <a:ea typeface="Calibri" panose="020F0502020204030204" pitchFamily="34" charset="0"/>
              </a:rPr>
              <a:t>related</a:t>
            </a:r>
            <a:r>
              <a:rPr lang="en-US" sz="1800" spc="10" dirty="0">
                <a:effectLst/>
                <a:ea typeface="Calibri" panose="020F0502020204030204" pitchFamily="34" charset="0"/>
              </a:rPr>
              <a:t> </a:t>
            </a:r>
            <a:r>
              <a:rPr lang="en-US" sz="1800" dirty="0">
                <a:effectLst/>
                <a:ea typeface="Calibri" panose="020F0502020204030204" pitchFamily="34" charset="0"/>
              </a:rPr>
              <a:t>data</a:t>
            </a:r>
            <a:r>
              <a:rPr lang="en-US" sz="1800" spc="-10" dirty="0">
                <a:effectLst/>
                <a:ea typeface="Calibri" panose="020F0502020204030204" pitchFamily="34" charset="0"/>
              </a:rPr>
              <a:t> </a:t>
            </a:r>
            <a:r>
              <a:rPr lang="en-US" sz="1800" dirty="0">
                <a:effectLst/>
                <a:ea typeface="Calibri" panose="020F0502020204030204" pitchFamily="34" charset="0"/>
              </a:rPr>
              <a:t>with</a:t>
            </a:r>
            <a:r>
              <a:rPr lang="en-US" sz="1800" spc="-15" dirty="0">
                <a:effectLst/>
                <a:ea typeface="Calibri" panose="020F0502020204030204" pitchFamily="34" charset="0"/>
              </a:rPr>
              <a:t> </a:t>
            </a:r>
            <a:r>
              <a:rPr lang="en-US" sz="1800" dirty="0">
                <a:effectLst/>
                <a:ea typeface="Calibri" panose="020F0502020204030204" pitchFamily="34" charset="0"/>
              </a:rPr>
              <a:t>an</a:t>
            </a:r>
            <a:r>
              <a:rPr lang="en-US" sz="1800" spc="-15" dirty="0">
                <a:effectLst/>
                <a:ea typeface="Calibri" panose="020F0502020204030204" pitchFamily="34" charset="0"/>
              </a:rPr>
              <a:t> </a:t>
            </a:r>
            <a:r>
              <a:rPr lang="en-US" sz="1800" dirty="0">
                <a:effectLst/>
                <a:ea typeface="Calibri" panose="020F0502020204030204" pitchFamily="34" charset="0"/>
              </a:rPr>
              <a:t>implicit</a:t>
            </a:r>
            <a:r>
              <a:rPr lang="en-US" sz="1800" spc="-20" dirty="0">
                <a:effectLst/>
                <a:ea typeface="Calibri" panose="020F0502020204030204" pitchFamily="34" charset="0"/>
              </a:rPr>
              <a:t> </a:t>
            </a:r>
            <a:r>
              <a:rPr lang="en-US" sz="1800" dirty="0">
                <a:effectLst/>
                <a:ea typeface="Calibri" panose="020F0502020204030204" pitchFamily="34" charset="0"/>
              </a:rPr>
              <a:t>meaning</a:t>
            </a:r>
            <a:r>
              <a:rPr lang="en-US" sz="1800" spc="-30" dirty="0">
                <a:effectLst/>
                <a:ea typeface="Calibri" panose="020F0502020204030204" pitchFamily="34" charset="0"/>
              </a:rPr>
              <a:t> </a:t>
            </a:r>
            <a:r>
              <a:rPr lang="en-US" sz="1800" dirty="0">
                <a:effectLst/>
                <a:ea typeface="Calibri" panose="020F0502020204030204" pitchFamily="34" charset="0"/>
              </a:rPr>
              <a:t>is</a:t>
            </a:r>
            <a:r>
              <a:rPr lang="en-US" sz="1800" spc="-10" dirty="0">
                <a:effectLst/>
                <a:ea typeface="Calibri" panose="020F0502020204030204" pitchFamily="34" charset="0"/>
              </a:rPr>
              <a:t> </a:t>
            </a:r>
            <a:r>
              <a:rPr lang="en-US" sz="1800" dirty="0">
                <a:effectLst/>
                <a:ea typeface="Calibri" panose="020F0502020204030204" pitchFamily="34" charset="0"/>
              </a:rPr>
              <a:t>a</a:t>
            </a:r>
            <a:r>
              <a:rPr lang="en-US" sz="1800" spc="-10" dirty="0">
                <a:effectLst/>
                <a:ea typeface="Calibri" panose="020F0502020204030204" pitchFamily="34" charset="0"/>
              </a:rPr>
              <a:t> </a:t>
            </a:r>
            <a:r>
              <a:rPr lang="en-US" sz="1800" dirty="0">
                <a:effectLst/>
                <a:ea typeface="Calibri" panose="020F0502020204030204" pitchFamily="34" charset="0"/>
              </a:rPr>
              <a:t>database.</a:t>
            </a:r>
          </a:p>
          <a:p>
            <a:pPr algn="just">
              <a:buFont typeface="Wingdings" panose="05000000000000000000" pitchFamily="2" charset="2"/>
              <a:buChar char="§"/>
            </a:pPr>
            <a:r>
              <a:rPr lang="en-US" sz="1600" dirty="0"/>
              <a:t>A database can be of any size and varying complexity</a:t>
            </a:r>
            <a:r>
              <a:rPr lang="en-US" sz="1800" dirty="0"/>
              <a:t>.</a:t>
            </a:r>
          </a:p>
          <a:p>
            <a:pPr algn="just">
              <a:buFont typeface="Wingdings" panose="05000000000000000000" pitchFamily="2" charset="2"/>
              <a:buChar char="§"/>
            </a:pPr>
            <a:r>
              <a:rPr lang="en-US" sz="1800" b="1" dirty="0"/>
              <a:t>Data:</a:t>
            </a:r>
            <a:r>
              <a:rPr lang="en-US" sz="1800" dirty="0"/>
              <a:t> Facts, figures, statistics etc. having no particular meaning (e.g. 1, ABC, 19 </a:t>
            </a:r>
            <a:r>
              <a:rPr lang="en-US" sz="1800" dirty="0" err="1"/>
              <a:t>etc</a:t>
            </a:r>
            <a:r>
              <a:rPr lang="en-US" sz="1800" dirty="0"/>
              <a:t>).</a:t>
            </a:r>
          </a:p>
          <a:p>
            <a:pPr algn="just">
              <a:buFont typeface="Wingdings" panose="05000000000000000000" pitchFamily="2" charset="2"/>
              <a:buChar char="§"/>
            </a:pPr>
            <a:r>
              <a:rPr lang="en-US" sz="1800" b="1" dirty="0"/>
              <a:t>Record:</a:t>
            </a:r>
            <a:r>
              <a:rPr lang="en-US" sz="1800" dirty="0"/>
              <a:t> Collection of related data items, e.g. in the above example the three data items had no meaning. But if we organize them in the following way, then they collectively represent meaningful information.</a:t>
            </a:r>
          </a:p>
          <a:p>
            <a:pPr algn="just"/>
            <a:endParaRPr lang="en-US" sz="1800" dirty="0"/>
          </a:p>
          <a:p>
            <a:pPr algn="just">
              <a:buFont typeface="Wingdings" panose="05000000000000000000" pitchFamily="2" charset="2"/>
              <a:buChar char="§"/>
            </a:pPr>
            <a:endParaRPr lang="en-IN" sz="1800" b="1" dirty="0">
              <a:effectLst/>
              <a:latin typeface="Calibri" panose="020F0502020204030204" pitchFamily="34" charset="0"/>
              <a:ea typeface="Calibri" panose="020F0502020204030204" pitchFamily="34" charset="0"/>
            </a:endParaRPr>
          </a:p>
          <a:p>
            <a:pPr algn="just">
              <a:buFont typeface="Wingdings" panose="05000000000000000000" pitchFamily="2" charset="2"/>
              <a:buChar char="§"/>
            </a:pPr>
            <a:endParaRPr lang="en-IN" sz="1800" dirty="0">
              <a:effectLst/>
              <a:latin typeface="Calibri" panose="020F0502020204030204" pitchFamily="34" charset="0"/>
              <a:ea typeface="Calibri" panose="020F0502020204030204" pitchFamily="34" charset="0"/>
            </a:endParaRPr>
          </a:p>
          <a:p>
            <a:pPr algn="just">
              <a:buFont typeface="Wingdings" panose="05000000000000000000" pitchFamily="2" charset="2"/>
              <a:buChar char="§"/>
            </a:pPr>
            <a:endParaRPr lang="en-IN" sz="1800" dirty="0">
              <a:effectLst/>
              <a:latin typeface="Calibri" panose="020F0502020204030204" pitchFamily="34" charset="0"/>
              <a:ea typeface="Calibri" panose="020F0502020204030204" pitchFamily="34" charset="0"/>
            </a:endParaRPr>
          </a:p>
          <a:p>
            <a:pPr algn="just"/>
            <a:endParaRPr lang="en-IN" dirty="0"/>
          </a:p>
        </p:txBody>
      </p:sp>
      <p:pic>
        <p:nvPicPr>
          <p:cNvPr id="5" name="Picture 4">
            <a:extLst>
              <a:ext uri="{FF2B5EF4-FFF2-40B4-BE49-F238E27FC236}">
                <a16:creationId xmlns:a16="http://schemas.microsoft.com/office/drawing/2014/main" id="{DF6627D9-A638-DE3F-4658-414DF54DAA0E}"/>
              </a:ext>
            </a:extLst>
          </p:cNvPr>
          <p:cNvPicPr>
            <a:picLocks noChangeAspect="1"/>
          </p:cNvPicPr>
          <p:nvPr/>
        </p:nvPicPr>
        <p:blipFill>
          <a:blip r:embed="rId2"/>
          <a:stretch>
            <a:fillRect/>
          </a:stretch>
        </p:blipFill>
        <p:spPr>
          <a:xfrm>
            <a:off x="9029086" y="3429000"/>
            <a:ext cx="2628900" cy="638175"/>
          </a:xfrm>
          <a:prstGeom prst="rect">
            <a:avLst/>
          </a:prstGeom>
        </p:spPr>
      </p:pic>
    </p:spTree>
    <p:extLst>
      <p:ext uri="{BB962C8B-B14F-4D97-AF65-F5344CB8AC3E}">
        <p14:creationId xmlns:p14="http://schemas.microsoft.com/office/powerpoint/2010/main" val="1390954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6041F6-D03F-38B6-9776-DBA3484E6609}"/>
              </a:ext>
            </a:extLst>
          </p:cNvPr>
          <p:cNvSpPr txBox="1"/>
          <p:nvPr/>
        </p:nvSpPr>
        <p:spPr>
          <a:xfrm>
            <a:off x="454325" y="322053"/>
            <a:ext cx="11375366" cy="5797869"/>
          </a:xfrm>
          <a:prstGeom prst="rect">
            <a:avLst/>
          </a:prstGeom>
          <a:noFill/>
        </p:spPr>
        <p:txBody>
          <a:bodyPr wrap="square" rtlCol="0">
            <a:spAutoFit/>
          </a:bodyPr>
          <a:lstStyle/>
          <a:p>
            <a:pPr algn="just"/>
            <a:r>
              <a:rPr lang="en-US" sz="1800" b="0" i="0" u="none" strike="noStrike" baseline="0" dirty="0"/>
              <a:t>The </a:t>
            </a:r>
            <a:r>
              <a:rPr lang="en-US" dirty="0"/>
              <a:t>columns o</a:t>
            </a:r>
            <a:r>
              <a:rPr lang="en-US" sz="1800" b="0" i="0" u="none" strike="noStrike" baseline="0" dirty="0"/>
              <a:t>f this relation are called </a:t>
            </a:r>
            <a:r>
              <a:rPr lang="en-US" sz="1800" b="1" i="0" u="none" strike="noStrike" baseline="0" dirty="0"/>
              <a:t>Fields</a:t>
            </a:r>
            <a:r>
              <a:rPr lang="en-US" sz="1800" b="0" i="0" u="none" strike="noStrike" baseline="0" dirty="0"/>
              <a:t>, </a:t>
            </a:r>
            <a:r>
              <a:rPr lang="en-US" sz="1800" b="1" i="0" u="none" strike="noStrike" baseline="0" dirty="0"/>
              <a:t>Attributes </a:t>
            </a:r>
            <a:r>
              <a:rPr lang="en-US" sz="1800" b="0" i="0" u="none" strike="noStrike" baseline="0" dirty="0"/>
              <a:t>or </a:t>
            </a:r>
            <a:r>
              <a:rPr lang="en-US" sz="1800" b="1" i="0" u="none" strike="noStrike" baseline="0" dirty="0"/>
              <a:t>Domains</a:t>
            </a:r>
            <a:r>
              <a:rPr lang="en-US" sz="1800" b="0" i="0" u="none" strike="noStrike" baseline="0" dirty="0"/>
              <a:t>. The rows are called </a:t>
            </a:r>
            <a:r>
              <a:rPr lang="en-US" sz="1800" b="1" i="0" u="none" strike="noStrike" baseline="0" dirty="0"/>
              <a:t>Tuples </a:t>
            </a:r>
            <a:r>
              <a:rPr lang="en-US" sz="1800" b="0" i="0" u="none" strike="noStrike" baseline="0" dirty="0"/>
              <a:t>or </a:t>
            </a:r>
            <a:r>
              <a:rPr lang="en-US" sz="1800" b="1" i="0" u="none" strike="noStrike" baseline="0" dirty="0"/>
              <a:t>Records</a:t>
            </a:r>
            <a:r>
              <a:rPr lang="en-US" sz="1800" b="0" i="0" u="none" strike="noStrike" baseline="0" dirty="0"/>
              <a:t>.</a:t>
            </a:r>
          </a:p>
          <a:p>
            <a:pPr algn="just"/>
            <a:endParaRPr lang="en-US" sz="1800" dirty="0">
              <a:effectLst/>
              <a:ea typeface="Calibri" panose="020F0502020204030204" pitchFamily="34" charset="0"/>
            </a:endParaRPr>
          </a:p>
          <a:p>
            <a:pPr algn="just"/>
            <a:endParaRPr lang="en-US" dirty="0">
              <a:ea typeface="Calibri" panose="020F0502020204030204" pitchFamily="34" charset="0"/>
            </a:endParaRPr>
          </a:p>
          <a:p>
            <a:pPr algn="just"/>
            <a:endParaRPr lang="en-US" sz="1800" dirty="0">
              <a:effectLst/>
              <a:ea typeface="Calibri" panose="020F0502020204030204" pitchFamily="34" charset="0"/>
            </a:endParaRPr>
          </a:p>
          <a:p>
            <a:pPr algn="just"/>
            <a:endParaRPr lang="en-US" dirty="0">
              <a:ea typeface="Calibri" panose="020F0502020204030204" pitchFamily="34" charset="0"/>
            </a:endParaRPr>
          </a:p>
          <a:p>
            <a:pPr algn="just"/>
            <a:endParaRPr lang="en-US" sz="1800" dirty="0">
              <a:effectLst/>
              <a:ea typeface="Calibri" panose="020F0502020204030204" pitchFamily="34" charset="0"/>
            </a:endParaRPr>
          </a:p>
          <a:p>
            <a:pPr algn="just"/>
            <a:endParaRPr lang="en-US" dirty="0">
              <a:ea typeface="Calibri" panose="020F0502020204030204" pitchFamily="34" charset="0"/>
            </a:endParaRPr>
          </a:p>
          <a:p>
            <a:pPr algn="just"/>
            <a:endParaRPr lang="en-US" sz="1800" dirty="0">
              <a:effectLst/>
              <a:ea typeface="Calibri" panose="020F0502020204030204" pitchFamily="34" charset="0"/>
            </a:endParaRPr>
          </a:p>
          <a:p>
            <a:pPr algn="just"/>
            <a:endParaRPr lang="en-US" dirty="0">
              <a:ea typeface="Calibri" panose="020F0502020204030204" pitchFamily="34" charset="0"/>
            </a:endParaRPr>
          </a:p>
          <a:p>
            <a:pPr algn="just"/>
            <a:endParaRPr lang="en-US" sz="1800" dirty="0">
              <a:effectLst/>
              <a:ea typeface="Calibri" panose="020F0502020204030204" pitchFamily="34" charset="0"/>
            </a:endParaRPr>
          </a:p>
          <a:p>
            <a:pPr algn="just"/>
            <a:endParaRPr lang="en-US" sz="1800" dirty="0">
              <a:effectLst/>
              <a:ea typeface="Calibri" panose="020F0502020204030204" pitchFamily="34" charset="0"/>
            </a:endParaRPr>
          </a:p>
          <a:p>
            <a:pPr marL="139700" marR="0" algn="just">
              <a:spcBef>
                <a:spcPts val="810"/>
              </a:spcBef>
              <a:buNone/>
            </a:pPr>
            <a:r>
              <a:rPr lang="en-US" sz="1800" dirty="0">
                <a:effectLst/>
                <a:ea typeface="Calibri" panose="020F0502020204030204" pitchFamily="34" charset="0"/>
              </a:rPr>
              <a:t>A</a:t>
            </a:r>
            <a:r>
              <a:rPr lang="en-US" sz="1800" spc="-10" dirty="0">
                <a:effectLst/>
                <a:ea typeface="Calibri" panose="020F0502020204030204" pitchFamily="34" charset="0"/>
              </a:rPr>
              <a:t> </a:t>
            </a:r>
            <a:r>
              <a:rPr lang="en-US" sz="1800" dirty="0">
                <a:effectLst/>
                <a:ea typeface="Calibri" panose="020F0502020204030204" pitchFamily="34" charset="0"/>
              </a:rPr>
              <a:t>database</a:t>
            </a:r>
            <a:r>
              <a:rPr lang="en-US" sz="1800" spc="-10" dirty="0">
                <a:effectLst/>
                <a:ea typeface="Calibri" panose="020F0502020204030204" pitchFamily="34" charset="0"/>
              </a:rPr>
              <a:t> </a:t>
            </a:r>
            <a:r>
              <a:rPr lang="en-US" sz="1800" dirty="0">
                <a:effectLst/>
                <a:ea typeface="Calibri" panose="020F0502020204030204" pitchFamily="34" charset="0"/>
              </a:rPr>
              <a:t>has</a:t>
            </a:r>
            <a:r>
              <a:rPr lang="en-US" sz="1800" spc="-10" dirty="0">
                <a:effectLst/>
                <a:ea typeface="Calibri" panose="020F0502020204030204" pitchFamily="34" charset="0"/>
              </a:rPr>
              <a:t> </a:t>
            </a:r>
            <a:r>
              <a:rPr lang="en-US" sz="1800" dirty="0">
                <a:effectLst/>
                <a:ea typeface="Calibri" panose="020F0502020204030204" pitchFamily="34" charset="0"/>
              </a:rPr>
              <a:t>the</a:t>
            </a:r>
            <a:r>
              <a:rPr lang="en-US" sz="1800" spc="-15" dirty="0">
                <a:effectLst/>
                <a:ea typeface="Calibri" panose="020F0502020204030204" pitchFamily="34" charset="0"/>
              </a:rPr>
              <a:t> </a:t>
            </a:r>
            <a:r>
              <a:rPr lang="en-US" sz="1800" dirty="0">
                <a:effectLst/>
                <a:ea typeface="Calibri" panose="020F0502020204030204" pitchFamily="34" charset="0"/>
              </a:rPr>
              <a:t>following</a:t>
            </a:r>
            <a:r>
              <a:rPr lang="en-US" sz="1800" u="sng" spc="-10" dirty="0">
                <a:effectLst/>
                <a:ea typeface="Calibri" panose="020F0502020204030204" pitchFamily="34" charset="0"/>
              </a:rPr>
              <a:t> </a:t>
            </a:r>
            <a:r>
              <a:rPr lang="en-US" sz="1800" u="sng" dirty="0">
                <a:effectLst/>
                <a:ea typeface="Calibri" panose="020F0502020204030204" pitchFamily="34" charset="0"/>
              </a:rPr>
              <a:t>implicit</a:t>
            </a:r>
            <a:r>
              <a:rPr lang="en-US" sz="1800" u="sng" spc="-20" dirty="0">
                <a:effectLst/>
                <a:ea typeface="Calibri" panose="020F0502020204030204" pitchFamily="34" charset="0"/>
              </a:rPr>
              <a:t> </a:t>
            </a:r>
            <a:r>
              <a:rPr lang="en-US" sz="1800" u="sng" dirty="0">
                <a:effectLst/>
                <a:ea typeface="Calibri" panose="020F0502020204030204" pitchFamily="34" charset="0"/>
              </a:rPr>
              <a:t>properties:</a:t>
            </a:r>
            <a:endParaRPr lang="en-IN" sz="1800" dirty="0">
              <a:effectLst/>
              <a:ea typeface="Calibri" panose="020F0502020204030204" pitchFamily="34" charset="0"/>
            </a:endParaRPr>
          </a:p>
          <a:p>
            <a:pPr marL="342900" marR="225425" lvl="0" indent="-342900" algn="just">
              <a:lnSpc>
                <a:spcPct val="106000"/>
              </a:lnSpc>
              <a:spcBef>
                <a:spcPts val="915"/>
              </a:spcBef>
              <a:buSzPts val="1100"/>
              <a:buFont typeface="Wingdings" panose="05000000000000000000" pitchFamily="2" charset="2"/>
              <a:buChar char=""/>
              <a:tabLst>
                <a:tab pos="664845" algn="l"/>
              </a:tabLst>
            </a:pPr>
            <a:r>
              <a:rPr lang="en-US" sz="1800" dirty="0">
                <a:effectLst/>
                <a:ea typeface="Wingdings" panose="05000000000000000000" pitchFamily="2" charset="2"/>
                <a:cs typeface="Wingdings" panose="05000000000000000000" pitchFamily="2" charset="2"/>
              </a:rPr>
              <a:t>A</a:t>
            </a:r>
            <a:r>
              <a:rPr lang="en-US" sz="1800" spc="5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database</a:t>
            </a:r>
            <a:r>
              <a:rPr lang="en-US" sz="1800" spc="4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represents</a:t>
            </a:r>
            <a:r>
              <a:rPr lang="en-US" sz="1800" spc="4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some</a:t>
            </a:r>
            <a:r>
              <a:rPr lang="en-US" sz="1800" spc="4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aspect</a:t>
            </a:r>
            <a:r>
              <a:rPr lang="en-US" sz="1800" spc="3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of</a:t>
            </a:r>
            <a:r>
              <a:rPr lang="en-US" sz="1800" spc="4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the</a:t>
            </a:r>
            <a:r>
              <a:rPr lang="en-US" sz="1800" spc="4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real</a:t>
            </a:r>
            <a:r>
              <a:rPr lang="en-US" sz="1800" spc="5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world,</a:t>
            </a:r>
            <a:r>
              <a:rPr lang="en-US" sz="1800" spc="3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sometimes</a:t>
            </a:r>
            <a:r>
              <a:rPr lang="en-US" sz="1800" spc="2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called</a:t>
            </a:r>
            <a:r>
              <a:rPr lang="en-US" sz="1800" spc="1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the</a:t>
            </a:r>
            <a:r>
              <a:rPr lang="en-US" sz="1800" spc="75" dirty="0">
                <a:effectLst/>
                <a:ea typeface="Wingdings" panose="05000000000000000000" pitchFamily="2" charset="2"/>
                <a:cs typeface="Wingdings" panose="05000000000000000000" pitchFamily="2" charset="2"/>
              </a:rPr>
              <a:t> </a:t>
            </a:r>
            <a:r>
              <a:rPr lang="en-US" sz="1800" u="sng" dirty="0">
                <a:effectLst/>
                <a:ea typeface="Wingdings" panose="05000000000000000000" pitchFamily="2" charset="2"/>
                <a:cs typeface="Wingdings" panose="05000000000000000000" pitchFamily="2" charset="2"/>
              </a:rPr>
              <a:t>mini world</a:t>
            </a:r>
            <a:r>
              <a:rPr lang="en-US" sz="1800" u="sng" spc="35" dirty="0">
                <a:effectLst/>
                <a:ea typeface="Wingdings" panose="05000000000000000000" pitchFamily="2" charset="2"/>
                <a:cs typeface="Wingdings" panose="05000000000000000000" pitchFamily="2" charset="2"/>
              </a:rPr>
              <a:t> </a:t>
            </a:r>
            <a:r>
              <a:rPr lang="en-US" sz="1800" u="sng" dirty="0">
                <a:effectLst/>
                <a:ea typeface="Wingdings" panose="05000000000000000000" pitchFamily="2" charset="2"/>
                <a:cs typeface="Wingdings" panose="05000000000000000000" pitchFamily="2" charset="2"/>
              </a:rPr>
              <a:t>or</a:t>
            </a:r>
            <a:r>
              <a:rPr lang="en-US" sz="1800" u="sng" spc="40" dirty="0">
                <a:effectLst/>
                <a:ea typeface="Wingdings" panose="05000000000000000000" pitchFamily="2" charset="2"/>
                <a:cs typeface="Wingdings" panose="05000000000000000000" pitchFamily="2" charset="2"/>
              </a:rPr>
              <a:t> </a:t>
            </a:r>
            <a:r>
              <a:rPr lang="en-US" sz="1800" u="sng" dirty="0">
                <a:effectLst/>
                <a:ea typeface="Wingdings" panose="05000000000000000000" pitchFamily="2" charset="2"/>
                <a:cs typeface="Wingdings" panose="05000000000000000000" pitchFamily="2" charset="2"/>
              </a:rPr>
              <a:t>the</a:t>
            </a:r>
            <a:r>
              <a:rPr lang="en-US" sz="1800" u="sng" spc="45" dirty="0">
                <a:effectLst/>
                <a:ea typeface="Wingdings" panose="05000000000000000000" pitchFamily="2" charset="2"/>
                <a:cs typeface="Wingdings" panose="05000000000000000000" pitchFamily="2" charset="2"/>
              </a:rPr>
              <a:t> </a:t>
            </a:r>
            <a:r>
              <a:rPr lang="en-US" sz="1800" u="sng" dirty="0">
                <a:effectLst/>
                <a:ea typeface="Wingdings" panose="05000000000000000000" pitchFamily="2" charset="2"/>
                <a:cs typeface="Wingdings" panose="05000000000000000000" pitchFamily="2" charset="2"/>
              </a:rPr>
              <a:t>universe</a:t>
            </a:r>
            <a:r>
              <a:rPr lang="en-US" sz="1800" spc="-235" dirty="0">
                <a:effectLst/>
                <a:ea typeface="Wingdings" panose="05000000000000000000" pitchFamily="2" charset="2"/>
                <a:cs typeface="Wingdings" panose="05000000000000000000" pitchFamily="2" charset="2"/>
              </a:rPr>
              <a:t> </a:t>
            </a:r>
            <a:r>
              <a:rPr lang="en-US" sz="1800" u="sng" dirty="0">
                <a:effectLst/>
                <a:ea typeface="Wingdings" panose="05000000000000000000" pitchFamily="2" charset="2"/>
                <a:cs typeface="Wingdings" panose="05000000000000000000" pitchFamily="2" charset="2"/>
              </a:rPr>
              <a:t>of discourse</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a:t>
            </a:r>
            <a:r>
              <a:rPr lang="en-US" sz="1800" dirty="0" err="1">
                <a:effectLst/>
                <a:ea typeface="Wingdings" panose="05000000000000000000" pitchFamily="2" charset="2"/>
                <a:cs typeface="Wingdings" panose="05000000000000000000" pitchFamily="2" charset="2"/>
              </a:rPr>
              <a:t>UoD</a:t>
            </a:r>
            <a:r>
              <a:rPr lang="en-US" sz="1800" dirty="0">
                <a:effectLst/>
                <a:ea typeface="Wingdings" panose="05000000000000000000" pitchFamily="2" charset="2"/>
                <a:cs typeface="Wingdings" panose="05000000000000000000" pitchFamily="2" charset="2"/>
              </a:rPr>
              <a:t>). Changes</a:t>
            </a:r>
            <a:r>
              <a:rPr lang="en-US" sz="1800" spc="-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to</a:t>
            </a:r>
            <a:r>
              <a:rPr lang="en-US" sz="1800" spc="-1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the</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mini world are</a:t>
            </a:r>
            <a:r>
              <a:rPr lang="en-US" sz="1800" spc="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reflected</a:t>
            </a:r>
            <a:r>
              <a:rPr lang="en-US" sz="1800" spc="-1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in</a:t>
            </a:r>
            <a:r>
              <a:rPr lang="en-US" sz="1800" spc="-1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the</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database.</a:t>
            </a:r>
            <a:endParaRPr lang="en-IN" sz="1800" dirty="0">
              <a:effectLst/>
              <a:ea typeface="Wingdings" panose="05000000000000000000" pitchFamily="2" charset="2"/>
              <a:cs typeface="Wingdings" panose="05000000000000000000" pitchFamily="2" charset="2"/>
            </a:endParaRPr>
          </a:p>
          <a:p>
            <a:pPr marL="342900" marR="226695" lvl="0" indent="-342900" algn="just">
              <a:lnSpc>
                <a:spcPct val="108000"/>
              </a:lnSpc>
              <a:spcBef>
                <a:spcPts val="5"/>
              </a:spcBef>
              <a:buSzPts val="1100"/>
              <a:buFont typeface="Wingdings" panose="05000000000000000000" pitchFamily="2" charset="2"/>
              <a:buChar char=""/>
              <a:tabLst>
                <a:tab pos="664845" algn="l"/>
              </a:tabLst>
            </a:pPr>
            <a:r>
              <a:rPr lang="en-US" sz="1800" dirty="0">
                <a:effectLst/>
                <a:ea typeface="Wingdings" panose="05000000000000000000" pitchFamily="2" charset="2"/>
                <a:cs typeface="Wingdings" panose="05000000000000000000" pitchFamily="2" charset="2"/>
              </a:rPr>
              <a:t>A</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database</a:t>
            </a:r>
            <a:r>
              <a:rPr lang="en-US" sz="1800" spc="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is</a:t>
            </a:r>
            <a:r>
              <a:rPr lang="en-US" sz="1800" spc="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a</a:t>
            </a:r>
            <a:r>
              <a:rPr lang="en-US" sz="1800" spc="-15" dirty="0">
                <a:effectLst/>
                <a:ea typeface="Wingdings" panose="05000000000000000000" pitchFamily="2" charset="2"/>
                <a:cs typeface="Wingdings" panose="05000000000000000000" pitchFamily="2" charset="2"/>
              </a:rPr>
              <a:t> </a:t>
            </a:r>
            <a:r>
              <a:rPr lang="en-US" sz="1800" u="sng" dirty="0">
                <a:effectLst/>
                <a:ea typeface="Wingdings" panose="05000000000000000000" pitchFamily="2" charset="2"/>
                <a:cs typeface="Wingdings" panose="05000000000000000000" pitchFamily="2" charset="2"/>
              </a:rPr>
              <a:t>logically</a:t>
            </a:r>
            <a:r>
              <a:rPr lang="en-US" sz="1800" u="sng" spc="5" dirty="0">
                <a:effectLst/>
                <a:ea typeface="Wingdings" panose="05000000000000000000" pitchFamily="2" charset="2"/>
                <a:cs typeface="Wingdings" panose="05000000000000000000" pitchFamily="2" charset="2"/>
              </a:rPr>
              <a:t> </a:t>
            </a:r>
            <a:r>
              <a:rPr lang="en-US" sz="1800" u="sng" dirty="0">
                <a:effectLst/>
                <a:ea typeface="Wingdings" panose="05000000000000000000" pitchFamily="2" charset="2"/>
                <a:cs typeface="Wingdings" panose="05000000000000000000" pitchFamily="2" charset="2"/>
              </a:rPr>
              <a:t>coherent</a:t>
            </a:r>
            <a:r>
              <a:rPr lang="en-US" sz="1800" u="sng" spc="-5" dirty="0">
                <a:effectLst/>
                <a:ea typeface="Wingdings" panose="05000000000000000000" pitchFamily="2" charset="2"/>
                <a:cs typeface="Wingdings" panose="05000000000000000000" pitchFamily="2" charset="2"/>
              </a:rPr>
              <a:t> </a:t>
            </a:r>
            <a:r>
              <a:rPr lang="en-US" sz="1800" u="sng" dirty="0">
                <a:effectLst/>
                <a:ea typeface="Wingdings" panose="05000000000000000000" pitchFamily="2" charset="2"/>
                <a:cs typeface="Wingdings" panose="05000000000000000000" pitchFamily="2" charset="2"/>
              </a:rPr>
              <a:t>collection of</a:t>
            </a:r>
            <a:r>
              <a:rPr lang="en-US" sz="1800" u="sng" spc="5" dirty="0">
                <a:effectLst/>
                <a:ea typeface="Wingdings" panose="05000000000000000000" pitchFamily="2" charset="2"/>
                <a:cs typeface="Wingdings" panose="05000000000000000000" pitchFamily="2" charset="2"/>
              </a:rPr>
              <a:t> </a:t>
            </a:r>
            <a:r>
              <a:rPr lang="en-US" sz="1800" u="sng" dirty="0">
                <a:effectLst/>
                <a:ea typeface="Wingdings" panose="05000000000000000000" pitchFamily="2" charset="2"/>
                <a:cs typeface="Wingdings" panose="05000000000000000000" pitchFamily="2" charset="2"/>
              </a:rPr>
              <a:t>data</a:t>
            </a:r>
            <a:r>
              <a:rPr lang="en-US" sz="1800" spc="2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with some</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inherent</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meaning.</a:t>
            </a:r>
            <a:r>
              <a:rPr lang="en-US" sz="1800" spc="-1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A</a:t>
            </a:r>
            <a:r>
              <a:rPr lang="en-US" sz="1800" spc="1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random</a:t>
            </a:r>
            <a:r>
              <a:rPr lang="en-US" sz="1800" spc="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assortment</a:t>
            </a:r>
            <a:r>
              <a:rPr lang="en-US" sz="1800" spc="-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of data</a:t>
            </a:r>
            <a:r>
              <a:rPr lang="en-US" sz="1800" spc="-23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cannot</a:t>
            </a:r>
            <a:r>
              <a:rPr lang="en-US" sz="1800" spc="-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correctly</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be</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referred</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to</a:t>
            </a:r>
            <a:r>
              <a:rPr lang="en-US" sz="1800" spc="-1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as</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a</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database.</a:t>
            </a:r>
            <a:endParaRPr lang="en-IN" sz="1800" dirty="0">
              <a:effectLst/>
              <a:ea typeface="Wingdings" panose="05000000000000000000" pitchFamily="2" charset="2"/>
              <a:cs typeface="Wingdings" panose="05000000000000000000" pitchFamily="2" charset="2"/>
            </a:endParaRPr>
          </a:p>
          <a:p>
            <a:pPr marL="342900" marR="225425" lvl="0" indent="-342900" algn="just">
              <a:lnSpc>
                <a:spcPct val="108000"/>
              </a:lnSpc>
              <a:buSzPts val="1100"/>
              <a:buFont typeface="Wingdings" panose="05000000000000000000" pitchFamily="2" charset="2"/>
              <a:buChar char=""/>
              <a:tabLst>
                <a:tab pos="664845" algn="l"/>
              </a:tabLst>
            </a:pPr>
            <a:r>
              <a:rPr lang="en-US" sz="1800" dirty="0">
                <a:effectLst/>
                <a:ea typeface="Wingdings" panose="05000000000000000000" pitchFamily="2" charset="2"/>
                <a:cs typeface="Wingdings" panose="05000000000000000000" pitchFamily="2" charset="2"/>
              </a:rPr>
              <a:t>A</a:t>
            </a:r>
            <a:r>
              <a:rPr lang="en-US" sz="1800" spc="3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database</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is</a:t>
            </a:r>
            <a:r>
              <a:rPr lang="en-US" sz="1800" spc="35" dirty="0">
                <a:effectLst/>
                <a:ea typeface="Wingdings" panose="05000000000000000000" pitchFamily="2" charset="2"/>
                <a:cs typeface="Wingdings" panose="05000000000000000000" pitchFamily="2" charset="2"/>
              </a:rPr>
              <a:t> </a:t>
            </a:r>
            <a:r>
              <a:rPr lang="en-US" sz="1800" u="sng" dirty="0">
                <a:effectLst/>
                <a:ea typeface="Wingdings" panose="05000000000000000000" pitchFamily="2" charset="2"/>
                <a:cs typeface="Wingdings" panose="05000000000000000000" pitchFamily="2" charset="2"/>
              </a:rPr>
              <a:t>designed,</a:t>
            </a:r>
            <a:r>
              <a:rPr lang="en-US" sz="1800" u="sng" spc="20" dirty="0">
                <a:effectLst/>
                <a:ea typeface="Wingdings" panose="05000000000000000000" pitchFamily="2" charset="2"/>
                <a:cs typeface="Wingdings" panose="05000000000000000000" pitchFamily="2" charset="2"/>
              </a:rPr>
              <a:t> </a:t>
            </a:r>
            <a:r>
              <a:rPr lang="en-US" sz="1800" u="sng" dirty="0">
                <a:effectLst/>
                <a:ea typeface="Wingdings" panose="05000000000000000000" pitchFamily="2" charset="2"/>
                <a:cs typeface="Wingdings" panose="05000000000000000000" pitchFamily="2" charset="2"/>
              </a:rPr>
              <a:t>built,</a:t>
            </a:r>
            <a:r>
              <a:rPr lang="en-US" sz="1800" u="sng" spc="15" dirty="0">
                <a:effectLst/>
                <a:ea typeface="Wingdings" panose="05000000000000000000" pitchFamily="2" charset="2"/>
                <a:cs typeface="Wingdings" panose="05000000000000000000" pitchFamily="2" charset="2"/>
              </a:rPr>
              <a:t> </a:t>
            </a:r>
            <a:r>
              <a:rPr lang="en-US" sz="1800" u="sng" dirty="0">
                <a:effectLst/>
                <a:ea typeface="Wingdings" panose="05000000000000000000" pitchFamily="2" charset="2"/>
                <a:cs typeface="Wingdings" panose="05000000000000000000" pitchFamily="2" charset="2"/>
              </a:rPr>
              <a:t>and</a:t>
            </a:r>
            <a:r>
              <a:rPr lang="en-US" sz="1800" u="sng" spc="25" dirty="0">
                <a:effectLst/>
                <a:ea typeface="Wingdings" panose="05000000000000000000" pitchFamily="2" charset="2"/>
                <a:cs typeface="Wingdings" panose="05000000000000000000" pitchFamily="2" charset="2"/>
              </a:rPr>
              <a:t> </a:t>
            </a:r>
            <a:r>
              <a:rPr lang="en-US" sz="1800" u="sng" dirty="0">
                <a:effectLst/>
                <a:ea typeface="Wingdings" panose="05000000000000000000" pitchFamily="2" charset="2"/>
                <a:cs typeface="Wingdings" panose="05000000000000000000" pitchFamily="2" charset="2"/>
              </a:rPr>
              <a:t>populated with</a:t>
            </a:r>
            <a:r>
              <a:rPr lang="en-US" sz="1800" u="sng" spc="25" dirty="0">
                <a:effectLst/>
                <a:ea typeface="Wingdings" panose="05000000000000000000" pitchFamily="2" charset="2"/>
                <a:cs typeface="Wingdings" panose="05000000000000000000" pitchFamily="2" charset="2"/>
              </a:rPr>
              <a:t> </a:t>
            </a:r>
            <a:r>
              <a:rPr lang="en-US" sz="1800" u="sng" dirty="0">
                <a:effectLst/>
                <a:ea typeface="Wingdings" panose="05000000000000000000" pitchFamily="2" charset="2"/>
                <a:cs typeface="Wingdings" panose="05000000000000000000" pitchFamily="2" charset="2"/>
              </a:rPr>
              <a:t>data</a:t>
            </a:r>
            <a:r>
              <a:rPr lang="en-US" sz="1800" spc="1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for</a:t>
            </a:r>
            <a:r>
              <a:rPr lang="en-US" sz="1800" spc="3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a</a:t>
            </a:r>
            <a:r>
              <a:rPr lang="en-US" sz="1800" spc="2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specific</a:t>
            </a:r>
            <a:r>
              <a:rPr lang="en-US" sz="1800" spc="3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purpose.</a:t>
            </a:r>
            <a:r>
              <a:rPr lang="en-US" sz="1800" spc="2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It</a:t>
            </a:r>
            <a:r>
              <a:rPr lang="en-US" sz="1800" spc="1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has</a:t>
            </a:r>
            <a:r>
              <a:rPr lang="en-US" sz="1800" spc="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an</a:t>
            </a:r>
            <a:r>
              <a:rPr lang="en-US" sz="1800" spc="-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intended</a:t>
            </a:r>
            <a:r>
              <a:rPr lang="en-US" sz="1800" spc="3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group</a:t>
            </a:r>
            <a:r>
              <a:rPr lang="en-US" sz="1800" spc="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of</a:t>
            </a:r>
            <a:r>
              <a:rPr lang="en-US" sz="1800" spc="2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users</a:t>
            </a:r>
            <a:r>
              <a:rPr lang="en-US" sz="1800" spc="-23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and</a:t>
            </a:r>
            <a:r>
              <a:rPr lang="en-US" sz="1800" spc="-2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some</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preconceived</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applications</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in</a:t>
            </a:r>
            <a:r>
              <a:rPr lang="en-US" sz="1800" spc="-1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which</a:t>
            </a:r>
            <a:r>
              <a:rPr lang="en-US" sz="1800" spc="-15"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these</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users</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are</a:t>
            </a:r>
            <a:r>
              <a:rPr lang="en-US" sz="1800" spc="-10" dirty="0">
                <a:effectLst/>
                <a:ea typeface="Wingdings" panose="05000000000000000000" pitchFamily="2" charset="2"/>
                <a:cs typeface="Wingdings" panose="05000000000000000000" pitchFamily="2" charset="2"/>
              </a:rPr>
              <a:t> </a:t>
            </a:r>
            <a:r>
              <a:rPr lang="en-US" sz="1800" dirty="0">
                <a:effectLst/>
                <a:ea typeface="Wingdings" panose="05000000000000000000" pitchFamily="2" charset="2"/>
                <a:cs typeface="Wingdings" panose="05000000000000000000" pitchFamily="2" charset="2"/>
              </a:rPr>
              <a:t>interested.</a:t>
            </a:r>
            <a:endParaRPr lang="en-IN" sz="1800" dirty="0">
              <a:effectLst/>
              <a:ea typeface="Wingdings" panose="05000000000000000000" pitchFamily="2" charset="2"/>
              <a:cs typeface="Wingdings" panose="05000000000000000000" pitchFamily="2" charset="2"/>
            </a:endParaRPr>
          </a:p>
          <a:p>
            <a:pPr marL="425450" marR="0" indent="-285750" algn="just">
              <a:spcBef>
                <a:spcPts val="750"/>
              </a:spcBef>
              <a:buFont typeface="Wingdings" panose="05000000000000000000" pitchFamily="2" charset="2"/>
              <a:buChar char="§"/>
            </a:pPr>
            <a:endParaRPr lang="en-IN" sz="1800" dirty="0">
              <a:effectLst/>
              <a:latin typeface="Calibri" panose="020F0502020204030204" pitchFamily="34" charset="0"/>
              <a:ea typeface="Calibri" panose="020F0502020204030204" pitchFamily="34" charset="0"/>
            </a:endParaRPr>
          </a:p>
        </p:txBody>
      </p:sp>
      <p:pic>
        <p:nvPicPr>
          <p:cNvPr id="6" name="Picture 5">
            <a:extLst>
              <a:ext uri="{FF2B5EF4-FFF2-40B4-BE49-F238E27FC236}">
                <a16:creationId xmlns:a16="http://schemas.microsoft.com/office/drawing/2014/main" id="{2B39252F-B0F0-1C22-C1EC-FAA79F858BFA}"/>
              </a:ext>
            </a:extLst>
          </p:cNvPr>
          <p:cNvPicPr>
            <a:picLocks noChangeAspect="1"/>
          </p:cNvPicPr>
          <p:nvPr/>
        </p:nvPicPr>
        <p:blipFill>
          <a:blip r:embed="rId2"/>
          <a:stretch>
            <a:fillRect/>
          </a:stretch>
        </p:blipFill>
        <p:spPr>
          <a:xfrm>
            <a:off x="3025723" y="940824"/>
            <a:ext cx="5019675" cy="1790700"/>
          </a:xfrm>
          <a:prstGeom prst="rect">
            <a:avLst/>
          </a:prstGeom>
        </p:spPr>
      </p:pic>
    </p:spTree>
    <p:extLst>
      <p:ext uri="{BB962C8B-B14F-4D97-AF65-F5344CB8AC3E}">
        <p14:creationId xmlns:p14="http://schemas.microsoft.com/office/powerpoint/2010/main" val="2935595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C264-5F49-4D2C-E24C-C77F12F8EDC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92CB9CB-3FE0-E774-1FD4-7B0B88FA3EE4}"/>
              </a:ext>
            </a:extLst>
          </p:cNvPr>
          <p:cNvSpPr txBox="1"/>
          <p:nvPr/>
        </p:nvSpPr>
        <p:spPr>
          <a:xfrm>
            <a:off x="454325" y="322053"/>
            <a:ext cx="11375366" cy="6073458"/>
          </a:xfrm>
          <a:prstGeom prst="rect">
            <a:avLst/>
          </a:prstGeom>
          <a:noFill/>
        </p:spPr>
        <p:txBody>
          <a:bodyPr wrap="square" rtlCol="0">
            <a:spAutoFit/>
          </a:bodyPr>
          <a:lstStyle/>
          <a:p>
            <a:pPr marL="139700" marR="0" algn="just">
              <a:spcBef>
                <a:spcPts val="750"/>
              </a:spcBef>
            </a:pPr>
            <a:r>
              <a:rPr lang="en-US" sz="1800" dirty="0">
                <a:effectLst/>
                <a:ea typeface="Calibri" panose="020F0502020204030204" pitchFamily="34" charset="0"/>
              </a:rPr>
              <a:t>Other</a:t>
            </a:r>
            <a:r>
              <a:rPr lang="en-US" sz="1800" spc="-25" dirty="0">
                <a:effectLst/>
                <a:ea typeface="Calibri" panose="020F0502020204030204" pitchFamily="34" charset="0"/>
              </a:rPr>
              <a:t> </a:t>
            </a:r>
            <a:r>
              <a:rPr lang="en-US" sz="1800" dirty="0">
                <a:effectLst/>
                <a:ea typeface="Calibri" panose="020F0502020204030204" pitchFamily="34" charset="0"/>
              </a:rPr>
              <a:t>properties:</a:t>
            </a:r>
          </a:p>
          <a:p>
            <a:pPr marL="425450" marR="0" indent="-285750" algn="just">
              <a:spcBef>
                <a:spcPts val="750"/>
              </a:spcBef>
              <a:buFont typeface="Wingdings" panose="05000000000000000000" pitchFamily="2" charset="2"/>
              <a:buChar char="§"/>
            </a:pPr>
            <a:r>
              <a:rPr lang="en-US" sz="1800" dirty="0">
                <a:effectLst/>
                <a:ea typeface="Calibri" panose="020F0502020204030204" pitchFamily="34" charset="0"/>
              </a:rPr>
              <a:t>A database can be of any </a:t>
            </a:r>
            <a:r>
              <a:rPr lang="en-US" sz="1800" u="sng" dirty="0">
                <a:effectLst/>
                <a:ea typeface="Calibri" panose="020F0502020204030204" pitchFamily="34" charset="0"/>
              </a:rPr>
              <a:t>size and complexity</a:t>
            </a:r>
            <a:r>
              <a:rPr lang="en-US" sz="1800" dirty="0">
                <a:effectLst/>
                <a:ea typeface="Calibri" panose="020F0502020204030204" pitchFamily="34" charset="0"/>
              </a:rPr>
              <a:t>.</a:t>
            </a:r>
            <a:endParaRPr lang="en-US" dirty="0">
              <a:ea typeface="Calibri" panose="020F0502020204030204" pitchFamily="34" charset="0"/>
            </a:endParaRPr>
          </a:p>
          <a:p>
            <a:pPr marL="425450" marR="0" indent="-285750" algn="just">
              <a:spcBef>
                <a:spcPts val="750"/>
              </a:spcBef>
              <a:buFont typeface="Wingdings" panose="05000000000000000000" pitchFamily="2" charset="2"/>
              <a:buChar char="§"/>
            </a:pPr>
            <a:r>
              <a:rPr lang="en-US" sz="1800" dirty="0">
                <a:effectLst/>
                <a:ea typeface="Calibri" panose="020F0502020204030204" pitchFamily="34" charset="0"/>
              </a:rPr>
              <a:t>A database may be generated and maintained </a:t>
            </a:r>
            <a:r>
              <a:rPr lang="en-US" sz="1800" u="sng" dirty="0">
                <a:effectLst/>
                <a:ea typeface="Calibri" panose="020F0502020204030204" pitchFamily="34" charset="0"/>
              </a:rPr>
              <a:t>manually or it may be computerized.</a:t>
            </a:r>
          </a:p>
          <a:p>
            <a:pPr marL="425450" marR="0" indent="-285750" algn="just">
              <a:spcBef>
                <a:spcPts val="750"/>
              </a:spcBef>
              <a:buFont typeface="Wingdings" panose="05000000000000000000" pitchFamily="2" charset="2"/>
              <a:buChar char="§"/>
            </a:pPr>
            <a:endParaRPr lang="en-US" u="sng" dirty="0">
              <a:ea typeface="Calibri" panose="020F0502020204030204" pitchFamily="34" charset="0"/>
            </a:endParaRPr>
          </a:p>
          <a:p>
            <a:pPr marL="425450" indent="-285750" algn="just">
              <a:spcBef>
                <a:spcPts val="750"/>
              </a:spcBef>
              <a:buFont typeface="Wingdings" panose="05000000000000000000" pitchFamily="2" charset="2"/>
              <a:buChar char="§"/>
            </a:pPr>
            <a:r>
              <a:rPr lang="en-US" sz="1800" dirty="0">
                <a:effectLst/>
                <a:ea typeface="Calibri" panose="020F0502020204030204" pitchFamily="34" charset="0"/>
              </a:rPr>
              <a:t>A</a:t>
            </a:r>
            <a:r>
              <a:rPr lang="en-US" sz="1800" spc="5" dirty="0">
                <a:effectLst/>
                <a:ea typeface="Calibri" panose="020F0502020204030204" pitchFamily="34" charset="0"/>
              </a:rPr>
              <a:t> </a:t>
            </a:r>
            <a:r>
              <a:rPr lang="en-US" sz="1800" dirty="0">
                <a:effectLst/>
                <a:ea typeface="Calibri" panose="020F0502020204030204" pitchFamily="34" charset="0"/>
              </a:rPr>
              <a:t>database management</a:t>
            </a:r>
            <a:r>
              <a:rPr lang="en-US" sz="1800" spc="5" dirty="0">
                <a:effectLst/>
                <a:ea typeface="Calibri" panose="020F0502020204030204" pitchFamily="34" charset="0"/>
              </a:rPr>
              <a:t> </a:t>
            </a:r>
            <a:r>
              <a:rPr lang="en-US" sz="1800" dirty="0">
                <a:effectLst/>
                <a:ea typeface="Calibri" panose="020F0502020204030204" pitchFamily="34" charset="0"/>
              </a:rPr>
              <a:t>system (DBMS)</a:t>
            </a:r>
            <a:r>
              <a:rPr lang="en-US" sz="1800" spc="5" dirty="0">
                <a:effectLst/>
                <a:ea typeface="Calibri" panose="020F0502020204030204" pitchFamily="34" charset="0"/>
              </a:rPr>
              <a:t> </a:t>
            </a:r>
            <a:r>
              <a:rPr lang="en-US" sz="1800" dirty="0">
                <a:effectLst/>
                <a:ea typeface="Calibri" panose="020F0502020204030204" pitchFamily="34" charset="0"/>
              </a:rPr>
              <a:t>is</a:t>
            </a:r>
            <a:r>
              <a:rPr lang="en-US" sz="1800" spc="5" dirty="0">
                <a:effectLst/>
                <a:ea typeface="Calibri" panose="020F0502020204030204" pitchFamily="34" charset="0"/>
              </a:rPr>
              <a:t> </a:t>
            </a:r>
            <a:r>
              <a:rPr lang="en-US" sz="1800" dirty="0">
                <a:effectLst/>
                <a:ea typeface="Calibri" panose="020F0502020204030204" pitchFamily="34" charset="0"/>
              </a:rPr>
              <a:t>a</a:t>
            </a:r>
            <a:r>
              <a:rPr lang="en-US" sz="1800" spc="5" dirty="0">
                <a:effectLst/>
                <a:ea typeface="Calibri" panose="020F0502020204030204" pitchFamily="34" charset="0"/>
              </a:rPr>
              <a:t> </a:t>
            </a:r>
            <a:r>
              <a:rPr lang="en-US" sz="1800" dirty="0">
                <a:effectLst/>
                <a:ea typeface="Calibri" panose="020F0502020204030204" pitchFamily="34" charset="0"/>
              </a:rPr>
              <a:t>collection</a:t>
            </a:r>
            <a:r>
              <a:rPr lang="en-US" sz="1800" spc="5" dirty="0">
                <a:effectLst/>
                <a:ea typeface="Calibri" panose="020F0502020204030204" pitchFamily="34" charset="0"/>
              </a:rPr>
              <a:t> </a:t>
            </a:r>
            <a:r>
              <a:rPr lang="en-US" sz="1800" dirty="0">
                <a:effectLst/>
                <a:ea typeface="Calibri" panose="020F0502020204030204" pitchFamily="34" charset="0"/>
              </a:rPr>
              <a:t>of</a:t>
            </a:r>
            <a:r>
              <a:rPr lang="en-US" sz="1800" spc="5" dirty="0">
                <a:effectLst/>
                <a:ea typeface="Calibri" panose="020F0502020204030204" pitchFamily="34" charset="0"/>
              </a:rPr>
              <a:t> </a:t>
            </a:r>
            <a:r>
              <a:rPr lang="en-US" sz="1800" dirty="0">
                <a:effectLst/>
                <a:ea typeface="Calibri" panose="020F0502020204030204" pitchFamily="34" charset="0"/>
              </a:rPr>
              <a:t>programs that</a:t>
            </a:r>
            <a:r>
              <a:rPr lang="en-US" sz="1800" spc="5" dirty="0">
                <a:effectLst/>
                <a:ea typeface="Calibri" panose="020F0502020204030204" pitchFamily="34" charset="0"/>
              </a:rPr>
              <a:t> </a:t>
            </a:r>
            <a:r>
              <a:rPr lang="en-US" sz="1800" dirty="0">
                <a:effectLst/>
                <a:ea typeface="Calibri" panose="020F0502020204030204" pitchFamily="34" charset="0"/>
              </a:rPr>
              <a:t>enables</a:t>
            </a:r>
            <a:r>
              <a:rPr lang="en-US" sz="1800" spc="5" dirty="0">
                <a:effectLst/>
                <a:ea typeface="Calibri" panose="020F0502020204030204" pitchFamily="34" charset="0"/>
              </a:rPr>
              <a:t> </a:t>
            </a:r>
            <a:r>
              <a:rPr lang="en-US" sz="1800" dirty="0">
                <a:effectLst/>
                <a:ea typeface="Calibri" panose="020F0502020204030204" pitchFamily="34" charset="0"/>
              </a:rPr>
              <a:t>users</a:t>
            </a:r>
            <a:r>
              <a:rPr lang="en-US" sz="1800" spc="5" dirty="0">
                <a:effectLst/>
                <a:ea typeface="Calibri" panose="020F0502020204030204" pitchFamily="34" charset="0"/>
              </a:rPr>
              <a:t> </a:t>
            </a:r>
            <a:r>
              <a:rPr lang="en-US" sz="1800" dirty="0">
                <a:effectLst/>
                <a:ea typeface="Calibri" panose="020F0502020204030204" pitchFamily="34" charset="0"/>
              </a:rPr>
              <a:t>to</a:t>
            </a:r>
            <a:r>
              <a:rPr lang="en-US" sz="1800" spc="5" dirty="0">
                <a:effectLst/>
                <a:ea typeface="Calibri" panose="020F0502020204030204" pitchFamily="34" charset="0"/>
              </a:rPr>
              <a:t> </a:t>
            </a:r>
            <a:r>
              <a:rPr lang="en-US" sz="1800" dirty="0">
                <a:effectLst/>
                <a:ea typeface="Calibri" panose="020F0502020204030204" pitchFamily="34" charset="0"/>
              </a:rPr>
              <a:t>create</a:t>
            </a:r>
            <a:r>
              <a:rPr lang="en-US" sz="1800" spc="5" dirty="0">
                <a:effectLst/>
                <a:ea typeface="Calibri" panose="020F0502020204030204" pitchFamily="34" charset="0"/>
              </a:rPr>
              <a:t> </a:t>
            </a:r>
            <a:r>
              <a:rPr lang="en-US" sz="1800" dirty="0">
                <a:effectLst/>
                <a:ea typeface="Calibri" panose="020F0502020204030204" pitchFamily="34" charset="0"/>
              </a:rPr>
              <a:t>and maintain a</a:t>
            </a:r>
            <a:r>
              <a:rPr lang="en-US" sz="1800" spc="5" dirty="0">
                <a:effectLst/>
                <a:ea typeface="Calibri" panose="020F0502020204030204" pitchFamily="34" charset="0"/>
              </a:rPr>
              <a:t> </a:t>
            </a:r>
            <a:r>
              <a:rPr lang="en-US" sz="1800" dirty="0">
                <a:effectLst/>
                <a:ea typeface="Calibri" panose="020F0502020204030204" pitchFamily="34" charset="0"/>
              </a:rPr>
              <a:t>database.</a:t>
            </a:r>
            <a:endParaRPr lang="en-IN" sz="1800" dirty="0">
              <a:effectLst/>
              <a:ea typeface="Calibri" panose="020F0502020204030204" pitchFamily="34" charset="0"/>
            </a:endParaRPr>
          </a:p>
          <a:p>
            <a:pPr marL="425450" indent="-285750" algn="just">
              <a:spcBef>
                <a:spcPts val="750"/>
              </a:spcBef>
              <a:buFont typeface="Wingdings" panose="05000000000000000000" pitchFamily="2" charset="2"/>
              <a:buChar char="§"/>
            </a:pPr>
            <a:r>
              <a:rPr lang="en-US" sz="1800" b="1" i="1" dirty="0">
                <a:effectLst/>
                <a:ea typeface="Calibri" panose="020F0502020204030204" pitchFamily="34" charset="0"/>
              </a:rPr>
              <a:t>The</a:t>
            </a:r>
            <a:r>
              <a:rPr lang="en-US" sz="1800" b="1" i="1" spc="-20" dirty="0">
                <a:effectLst/>
                <a:ea typeface="Calibri" panose="020F0502020204030204" pitchFamily="34" charset="0"/>
              </a:rPr>
              <a:t> </a:t>
            </a:r>
            <a:r>
              <a:rPr lang="en-US" sz="1800" b="1" i="1" dirty="0">
                <a:effectLst/>
                <a:ea typeface="Calibri" panose="020F0502020204030204" pitchFamily="34" charset="0"/>
              </a:rPr>
              <a:t>DBMS</a:t>
            </a:r>
            <a:r>
              <a:rPr lang="en-US" sz="1800" b="1" i="1" spc="-25" dirty="0">
                <a:effectLst/>
                <a:ea typeface="Calibri" panose="020F0502020204030204" pitchFamily="34" charset="0"/>
              </a:rPr>
              <a:t> </a:t>
            </a:r>
            <a:r>
              <a:rPr lang="en-US" sz="1800" b="1" i="1" dirty="0">
                <a:effectLst/>
                <a:ea typeface="Calibri" panose="020F0502020204030204" pitchFamily="34" charset="0"/>
              </a:rPr>
              <a:t>is</a:t>
            </a:r>
            <a:r>
              <a:rPr lang="en-US" sz="1800" b="1" i="1" spc="-25" dirty="0">
                <a:effectLst/>
                <a:ea typeface="Calibri" panose="020F0502020204030204" pitchFamily="34" charset="0"/>
              </a:rPr>
              <a:t> </a:t>
            </a:r>
            <a:r>
              <a:rPr lang="en-US" sz="1800" b="1" i="1" dirty="0">
                <a:effectLst/>
                <a:ea typeface="Calibri" panose="020F0502020204030204" pitchFamily="34" charset="0"/>
              </a:rPr>
              <a:t>a</a:t>
            </a:r>
            <a:r>
              <a:rPr lang="en-US" sz="1800" b="1" i="1" spc="-30" dirty="0">
                <a:effectLst/>
                <a:ea typeface="Calibri" panose="020F0502020204030204" pitchFamily="34" charset="0"/>
              </a:rPr>
              <a:t> </a:t>
            </a:r>
            <a:r>
              <a:rPr lang="en-US" sz="1800" b="1" i="1" dirty="0">
                <a:effectLst/>
                <a:ea typeface="Calibri" panose="020F0502020204030204" pitchFamily="34" charset="0"/>
              </a:rPr>
              <a:t>general-purpose</a:t>
            </a:r>
            <a:r>
              <a:rPr lang="en-US" sz="1800" b="1" i="1" spc="-15" dirty="0">
                <a:effectLst/>
                <a:ea typeface="Calibri" panose="020F0502020204030204" pitchFamily="34" charset="0"/>
              </a:rPr>
              <a:t> </a:t>
            </a:r>
            <a:r>
              <a:rPr lang="en-US" sz="1800" b="1" i="1" dirty="0">
                <a:effectLst/>
                <a:ea typeface="Calibri" panose="020F0502020204030204" pitchFamily="34" charset="0"/>
              </a:rPr>
              <a:t>software</a:t>
            </a:r>
            <a:r>
              <a:rPr lang="en-US" sz="1800" b="1" i="1" spc="-15" dirty="0">
                <a:effectLst/>
                <a:ea typeface="Calibri" panose="020F0502020204030204" pitchFamily="34" charset="0"/>
              </a:rPr>
              <a:t> </a:t>
            </a:r>
            <a:r>
              <a:rPr lang="en-US" sz="1800" b="1" i="1" dirty="0">
                <a:effectLst/>
                <a:ea typeface="Calibri" panose="020F0502020204030204" pitchFamily="34" charset="0"/>
              </a:rPr>
              <a:t>system</a:t>
            </a:r>
            <a:r>
              <a:rPr lang="en-US" sz="1800" b="1" i="1" spc="-20" dirty="0">
                <a:effectLst/>
                <a:ea typeface="Calibri" panose="020F0502020204030204" pitchFamily="34" charset="0"/>
              </a:rPr>
              <a:t> </a:t>
            </a:r>
            <a:r>
              <a:rPr lang="en-US" sz="1800" b="1" i="1" dirty="0">
                <a:effectLst/>
                <a:ea typeface="Calibri" panose="020F0502020204030204" pitchFamily="34" charset="0"/>
              </a:rPr>
              <a:t>that facilitates</a:t>
            </a:r>
            <a:r>
              <a:rPr lang="en-US" sz="1800" b="1" i="1" spc="-25" dirty="0">
                <a:effectLst/>
                <a:ea typeface="Calibri" panose="020F0502020204030204" pitchFamily="34" charset="0"/>
              </a:rPr>
              <a:t> </a:t>
            </a:r>
            <a:r>
              <a:rPr lang="en-US" sz="1800" b="1" i="1" dirty="0">
                <a:effectLst/>
                <a:ea typeface="Calibri" panose="020F0502020204030204" pitchFamily="34" charset="0"/>
              </a:rPr>
              <a:t>the</a:t>
            </a:r>
            <a:r>
              <a:rPr lang="en-US" sz="1800" b="1" i="1" spc="-15" dirty="0">
                <a:effectLst/>
                <a:ea typeface="Calibri" panose="020F0502020204030204" pitchFamily="34" charset="0"/>
              </a:rPr>
              <a:t> </a:t>
            </a:r>
            <a:r>
              <a:rPr lang="en-US" sz="1800" b="1" i="1" dirty="0">
                <a:effectLst/>
                <a:ea typeface="Calibri" panose="020F0502020204030204" pitchFamily="34" charset="0"/>
              </a:rPr>
              <a:t>processes</a:t>
            </a:r>
            <a:r>
              <a:rPr lang="en-US" sz="1800" b="1" i="1" spc="-25" dirty="0">
                <a:effectLst/>
                <a:ea typeface="Calibri" panose="020F0502020204030204" pitchFamily="34" charset="0"/>
              </a:rPr>
              <a:t> </a:t>
            </a:r>
            <a:r>
              <a:rPr lang="en-US" sz="1800" b="1" i="1" dirty="0">
                <a:effectLst/>
                <a:ea typeface="Calibri" panose="020F0502020204030204" pitchFamily="34" charset="0"/>
              </a:rPr>
              <a:t>of</a:t>
            </a:r>
            <a:r>
              <a:rPr lang="en-US" sz="1800" b="1" i="1" spc="-10" dirty="0">
                <a:effectLst/>
                <a:ea typeface="Calibri" panose="020F0502020204030204" pitchFamily="34" charset="0"/>
              </a:rPr>
              <a:t> </a:t>
            </a:r>
            <a:r>
              <a:rPr lang="en-US" sz="1800" b="1" i="1" dirty="0">
                <a:effectLst/>
                <a:ea typeface="Calibri" panose="020F0502020204030204" pitchFamily="34" charset="0"/>
              </a:rPr>
              <a:t>defining,</a:t>
            </a:r>
            <a:r>
              <a:rPr lang="en-US" sz="1800" b="1" i="1" spc="-20" dirty="0">
                <a:effectLst/>
                <a:ea typeface="Calibri" panose="020F0502020204030204" pitchFamily="34" charset="0"/>
              </a:rPr>
              <a:t> </a:t>
            </a:r>
            <a:r>
              <a:rPr lang="en-US" sz="1800" b="1" i="1" dirty="0">
                <a:effectLst/>
                <a:ea typeface="Calibri" panose="020F0502020204030204" pitchFamily="34" charset="0"/>
              </a:rPr>
              <a:t>constructing,</a:t>
            </a:r>
            <a:r>
              <a:rPr lang="en-US" sz="1800" b="1" i="1" spc="-230" dirty="0">
                <a:effectLst/>
                <a:ea typeface="Calibri" panose="020F0502020204030204" pitchFamily="34" charset="0"/>
              </a:rPr>
              <a:t> </a:t>
            </a:r>
            <a:r>
              <a:rPr lang="en-US" sz="1800" b="1" i="1" dirty="0">
                <a:effectLst/>
                <a:ea typeface="Calibri" panose="020F0502020204030204" pitchFamily="34" charset="0"/>
              </a:rPr>
              <a:t>manipulating,</a:t>
            </a:r>
            <a:r>
              <a:rPr lang="en-US" sz="1800" b="1" i="1" spc="-15" dirty="0">
                <a:effectLst/>
                <a:ea typeface="Calibri" panose="020F0502020204030204" pitchFamily="34" charset="0"/>
              </a:rPr>
              <a:t> </a:t>
            </a:r>
            <a:r>
              <a:rPr lang="en-US" sz="1800" b="1" i="1" dirty="0">
                <a:effectLst/>
                <a:ea typeface="Calibri" panose="020F0502020204030204" pitchFamily="34" charset="0"/>
              </a:rPr>
              <a:t>and sharing databases</a:t>
            </a:r>
            <a:r>
              <a:rPr lang="en-US" sz="1800" b="1" i="1" spc="-20" dirty="0">
                <a:effectLst/>
                <a:ea typeface="Calibri" panose="020F0502020204030204" pitchFamily="34" charset="0"/>
              </a:rPr>
              <a:t> </a:t>
            </a:r>
            <a:r>
              <a:rPr lang="en-US" sz="1800" b="1" i="1" dirty="0">
                <a:effectLst/>
                <a:ea typeface="Calibri" panose="020F0502020204030204" pitchFamily="34" charset="0"/>
              </a:rPr>
              <a:t>among</a:t>
            </a:r>
            <a:r>
              <a:rPr lang="en-US" sz="1800" b="1" i="1" spc="-20" dirty="0">
                <a:effectLst/>
                <a:ea typeface="Calibri" panose="020F0502020204030204" pitchFamily="34" charset="0"/>
              </a:rPr>
              <a:t> </a:t>
            </a:r>
            <a:r>
              <a:rPr lang="en-US" sz="1800" b="1" i="1" dirty="0">
                <a:effectLst/>
                <a:ea typeface="Calibri" panose="020F0502020204030204" pitchFamily="34" charset="0"/>
              </a:rPr>
              <a:t>various</a:t>
            </a:r>
            <a:r>
              <a:rPr lang="en-US" sz="1800" b="1" i="1" spc="5" dirty="0">
                <a:effectLst/>
                <a:ea typeface="Calibri" panose="020F0502020204030204" pitchFamily="34" charset="0"/>
              </a:rPr>
              <a:t> </a:t>
            </a:r>
            <a:r>
              <a:rPr lang="en-US" sz="1800" b="1" i="1" dirty="0">
                <a:effectLst/>
                <a:ea typeface="Calibri" panose="020F0502020204030204" pitchFamily="34" charset="0"/>
              </a:rPr>
              <a:t>users</a:t>
            </a:r>
            <a:r>
              <a:rPr lang="en-US" sz="1800" b="1" i="1" spc="-20" dirty="0">
                <a:effectLst/>
                <a:ea typeface="Calibri" panose="020F0502020204030204" pitchFamily="34" charset="0"/>
              </a:rPr>
              <a:t> </a:t>
            </a:r>
            <a:r>
              <a:rPr lang="en-US" sz="1800" b="1" i="1" dirty="0">
                <a:effectLst/>
                <a:ea typeface="Calibri" panose="020F0502020204030204" pitchFamily="34" charset="0"/>
              </a:rPr>
              <a:t>and</a:t>
            </a:r>
            <a:r>
              <a:rPr lang="en-US" sz="1800" b="1" i="1" spc="-25" dirty="0">
                <a:effectLst/>
                <a:ea typeface="Calibri" panose="020F0502020204030204" pitchFamily="34" charset="0"/>
              </a:rPr>
              <a:t> </a:t>
            </a:r>
            <a:r>
              <a:rPr lang="en-US" sz="1800" b="1" i="1" dirty="0">
                <a:effectLst/>
                <a:ea typeface="Calibri" panose="020F0502020204030204" pitchFamily="34" charset="0"/>
              </a:rPr>
              <a:t>applications.</a:t>
            </a:r>
          </a:p>
          <a:p>
            <a:pPr marL="425450" indent="-285750" algn="just">
              <a:spcBef>
                <a:spcPts val="750"/>
              </a:spcBef>
              <a:buFont typeface="Wingdings" panose="05000000000000000000" pitchFamily="2" charset="2"/>
              <a:buChar char="§"/>
            </a:pPr>
            <a:endParaRPr lang="en-US" b="1" i="1" dirty="0">
              <a:ea typeface="Calibri" panose="020F0502020204030204" pitchFamily="34" charset="0"/>
            </a:endParaRPr>
          </a:p>
          <a:p>
            <a:pPr marL="285750" indent="-285750" algn="just">
              <a:buFont typeface="Wingdings" panose="05000000000000000000" pitchFamily="2" charset="2"/>
              <a:buChar char="§"/>
            </a:pPr>
            <a:r>
              <a:rPr lang="en-US" b="1" dirty="0"/>
              <a:t>Defining</a:t>
            </a:r>
            <a:r>
              <a:rPr lang="en-US" dirty="0"/>
              <a:t> a database involves specifying the data types, structures, and constraints of the data to be stored in the database. The database definition or descriptive information is stored by the DBMS in the form of a database catalog or dictionary; it is called meta-data.</a:t>
            </a:r>
          </a:p>
          <a:p>
            <a:pPr marL="285750" indent="-285750" algn="just">
              <a:buFont typeface="Wingdings" panose="05000000000000000000" pitchFamily="2" charset="2"/>
              <a:buChar char="§"/>
            </a:pPr>
            <a:r>
              <a:rPr lang="en-US" b="1" dirty="0"/>
              <a:t>Constructing</a:t>
            </a:r>
            <a:r>
              <a:rPr lang="en-US" dirty="0"/>
              <a:t> the database is the process of storing the data on some storage medium that is controlled by the DBMS.</a:t>
            </a:r>
          </a:p>
          <a:p>
            <a:pPr marL="285750" indent="-285750" algn="just">
              <a:buFont typeface="Wingdings" panose="05000000000000000000" pitchFamily="2" charset="2"/>
              <a:buChar char="§"/>
            </a:pPr>
            <a:r>
              <a:rPr lang="en-US" b="1" dirty="0"/>
              <a:t>Manipulating</a:t>
            </a:r>
            <a:r>
              <a:rPr lang="en-US" dirty="0"/>
              <a:t> a database includes functions such as querying the database to retrieve specific data, updating the database to reflect changes in the </a:t>
            </a:r>
            <a:r>
              <a:rPr lang="en-US" dirty="0" err="1"/>
              <a:t>miniworld</a:t>
            </a:r>
            <a:r>
              <a:rPr lang="en-US" dirty="0"/>
              <a:t>, and generating reports from the data.</a:t>
            </a:r>
          </a:p>
          <a:p>
            <a:pPr marL="285750" indent="-285750" algn="just">
              <a:buFont typeface="Wingdings" panose="05000000000000000000" pitchFamily="2" charset="2"/>
              <a:buChar char="§"/>
            </a:pPr>
            <a:r>
              <a:rPr lang="en-US" b="1" dirty="0"/>
              <a:t>Sharing</a:t>
            </a:r>
            <a:r>
              <a:rPr lang="en-US" dirty="0"/>
              <a:t> a database allows multiple users and programs to access the database simultaneously.</a:t>
            </a:r>
          </a:p>
          <a:p>
            <a:pPr marL="285750" indent="-285750" algn="just">
              <a:buFont typeface="Wingdings" panose="05000000000000000000" pitchFamily="2" charset="2"/>
              <a:buChar char="§"/>
            </a:pPr>
            <a:endParaRPr lang="en-US" dirty="0"/>
          </a:p>
          <a:p>
            <a:pPr marL="285750" indent="-285750" algn="just">
              <a:buFont typeface="Wingdings" panose="05000000000000000000" pitchFamily="2" charset="2"/>
              <a:buChar char="§"/>
            </a:pPr>
            <a:r>
              <a:rPr lang="en-US" dirty="0"/>
              <a:t>A database together with the DBMS software is referred to as a </a:t>
            </a:r>
            <a:r>
              <a:rPr lang="en-US" b="1" dirty="0"/>
              <a:t>database system</a:t>
            </a:r>
            <a:r>
              <a:rPr lang="en-US" dirty="0"/>
              <a:t>.</a:t>
            </a:r>
            <a:endParaRPr lang="en-IN" dirty="0"/>
          </a:p>
          <a:p>
            <a:pPr marL="425450" marR="0" indent="-285750" algn="just">
              <a:spcBef>
                <a:spcPts val="750"/>
              </a:spcBef>
              <a:buFont typeface="Wingdings" panose="05000000000000000000" pitchFamily="2" charset="2"/>
              <a:buChar char="§"/>
            </a:pPr>
            <a:endParaRPr lang="en-IN" sz="18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477914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3EE063-0C34-09F9-2138-F044E1E5EFD8}"/>
              </a:ext>
            </a:extLst>
          </p:cNvPr>
          <p:cNvPicPr>
            <a:picLocks noChangeAspect="1"/>
          </p:cNvPicPr>
          <p:nvPr/>
        </p:nvPicPr>
        <p:blipFill>
          <a:blip r:embed="rId2"/>
          <a:stretch>
            <a:fillRect/>
          </a:stretch>
        </p:blipFill>
        <p:spPr>
          <a:xfrm>
            <a:off x="2272786" y="0"/>
            <a:ext cx="8331303" cy="6597377"/>
          </a:xfrm>
          <a:prstGeom prst="rect">
            <a:avLst/>
          </a:prstGeom>
        </p:spPr>
      </p:pic>
    </p:spTree>
    <p:extLst>
      <p:ext uri="{BB962C8B-B14F-4D97-AF65-F5344CB8AC3E}">
        <p14:creationId xmlns:p14="http://schemas.microsoft.com/office/powerpoint/2010/main" val="119253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0BFF9D-14F5-88C4-088C-4F1B02147DCB}"/>
              </a:ext>
            </a:extLst>
          </p:cNvPr>
          <p:cNvSpPr txBox="1"/>
          <p:nvPr/>
        </p:nvSpPr>
        <p:spPr>
          <a:xfrm>
            <a:off x="285135" y="117987"/>
            <a:ext cx="11621729" cy="1077218"/>
          </a:xfrm>
          <a:prstGeom prst="rect">
            <a:avLst/>
          </a:prstGeom>
          <a:noFill/>
        </p:spPr>
        <p:txBody>
          <a:bodyPr wrap="square" rtlCol="0">
            <a:spAutoFit/>
          </a:bodyPr>
          <a:lstStyle/>
          <a:p>
            <a:r>
              <a:rPr lang="en-US" sz="2400" b="1" dirty="0"/>
              <a:t>EXAMPLE: </a:t>
            </a:r>
            <a:r>
              <a:rPr lang="en-US" dirty="0"/>
              <a:t>UNIVERSITY database</a:t>
            </a:r>
          </a:p>
          <a:p>
            <a:endParaRPr lang="en-US" sz="2400" b="1" dirty="0"/>
          </a:p>
          <a:p>
            <a:endParaRPr lang="en-US" sz="1600" dirty="0"/>
          </a:p>
        </p:txBody>
      </p:sp>
      <p:pic>
        <p:nvPicPr>
          <p:cNvPr id="4" name="Picture 3">
            <a:extLst>
              <a:ext uri="{FF2B5EF4-FFF2-40B4-BE49-F238E27FC236}">
                <a16:creationId xmlns:a16="http://schemas.microsoft.com/office/drawing/2014/main" id="{33F21219-5A04-9BFF-B80A-945B2E5BA547}"/>
              </a:ext>
            </a:extLst>
          </p:cNvPr>
          <p:cNvPicPr>
            <a:picLocks noChangeAspect="1"/>
          </p:cNvPicPr>
          <p:nvPr/>
        </p:nvPicPr>
        <p:blipFill>
          <a:blip r:embed="rId2"/>
          <a:stretch>
            <a:fillRect/>
          </a:stretch>
        </p:blipFill>
        <p:spPr>
          <a:xfrm>
            <a:off x="3819525" y="1062037"/>
            <a:ext cx="4552950" cy="4733925"/>
          </a:xfrm>
          <a:prstGeom prst="rect">
            <a:avLst/>
          </a:prstGeom>
        </p:spPr>
      </p:pic>
    </p:spTree>
    <p:extLst>
      <p:ext uri="{BB962C8B-B14F-4D97-AF65-F5344CB8AC3E}">
        <p14:creationId xmlns:p14="http://schemas.microsoft.com/office/powerpoint/2010/main" val="2708692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FDA7DA-8DA4-76C4-EE9B-F77E43CD7D48}"/>
              </a:ext>
            </a:extLst>
          </p:cNvPr>
          <p:cNvPicPr>
            <a:picLocks noChangeAspect="1"/>
          </p:cNvPicPr>
          <p:nvPr/>
        </p:nvPicPr>
        <p:blipFill>
          <a:blip r:embed="rId2"/>
          <a:stretch>
            <a:fillRect/>
          </a:stretch>
        </p:blipFill>
        <p:spPr>
          <a:xfrm>
            <a:off x="3503510" y="261682"/>
            <a:ext cx="5184980" cy="4855548"/>
          </a:xfrm>
          <a:prstGeom prst="rect">
            <a:avLst/>
          </a:prstGeom>
        </p:spPr>
      </p:pic>
    </p:spTree>
    <p:extLst>
      <p:ext uri="{BB962C8B-B14F-4D97-AF65-F5344CB8AC3E}">
        <p14:creationId xmlns:p14="http://schemas.microsoft.com/office/powerpoint/2010/main" val="3351871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981947-358E-BAE3-6673-BABE11BEC2AD}"/>
              </a:ext>
            </a:extLst>
          </p:cNvPr>
          <p:cNvSpPr txBox="1"/>
          <p:nvPr/>
        </p:nvSpPr>
        <p:spPr>
          <a:xfrm>
            <a:off x="294968" y="221226"/>
            <a:ext cx="11651226" cy="5539978"/>
          </a:xfrm>
          <a:prstGeom prst="rect">
            <a:avLst/>
          </a:prstGeom>
          <a:noFill/>
        </p:spPr>
        <p:txBody>
          <a:bodyPr wrap="square" rtlCol="0">
            <a:spAutoFit/>
          </a:bodyPr>
          <a:lstStyle/>
          <a:p>
            <a:pPr algn="just"/>
            <a:r>
              <a:rPr lang="en-US" sz="2400" b="1" i="0" u="sng" strike="noStrike" baseline="0" dirty="0"/>
              <a:t>Characteristics of the Database Approach</a:t>
            </a:r>
          </a:p>
          <a:p>
            <a:pPr algn="just"/>
            <a:endParaRPr lang="en-US" sz="2400" b="1" dirty="0"/>
          </a:p>
          <a:p>
            <a:pPr algn="just"/>
            <a:r>
              <a:rPr lang="en-US" b="0" i="0" u="none" strike="noStrike" baseline="0" dirty="0"/>
              <a:t>Database approach vs. File Processing approach</a:t>
            </a:r>
            <a:r>
              <a:rPr lang="en-US" b="1" i="0" u="none" strike="noStrike" baseline="0" dirty="0"/>
              <a:t>.</a:t>
            </a:r>
          </a:p>
          <a:p>
            <a:pPr algn="just"/>
            <a:endParaRPr lang="en-US" b="1" dirty="0"/>
          </a:p>
          <a:p>
            <a:pPr marL="285750" indent="-285750" algn="just">
              <a:buFont typeface="Wingdings" panose="05000000000000000000" pitchFamily="2" charset="2"/>
              <a:buChar char="§"/>
            </a:pPr>
            <a:r>
              <a:rPr lang="en-US" b="0" i="0" u="none" strike="noStrike" baseline="0" dirty="0"/>
              <a:t>In the file processing approach, each department would control a collection of relevant data files and software applications to manipulate that data.</a:t>
            </a:r>
            <a:endParaRPr lang="en-US" b="1" i="0" u="none" strike="noStrike" baseline="0" dirty="0"/>
          </a:p>
          <a:p>
            <a:pPr marL="285750" indent="-285750" algn="just">
              <a:buFont typeface="Wingdings" panose="05000000000000000000" pitchFamily="2" charset="2"/>
              <a:buChar char="§"/>
            </a:pPr>
            <a:endParaRPr lang="en-US" b="1" dirty="0"/>
          </a:p>
          <a:p>
            <a:pPr marL="285750" indent="-285750" algn="just">
              <a:buFont typeface="Wingdings" panose="05000000000000000000" pitchFamily="2" charset="2"/>
              <a:buChar char="§"/>
            </a:pPr>
            <a:r>
              <a:rPr lang="en-US" b="0" i="0" u="none" strike="noStrike" baseline="0" dirty="0"/>
              <a:t>In the database approach, a single repository maintains data that is defined once and then accessed by various users.</a:t>
            </a:r>
          </a:p>
          <a:p>
            <a:pPr marL="285750" indent="-285750" algn="just">
              <a:buFont typeface="Wingdings" panose="05000000000000000000" pitchFamily="2" charset="2"/>
              <a:buChar char="§"/>
            </a:pPr>
            <a:endParaRPr lang="en-US" dirty="0"/>
          </a:p>
          <a:p>
            <a:pPr marL="285750" indent="-285750" algn="just">
              <a:buFont typeface="Wingdings" panose="05000000000000000000" pitchFamily="2" charset="2"/>
              <a:buChar char="§"/>
            </a:pPr>
            <a:r>
              <a:rPr lang="en-US" sz="1800" b="0" i="0" u="none" strike="noStrike" baseline="0" dirty="0"/>
              <a:t>In file systems, each application is free to name data elements independently. In contrast, in a database, the names or labels of data are defined once, and used repeatedly by queries, transactions, and applications.</a:t>
            </a:r>
          </a:p>
          <a:p>
            <a:pPr marL="285750" indent="-285750" algn="just">
              <a:buFont typeface="Wingdings" panose="05000000000000000000" pitchFamily="2" charset="2"/>
              <a:buChar char="§"/>
            </a:pPr>
            <a:endParaRPr lang="en-US" dirty="0"/>
          </a:p>
          <a:p>
            <a:pPr marL="285750" indent="-285750" algn="just">
              <a:buFont typeface="Wingdings" panose="05000000000000000000" pitchFamily="2" charset="2"/>
              <a:buChar char="§"/>
            </a:pPr>
            <a:r>
              <a:rPr lang="en-US" sz="1800" b="0" i="0" u="none" strike="noStrike" baseline="0" dirty="0"/>
              <a:t>The main characteristics of the database approach versus the file-processing approach are the following:</a:t>
            </a:r>
          </a:p>
          <a:p>
            <a:pPr marL="342900" indent="-342900" algn="just">
              <a:buAutoNum type="arabicPeriod"/>
            </a:pPr>
            <a:r>
              <a:rPr lang="en-US" sz="1800" b="1" i="0" u="none" strike="noStrike" baseline="0" dirty="0">
                <a:latin typeface="CIDFont+F1"/>
              </a:rPr>
              <a:t>Self-Describing Nature of a Database System</a:t>
            </a:r>
            <a:r>
              <a:rPr lang="en-US" b="1" dirty="0">
                <a:latin typeface="CIDFont+F1"/>
              </a:rPr>
              <a:t>: -</a:t>
            </a:r>
            <a:r>
              <a:rPr lang="en-US" dirty="0">
                <a:latin typeface="CIDFont+F1"/>
              </a:rPr>
              <a:t> </a:t>
            </a:r>
          </a:p>
          <a:p>
            <a:pPr marL="342900" indent="-342900" algn="just">
              <a:buFont typeface="Wingdings" panose="05000000000000000000" pitchFamily="2" charset="2"/>
              <a:buChar char="§"/>
            </a:pPr>
            <a:r>
              <a:rPr lang="en-US" sz="1800" b="0" i="0" u="none" strike="noStrike" baseline="0" dirty="0">
                <a:latin typeface="CIDFont+F2"/>
              </a:rPr>
              <a:t>A fundamental characteristic of the database approach is that the database system contains not only the database itself but also a complete definition or description of the database structure and constraints.</a:t>
            </a:r>
          </a:p>
          <a:p>
            <a:pPr marL="285750" indent="-285750" algn="just">
              <a:buFont typeface="Wingdings" panose="05000000000000000000" pitchFamily="2" charset="2"/>
              <a:buChar char="§"/>
            </a:pPr>
            <a:r>
              <a:rPr lang="en-US" sz="1800" b="0" i="0" u="none" strike="noStrike" baseline="0" dirty="0">
                <a:latin typeface="CIDFont+F2"/>
              </a:rPr>
              <a:t>This </a:t>
            </a:r>
            <a:r>
              <a:rPr lang="en-US" sz="1800" b="0" i="0" u="none" strike="noStrike" baseline="0" dirty="0">
                <a:latin typeface="CIDFont+F1"/>
              </a:rPr>
              <a:t>meta-data </a:t>
            </a:r>
            <a:r>
              <a:rPr lang="en-US" sz="1800" b="0" i="0" u="none" strike="noStrike" baseline="0" dirty="0">
                <a:latin typeface="CIDFont+F2"/>
              </a:rPr>
              <a:t>(i.e., data about data) is stored in the so-called </a:t>
            </a:r>
            <a:r>
              <a:rPr lang="en-US" sz="1800" b="0" i="0" u="none" strike="noStrike" baseline="0" dirty="0">
                <a:latin typeface="CIDFont+F1"/>
              </a:rPr>
              <a:t>system catalog</a:t>
            </a:r>
            <a:r>
              <a:rPr lang="en-US" sz="1800" b="0" i="0" u="none" strike="noStrike" baseline="0" dirty="0">
                <a:latin typeface="CIDFont+F2"/>
              </a:rPr>
              <a:t>, which contains a description of the structure of each file, the type and storage format of each field, and the various constraints on the data (i.e., conditions that the data must satisfy).</a:t>
            </a:r>
            <a:endParaRPr lang="en-US" b="1" dirty="0"/>
          </a:p>
        </p:txBody>
      </p:sp>
    </p:spTree>
    <p:extLst>
      <p:ext uri="{BB962C8B-B14F-4D97-AF65-F5344CB8AC3E}">
        <p14:creationId xmlns:p14="http://schemas.microsoft.com/office/powerpoint/2010/main" val="1491888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B6BC00-046B-995C-96CB-EBEF26B99D4E}"/>
              </a:ext>
            </a:extLst>
          </p:cNvPr>
          <p:cNvPicPr>
            <a:picLocks noChangeAspect="1"/>
          </p:cNvPicPr>
          <p:nvPr/>
        </p:nvPicPr>
        <p:blipFill>
          <a:blip r:embed="rId2"/>
          <a:stretch>
            <a:fillRect/>
          </a:stretch>
        </p:blipFill>
        <p:spPr>
          <a:xfrm>
            <a:off x="2655170" y="217625"/>
            <a:ext cx="7167256" cy="5431161"/>
          </a:xfrm>
          <a:prstGeom prst="rect">
            <a:avLst/>
          </a:prstGeom>
        </p:spPr>
      </p:pic>
    </p:spTree>
    <p:extLst>
      <p:ext uri="{BB962C8B-B14F-4D97-AF65-F5344CB8AC3E}">
        <p14:creationId xmlns:p14="http://schemas.microsoft.com/office/powerpoint/2010/main" val="980343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DE001-85B0-B14E-326E-122500F52D3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BF9D21B-3E5B-5093-835A-8555E362CD04}"/>
              </a:ext>
            </a:extLst>
          </p:cNvPr>
          <p:cNvSpPr txBox="1"/>
          <p:nvPr/>
        </p:nvSpPr>
        <p:spPr>
          <a:xfrm>
            <a:off x="294968" y="221226"/>
            <a:ext cx="11651226" cy="7017306"/>
          </a:xfrm>
          <a:prstGeom prst="rect">
            <a:avLst/>
          </a:prstGeom>
          <a:noFill/>
        </p:spPr>
        <p:txBody>
          <a:bodyPr wrap="square" rtlCol="0">
            <a:spAutoFit/>
          </a:bodyPr>
          <a:lstStyle/>
          <a:p>
            <a:pPr algn="just"/>
            <a:r>
              <a:rPr lang="en-US" sz="1800" b="1" i="0" u="none" strike="noStrike" baseline="0" dirty="0">
                <a:latin typeface="Times New Roman" panose="02020603050405020304" pitchFamily="18" charset="0"/>
                <a:cs typeface="Times New Roman" panose="02020603050405020304" pitchFamily="18" charset="0"/>
              </a:rPr>
              <a:t>2. Insulation between Programs and Data, and Data Abstraction: </a:t>
            </a:r>
          </a:p>
          <a:p>
            <a:pPr marL="285750" indent="-285750" algn="just" fontAlgn="base">
              <a:buFont typeface="Wingdings" panose="05000000000000000000" pitchFamily="2" charset="2"/>
              <a:buChar char="§"/>
            </a:pPr>
            <a:r>
              <a:rPr lang="en-US" b="1" i="0" dirty="0">
                <a:solidFill>
                  <a:srgbClr val="000000"/>
                </a:solidFill>
                <a:effectLst/>
                <a:latin typeface="Times New Roman" panose="02020603050405020304" pitchFamily="18" charset="0"/>
                <a:cs typeface="Times New Roman" panose="02020603050405020304" pitchFamily="18" charset="0"/>
              </a:rPr>
              <a:t>Program-data independence: </a:t>
            </a:r>
          </a:p>
          <a:p>
            <a:pPr marL="742950" lvl="1" indent="-285750" algn="just" fontAlgn="base">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a traditional file processing system, the structure of database knowledge files is embedded within the application programs, so any changes to the structure of a file may require changing all programs that access that file. </a:t>
            </a:r>
          </a:p>
          <a:p>
            <a:pPr marL="742950" lvl="1" indent="-285750" algn="just" fontAlgn="base">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Against this, DBMS access programs don't require such changes in most cases, so independence is achieved between them. The structure of knowledge files is stored within the DBMS catalog separately from the programs that access them. We call this property program-data independence. </a:t>
            </a:r>
          </a:p>
          <a:p>
            <a:pPr marL="285750" indent="-285750" algn="just" fontAlgn="auto">
              <a:buFont typeface="Wingdings" panose="05000000000000000000" pitchFamily="2" charset="2"/>
              <a:buChar char="§"/>
            </a:pPr>
            <a:r>
              <a:rPr lang="en-US" b="1" i="0" dirty="0">
                <a:solidFill>
                  <a:srgbClr val="000000"/>
                </a:solidFill>
                <a:effectLst/>
                <a:latin typeface="Times New Roman" panose="02020603050405020304" pitchFamily="18" charset="0"/>
                <a:cs typeface="Times New Roman" panose="02020603050405020304" pitchFamily="18" charset="0"/>
              </a:rPr>
              <a:t>Program-operation independence: </a:t>
            </a:r>
            <a:r>
              <a:rPr lang="en-US" b="0" i="0" dirty="0">
                <a:solidFill>
                  <a:srgbClr val="000000"/>
                </a:solidFill>
                <a:effectLst/>
                <a:latin typeface="Times New Roman" panose="02020603050405020304" pitchFamily="18" charset="0"/>
                <a:cs typeface="Times New Roman" panose="02020603050405020304" pitchFamily="18" charset="0"/>
              </a:rPr>
              <a:t>User application programs can operate on the data by invoking operations through their names and arguments, regardless of how the operations are implemented. </a:t>
            </a:r>
          </a:p>
          <a:p>
            <a:pPr marL="285750" indent="-285750" algn="just" fontAlgn="auto">
              <a:buFont typeface="Wingdings" panose="05000000000000000000" pitchFamily="2" charset="2"/>
              <a:buChar char="§"/>
            </a:pPr>
            <a:r>
              <a:rPr lang="en-US" b="1" i="0" dirty="0">
                <a:solidFill>
                  <a:srgbClr val="000000"/>
                </a:solidFill>
                <a:effectLst/>
                <a:latin typeface="Times New Roman" panose="02020603050405020304" pitchFamily="18" charset="0"/>
                <a:cs typeface="Times New Roman" panose="02020603050405020304" pitchFamily="18" charset="0"/>
              </a:rPr>
              <a:t>Data Abstraction: </a:t>
            </a:r>
            <a:r>
              <a:rPr lang="en-US" b="0" i="0" dirty="0">
                <a:solidFill>
                  <a:srgbClr val="000000"/>
                </a:solidFill>
                <a:effectLst/>
                <a:latin typeface="Times New Roman" panose="02020603050405020304" pitchFamily="18" charset="0"/>
                <a:cs typeface="Times New Roman" panose="02020603050405020304" pitchFamily="18" charset="0"/>
              </a:rPr>
              <a:t>The characteristic that allows program-data independence and program-operation independence is called data abstraction.</a:t>
            </a: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3. </a:t>
            </a:r>
            <a:r>
              <a:rPr lang="en-US" sz="1800" b="1" i="0" u="none" strike="noStrike" baseline="0" dirty="0">
                <a:latin typeface="Times New Roman" panose="02020603050405020304" pitchFamily="18" charset="0"/>
                <a:cs typeface="Times New Roman" panose="02020603050405020304" pitchFamily="18" charset="0"/>
              </a:rPr>
              <a:t>Support of Multiple Views of the Data:</a:t>
            </a:r>
          </a:p>
          <a:p>
            <a:pPr algn="just"/>
            <a:endParaRPr lang="en-US" b="1" dirty="0">
              <a:latin typeface="Times New Roman" panose="02020603050405020304" pitchFamily="18" charset="0"/>
              <a:cs typeface="Times New Roman" panose="02020603050405020304" pitchFamily="18" charset="0"/>
            </a:endParaRPr>
          </a:p>
          <a:p>
            <a:pPr marL="285750" indent="-285750" algn="just" fontAlgn="auto">
              <a:buFont typeface="Wingdings" panose="05000000000000000000" pitchFamily="2" charset="2"/>
              <a:buChar char="§"/>
            </a:pPr>
            <a:r>
              <a:rPr lang="en-US" b="0" i="0" dirty="0">
                <a:solidFill>
                  <a:srgbClr val="000000"/>
                </a:solidFill>
                <a:effectLst/>
                <a:latin typeface="Times New Roman" panose="02020603050405020304" pitchFamily="18" charset="0"/>
                <a:cs typeface="Times New Roman" panose="02020603050405020304" pitchFamily="18" charset="0"/>
              </a:rPr>
              <a:t>A database typically has many types of users, each of whom may require a different perspective or view of the database. A view may be a subset of the database or it may contain virtual data that is derived from the database files but is not explicitly stored.</a:t>
            </a:r>
          </a:p>
          <a:p>
            <a:pPr marL="285750" indent="-285750" algn="just" fontAlgn="auto">
              <a:buFont typeface="Wingdings" panose="05000000000000000000" pitchFamily="2" charset="2"/>
              <a:buChar char="§"/>
            </a:pPr>
            <a:endParaRPr lang="en-US" dirty="0">
              <a:solidFill>
                <a:srgbClr val="000000"/>
              </a:solidFill>
              <a:latin typeface="Times New Roman" panose="02020603050405020304" pitchFamily="18" charset="0"/>
              <a:cs typeface="Times New Roman" panose="02020603050405020304" pitchFamily="18" charset="0"/>
            </a:endParaRPr>
          </a:p>
          <a:p>
            <a:pPr algn="just"/>
            <a:endParaRPr lang="en-US" sz="1800" b="0" i="0" u="none" strike="noStrike" baseline="0"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sz="1800" b="0" i="0" u="none" strike="noStrike" baseline="0"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sz="1800" b="0" i="0" u="none" strike="noStrike" baseline="0"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sz="1800" b="0" i="0" u="none" strike="noStrike" baseline="0" dirty="0">
                <a:latin typeface="Times New Roman" panose="02020603050405020304" pitchFamily="18" charset="0"/>
                <a:cs typeface="Times New Roman" panose="02020603050405020304" pitchFamily="18" charset="0"/>
              </a:rPr>
              <a:t>						       		Fig: view derived from the university database</a:t>
            </a:r>
            <a:endParaRPr lang="en-US" b="0" i="0" dirty="0">
              <a:solidFill>
                <a:srgbClr val="000000"/>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54F0A01-27E5-260D-344E-4395A0193232}"/>
              </a:ext>
            </a:extLst>
          </p:cNvPr>
          <p:cNvPicPr>
            <a:picLocks noChangeAspect="1"/>
          </p:cNvPicPr>
          <p:nvPr/>
        </p:nvPicPr>
        <p:blipFill>
          <a:blip r:embed="rId2"/>
          <a:stretch>
            <a:fillRect/>
          </a:stretch>
        </p:blipFill>
        <p:spPr>
          <a:xfrm>
            <a:off x="3324751" y="4626999"/>
            <a:ext cx="5219700" cy="2009775"/>
          </a:xfrm>
          <a:prstGeom prst="rect">
            <a:avLst/>
          </a:prstGeom>
        </p:spPr>
      </p:pic>
    </p:spTree>
    <p:extLst>
      <p:ext uri="{BB962C8B-B14F-4D97-AF65-F5344CB8AC3E}">
        <p14:creationId xmlns:p14="http://schemas.microsoft.com/office/powerpoint/2010/main" val="1478362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E5D52-A360-5243-EE1E-050C45724C9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FF56837-1F77-88FE-2844-7DB8842E82E4}"/>
              </a:ext>
            </a:extLst>
          </p:cNvPr>
          <p:cNvSpPr txBox="1"/>
          <p:nvPr/>
        </p:nvSpPr>
        <p:spPr>
          <a:xfrm>
            <a:off x="294968" y="221226"/>
            <a:ext cx="11651226" cy="7017306"/>
          </a:xfrm>
          <a:prstGeom prst="rect">
            <a:avLst/>
          </a:prstGeom>
          <a:noFill/>
        </p:spPr>
        <p:txBody>
          <a:bodyPr wrap="square" rtlCol="0">
            <a:spAutoFit/>
          </a:bodyPr>
          <a:lstStyle/>
          <a:p>
            <a:pPr algn="just"/>
            <a:r>
              <a:rPr lang="en-US" sz="1800" b="1" i="0" u="none" strike="noStrike" baseline="0" dirty="0"/>
              <a:t>4. Sharing of Data and Multiuser Transaction Processing</a:t>
            </a:r>
          </a:p>
          <a:p>
            <a:pPr algn="just"/>
            <a:endParaRPr lang="en-US" b="1" dirty="0"/>
          </a:p>
          <a:p>
            <a:pPr marL="285750" indent="-285750" algn="just" fontAlgn="auto">
              <a:lnSpc>
                <a:spcPct val="150000"/>
              </a:lnSpc>
              <a:buFont typeface="Wingdings" panose="05000000000000000000" pitchFamily="2" charset="2"/>
              <a:buChar char="§"/>
            </a:pPr>
            <a:r>
              <a:rPr lang="en-US" b="0" i="0" dirty="0">
                <a:solidFill>
                  <a:srgbClr val="000000"/>
                </a:solidFill>
                <a:effectLst/>
              </a:rPr>
              <a:t>A multiuser DBMS, as its name implies, must allow multiple users to access the database at the same time. The DBMS must include concurrency control software to ensure that several users trying to update the same data do so in a controlled manner so that the result of the updates is correct. </a:t>
            </a:r>
          </a:p>
          <a:p>
            <a:pPr marL="285750" indent="-285750" algn="just" fontAlgn="auto">
              <a:lnSpc>
                <a:spcPct val="150000"/>
              </a:lnSpc>
              <a:buFont typeface="Wingdings" panose="05000000000000000000" pitchFamily="2" charset="2"/>
              <a:buChar char="§"/>
            </a:pPr>
            <a:r>
              <a:rPr lang="en-US" b="0" i="0" dirty="0">
                <a:solidFill>
                  <a:srgbClr val="000000"/>
                </a:solidFill>
                <a:effectLst/>
              </a:rPr>
              <a:t>Example: When several reservation agents try to assign a seat on an airline flight, the DBMS should ensure that each seat can be accessed by only one agent at a time for assignment to a passenger</a:t>
            </a:r>
          </a:p>
          <a:p>
            <a:pPr marL="285750" indent="-285750" algn="just" fontAlgn="auto">
              <a:lnSpc>
                <a:spcPct val="150000"/>
              </a:lnSpc>
              <a:buFont typeface="Wingdings" panose="05000000000000000000" pitchFamily="2" charset="2"/>
              <a:buChar char="§"/>
            </a:pPr>
            <a:endParaRPr lang="en-US" dirty="0">
              <a:solidFill>
                <a:srgbClr val="000000"/>
              </a:solidFill>
            </a:endParaRPr>
          </a:p>
          <a:p>
            <a:pPr marL="285750" indent="-285750" algn="just" fontAlgn="auto">
              <a:lnSpc>
                <a:spcPct val="150000"/>
              </a:lnSpc>
              <a:buFont typeface="Wingdings" panose="05000000000000000000" pitchFamily="2" charset="2"/>
              <a:buChar char="§"/>
            </a:pPr>
            <a:r>
              <a:rPr lang="en-US" b="0" i="0" dirty="0">
                <a:solidFill>
                  <a:srgbClr val="000000"/>
                </a:solidFill>
                <a:effectLst/>
              </a:rPr>
              <a:t>A transaction is an executing program or process that includes one or more database accesses, such as reading or updating of database records. </a:t>
            </a:r>
          </a:p>
          <a:p>
            <a:pPr marL="285750" indent="-285750" algn="just" fontAlgn="auto">
              <a:lnSpc>
                <a:spcPct val="150000"/>
              </a:lnSpc>
              <a:buFont typeface="Wingdings" panose="05000000000000000000" pitchFamily="2" charset="2"/>
              <a:buChar char="§"/>
            </a:pPr>
            <a:r>
              <a:rPr lang="en-US" b="0" i="0" dirty="0">
                <a:solidFill>
                  <a:srgbClr val="000000"/>
                </a:solidFill>
                <a:effectLst/>
              </a:rPr>
              <a:t>The DBMS must enforce several transaction properties:</a:t>
            </a:r>
          </a:p>
          <a:p>
            <a:pPr marL="285750" indent="-285750" algn="just" fontAlgn="auto">
              <a:lnSpc>
                <a:spcPct val="150000"/>
              </a:lnSpc>
              <a:buFont typeface="Wingdings" panose="05000000000000000000" pitchFamily="2" charset="2"/>
              <a:buChar char="§"/>
            </a:pPr>
            <a:r>
              <a:rPr lang="en-US" b="0" i="0" dirty="0">
                <a:solidFill>
                  <a:srgbClr val="000000"/>
                </a:solidFill>
                <a:effectLst/>
              </a:rPr>
              <a:t>The </a:t>
            </a:r>
            <a:r>
              <a:rPr lang="en-US" b="1" i="0" dirty="0">
                <a:solidFill>
                  <a:srgbClr val="000000"/>
                </a:solidFill>
                <a:effectLst/>
              </a:rPr>
              <a:t>isolation property</a:t>
            </a:r>
            <a:r>
              <a:rPr lang="en-US" b="0" i="0" dirty="0">
                <a:solidFill>
                  <a:srgbClr val="000000"/>
                </a:solidFill>
                <a:effectLst/>
              </a:rPr>
              <a:t> ensures that each transaction appears to execute in isolation from other transactions, even though hundreds of transactions may be executing concurrently. </a:t>
            </a:r>
          </a:p>
          <a:p>
            <a:pPr marL="285750" indent="-285750" algn="just" fontAlgn="auto">
              <a:lnSpc>
                <a:spcPct val="150000"/>
              </a:lnSpc>
              <a:buFont typeface="Wingdings" panose="05000000000000000000" pitchFamily="2" charset="2"/>
              <a:buChar char="§"/>
            </a:pPr>
            <a:r>
              <a:rPr lang="en-US" b="0" i="0" dirty="0">
                <a:solidFill>
                  <a:srgbClr val="000000"/>
                </a:solidFill>
                <a:effectLst/>
              </a:rPr>
              <a:t>The </a:t>
            </a:r>
            <a:r>
              <a:rPr lang="en-US" b="1" i="0" dirty="0">
                <a:solidFill>
                  <a:srgbClr val="000000"/>
                </a:solidFill>
                <a:effectLst/>
              </a:rPr>
              <a:t>atomicity property</a:t>
            </a:r>
            <a:r>
              <a:rPr lang="en-US" b="0" i="0" dirty="0">
                <a:solidFill>
                  <a:srgbClr val="000000"/>
                </a:solidFill>
                <a:effectLst/>
              </a:rPr>
              <a:t> ensures that either all the database operations in a transaction are executed or none are executed.</a:t>
            </a:r>
          </a:p>
          <a:p>
            <a:pPr marL="285750" indent="-285750" algn="just" fontAlgn="auto">
              <a:lnSpc>
                <a:spcPct val="150000"/>
              </a:lnSpc>
              <a:buFont typeface="Wingdings" panose="05000000000000000000" pitchFamily="2" charset="2"/>
              <a:buChar char="§"/>
            </a:pPr>
            <a:endParaRPr lang="en-US" b="0" i="0" dirty="0">
              <a:solidFill>
                <a:srgbClr val="000000"/>
              </a:solidFill>
              <a:effectLst/>
            </a:endParaRPr>
          </a:p>
          <a:p>
            <a:pPr algn="just"/>
            <a:endParaRPr lang="en-US" sz="1800" b="1" i="0" u="none" strike="noStrike" baseline="0" dirty="0"/>
          </a:p>
          <a:p>
            <a:pPr algn="just"/>
            <a:endParaRPr lang="en-US" b="1" dirty="0"/>
          </a:p>
        </p:txBody>
      </p:sp>
    </p:spTree>
    <p:extLst>
      <p:ext uri="{BB962C8B-B14F-4D97-AF65-F5344CB8AC3E}">
        <p14:creationId xmlns:p14="http://schemas.microsoft.com/office/powerpoint/2010/main" val="922531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271E9D-5AC7-873E-6DDA-3A717E9ABA64}"/>
              </a:ext>
            </a:extLst>
          </p:cNvPr>
          <p:cNvSpPr txBox="1"/>
          <p:nvPr/>
        </p:nvSpPr>
        <p:spPr>
          <a:xfrm>
            <a:off x="235974" y="250722"/>
            <a:ext cx="11783961" cy="743280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1800" b="0" i="0" u="none" strike="noStrike" baseline="0" dirty="0"/>
              <a:t>Users may be divided into: </a:t>
            </a:r>
          </a:p>
          <a:p>
            <a:pPr marL="285750" indent="-285750" algn="just">
              <a:lnSpc>
                <a:spcPct val="150000"/>
              </a:lnSpc>
              <a:buFont typeface="Wingdings" panose="05000000000000000000" pitchFamily="2" charset="2"/>
              <a:buChar char="§"/>
            </a:pPr>
            <a:r>
              <a:rPr lang="en-US" sz="1800" b="0" i="0" u="none" strike="noStrike" baseline="0" dirty="0"/>
              <a:t>Those who actually use and control the database content, and those who design, develop and maintain database applications called </a:t>
            </a:r>
            <a:r>
              <a:rPr lang="en-US" sz="1800" b="1" i="0" u="none" strike="noStrike" baseline="0" dirty="0"/>
              <a:t>“</a:t>
            </a:r>
            <a:r>
              <a:rPr lang="en-US" b="1" i="0" dirty="0">
                <a:solidFill>
                  <a:srgbClr val="000000"/>
                </a:solidFill>
                <a:effectLst/>
              </a:rPr>
              <a:t>Actors on the Scene”</a:t>
            </a:r>
            <a:r>
              <a:rPr lang="en-US" b="0" i="0" dirty="0">
                <a:solidFill>
                  <a:srgbClr val="000000"/>
                </a:solidFill>
                <a:effectLst/>
              </a:rPr>
              <a:t>.</a:t>
            </a:r>
            <a:endParaRPr lang="en-US" sz="1800" b="0" i="0" u="none" strike="noStrike" baseline="0" dirty="0"/>
          </a:p>
          <a:p>
            <a:pPr marL="285750" indent="-285750" algn="just">
              <a:lnSpc>
                <a:spcPct val="150000"/>
              </a:lnSpc>
              <a:buFont typeface="Wingdings" panose="05000000000000000000" pitchFamily="2" charset="2"/>
              <a:buChar char="§"/>
            </a:pPr>
            <a:r>
              <a:rPr lang="en-US" sz="1800" b="0" i="0" u="none" strike="noStrike" baseline="0" dirty="0"/>
              <a:t>Those who design and develop the DBMS software and related tools, and the computer systems operators called “</a:t>
            </a:r>
            <a:r>
              <a:rPr lang="en-US" sz="1800" b="1" i="0" u="none" strike="noStrike" baseline="0" dirty="0"/>
              <a:t>Workers behind the Scene”.</a:t>
            </a:r>
          </a:p>
          <a:p>
            <a:pPr marL="285750" indent="-285750" algn="just">
              <a:lnSpc>
                <a:spcPct val="150000"/>
              </a:lnSpc>
              <a:buFont typeface="Wingdings" panose="05000000000000000000" pitchFamily="2" charset="2"/>
              <a:buChar char="§"/>
            </a:pPr>
            <a:endParaRPr lang="en-US" b="1" dirty="0"/>
          </a:p>
          <a:p>
            <a:pPr marL="285750" indent="-285750" algn="just">
              <a:lnSpc>
                <a:spcPct val="150000"/>
              </a:lnSpc>
              <a:buFont typeface="Wingdings" panose="05000000000000000000" pitchFamily="2" charset="2"/>
              <a:buChar char="§"/>
            </a:pPr>
            <a:r>
              <a:rPr lang="en-US" sz="2000" b="1" i="0" dirty="0">
                <a:solidFill>
                  <a:srgbClr val="000000"/>
                </a:solidFill>
                <a:effectLst/>
              </a:rPr>
              <a:t>Actors on the Scene:</a:t>
            </a:r>
          </a:p>
          <a:p>
            <a:pPr marL="342900" indent="-342900" algn="just" fontAlgn="auto">
              <a:lnSpc>
                <a:spcPct val="150000"/>
              </a:lnSpc>
              <a:buAutoNum type="arabicPeriod"/>
            </a:pPr>
            <a:r>
              <a:rPr lang="en-US" b="1" i="0" dirty="0">
                <a:solidFill>
                  <a:srgbClr val="000000"/>
                </a:solidFill>
                <a:effectLst/>
                <a:latin typeface="ff4"/>
              </a:rPr>
              <a:t>Databa</a:t>
            </a:r>
            <a:r>
              <a:rPr lang="en-US" b="1" i="0" dirty="0">
                <a:solidFill>
                  <a:srgbClr val="000000"/>
                </a:solidFill>
                <a:effectLst/>
                <a:latin typeface="unset"/>
              </a:rPr>
              <a:t>se Administrator (DBA):</a:t>
            </a:r>
            <a:r>
              <a:rPr lang="en-US" b="1" i="0" dirty="0">
                <a:solidFill>
                  <a:srgbClr val="000000"/>
                </a:solidFill>
                <a:effectLst/>
              </a:rPr>
              <a:t> </a:t>
            </a:r>
            <a:r>
              <a:rPr lang="en-US" b="0" i="0" dirty="0">
                <a:solidFill>
                  <a:srgbClr val="000000"/>
                </a:solidFill>
                <a:effectLst/>
                <a:latin typeface="ff2"/>
              </a:rPr>
              <a:t>The DBA is responsible for authorizing access </a:t>
            </a:r>
            <a:r>
              <a:rPr lang="en-US" b="0" i="0" dirty="0">
                <a:solidFill>
                  <a:srgbClr val="000000"/>
                </a:solidFill>
                <a:effectLst/>
                <a:latin typeface="unset"/>
              </a:rPr>
              <a:t>to</a:t>
            </a:r>
            <a:r>
              <a:rPr lang="en-US" b="0" i="0" dirty="0">
                <a:solidFill>
                  <a:srgbClr val="000000"/>
                </a:solidFill>
                <a:effectLst/>
                <a:latin typeface="ff2"/>
              </a:rPr>
              <a:t> the database, coordinating and monitoring its use, and acquiring software and hardware resources as needed. The DBA is accountable for problems such as security breaches and poor system response time.</a:t>
            </a:r>
          </a:p>
          <a:p>
            <a:pPr marL="342900" indent="-342900" algn="just" fontAlgn="auto">
              <a:lnSpc>
                <a:spcPct val="150000"/>
              </a:lnSpc>
              <a:buAutoNum type="arabicPeriod"/>
            </a:pPr>
            <a:r>
              <a:rPr lang="en-US" b="1" i="0" dirty="0">
                <a:solidFill>
                  <a:srgbClr val="000000"/>
                </a:solidFill>
                <a:effectLst/>
                <a:latin typeface="ff4"/>
              </a:rPr>
              <a:t>Database Designers:</a:t>
            </a:r>
            <a:r>
              <a:rPr lang="en-US" b="1" dirty="0">
                <a:solidFill>
                  <a:srgbClr val="000000"/>
                </a:solidFill>
                <a:latin typeface="ff2"/>
              </a:rPr>
              <a:t> </a:t>
            </a:r>
            <a:r>
              <a:rPr lang="en-US" b="0" i="0" dirty="0">
                <a:solidFill>
                  <a:srgbClr val="000000"/>
                </a:solidFill>
                <a:effectLst/>
                <a:latin typeface="ff2"/>
              </a:rPr>
              <a:t>Database designers are </a:t>
            </a:r>
            <a:r>
              <a:rPr lang="en-US" b="0" i="0" dirty="0">
                <a:solidFill>
                  <a:srgbClr val="000000"/>
                </a:solidFill>
                <a:effectLst/>
                <a:latin typeface="ff1"/>
              </a:rPr>
              <a:t>responsible for identifying the data to be stored in the database and for choosing appropriate structures to represent and store this data</a:t>
            </a:r>
            <a:r>
              <a:rPr lang="en-US" b="0" i="0" dirty="0">
                <a:solidFill>
                  <a:srgbClr val="000000"/>
                </a:solidFill>
                <a:effectLst/>
                <a:latin typeface="ff2"/>
              </a:rPr>
              <a:t>. It is the responsibility of database designers to communicate with all prospective database users in order to understand their requirements and to create a design that meets these requirements.</a:t>
            </a:r>
          </a:p>
          <a:p>
            <a:pPr marL="342900" indent="-342900" algn="just" fontAlgn="auto">
              <a:buAutoNum type="arabicPeriod"/>
            </a:pPr>
            <a:endParaRPr lang="en-US" b="0" i="0" dirty="0">
              <a:solidFill>
                <a:srgbClr val="000000"/>
              </a:solidFill>
              <a:effectLst/>
              <a:latin typeface="ff2"/>
            </a:endParaRPr>
          </a:p>
          <a:p>
            <a:pPr algn="just">
              <a:lnSpc>
                <a:spcPct val="150000"/>
              </a:lnSpc>
            </a:pPr>
            <a:endParaRPr lang="en-US" sz="1800" b="1" i="0" u="none" strike="noStrike" baseline="0" dirty="0"/>
          </a:p>
          <a:p>
            <a:pPr marL="285750" indent="-285750" algn="just">
              <a:buFont typeface="Wingdings" panose="05000000000000000000" pitchFamily="2" charset="2"/>
              <a:buChar char="§"/>
            </a:pPr>
            <a:endParaRPr lang="en-US" b="1" dirty="0"/>
          </a:p>
          <a:p>
            <a:pPr marL="285750" indent="-285750" algn="just">
              <a:buFont typeface="Wingdings" panose="05000000000000000000" pitchFamily="2" charset="2"/>
              <a:buChar char="§"/>
            </a:pPr>
            <a:endParaRPr lang="en-US" dirty="0"/>
          </a:p>
        </p:txBody>
      </p:sp>
    </p:spTree>
    <p:extLst>
      <p:ext uri="{BB962C8B-B14F-4D97-AF65-F5344CB8AC3E}">
        <p14:creationId xmlns:p14="http://schemas.microsoft.com/office/powerpoint/2010/main" val="2088063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BBA260-8128-883F-2AC5-DD1E1F96AE6D}"/>
              </a:ext>
            </a:extLst>
          </p:cNvPr>
          <p:cNvSpPr txBox="1"/>
          <p:nvPr/>
        </p:nvSpPr>
        <p:spPr>
          <a:xfrm>
            <a:off x="265471" y="235974"/>
            <a:ext cx="11724968" cy="5909310"/>
          </a:xfrm>
          <a:prstGeom prst="rect">
            <a:avLst/>
          </a:prstGeom>
          <a:noFill/>
        </p:spPr>
        <p:txBody>
          <a:bodyPr wrap="square" rtlCol="0">
            <a:spAutoFit/>
          </a:bodyPr>
          <a:lstStyle/>
          <a:p>
            <a:pPr marL="342900" indent="-342900" algn="just">
              <a:buAutoNum type="arabicPeriod" startAt="3"/>
            </a:pPr>
            <a:r>
              <a:rPr lang="en-US" b="1" i="0" dirty="0">
                <a:solidFill>
                  <a:srgbClr val="000000"/>
                </a:solidFill>
                <a:effectLst/>
                <a:latin typeface="ff4"/>
              </a:rPr>
              <a:t>Users:</a:t>
            </a:r>
            <a:r>
              <a:rPr lang="en-US" b="1" dirty="0">
                <a:solidFill>
                  <a:srgbClr val="000000"/>
                </a:solidFill>
                <a:latin typeface="ff2"/>
              </a:rPr>
              <a:t> </a:t>
            </a:r>
            <a:r>
              <a:rPr lang="en-US" b="0" i="0" dirty="0">
                <a:solidFill>
                  <a:srgbClr val="000000"/>
                </a:solidFill>
                <a:effectLst/>
                <a:latin typeface="ff2"/>
              </a:rPr>
              <a:t>End users are the people whose jobs require access to the database for querying, updating, and generating reports; the database primarily exists for their use.</a:t>
            </a:r>
          </a:p>
          <a:p>
            <a:pPr algn="just"/>
            <a:endParaRPr lang="en-US" b="0" i="0" dirty="0">
              <a:solidFill>
                <a:srgbClr val="000000"/>
              </a:solidFill>
              <a:effectLst/>
              <a:latin typeface="ff2"/>
            </a:endParaRPr>
          </a:p>
          <a:p>
            <a:pPr algn="just" fontAlgn="auto"/>
            <a:r>
              <a:rPr lang="en-US" b="0" i="0" dirty="0">
                <a:solidFill>
                  <a:srgbClr val="000000"/>
                </a:solidFill>
                <a:effectLst/>
                <a:latin typeface="ff1"/>
              </a:rPr>
              <a:t>Categories </a:t>
            </a:r>
            <a:r>
              <a:rPr lang="en-US" b="0" i="0" dirty="0">
                <a:solidFill>
                  <a:srgbClr val="000000"/>
                </a:solidFill>
                <a:effectLst/>
                <a:latin typeface="unset"/>
              </a:rPr>
              <a:t>of end users: </a:t>
            </a:r>
            <a:endParaRPr lang="en-US" b="0" i="0" dirty="0">
              <a:solidFill>
                <a:srgbClr val="000000"/>
              </a:solidFill>
              <a:effectLst/>
              <a:latin typeface="ff1"/>
            </a:endParaRPr>
          </a:p>
          <a:p>
            <a:pPr marL="285750" indent="-285750" algn="just" fontAlgn="auto">
              <a:buFont typeface="Wingdings" panose="05000000000000000000" pitchFamily="2" charset="2"/>
              <a:buChar char="q"/>
            </a:pPr>
            <a:r>
              <a:rPr lang="en-US" b="1" i="0" dirty="0">
                <a:solidFill>
                  <a:srgbClr val="000000"/>
                </a:solidFill>
                <a:effectLst/>
                <a:latin typeface="ff4"/>
              </a:rPr>
              <a:t>Casual end users</a:t>
            </a:r>
            <a:r>
              <a:rPr lang="en-US" b="0" i="0" dirty="0">
                <a:solidFill>
                  <a:srgbClr val="000000"/>
                </a:solidFill>
                <a:effectLst/>
                <a:latin typeface="ff4"/>
              </a:rPr>
              <a:t> </a:t>
            </a:r>
            <a:r>
              <a:rPr lang="en-US" b="0" i="0" dirty="0">
                <a:solidFill>
                  <a:srgbClr val="000000"/>
                </a:solidFill>
                <a:effectLst/>
                <a:latin typeface="ff1"/>
              </a:rPr>
              <a:t>occasionally access the database</a:t>
            </a:r>
            <a:r>
              <a:rPr lang="en-US" b="0" i="0" dirty="0">
                <a:solidFill>
                  <a:srgbClr val="000000"/>
                </a:solidFill>
                <a:effectLst/>
                <a:latin typeface="ff2"/>
              </a:rPr>
              <a:t>, but they </a:t>
            </a:r>
            <a:r>
              <a:rPr lang="en-US" b="0" i="0" dirty="0">
                <a:solidFill>
                  <a:srgbClr val="000000"/>
                </a:solidFill>
                <a:effectLst/>
                <a:latin typeface="unset"/>
              </a:rPr>
              <a:t>may</a:t>
            </a:r>
            <a:r>
              <a:rPr lang="en-US" b="0" i="0" dirty="0">
                <a:solidFill>
                  <a:srgbClr val="000000"/>
                </a:solidFill>
                <a:effectLst/>
                <a:latin typeface="ff2"/>
              </a:rPr>
              <a:t> need different information each time. They are typically middle- or high-level managers or other occasional browsers. </a:t>
            </a:r>
          </a:p>
          <a:p>
            <a:pPr marL="285750" indent="-285750" algn="just" fontAlgn="auto">
              <a:buFont typeface="Wingdings" panose="05000000000000000000" pitchFamily="2" charset="2"/>
              <a:buChar char="q"/>
            </a:pPr>
            <a:endParaRPr lang="en-US" b="0" i="0" dirty="0">
              <a:solidFill>
                <a:srgbClr val="000000"/>
              </a:solidFill>
              <a:effectLst/>
              <a:latin typeface="ff2"/>
            </a:endParaRPr>
          </a:p>
          <a:p>
            <a:pPr marL="285750" indent="-285750" algn="just" fontAlgn="auto">
              <a:buFont typeface="Wingdings" panose="05000000000000000000" pitchFamily="2" charset="2"/>
              <a:buChar char="q"/>
            </a:pPr>
            <a:r>
              <a:rPr lang="en-US" b="1" i="0" dirty="0">
                <a:solidFill>
                  <a:srgbClr val="000000"/>
                </a:solidFill>
                <a:effectLst/>
                <a:latin typeface="ff4"/>
              </a:rPr>
              <a:t>Naive or parametric end users </a:t>
            </a:r>
            <a:r>
              <a:rPr lang="en-US" b="0" i="0" dirty="0">
                <a:solidFill>
                  <a:srgbClr val="000000"/>
                </a:solidFill>
                <a:effectLst/>
                <a:latin typeface="ff1"/>
              </a:rPr>
              <a:t>make up a sizable portion of database end users</a:t>
            </a:r>
            <a:r>
              <a:rPr lang="en-US" b="0" i="0" dirty="0">
                <a:solidFill>
                  <a:srgbClr val="000000"/>
                </a:solidFill>
                <a:effectLst/>
                <a:latin typeface="ff2"/>
              </a:rPr>
              <a:t>. Their main job function revolves around </a:t>
            </a:r>
            <a:r>
              <a:rPr lang="en-US" b="0" i="0" dirty="0">
                <a:solidFill>
                  <a:srgbClr val="000000"/>
                </a:solidFill>
                <a:effectLst/>
                <a:latin typeface="ff1"/>
              </a:rPr>
              <a:t>constantly querying and updating the database</a:t>
            </a:r>
            <a:r>
              <a:rPr lang="en-US" b="0" i="0" dirty="0">
                <a:solidFill>
                  <a:srgbClr val="000000"/>
                </a:solidFill>
                <a:effectLst/>
                <a:latin typeface="ff2"/>
              </a:rPr>
              <a:t>, using standard types of queries and updates</a:t>
            </a:r>
            <a:r>
              <a:rPr lang="en-US" b="0" i="0" dirty="0">
                <a:solidFill>
                  <a:srgbClr val="000000"/>
                </a:solidFill>
                <a:effectLst/>
                <a:latin typeface="ffb"/>
              </a:rPr>
              <a:t>—</a:t>
            </a:r>
            <a:r>
              <a:rPr lang="en-US" b="0" i="0" dirty="0">
                <a:solidFill>
                  <a:srgbClr val="000000"/>
                </a:solidFill>
                <a:effectLst/>
                <a:latin typeface="ff2"/>
              </a:rPr>
              <a:t>called canned transactions</a:t>
            </a:r>
            <a:r>
              <a:rPr lang="en-US" b="0" i="0" dirty="0">
                <a:solidFill>
                  <a:srgbClr val="000000"/>
                </a:solidFill>
                <a:effectLst/>
                <a:latin typeface="ffb"/>
              </a:rPr>
              <a:t>—</a:t>
            </a:r>
            <a:r>
              <a:rPr lang="en-US" b="0" i="0" dirty="0">
                <a:solidFill>
                  <a:srgbClr val="000000"/>
                </a:solidFill>
                <a:effectLst/>
                <a:latin typeface="ff2"/>
              </a:rPr>
              <a:t>that have be</a:t>
            </a:r>
            <a:r>
              <a:rPr lang="en-US" b="0" i="0" dirty="0">
                <a:solidFill>
                  <a:srgbClr val="000000"/>
                </a:solidFill>
                <a:effectLst/>
                <a:latin typeface="unset"/>
              </a:rPr>
              <a:t>en carefully programmed and tested. </a:t>
            </a:r>
          </a:p>
          <a:p>
            <a:pPr algn="just" fontAlgn="auto"/>
            <a:r>
              <a:rPr lang="en-US" dirty="0">
                <a:solidFill>
                  <a:srgbClr val="000000"/>
                </a:solidFill>
              </a:rPr>
              <a:t>     </a:t>
            </a:r>
            <a:r>
              <a:rPr lang="en-US" b="0" i="0" dirty="0">
                <a:solidFill>
                  <a:srgbClr val="000000"/>
                </a:solidFill>
                <a:effectLst/>
              </a:rPr>
              <a:t>Examples: </a:t>
            </a:r>
          </a:p>
          <a:p>
            <a:pPr marL="285750" indent="-285750" algn="just" fontAlgn="auto">
              <a:buFont typeface="Wingdings" panose="05000000000000000000" pitchFamily="2" charset="2"/>
              <a:buChar char="ü"/>
            </a:pPr>
            <a:r>
              <a:rPr lang="en-US" dirty="0">
                <a:solidFill>
                  <a:srgbClr val="000000"/>
                </a:solidFill>
              </a:rPr>
              <a:t>		</a:t>
            </a:r>
            <a:r>
              <a:rPr lang="en-US" b="0" i="0" dirty="0">
                <a:solidFill>
                  <a:srgbClr val="000000"/>
                </a:solidFill>
                <a:effectLst/>
              </a:rPr>
              <a:t>Bank customers and tellers check account balances after withdrawals/ deposits. </a:t>
            </a:r>
          </a:p>
          <a:p>
            <a:pPr marL="285750" indent="-285750" algn="just" fontAlgn="auto">
              <a:buFont typeface="Wingdings" panose="05000000000000000000" pitchFamily="2" charset="2"/>
              <a:buChar char="ü"/>
            </a:pPr>
            <a:r>
              <a:rPr lang="en-US" dirty="0">
                <a:solidFill>
                  <a:srgbClr val="000000"/>
                </a:solidFill>
              </a:rPr>
              <a:t>		</a:t>
            </a:r>
            <a:r>
              <a:rPr lang="en-US" b="0" i="0" dirty="0">
                <a:solidFill>
                  <a:srgbClr val="000000"/>
                </a:solidFill>
                <a:effectLst/>
              </a:rPr>
              <a:t>Reservation agents or customers for airlines, hotels, and car rental companies check availability for a given request 		and make reservations.</a:t>
            </a:r>
          </a:p>
          <a:p>
            <a:pPr marL="285750" indent="-285750" algn="just" fontAlgn="auto">
              <a:buFont typeface="Wingdings" panose="05000000000000000000" pitchFamily="2" charset="2"/>
              <a:buChar char="ü"/>
            </a:pPr>
            <a:endParaRPr lang="en-US" b="0" i="0" dirty="0">
              <a:solidFill>
                <a:srgbClr val="000000"/>
              </a:solidFill>
              <a:effectLst/>
            </a:endParaRPr>
          </a:p>
          <a:p>
            <a:pPr marL="285750" indent="-285750" algn="just" fontAlgn="auto">
              <a:buFont typeface="Wingdings" panose="05000000000000000000" pitchFamily="2" charset="2"/>
              <a:buChar char="q"/>
            </a:pPr>
            <a:r>
              <a:rPr lang="en-US" b="1" i="0" dirty="0">
                <a:solidFill>
                  <a:srgbClr val="000000"/>
                </a:solidFill>
                <a:effectLst/>
                <a:latin typeface="ff4"/>
              </a:rPr>
              <a:t>Sophisticated end users </a:t>
            </a:r>
            <a:r>
              <a:rPr lang="en-US" b="0" i="0" dirty="0">
                <a:solidFill>
                  <a:srgbClr val="000000"/>
                </a:solidFill>
                <a:effectLst/>
                <a:latin typeface="ff2"/>
              </a:rPr>
              <a:t>include engineers, scientists, business analysts, and others who thoroughly familiarize themselves with the facilities of the DBMS. </a:t>
            </a:r>
          </a:p>
          <a:p>
            <a:pPr marL="285750" indent="-285750" algn="just" fontAlgn="auto">
              <a:buFont typeface="Wingdings" panose="05000000000000000000" pitchFamily="2" charset="2"/>
              <a:buChar char="q"/>
            </a:pPr>
            <a:endParaRPr lang="en-US" b="0" i="0" dirty="0">
              <a:solidFill>
                <a:srgbClr val="000000"/>
              </a:solidFill>
              <a:effectLst/>
              <a:latin typeface="ff2"/>
            </a:endParaRPr>
          </a:p>
          <a:p>
            <a:pPr marL="285750" indent="-285750" algn="just" fontAlgn="auto">
              <a:buFont typeface="Wingdings" panose="05000000000000000000" pitchFamily="2" charset="2"/>
              <a:buChar char="q"/>
            </a:pPr>
            <a:r>
              <a:rPr lang="en-US" b="1" i="0" dirty="0">
                <a:solidFill>
                  <a:srgbClr val="000000"/>
                </a:solidFill>
                <a:effectLst/>
                <a:latin typeface="ff4"/>
              </a:rPr>
              <a:t>Standalone users</a:t>
            </a:r>
            <a:r>
              <a:rPr lang="en-US" b="0" i="0" dirty="0">
                <a:solidFill>
                  <a:srgbClr val="000000"/>
                </a:solidFill>
                <a:effectLst/>
                <a:latin typeface="ff4"/>
              </a:rPr>
              <a:t> </a:t>
            </a:r>
            <a:r>
              <a:rPr lang="en-US" b="0" i="0" dirty="0">
                <a:solidFill>
                  <a:srgbClr val="000000"/>
                </a:solidFill>
                <a:effectLst/>
                <a:latin typeface="ff2"/>
              </a:rPr>
              <a:t>maintain personal databases by using ready-made program packages that provide easy-</a:t>
            </a:r>
            <a:r>
              <a:rPr lang="en-US" b="0" i="0" dirty="0">
                <a:solidFill>
                  <a:srgbClr val="000000"/>
                </a:solidFill>
                <a:effectLst/>
                <a:latin typeface="unset"/>
              </a:rPr>
              <a:t>to</a:t>
            </a:r>
            <a:r>
              <a:rPr lang="en-US" b="0" i="0" dirty="0">
                <a:solidFill>
                  <a:srgbClr val="000000"/>
                </a:solidFill>
                <a:effectLst/>
                <a:latin typeface="ff2"/>
              </a:rPr>
              <a:t>-use menu-based or graphics-based interfaces. An example is the user of a financial software package that stores a variety of personal financial data</a:t>
            </a:r>
            <a:r>
              <a:rPr lang="en-US" dirty="0">
                <a:solidFill>
                  <a:srgbClr val="000000"/>
                </a:solidFill>
                <a:latin typeface="ff2"/>
              </a:rPr>
              <a:t>.</a:t>
            </a:r>
            <a:endParaRPr lang="en-US" b="0" i="0" dirty="0">
              <a:solidFill>
                <a:srgbClr val="000000"/>
              </a:solidFill>
              <a:effectLst/>
              <a:latin typeface="ff2"/>
            </a:endParaRPr>
          </a:p>
        </p:txBody>
      </p:sp>
    </p:spTree>
    <p:extLst>
      <p:ext uri="{BB962C8B-B14F-4D97-AF65-F5344CB8AC3E}">
        <p14:creationId xmlns:p14="http://schemas.microsoft.com/office/powerpoint/2010/main" val="4169700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446603-59A9-AD6A-0B71-624186DBD1D6}"/>
              </a:ext>
            </a:extLst>
          </p:cNvPr>
          <p:cNvSpPr txBox="1"/>
          <p:nvPr/>
        </p:nvSpPr>
        <p:spPr>
          <a:xfrm>
            <a:off x="221226" y="309716"/>
            <a:ext cx="11769213" cy="6786473"/>
          </a:xfrm>
          <a:prstGeom prst="rect">
            <a:avLst/>
          </a:prstGeom>
          <a:noFill/>
        </p:spPr>
        <p:txBody>
          <a:bodyPr wrap="square" rtlCol="0">
            <a:spAutoFit/>
          </a:bodyPr>
          <a:lstStyle/>
          <a:p>
            <a:pPr>
              <a:lnSpc>
                <a:spcPct val="150000"/>
              </a:lnSpc>
            </a:pPr>
            <a:r>
              <a:rPr lang="en-US" b="1" dirty="0"/>
              <a:t>4. </a:t>
            </a:r>
            <a:r>
              <a:rPr lang="en-US" b="1" i="0" dirty="0">
                <a:solidFill>
                  <a:srgbClr val="000000"/>
                </a:solidFill>
                <a:effectLst/>
              </a:rPr>
              <a:t>System Analysts and Application Programmers (Software Engineers):</a:t>
            </a:r>
          </a:p>
          <a:p>
            <a:pPr>
              <a:lnSpc>
                <a:spcPct val="150000"/>
              </a:lnSpc>
            </a:pPr>
            <a:endParaRPr lang="en-US" b="1" dirty="0">
              <a:solidFill>
                <a:srgbClr val="000000"/>
              </a:solidFill>
            </a:endParaRPr>
          </a:p>
          <a:p>
            <a:pPr marL="285750" indent="-285750" algn="just" fontAlgn="auto">
              <a:lnSpc>
                <a:spcPct val="150000"/>
              </a:lnSpc>
              <a:buFont typeface="Wingdings" panose="05000000000000000000" pitchFamily="2" charset="2"/>
              <a:buChar char="§"/>
            </a:pPr>
            <a:r>
              <a:rPr lang="en-US" b="1" i="0" dirty="0">
                <a:solidFill>
                  <a:srgbClr val="000000"/>
                </a:solidFill>
                <a:effectLst/>
              </a:rPr>
              <a:t>System analysts</a:t>
            </a:r>
            <a:r>
              <a:rPr lang="en-US" b="0" i="0" dirty="0">
                <a:solidFill>
                  <a:srgbClr val="000000"/>
                </a:solidFill>
                <a:effectLst/>
              </a:rPr>
              <a:t> determine the requirements of end users, especially naive and parametric end users, and develop specifications for standard canned transactions that meet these requirements. </a:t>
            </a:r>
          </a:p>
          <a:p>
            <a:pPr marL="285750" indent="-285750" algn="just" fontAlgn="auto">
              <a:lnSpc>
                <a:spcPct val="150000"/>
              </a:lnSpc>
              <a:buFont typeface="Wingdings" panose="05000000000000000000" pitchFamily="2" charset="2"/>
              <a:buChar char="§"/>
            </a:pPr>
            <a:r>
              <a:rPr lang="en-US" b="1" i="0" dirty="0">
                <a:solidFill>
                  <a:srgbClr val="000000"/>
                </a:solidFill>
                <a:effectLst/>
              </a:rPr>
              <a:t>Application programmers </a:t>
            </a:r>
            <a:r>
              <a:rPr lang="en-US" b="0" i="0" dirty="0">
                <a:solidFill>
                  <a:srgbClr val="000000"/>
                </a:solidFill>
                <a:effectLst/>
              </a:rPr>
              <a:t>implement these specifications as programs; then they test, debug, document, and maintain these canned transactions.</a:t>
            </a:r>
          </a:p>
          <a:p>
            <a:pPr algn="just" fontAlgn="auto">
              <a:lnSpc>
                <a:spcPct val="150000"/>
              </a:lnSpc>
            </a:pPr>
            <a:endParaRPr lang="en-US" b="0" i="0" dirty="0">
              <a:solidFill>
                <a:srgbClr val="000000"/>
              </a:solidFill>
              <a:effectLst/>
            </a:endParaRPr>
          </a:p>
          <a:p>
            <a:pPr algn="l" fontAlgn="auto">
              <a:lnSpc>
                <a:spcPct val="150000"/>
              </a:lnSpc>
            </a:pPr>
            <a:r>
              <a:rPr lang="en-US" sz="2000" b="1" i="0" dirty="0">
                <a:solidFill>
                  <a:srgbClr val="000000"/>
                </a:solidFill>
                <a:effectLst/>
              </a:rPr>
              <a:t>Workers behind the Scene </a:t>
            </a:r>
          </a:p>
          <a:p>
            <a:pPr marL="285750" indent="-285750" algn="just" fontAlgn="auto">
              <a:lnSpc>
                <a:spcPct val="150000"/>
              </a:lnSpc>
              <a:buFont typeface="Wingdings" panose="05000000000000000000" pitchFamily="2" charset="2"/>
              <a:buChar char="§"/>
            </a:pPr>
            <a:r>
              <a:rPr lang="en-US" b="1" i="0" dirty="0">
                <a:solidFill>
                  <a:srgbClr val="000000"/>
                </a:solidFill>
                <a:effectLst/>
              </a:rPr>
              <a:t>DBMS system designers and implementers</a:t>
            </a:r>
            <a:r>
              <a:rPr lang="en-US" b="0" i="0" dirty="0">
                <a:solidFill>
                  <a:srgbClr val="000000"/>
                </a:solidFill>
                <a:effectLst/>
              </a:rPr>
              <a:t> design and implement the DBMS modules and interfaces as a software package. </a:t>
            </a:r>
          </a:p>
          <a:p>
            <a:pPr marL="285750" indent="-285750" algn="just" fontAlgn="auto">
              <a:lnSpc>
                <a:spcPct val="150000"/>
              </a:lnSpc>
              <a:buFont typeface="Wingdings" panose="05000000000000000000" pitchFamily="2" charset="2"/>
              <a:buChar char="§"/>
            </a:pPr>
            <a:r>
              <a:rPr lang="en-US" b="1" i="0" dirty="0">
                <a:solidFill>
                  <a:srgbClr val="000000"/>
                </a:solidFill>
                <a:effectLst/>
              </a:rPr>
              <a:t>Tool developers</a:t>
            </a:r>
            <a:r>
              <a:rPr lang="en-US" b="0" i="0" dirty="0">
                <a:solidFill>
                  <a:srgbClr val="000000"/>
                </a:solidFill>
                <a:effectLst/>
              </a:rPr>
              <a:t> design and implement tools—the software packages that facilitate database modeling and design, database system design, and improved performance. </a:t>
            </a:r>
          </a:p>
          <a:p>
            <a:pPr marL="285750" indent="-285750" algn="just" fontAlgn="auto">
              <a:lnSpc>
                <a:spcPct val="150000"/>
              </a:lnSpc>
              <a:buFont typeface="Wingdings" panose="05000000000000000000" pitchFamily="2" charset="2"/>
              <a:buChar char="§"/>
            </a:pPr>
            <a:r>
              <a:rPr lang="en-US" b="1" i="0" dirty="0">
                <a:solidFill>
                  <a:srgbClr val="000000"/>
                </a:solidFill>
                <a:effectLst/>
              </a:rPr>
              <a:t>Operators and maintenance personnel</a:t>
            </a:r>
            <a:r>
              <a:rPr lang="en-US" i="0" dirty="0">
                <a:solidFill>
                  <a:srgbClr val="000000"/>
                </a:solidFill>
                <a:effectLst/>
              </a:rPr>
              <a:t> (system administration personnel)</a:t>
            </a:r>
            <a:r>
              <a:rPr lang="en-US" b="0" i="0" dirty="0">
                <a:solidFill>
                  <a:srgbClr val="000000"/>
                </a:solidFill>
                <a:effectLst/>
              </a:rPr>
              <a:t> are responsible for the actual running and maintenance of the hardware and software environment for the database system.</a:t>
            </a:r>
          </a:p>
          <a:p>
            <a:pPr marL="285750" indent="-285750" algn="just" fontAlgn="auto">
              <a:buFont typeface="Wingdings" panose="05000000000000000000" pitchFamily="2" charset="2"/>
              <a:buChar char="§"/>
            </a:pPr>
            <a:endParaRPr lang="en-US" b="0" i="0" dirty="0">
              <a:solidFill>
                <a:srgbClr val="000000"/>
              </a:solidFill>
              <a:effectLst/>
            </a:endParaRPr>
          </a:p>
          <a:p>
            <a:endParaRPr lang="en-US" b="1" i="0" dirty="0">
              <a:solidFill>
                <a:srgbClr val="000000"/>
              </a:solidFill>
              <a:effectLst/>
            </a:endParaRPr>
          </a:p>
          <a:p>
            <a:endParaRPr lang="en-US" b="1" dirty="0"/>
          </a:p>
        </p:txBody>
      </p:sp>
    </p:spTree>
    <p:extLst>
      <p:ext uri="{BB962C8B-B14F-4D97-AF65-F5344CB8AC3E}">
        <p14:creationId xmlns:p14="http://schemas.microsoft.com/office/powerpoint/2010/main" val="732265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8FF25B-FAC8-BC5D-5DB8-87D74CF1D31B}"/>
              </a:ext>
            </a:extLst>
          </p:cNvPr>
          <p:cNvSpPr txBox="1"/>
          <p:nvPr/>
        </p:nvSpPr>
        <p:spPr>
          <a:xfrm>
            <a:off x="294968" y="265471"/>
            <a:ext cx="11621729" cy="6904454"/>
          </a:xfrm>
          <a:prstGeom prst="rect">
            <a:avLst/>
          </a:prstGeom>
          <a:noFill/>
        </p:spPr>
        <p:txBody>
          <a:bodyPr wrap="square" rtlCol="0">
            <a:spAutoFit/>
          </a:bodyPr>
          <a:lstStyle/>
          <a:p>
            <a:pPr marL="139700" marR="0" algn="just">
              <a:spcBef>
                <a:spcPts val="745"/>
              </a:spcBef>
              <a:buNone/>
            </a:pPr>
            <a:r>
              <a:rPr lang="en-US" sz="2400" b="1" u="sng" kern="0" dirty="0">
                <a:effectLst/>
                <a:ea typeface="Calibri" panose="020F0502020204030204" pitchFamily="34" charset="0"/>
              </a:rPr>
              <a:t>Advantages</a:t>
            </a:r>
            <a:r>
              <a:rPr lang="en-US" sz="2400" b="1" u="sng" kern="0" spc="-25" dirty="0">
                <a:effectLst/>
                <a:ea typeface="Calibri" panose="020F0502020204030204" pitchFamily="34" charset="0"/>
              </a:rPr>
              <a:t> </a:t>
            </a:r>
            <a:r>
              <a:rPr lang="en-US" sz="2400" b="1" u="sng" kern="0" dirty="0">
                <a:effectLst/>
                <a:ea typeface="Calibri" panose="020F0502020204030204" pitchFamily="34" charset="0"/>
              </a:rPr>
              <a:t>of</a:t>
            </a:r>
            <a:r>
              <a:rPr lang="en-US" sz="2400" b="1" u="sng" kern="0" spc="-25" dirty="0">
                <a:effectLst/>
                <a:ea typeface="Calibri" panose="020F0502020204030204" pitchFamily="34" charset="0"/>
              </a:rPr>
              <a:t> </a:t>
            </a:r>
            <a:r>
              <a:rPr lang="en-US" sz="2400" b="1" u="sng" kern="0" dirty="0">
                <a:effectLst/>
                <a:ea typeface="Calibri" panose="020F0502020204030204" pitchFamily="34" charset="0"/>
              </a:rPr>
              <a:t>Using</a:t>
            </a:r>
            <a:r>
              <a:rPr lang="en-US" sz="2400" b="1" u="sng" kern="0" spc="-10" dirty="0">
                <a:effectLst/>
                <a:ea typeface="Calibri" panose="020F0502020204030204" pitchFamily="34" charset="0"/>
              </a:rPr>
              <a:t> </a:t>
            </a:r>
            <a:r>
              <a:rPr lang="en-US" sz="2400" b="1" u="sng" kern="0" dirty="0">
                <a:effectLst/>
                <a:ea typeface="Calibri" panose="020F0502020204030204" pitchFamily="34" charset="0"/>
              </a:rPr>
              <a:t>the DBMS</a:t>
            </a:r>
            <a:r>
              <a:rPr lang="en-US" sz="2400" b="1" u="sng" kern="0" spc="-25" dirty="0">
                <a:effectLst/>
                <a:ea typeface="Calibri" panose="020F0502020204030204" pitchFamily="34" charset="0"/>
              </a:rPr>
              <a:t> </a:t>
            </a:r>
            <a:r>
              <a:rPr lang="en-US" sz="2400" b="1" u="sng" kern="0" dirty="0">
                <a:effectLst/>
                <a:ea typeface="Calibri" panose="020F0502020204030204" pitchFamily="34" charset="0"/>
              </a:rPr>
              <a:t>Approach</a:t>
            </a:r>
          </a:p>
          <a:p>
            <a:pPr marL="139700" marR="0" algn="just">
              <a:spcBef>
                <a:spcPts val="745"/>
              </a:spcBef>
              <a:buNone/>
            </a:pPr>
            <a:endParaRPr lang="en-US" b="1" u="sng" kern="0" dirty="0">
              <a:latin typeface="Times New Roman" panose="02020603050405020304" pitchFamily="18" charset="0"/>
              <a:ea typeface="Calibri" panose="020F0502020204030204" pitchFamily="34" charset="0"/>
            </a:endParaRPr>
          </a:p>
          <a:p>
            <a:pPr marL="596900" indent="-457200" algn="just">
              <a:spcBef>
                <a:spcPts val="745"/>
              </a:spcBef>
              <a:buFont typeface="+mj-lt"/>
              <a:buAutoNum type="arabicPeriod"/>
            </a:pPr>
            <a:r>
              <a:rPr lang="en-US" sz="2400" b="1" dirty="0">
                <a:effectLst/>
                <a:ea typeface="Calibri" panose="020F0502020204030204" pitchFamily="34" charset="0"/>
              </a:rPr>
              <a:t>Controlling</a:t>
            </a:r>
            <a:r>
              <a:rPr lang="en-US" sz="2400" b="1" spc="-25" dirty="0">
                <a:effectLst/>
                <a:ea typeface="Calibri" panose="020F0502020204030204" pitchFamily="34" charset="0"/>
              </a:rPr>
              <a:t> </a:t>
            </a:r>
            <a:r>
              <a:rPr lang="en-US" sz="2400" b="1" dirty="0">
                <a:effectLst/>
                <a:ea typeface="Calibri" panose="020F0502020204030204" pitchFamily="34" charset="0"/>
              </a:rPr>
              <a:t>Redundancy</a:t>
            </a:r>
            <a:r>
              <a:rPr lang="en-US" sz="2400" b="1" dirty="0"/>
              <a:t>: </a:t>
            </a:r>
            <a:r>
              <a:rPr lang="en-US" sz="2000" dirty="0"/>
              <a:t>Data redundancy (such as tends to occur in the "file processing" approach) leads to wasted storage space, duplication of effort (when multiple copies of a datum need to be updated), and a higher likelihood of the introduction of inconsistency.</a:t>
            </a:r>
            <a:endParaRPr lang="en-US" sz="2400" u="sng" kern="0" dirty="0">
              <a:ea typeface="Calibri" panose="020F0502020204030204" pitchFamily="34" charset="0"/>
            </a:endParaRPr>
          </a:p>
          <a:p>
            <a:pPr marL="596900" indent="-457200" algn="just">
              <a:spcBef>
                <a:spcPts val="745"/>
              </a:spcBef>
              <a:buFont typeface="+mj-lt"/>
              <a:buAutoNum type="arabicPeriod"/>
            </a:pPr>
            <a:r>
              <a:rPr lang="en-US" sz="2400" b="1" spc="-10" dirty="0">
                <a:effectLst/>
                <a:ea typeface="Calibri" panose="020F0502020204030204" pitchFamily="34" charset="0"/>
              </a:rPr>
              <a:t>Restricting</a:t>
            </a:r>
            <a:r>
              <a:rPr lang="en-US" sz="2400" b="1" spc="-30" dirty="0">
                <a:effectLst/>
                <a:ea typeface="Calibri" panose="020F0502020204030204" pitchFamily="34" charset="0"/>
              </a:rPr>
              <a:t> </a:t>
            </a:r>
            <a:r>
              <a:rPr lang="en-US" sz="2400" b="1" spc="-10" dirty="0">
                <a:effectLst/>
                <a:ea typeface="Calibri" panose="020F0502020204030204" pitchFamily="34" charset="0"/>
              </a:rPr>
              <a:t>Unauthorized</a:t>
            </a:r>
            <a:r>
              <a:rPr lang="en-US" sz="2400" b="1" spc="-25" dirty="0">
                <a:effectLst/>
                <a:ea typeface="Calibri" panose="020F0502020204030204" pitchFamily="34" charset="0"/>
              </a:rPr>
              <a:t> </a:t>
            </a:r>
            <a:r>
              <a:rPr lang="en-US" sz="2400" b="1" spc="-10" dirty="0">
                <a:effectLst/>
                <a:ea typeface="Calibri" panose="020F0502020204030204" pitchFamily="34" charset="0"/>
              </a:rPr>
              <a:t>Access: </a:t>
            </a:r>
            <a:r>
              <a:rPr lang="en-US" sz="2000" dirty="0"/>
              <a:t>A DBMS should provide a security and authorization subsystem, which the DBA uses to create accounts and to specify account restrictions. </a:t>
            </a:r>
          </a:p>
          <a:p>
            <a:pPr marL="596900" indent="-457200" algn="just">
              <a:spcBef>
                <a:spcPts val="745"/>
              </a:spcBef>
              <a:buFont typeface="+mj-lt"/>
              <a:buAutoNum type="arabicPeriod"/>
            </a:pPr>
            <a:r>
              <a:rPr lang="en-US" sz="2400" b="1" dirty="0">
                <a:effectLst/>
                <a:ea typeface="Calibri" panose="020F0502020204030204" pitchFamily="34" charset="0"/>
              </a:rPr>
              <a:t>Providing</a:t>
            </a:r>
            <a:r>
              <a:rPr lang="en-US" sz="2400" b="1" spc="-15" dirty="0">
                <a:effectLst/>
                <a:ea typeface="Calibri" panose="020F0502020204030204" pitchFamily="34" charset="0"/>
              </a:rPr>
              <a:t> </a:t>
            </a:r>
            <a:r>
              <a:rPr lang="en-US" sz="2400" b="1" dirty="0">
                <a:effectLst/>
                <a:ea typeface="Calibri" panose="020F0502020204030204" pitchFamily="34" charset="0"/>
              </a:rPr>
              <a:t>Persistent</a:t>
            </a:r>
            <a:r>
              <a:rPr lang="en-US" sz="2400" b="1" spc="-15" dirty="0">
                <a:effectLst/>
                <a:ea typeface="Calibri" panose="020F0502020204030204" pitchFamily="34" charset="0"/>
              </a:rPr>
              <a:t> </a:t>
            </a:r>
            <a:r>
              <a:rPr lang="en-US" sz="2400" b="1" dirty="0">
                <a:effectLst/>
                <a:ea typeface="Calibri" panose="020F0502020204030204" pitchFamily="34" charset="0"/>
              </a:rPr>
              <a:t>Storage</a:t>
            </a:r>
            <a:r>
              <a:rPr lang="en-US" sz="2400" b="1" spc="-20" dirty="0">
                <a:effectLst/>
                <a:ea typeface="Calibri" panose="020F0502020204030204" pitchFamily="34" charset="0"/>
              </a:rPr>
              <a:t> </a:t>
            </a:r>
            <a:r>
              <a:rPr lang="en-US" sz="2400" b="1" dirty="0">
                <a:effectLst/>
                <a:ea typeface="Calibri" panose="020F0502020204030204" pitchFamily="34" charset="0"/>
              </a:rPr>
              <a:t>for</a:t>
            </a:r>
            <a:r>
              <a:rPr lang="en-US" sz="2400" b="1" spc="-25" dirty="0">
                <a:effectLst/>
                <a:ea typeface="Calibri" panose="020F0502020204030204" pitchFamily="34" charset="0"/>
              </a:rPr>
              <a:t> </a:t>
            </a:r>
            <a:r>
              <a:rPr lang="en-US" sz="2400" b="1" dirty="0">
                <a:effectLst/>
                <a:ea typeface="Calibri" panose="020F0502020204030204" pitchFamily="34" charset="0"/>
              </a:rPr>
              <a:t>Program</a:t>
            </a:r>
            <a:r>
              <a:rPr lang="en-US" sz="2400" b="1" spc="-25" dirty="0">
                <a:effectLst/>
                <a:ea typeface="Calibri" panose="020F0502020204030204" pitchFamily="34" charset="0"/>
              </a:rPr>
              <a:t> </a:t>
            </a:r>
            <a:r>
              <a:rPr lang="en-US" sz="2400" b="1" dirty="0">
                <a:effectLst/>
                <a:ea typeface="Calibri" panose="020F0502020204030204" pitchFamily="34" charset="0"/>
              </a:rPr>
              <a:t>Objects: </a:t>
            </a:r>
            <a:r>
              <a:rPr lang="en-US" sz="2000" dirty="0"/>
              <a:t>Object-oriented database systems make it easier for complex runtime objects (e.g., lists, trees) to be saved in secondary storage so as to survive beyond program termination and to be retrievable at a later time.</a:t>
            </a:r>
            <a:endParaRPr lang="en-US" sz="2400" b="1" u="sng" kern="0" dirty="0">
              <a:effectLst/>
              <a:ea typeface="Calibri" panose="020F0502020204030204" pitchFamily="34" charset="0"/>
            </a:endParaRPr>
          </a:p>
          <a:p>
            <a:pPr marL="596900" indent="-457200" algn="just">
              <a:spcBef>
                <a:spcPts val="745"/>
              </a:spcBef>
              <a:buFont typeface="+mj-lt"/>
              <a:buAutoNum type="arabicPeriod"/>
            </a:pPr>
            <a:r>
              <a:rPr lang="en-US" sz="2400" b="1" spc="-10" dirty="0">
                <a:effectLst/>
                <a:ea typeface="Calibri" panose="020F0502020204030204" pitchFamily="34" charset="0"/>
              </a:rPr>
              <a:t>Providing</a:t>
            </a:r>
            <a:r>
              <a:rPr lang="en-US" sz="2400" b="1" spc="-20" dirty="0">
                <a:effectLst/>
                <a:ea typeface="Calibri" panose="020F0502020204030204" pitchFamily="34" charset="0"/>
              </a:rPr>
              <a:t> </a:t>
            </a:r>
            <a:r>
              <a:rPr lang="en-US" sz="2400" b="1" spc="-10" dirty="0">
                <a:effectLst/>
                <a:ea typeface="Calibri" panose="020F0502020204030204" pitchFamily="34" charset="0"/>
              </a:rPr>
              <a:t>Storage</a:t>
            </a:r>
            <a:r>
              <a:rPr lang="en-US" sz="2400" b="1" spc="-20" dirty="0">
                <a:effectLst/>
                <a:ea typeface="Calibri" panose="020F0502020204030204" pitchFamily="34" charset="0"/>
              </a:rPr>
              <a:t> </a:t>
            </a:r>
            <a:r>
              <a:rPr lang="en-US" sz="2400" b="1" spc="-10" dirty="0">
                <a:effectLst/>
                <a:ea typeface="Calibri" panose="020F0502020204030204" pitchFamily="34" charset="0"/>
              </a:rPr>
              <a:t>Structures</a:t>
            </a:r>
            <a:r>
              <a:rPr lang="en-US" sz="2400" b="1" spc="-25" dirty="0">
                <a:effectLst/>
                <a:ea typeface="Calibri" panose="020F0502020204030204" pitchFamily="34" charset="0"/>
              </a:rPr>
              <a:t> </a:t>
            </a:r>
            <a:r>
              <a:rPr lang="en-US" sz="2400" b="1" spc="-10" dirty="0">
                <a:effectLst/>
                <a:ea typeface="Calibri" panose="020F0502020204030204" pitchFamily="34" charset="0"/>
              </a:rPr>
              <a:t>and Search Techniques</a:t>
            </a:r>
            <a:r>
              <a:rPr lang="en-US" sz="2400" b="1" spc="-25" dirty="0">
                <a:effectLst/>
                <a:ea typeface="Calibri" panose="020F0502020204030204" pitchFamily="34" charset="0"/>
              </a:rPr>
              <a:t> </a:t>
            </a:r>
            <a:r>
              <a:rPr lang="en-US" sz="2400" b="1" spc="-10" dirty="0">
                <a:effectLst/>
                <a:ea typeface="Calibri" panose="020F0502020204030204" pitchFamily="34" charset="0"/>
              </a:rPr>
              <a:t>for</a:t>
            </a:r>
            <a:r>
              <a:rPr lang="en-US" sz="2400" b="1" spc="-25" dirty="0">
                <a:effectLst/>
                <a:ea typeface="Calibri" panose="020F0502020204030204" pitchFamily="34" charset="0"/>
              </a:rPr>
              <a:t> </a:t>
            </a:r>
            <a:r>
              <a:rPr lang="en-US" sz="2400" b="1" spc="-10" dirty="0">
                <a:effectLst/>
                <a:ea typeface="Calibri" panose="020F0502020204030204" pitchFamily="34" charset="0"/>
              </a:rPr>
              <a:t>Efficient</a:t>
            </a:r>
            <a:r>
              <a:rPr lang="en-US" sz="2400" b="1" spc="-15" dirty="0">
                <a:effectLst/>
                <a:ea typeface="Calibri" panose="020F0502020204030204" pitchFamily="34" charset="0"/>
              </a:rPr>
              <a:t> </a:t>
            </a:r>
            <a:r>
              <a:rPr lang="en-US" sz="2400" b="1" spc="-10" dirty="0">
                <a:effectLst/>
                <a:ea typeface="Calibri" panose="020F0502020204030204" pitchFamily="34" charset="0"/>
              </a:rPr>
              <a:t>Query</a:t>
            </a:r>
            <a:r>
              <a:rPr lang="en-US" sz="2400" b="1" spc="-15" dirty="0">
                <a:effectLst/>
                <a:ea typeface="Calibri" panose="020F0502020204030204" pitchFamily="34" charset="0"/>
              </a:rPr>
              <a:t> </a:t>
            </a:r>
            <a:r>
              <a:rPr lang="en-US" sz="2400" b="1" spc="-10" dirty="0">
                <a:effectLst/>
                <a:ea typeface="Calibri" panose="020F0502020204030204" pitchFamily="34" charset="0"/>
              </a:rPr>
              <a:t>Processing: </a:t>
            </a:r>
            <a:r>
              <a:rPr lang="en-US" sz="2000" dirty="0"/>
              <a:t>Database systems must provide capabilities for efficiently executing queries and updates. The </a:t>
            </a:r>
            <a:r>
              <a:rPr lang="en-US" sz="2000" b="1" dirty="0"/>
              <a:t>query processing and optimization</a:t>
            </a:r>
            <a:r>
              <a:rPr lang="en-US" sz="2000" dirty="0"/>
              <a:t> module of the DBMS is responsible for choosing an efficient query execution plan for each query based on the existing storage structures.</a:t>
            </a:r>
          </a:p>
          <a:p>
            <a:pPr marL="596900" indent="-457200" algn="just">
              <a:spcBef>
                <a:spcPts val="745"/>
              </a:spcBef>
              <a:buFont typeface="+mj-lt"/>
              <a:buAutoNum type="arabicPeriod"/>
            </a:pPr>
            <a:endParaRPr lang="en-US" sz="2400" b="1" spc="-10" dirty="0">
              <a:effectLst/>
              <a:ea typeface="Calibri" panose="020F0502020204030204" pitchFamily="34" charset="0"/>
            </a:endParaRPr>
          </a:p>
          <a:p>
            <a:pPr marL="596900" indent="-457200" algn="just">
              <a:spcBef>
                <a:spcPts val="745"/>
              </a:spcBef>
              <a:buFont typeface="+mj-lt"/>
              <a:buAutoNum type="arabicPeriod"/>
            </a:pPr>
            <a:endParaRPr lang="en-US" sz="2400" b="1" spc="-10" dirty="0">
              <a:effectLst/>
              <a:ea typeface="Calibri" panose="020F0502020204030204" pitchFamily="34" charset="0"/>
            </a:endParaRPr>
          </a:p>
          <a:p>
            <a:pPr marL="139700" marR="0" algn="just">
              <a:spcBef>
                <a:spcPts val="745"/>
              </a:spcBef>
              <a:buNone/>
            </a:pPr>
            <a:endParaRPr lang="en-US" sz="1800" b="1" kern="0" dirty="0">
              <a:effectLst/>
              <a:latin typeface="Calibri" panose="020F0502020204030204" pitchFamily="34" charset="0"/>
              <a:ea typeface="Calibri" panose="020F0502020204030204" pitchFamily="34" charset="0"/>
            </a:endParaRPr>
          </a:p>
          <a:p>
            <a:pPr marL="0" marR="0" algn="just">
              <a:spcBef>
                <a:spcPts val="25"/>
              </a:spcBef>
            </a:pPr>
            <a:r>
              <a:rPr lang="en-US" sz="1800" b="1" dirty="0">
                <a:effectLst/>
                <a:latin typeface="Times New Roman" panose="02020603050405020304" pitchFamily="18" charset="0"/>
                <a:ea typeface="Calibri" panose="020F0502020204030204" pitchFamily="34" charset="0"/>
              </a:rPr>
              <a:t> </a:t>
            </a:r>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461209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6F35E2-304E-B544-4F90-27E99E45CD06}"/>
              </a:ext>
            </a:extLst>
          </p:cNvPr>
          <p:cNvSpPr txBox="1"/>
          <p:nvPr/>
        </p:nvSpPr>
        <p:spPr>
          <a:xfrm>
            <a:off x="280219" y="235974"/>
            <a:ext cx="11621729" cy="6324808"/>
          </a:xfrm>
          <a:prstGeom prst="rect">
            <a:avLst/>
          </a:prstGeom>
          <a:noFill/>
        </p:spPr>
        <p:txBody>
          <a:bodyPr wrap="square" rtlCol="0">
            <a:spAutoFit/>
          </a:bodyPr>
          <a:lstStyle/>
          <a:p>
            <a:pPr marL="596900" indent="-457200" algn="just">
              <a:spcBef>
                <a:spcPts val="745"/>
              </a:spcBef>
              <a:buFont typeface="+mj-lt"/>
              <a:buAutoNum type="arabicPeriod" startAt="5"/>
            </a:pPr>
            <a:r>
              <a:rPr lang="en-US" sz="2400" b="1" spc="-10" dirty="0">
                <a:effectLst/>
                <a:ea typeface="Calibri" panose="020F0502020204030204" pitchFamily="34" charset="0"/>
              </a:rPr>
              <a:t>Providing</a:t>
            </a:r>
            <a:r>
              <a:rPr lang="en-US" sz="2400" b="1" spc="-20" dirty="0">
                <a:effectLst/>
                <a:ea typeface="Calibri" panose="020F0502020204030204" pitchFamily="34" charset="0"/>
              </a:rPr>
              <a:t> </a:t>
            </a:r>
            <a:r>
              <a:rPr lang="en-US" sz="2400" b="1" spc="-10" dirty="0">
                <a:effectLst/>
                <a:ea typeface="Calibri" panose="020F0502020204030204" pitchFamily="34" charset="0"/>
              </a:rPr>
              <a:t>Backup</a:t>
            </a:r>
            <a:r>
              <a:rPr lang="en-US" sz="2400" b="1" spc="-15" dirty="0">
                <a:effectLst/>
                <a:ea typeface="Calibri" panose="020F0502020204030204" pitchFamily="34" charset="0"/>
              </a:rPr>
              <a:t> </a:t>
            </a:r>
            <a:r>
              <a:rPr lang="en-US" sz="2400" b="1" spc="-10" dirty="0">
                <a:effectLst/>
                <a:ea typeface="Calibri" panose="020F0502020204030204" pitchFamily="34" charset="0"/>
              </a:rPr>
              <a:t>and</a:t>
            </a:r>
            <a:r>
              <a:rPr lang="en-US" sz="2400" b="1" spc="5" dirty="0">
                <a:effectLst/>
                <a:ea typeface="Calibri" panose="020F0502020204030204" pitchFamily="34" charset="0"/>
              </a:rPr>
              <a:t> </a:t>
            </a:r>
            <a:r>
              <a:rPr lang="en-US" sz="2400" b="1" spc="-10" dirty="0">
                <a:effectLst/>
                <a:ea typeface="Calibri" panose="020F0502020204030204" pitchFamily="34" charset="0"/>
              </a:rPr>
              <a:t>Recovery:</a:t>
            </a:r>
            <a:r>
              <a:rPr lang="en-US" sz="2000" b="1" spc="-10"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a:effectLst/>
                <a:ea typeface="Calibri" panose="020F0502020204030204" pitchFamily="34" charset="0"/>
              </a:rPr>
              <a:t>DBMS</a:t>
            </a:r>
            <a:r>
              <a:rPr lang="en-US" sz="2000" spc="-20" dirty="0">
                <a:effectLst/>
                <a:ea typeface="Calibri" panose="020F0502020204030204" pitchFamily="34" charset="0"/>
              </a:rPr>
              <a:t> </a:t>
            </a:r>
            <a:r>
              <a:rPr lang="en-US" sz="2000" dirty="0">
                <a:effectLst/>
                <a:ea typeface="Calibri" panose="020F0502020204030204" pitchFamily="34" charset="0"/>
              </a:rPr>
              <a:t>must</a:t>
            </a:r>
            <a:r>
              <a:rPr lang="en-US" sz="2000" spc="-25" dirty="0">
                <a:effectLst/>
                <a:ea typeface="Calibri" panose="020F0502020204030204" pitchFamily="34" charset="0"/>
              </a:rPr>
              <a:t> </a:t>
            </a:r>
            <a:r>
              <a:rPr lang="en-US" sz="2000" dirty="0">
                <a:effectLst/>
                <a:ea typeface="Calibri" panose="020F0502020204030204" pitchFamily="34" charset="0"/>
              </a:rPr>
              <a:t>provide</a:t>
            </a:r>
            <a:r>
              <a:rPr lang="en-US" sz="2000" spc="-20" dirty="0">
                <a:effectLst/>
                <a:ea typeface="Calibri" panose="020F0502020204030204" pitchFamily="34" charset="0"/>
              </a:rPr>
              <a:t> </a:t>
            </a:r>
            <a:r>
              <a:rPr lang="en-US" sz="2000" dirty="0">
                <a:effectLst/>
                <a:ea typeface="Calibri" panose="020F0502020204030204" pitchFamily="34" charset="0"/>
              </a:rPr>
              <a:t>facilities</a:t>
            </a:r>
            <a:r>
              <a:rPr lang="en-US" sz="2000" spc="-10" dirty="0">
                <a:effectLst/>
                <a:ea typeface="Calibri" panose="020F0502020204030204" pitchFamily="34" charset="0"/>
              </a:rPr>
              <a:t> </a:t>
            </a:r>
            <a:r>
              <a:rPr lang="en-US" sz="2000" dirty="0">
                <a:effectLst/>
                <a:ea typeface="Calibri" panose="020F0502020204030204" pitchFamily="34" charset="0"/>
              </a:rPr>
              <a:t>for</a:t>
            </a:r>
            <a:r>
              <a:rPr lang="en-US" sz="2000" spc="-15" dirty="0">
                <a:effectLst/>
                <a:ea typeface="Calibri" panose="020F0502020204030204" pitchFamily="34" charset="0"/>
              </a:rPr>
              <a:t> </a:t>
            </a:r>
            <a:r>
              <a:rPr lang="en-US" sz="2000" dirty="0">
                <a:effectLst/>
                <a:ea typeface="Calibri" panose="020F0502020204030204" pitchFamily="34" charset="0"/>
              </a:rPr>
              <a:t>recovering</a:t>
            </a:r>
            <a:r>
              <a:rPr lang="en-US" sz="2000" spc="-15" dirty="0">
                <a:effectLst/>
                <a:ea typeface="Calibri" panose="020F0502020204030204" pitchFamily="34" charset="0"/>
              </a:rPr>
              <a:t> </a:t>
            </a:r>
            <a:r>
              <a:rPr lang="en-US" sz="2000" dirty="0">
                <a:effectLst/>
                <a:ea typeface="Calibri" panose="020F0502020204030204" pitchFamily="34" charset="0"/>
              </a:rPr>
              <a:t>from</a:t>
            </a:r>
            <a:r>
              <a:rPr lang="en-US" sz="2000" spc="-10" dirty="0">
                <a:effectLst/>
                <a:ea typeface="Calibri" panose="020F0502020204030204" pitchFamily="34" charset="0"/>
              </a:rPr>
              <a:t> </a:t>
            </a:r>
            <a:r>
              <a:rPr lang="en-US" sz="2000" dirty="0">
                <a:effectLst/>
                <a:ea typeface="Calibri" panose="020F0502020204030204" pitchFamily="34" charset="0"/>
              </a:rPr>
              <a:t>hardware</a:t>
            </a:r>
            <a:r>
              <a:rPr lang="en-US" sz="2000" spc="-15" dirty="0">
                <a:effectLst/>
                <a:ea typeface="Calibri" panose="020F0502020204030204" pitchFamily="34" charset="0"/>
              </a:rPr>
              <a:t> </a:t>
            </a:r>
            <a:r>
              <a:rPr lang="en-US" sz="2000" dirty="0">
                <a:effectLst/>
                <a:ea typeface="Calibri" panose="020F0502020204030204" pitchFamily="34" charset="0"/>
              </a:rPr>
              <a:t>or</a:t>
            </a:r>
            <a:r>
              <a:rPr lang="en-US" sz="2000" spc="-20" dirty="0">
                <a:effectLst/>
                <a:ea typeface="Calibri" panose="020F0502020204030204" pitchFamily="34" charset="0"/>
              </a:rPr>
              <a:t> </a:t>
            </a:r>
            <a:r>
              <a:rPr lang="en-US" sz="2000" dirty="0">
                <a:effectLst/>
                <a:ea typeface="Calibri" panose="020F0502020204030204" pitchFamily="34" charset="0"/>
              </a:rPr>
              <a:t>software</a:t>
            </a:r>
            <a:r>
              <a:rPr lang="en-US" sz="2000" spc="-15" dirty="0">
                <a:effectLst/>
                <a:ea typeface="Calibri" panose="020F0502020204030204" pitchFamily="34" charset="0"/>
              </a:rPr>
              <a:t> </a:t>
            </a:r>
            <a:r>
              <a:rPr lang="en-US" sz="2000" dirty="0">
                <a:effectLst/>
                <a:ea typeface="Calibri" panose="020F0502020204030204" pitchFamily="34" charset="0"/>
              </a:rPr>
              <a:t>failures.</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dirty="0">
                <a:effectLst/>
                <a:ea typeface="Calibri" panose="020F0502020204030204" pitchFamily="34" charset="0"/>
              </a:rPr>
              <a:t>backup</a:t>
            </a:r>
            <a:r>
              <a:rPr lang="en-US" sz="2000" spc="-20" dirty="0">
                <a:effectLst/>
                <a:ea typeface="Calibri" panose="020F0502020204030204" pitchFamily="34" charset="0"/>
              </a:rPr>
              <a:t> </a:t>
            </a:r>
            <a:r>
              <a:rPr lang="en-US" sz="2000" dirty="0">
                <a:effectLst/>
                <a:ea typeface="Calibri" panose="020F0502020204030204" pitchFamily="34" charset="0"/>
              </a:rPr>
              <a:t>and</a:t>
            </a:r>
            <a:r>
              <a:rPr lang="en-US" sz="2000" spc="-20" dirty="0">
                <a:effectLst/>
                <a:ea typeface="Calibri" panose="020F0502020204030204" pitchFamily="34" charset="0"/>
              </a:rPr>
              <a:t> </a:t>
            </a:r>
            <a:r>
              <a:rPr lang="en-US" sz="2000" dirty="0">
                <a:effectLst/>
                <a:ea typeface="Calibri" panose="020F0502020204030204" pitchFamily="34" charset="0"/>
              </a:rPr>
              <a:t>recovery</a:t>
            </a:r>
            <a:r>
              <a:rPr lang="en-US" sz="2000" spc="-235" dirty="0">
                <a:effectLst/>
                <a:ea typeface="Calibri" panose="020F0502020204030204" pitchFamily="34" charset="0"/>
              </a:rPr>
              <a:t> </a:t>
            </a:r>
            <a:r>
              <a:rPr lang="en-US" sz="2000" dirty="0">
                <a:effectLst/>
                <a:ea typeface="Calibri" panose="020F0502020204030204" pitchFamily="34" charset="0"/>
              </a:rPr>
              <a:t>subsystem</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DBMS</a:t>
            </a:r>
            <a:r>
              <a:rPr lang="en-US" sz="2000" spc="10"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responsible</a:t>
            </a:r>
            <a:r>
              <a:rPr lang="en-US" sz="2000" spc="-10" dirty="0">
                <a:effectLst/>
                <a:ea typeface="Calibri" panose="020F0502020204030204" pitchFamily="34" charset="0"/>
              </a:rPr>
              <a:t> </a:t>
            </a:r>
            <a:r>
              <a:rPr lang="en-US" sz="2000" dirty="0">
                <a:effectLst/>
                <a:ea typeface="Calibri" panose="020F0502020204030204" pitchFamily="34" charset="0"/>
              </a:rPr>
              <a:t>for</a:t>
            </a:r>
            <a:r>
              <a:rPr lang="en-US" sz="2000" spc="-10" dirty="0">
                <a:effectLst/>
                <a:ea typeface="Calibri" panose="020F0502020204030204" pitchFamily="34" charset="0"/>
              </a:rPr>
              <a:t> </a:t>
            </a:r>
            <a:r>
              <a:rPr lang="en-US" sz="2000" dirty="0">
                <a:effectLst/>
                <a:ea typeface="Calibri" panose="020F0502020204030204" pitchFamily="34" charset="0"/>
              </a:rPr>
              <a:t>recovery.</a:t>
            </a:r>
            <a:endParaRPr lang="en-US" sz="2000" b="1" spc="-10" dirty="0">
              <a:effectLst/>
              <a:ea typeface="Calibri" panose="020F0502020204030204" pitchFamily="34" charset="0"/>
            </a:endParaRPr>
          </a:p>
          <a:p>
            <a:pPr marL="596900" marR="0" indent="-457200" algn="just">
              <a:spcBef>
                <a:spcPts val="745"/>
              </a:spcBef>
              <a:buFont typeface="+mj-lt"/>
              <a:buAutoNum type="arabicPeriod" startAt="5"/>
            </a:pPr>
            <a:r>
              <a:rPr lang="en-US" sz="2400" b="1" dirty="0">
                <a:effectLst/>
                <a:ea typeface="Calibri" panose="020F0502020204030204" pitchFamily="34" charset="0"/>
              </a:rPr>
              <a:t>Providing</a:t>
            </a:r>
            <a:r>
              <a:rPr lang="en-US" sz="2400" b="1" spc="-20" dirty="0">
                <a:effectLst/>
                <a:ea typeface="Calibri" panose="020F0502020204030204" pitchFamily="34" charset="0"/>
              </a:rPr>
              <a:t> </a:t>
            </a:r>
            <a:r>
              <a:rPr lang="en-US" sz="2400" b="1" dirty="0">
                <a:effectLst/>
                <a:ea typeface="Calibri" panose="020F0502020204030204" pitchFamily="34" charset="0"/>
              </a:rPr>
              <a:t>Multiple</a:t>
            </a:r>
            <a:r>
              <a:rPr lang="en-US" sz="2400" b="1" spc="-20" dirty="0">
                <a:effectLst/>
                <a:ea typeface="Calibri" panose="020F0502020204030204" pitchFamily="34" charset="0"/>
              </a:rPr>
              <a:t> </a:t>
            </a:r>
            <a:r>
              <a:rPr lang="en-US" sz="2400" b="1" dirty="0">
                <a:effectLst/>
                <a:ea typeface="Calibri" panose="020F0502020204030204" pitchFamily="34" charset="0"/>
              </a:rPr>
              <a:t>User</a:t>
            </a:r>
            <a:r>
              <a:rPr lang="en-US" sz="2400" b="1" spc="-25" dirty="0">
                <a:effectLst/>
                <a:ea typeface="Calibri" panose="020F0502020204030204" pitchFamily="34" charset="0"/>
              </a:rPr>
              <a:t> </a:t>
            </a:r>
            <a:r>
              <a:rPr lang="en-US" sz="2400" b="1" dirty="0">
                <a:effectLst/>
                <a:ea typeface="Calibri" panose="020F0502020204030204" pitchFamily="34" charset="0"/>
              </a:rPr>
              <a:t>Interfaces:</a:t>
            </a:r>
            <a:r>
              <a:rPr lang="en-US" sz="2000" b="1" dirty="0">
                <a:effectLst/>
                <a:ea typeface="Calibri" panose="020F0502020204030204" pitchFamily="34" charset="0"/>
              </a:rPr>
              <a:t> </a:t>
            </a:r>
            <a:r>
              <a:rPr lang="en-US" sz="2000" dirty="0">
                <a:effectLst/>
                <a:ea typeface="Calibri" panose="020F0502020204030204" pitchFamily="34" charset="0"/>
              </a:rPr>
              <a:t>Many types of users with varying levels of technical knowledge use a database, a DBMS should provide a variety</a:t>
            </a:r>
            <a:r>
              <a:rPr lang="en-US" sz="2000" spc="-235" dirty="0">
                <a:effectLst/>
                <a:ea typeface="Calibri" panose="020F0502020204030204" pitchFamily="34" charset="0"/>
              </a:rPr>
              <a:t> </a:t>
            </a:r>
            <a:r>
              <a:rPr lang="en-US" sz="2000" dirty="0">
                <a:effectLst/>
                <a:ea typeface="Calibri" panose="020F0502020204030204" pitchFamily="34" charset="0"/>
              </a:rPr>
              <a:t>of user interfaces. For example, query languages for casual users, programming language interfaces for</a:t>
            </a:r>
            <a:r>
              <a:rPr lang="en-US" sz="2000" spc="5" dirty="0">
                <a:effectLst/>
                <a:ea typeface="Calibri" panose="020F0502020204030204" pitchFamily="34" charset="0"/>
              </a:rPr>
              <a:t> </a:t>
            </a:r>
            <a:r>
              <a:rPr lang="en-US" sz="2000" dirty="0">
                <a:effectLst/>
                <a:ea typeface="Calibri" panose="020F0502020204030204" pitchFamily="34" charset="0"/>
              </a:rPr>
              <a:t>application programmers, forms and/or command codes for parametric users, menu-driven interfaces for stand-</a:t>
            </a:r>
            <a:r>
              <a:rPr lang="en-US" sz="2000" spc="-235" dirty="0">
                <a:effectLst/>
                <a:ea typeface="Calibri" panose="020F0502020204030204" pitchFamily="34" charset="0"/>
              </a:rPr>
              <a:t> </a:t>
            </a:r>
            <a:r>
              <a:rPr lang="en-US" sz="2000" dirty="0">
                <a:effectLst/>
                <a:ea typeface="Calibri" panose="020F0502020204030204" pitchFamily="34" charset="0"/>
              </a:rPr>
              <a:t>alone</a:t>
            </a:r>
            <a:r>
              <a:rPr lang="en-US" sz="2000" spc="-15" dirty="0">
                <a:effectLst/>
                <a:ea typeface="Calibri" panose="020F0502020204030204" pitchFamily="34" charset="0"/>
              </a:rPr>
              <a:t> </a:t>
            </a:r>
            <a:r>
              <a:rPr lang="en-US" sz="2000" dirty="0">
                <a:effectLst/>
                <a:ea typeface="Calibri" panose="020F0502020204030204" pitchFamily="34" charset="0"/>
              </a:rPr>
              <a:t>users.</a:t>
            </a:r>
            <a:endParaRPr lang="en-US" sz="2000" b="1" u="sng" kern="0" dirty="0">
              <a:ea typeface="Calibri" panose="020F0502020204030204" pitchFamily="34" charset="0"/>
            </a:endParaRPr>
          </a:p>
          <a:p>
            <a:pPr marL="596900" indent="-457200" algn="just">
              <a:spcBef>
                <a:spcPts val="745"/>
              </a:spcBef>
              <a:buFont typeface="+mj-lt"/>
              <a:buAutoNum type="arabicPeriod" startAt="5"/>
            </a:pPr>
            <a:r>
              <a:rPr lang="en-US" sz="2400" b="1" spc="-10" dirty="0">
                <a:effectLst/>
                <a:ea typeface="Calibri" panose="020F0502020204030204" pitchFamily="34" charset="0"/>
              </a:rPr>
              <a:t>Representing</a:t>
            </a:r>
            <a:r>
              <a:rPr lang="en-US" sz="2400" b="1" spc="-15" dirty="0">
                <a:effectLst/>
                <a:ea typeface="Calibri" panose="020F0502020204030204" pitchFamily="34" charset="0"/>
              </a:rPr>
              <a:t> </a:t>
            </a:r>
            <a:r>
              <a:rPr lang="en-US" sz="2400" b="1" spc="-10" dirty="0">
                <a:effectLst/>
                <a:ea typeface="Calibri" panose="020F0502020204030204" pitchFamily="34" charset="0"/>
              </a:rPr>
              <a:t>Complex</a:t>
            </a:r>
            <a:r>
              <a:rPr lang="en-US" sz="2400" b="1" spc="-20" dirty="0">
                <a:effectLst/>
                <a:ea typeface="Calibri" panose="020F0502020204030204" pitchFamily="34" charset="0"/>
              </a:rPr>
              <a:t> </a:t>
            </a:r>
            <a:r>
              <a:rPr lang="en-US" sz="2400" b="1" spc="-10" dirty="0">
                <a:effectLst/>
                <a:ea typeface="Calibri" panose="020F0502020204030204" pitchFamily="34" charset="0"/>
              </a:rPr>
              <a:t>Relationships</a:t>
            </a:r>
            <a:r>
              <a:rPr lang="en-US" sz="2400" b="1" spc="-25" dirty="0">
                <a:effectLst/>
                <a:ea typeface="Calibri" panose="020F0502020204030204" pitchFamily="34" charset="0"/>
              </a:rPr>
              <a:t> </a:t>
            </a:r>
            <a:r>
              <a:rPr lang="en-US" sz="2400" b="1" spc="-10" dirty="0">
                <a:effectLst/>
                <a:ea typeface="Calibri" panose="020F0502020204030204" pitchFamily="34" charset="0"/>
              </a:rPr>
              <a:t>Among Data:</a:t>
            </a:r>
            <a:r>
              <a:rPr lang="en-US" sz="2000" b="1" spc="-1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DBMS</a:t>
            </a:r>
            <a:r>
              <a:rPr lang="en-US" sz="2000" spc="-15" dirty="0">
                <a:effectLst/>
                <a:ea typeface="Calibri" panose="020F0502020204030204" pitchFamily="34" charset="0"/>
              </a:rPr>
              <a:t> </a:t>
            </a:r>
            <a:r>
              <a:rPr lang="en-US" sz="2000" dirty="0">
                <a:effectLst/>
                <a:ea typeface="Calibri" panose="020F0502020204030204" pitchFamily="34" charset="0"/>
              </a:rPr>
              <a:t>must</a:t>
            </a:r>
            <a:r>
              <a:rPr lang="en-US" sz="2000" spc="-20" dirty="0">
                <a:effectLst/>
                <a:ea typeface="Calibri" panose="020F0502020204030204" pitchFamily="34" charset="0"/>
              </a:rPr>
              <a:t> </a:t>
            </a:r>
            <a:r>
              <a:rPr lang="en-US" sz="2000" dirty="0">
                <a:effectLst/>
                <a:ea typeface="Calibri" panose="020F0502020204030204" pitchFamily="34" charset="0"/>
              </a:rPr>
              <a:t>have</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25" dirty="0">
                <a:effectLst/>
                <a:ea typeface="Calibri" panose="020F0502020204030204" pitchFamily="34" charset="0"/>
              </a:rPr>
              <a:t> </a:t>
            </a:r>
            <a:r>
              <a:rPr lang="en-US" sz="2000" dirty="0">
                <a:effectLst/>
                <a:ea typeface="Calibri" panose="020F0502020204030204" pitchFamily="34" charset="0"/>
              </a:rPr>
              <a:t>capability</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20" dirty="0">
                <a:effectLst/>
                <a:ea typeface="Calibri" panose="020F0502020204030204" pitchFamily="34" charset="0"/>
              </a:rPr>
              <a:t> </a:t>
            </a:r>
            <a:r>
              <a:rPr lang="en-US" sz="2000" dirty="0">
                <a:effectLst/>
                <a:ea typeface="Calibri" panose="020F0502020204030204" pitchFamily="34" charset="0"/>
              </a:rPr>
              <a:t>represent</a:t>
            </a:r>
            <a:r>
              <a:rPr lang="en-US" sz="2000" spc="-2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variety</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complex</a:t>
            </a:r>
            <a:r>
              <a:rPr lang="en-US" sz="2000" spc="-10" dirty="0">
                <a:effectLst/>
                <a:ea typeface="Calibri" panose="020F0502020204030204" pitchFamily="34" charset="0"/>
              </a:rPr>
              <a:t> </a:t>
            </a:r>
            <a:r>
              <a:rPr lang="en-US" sz="2000" dirty="0">
                <a:effectLst/>
                <a:ea typeface="Calibri" panose="020F0502020204030204" pitchFamily="34" charset="0"/>
              </a:rPr>
              <a:t>relationships</a:t>
            </a:r>
            <a:r>
              <a:rPr lang="en-US" sz="2000" spc="-15" dirty="0">
                <a:effectLst/>
                <a:ea typeface="Calibri" panose="020F0502020204030204" pitchFamily="34" charset="0"/>
              </a:rPr>
              <a:t> </a:t>
            </a:r>
            <a:r>
              <a:rPr lang="en-US" sz="2000" dirty="0">
                <a:effectLst/>
                <a:ea typeface="Calibri" panose="020F0502020204030204" pitchFamily="34" charset="0"/>
              </a:rPr>
              <a:t>among</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data,</a:t>
            </a:r>
            <a:r>
              <a:rPr lang="en-US" sz="2000" spc="-25"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define</a:t>
            </a:r>
            <a:r>
              <a:rPr lang="en-US" sz="2000" spc="-10" dirty="0">
                <a:effectLst/>
                <a:ea typeface="Calibri" panose="020F0502020204030204" pitchFamily="34" charset="0"/>
              </a:rPr>
              <a:t> </a:t>
            </a:r>
            <a:r>
              <a:rPr lang="en-US" sz="2000" dirty="0">
                <a:effectLst/>
                <a:ea typeface="Calibri" panose="020F0502020204030204" pitchFamily="34" charset="0"/>
              </a:rPr>
              <a:t>new</a:t>
            </a:r>
            <a:r>
              <a:rPr lang="en-US" sz="2000" spc="-235" dirty="0">
                <a:effectLst/>
                <a:ea typeface="Calibri" panose="020F0502020204030204" pitchFamily="34" charset="0"/>
              </a:rPr>
              <a:t> </a:t>
            </a:r>
            <a:r>
              <a:rPr lang="en-US" sz="2000" dirty="0">
                <a:effectLst/>
                <a:ea typeface="Calibri" panose="020F0502020204030204" pitchFamily="34" charset="0"/>
              </a:rPr>
              <a:t>relationships</a:t>
            </a:r>
            <a:r>
              <a:rPr lang="en-US" sz="2000" spc="-15" dirty="0">
                <a:effectLst/>
                <a:ea typeface="Calibri" panose="020F0502020204030204" pitchFamily="34" charset="0"/>
              </a:rPr>
              <a:t> </a:t>
            </a:r>
            <a:r>
              <a:rPr lang="en-US" sz="2000" dirty="0">
                <a:effectLst/>
                <a:ea typeface="Calibri" panose="020F0502020204030204" pitchFamily="34" charset="0"/>
              </a:rPr>
              <a:t>as</a:t>
            </a:r>
            <a:r>
              <a:rPr lang="en-US" sz="2000" spc="-10" dirty="0">
                <a:effectLst/>
                <a:ea typeface="Calibri" panose="020F0502020204030204" pitchFamily="34" charset="0"/>
              </a:rPr>
              <a:t> </a:t>
            </a:r>
            <a:r>
              <a:rPr lang="en-US" sz="2000" dirty="0">
                <a:effectLst/>
                <a:ea typeface="Calibri" panose="020F0502020204030204" pitchFamily="34" charset="0"/>
              </a:rPr>
              <a:t>they</a:t>
            </a:r>
            <a:r>
              <a:rPr lang="en-US" sz="2000" spc="-5" dirty="0">
                <a:effectLst/>
                <a:ea typeface="Calibri" panose="020F0502020204030204" pitchFamily="34" charset="0"/>
              </a:rPr>
              <a:t> </a:t>
            </a:r>
            <a:r>
              <a:rPr lang="en-US" sz="2000" dirty="0">
                <a:effectLst/>
                <a:ea typeface="Calibri" panose="020F0502020204030204" pitchFamily="34" charset="0"/>
              </a:rPr>
              <a:t>arise,</a:t>
            </a:r>
            <a:r>
              <a:rPr lang="en-US" sz="2000" spc="-20"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retrieve</a:t>
            </a:r>
            <a:r>
              <a:rPr lang="en-US" sz="2000" spc="-10"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update</a:t>
            </a:r>
            <a:r>
              <a:rPr lang="en-US" sz="2000" spc="35" dirty="0">
                <a:effectLst/>
                <a:ea typeface="Calibri" panose="020F0502020204030204" pitchFamily="34" charset="0"/>
              </a:rPr>
              <a:t> </a:t>
            </a:r>
            <a:r>
              <a:rPr lang="en-US" sz="2000" dirty="0">
                <a:effectLst/>
                <a:ea typeface="Calibri" panose="020F0502020204030204" pitchFamily="34" charset="0"/>
              </a:rPr>
              <a:t>related</a:t>
            </a:r>
            <a:r>
              <a:rPr lang="en-US" sz="2000" spc="-10" dirty="0">
                <a:effectLst/>
                <a:ea typeface="Calibri" panose="020F0502020204030204" pitchFamily="34" charset="0"/>
              </a:rPr>
              <a:t> </a:t>
            </a:r>
            <a:r>
              <a:rPr lang="en-US" sz="2000" dirty="0">
                <a:effectLst/>
                <a:ea typeface="Calibri" panose="020F0502020204030204" pitchFamily="34" charset="0"/>
              </a:rPr>
              <a:t>data</a:t>
            </a:r>
            <a:r>
              <a:rPr lang="en-US" sz="2000" spc="-10" dirty="0">
                <a:effectLst/>
                <a:ea typeface="Calibri" panose="020F0502020204030204" pitchFamily="34" charset="0"/>
              </a:rPr>
              <a:t> </a:t>
            </a:r>
            <a:r>
              <a:rPr lang="en-US" sz="2000" dirty="0">
                <a:effectLst/>
                <a:ea typeface="Calibri" panose="020F0502020204030204" pitchFamily="34" charset="0"/>
              </a:rPr>
              <a:t>easily</a:t>
            </a:r>
            <a:r>
              <a:rPr lang="en-US" sz="2000" spc="-10"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efficiently.</a:t>
            </a:r>
            <a:endParaRPr lang="en-US" sz="2000" b="1" spc="-10" dirty="0">
              <a:effectLst/>
              <a:ea typeface="Calibri" panose="020F0502020204030204" pitchFamily="34" charset="0"/>
            </a:endParaRPr>
          </a:p>
          <a:p>
            <a:pPr marL="596900" indent="-457200" algn="just">
              <a:spcBef>
                <a:spcPts val="745"/>
              </a:spcBef>
              <a:buFont typeface="+mj-lt"/>
              <a:buAutoNum type="arabicPeriod" startAt="5"/>
            </a:pPr>
            <a:r>
              <a:rPr lang="en-US" sz="2400" b="1" spc="-10" dirty="0">
                <a:effectLst/>
                <a:ea typeface="Calibri" panose="020F0502020204030204" pitchFamily="34" charset="0"/>
              </a:rPr>
              <a:t>Enforcing</a:t>
            </a:r>
            <a:r>
              <a:rPr lang="en-US" sz="2400" b="1" spc="-25" dirty="0">
                <a:effectLst/>
                <a:ea typeface="Calibri" panose="020F0502020204030204" pitchFamily="34" charset="0"/>
              </a:rPr>
              <a:t> </a:t>
            </a:r>
            <a:r>
              <a:rPr lang="en-US" sz="2400" b="1" spc="-10" dirty="0">
                <a:effectLst/>
                <a:ea typeface="Calibri" panose="020F0502020204030204" pitchFamily="34" charset="0"/>
              </a:rPr>
              <a:t>Integrity</a:t>
            </a:r>
            <a:r>
              <a:rPr lang="en-US" sz="2400" b="1" spc="-15" dirty="0">
                <a:effectLst/>
                <a:ea typeface="Calibri" panose="020F0502020204030204" pitchFamily="34" charset="0"/>
              </a:rPr>
              <a:t> </a:t>
            </a:r>
            <a:r>
              <a:rPr lang="en-US" sz="2400" b="1" spc="-10" dirty="0">
                <a:effectLst/>
                <a:ea typeface="Calibri" panose="020F0502020204030204" pitchFamily="34" charset="0"/>
              </a:rPr>
              <a:t>Constraints:</a:t>
            </a:r>
            <a:r>
              <a:rPr lang="en-US" sz="2000" b="1" spc="-10" dirty="0">
                <a:effectLst/>
                <a:ea typeface="Calibri" panose="020F0502020204030204" pitchFamily="34" charset="0"/>
              </a:rPr>
              <a:t> </a:t>
            </a:r>
            <a:r>
              <a:rPr lang="en-US" sz="2000" dirty="0">
                <a:effectLst/>
                <a:ea typeface="Calibri" panose="020F0502020204030204" pitchFamily="34" charset="0"/>
              </a:rPr>
              <a:t>Most database applications have certain integrity constraints that must hold for the data.</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dirty="0">
                <a:effectLst/>
                <a:ea typeface="Calibri" panose="020F0502020204030204" pitchFamily="34" charset="0"/>
              </a:rPr>
              <a:t>simplest</a:t>
            </a:r>
            <a:r>
              <a:rPr lang="en-US" sz="2000" spc="-25" dirty="0">
                <a:effectLst/>
                <a:ea typeface="Calibri" panose="020F0502020204030204" pitchFamily="34" charset="0"/>
              </a:rPr>
              <a:t> </a:t>
            </a:r>
            <a:r>
              <a:rPr lang="en-US" sz="2000" dirty="0">
                <a:effectLst/>
                <a:ea typeface="Calibri" panose="020F0502020204030204" pitchFamily="34" charset="0"/>
              </a:rPr>
              <a:t>type</a:t>
            </a:r>
            <a:r>
              <a:rPr lang="en-US" sz="2000" spc="-20" dirty="0">
                <a:effectLst/>
                <a:ea typeface="Calibri" panose="020F0502020204030204" pitchFamily="34" charset="0"/>
              </a:rPr>
              <a:t> </a:t>
            </a:r>
            <a:r>
              <a:rPr lang="en-US" sz="2000" dirty="0">
                <a:effectLst/>
                <a:ea typeface="Calibri" panose="020F0502020204030204" pitchFamily="34" charset="0"/>
              </a:rPr>
              <a:t>of</a:t>
            </a:r>
            <a:r>
              <a:rPr lang="en-US" sz="2000" spc="-15" dirty="0">
                <a:effectLst/>
                <a:ea typeface="Calibri" panose="020F0502020204030204" pitchFamily="34" charset="0"/>
              </a:rPr>
              <a:t> </a:t>
            </a:r>
            <a:r>
              <a:rPr lang="en-US" sz="2000" dirty="0">
                <a:effectLst/>
                <a:ea typeface="Calibri" panose="020F0502020204030204" pitchFamily="34" charset="0"/>
              </a:rPr>
              <a:t>integrity</a:t>
            </a:r>
            <a:r>
              <a:rPr lang="en-US" sz="2000" spc="-20" dirty="0">
                <a:effectLst/>
                <a:ea typeface="Calibri" panose="020F0502020204030204" pitchFamily="34" charset="0"/>
              </a:rPr>
              <a:t> </a:t>
            </a:r>
            <a:r>
              <a:rPr lang="en-US" sz="2000" dirty="0">
                <a:effectLst/>
                <a:ea typeface="Calibri" panose="020F0502020204030204" pitchFamily="34" charset="0"/>
              </a:rPr>
              <a:t>constraint</a:t>
            </a:r>
            <a:r>
              <a:rPr lang="en-US" sz="2000" spc="-25" dirty="0">
                <a:effectLst/>
                <a:ea typeface="Calibri" panose="020F0502020204030204" pitchFamily="34" charset="0"/>
              </a:rPr>
              <a:t> </a:t>
            </a:r>
            <a:r>
              <a:rPr lang="en-US" sz="2000" dirty="0">
                <a:effectLst/>
                <a:ea typeface="Calibri" panose="020F0502020204030204" pitchFamily="34" charset="0"/>
              </a:rPr>
              <a:t>involves</a:t>
            </a:r>
            <a:r>
              <a:rPr lang="en-US" sz="2000" spc="-10" dirty="0">
                <a:effectLst/>
                <a:ea typeface="Calibri" panose="020F0502020204030204" pitchFamily="34" charset="0"/>
              </a:rPr>
              <a:t> </a:t>
            </a:r>
            <a:r>
              <a:rPr lang="en-US" sz="2000" dirty="0">
                <a:effectLst/>
                <a:ea typeface="Calibri" panose="020F0502020204030204" pitchFamily="34" charset="0"/>
              </a:rPr>
              <a:t>specifying</a:t>
            </a:r>
            <a:r>
              <a:rPr lang="en-US" sz="2000" spc="-15"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a:effectLst/>
                <a:ea typeface="Calibri" panose="020F0502020204030204" pitchFamily="34" charset="0"/>
              </a:rPr>
              <a:t>data</a:t>
            </a:r>
            <a:r>
              <a:rPr lang="en-US" sz="2000" spc="-20" dirty="0">
                <a:effectLst/>
                <a:ea typeface="Calibri" panose="020F0502020204030204" pitchFamily="34" charset="0"/>
              </a:rPr>
              <a:t> </a:t>
            </a:r>
            <a:r>
              <a:rPr lang="en-US" sz="2000" dirty="0">
                <a:effectLst/>
                <a:ea typeface="Calibri" panose="020F0502020204030204" pitchFamily="34" charset="0"/>
              </a:rPr>
              <a:t>type</a:t>
            </a:r>
            <a:r>
              <a:rPr lang="en-US" sz="2000" spc="-15" dirty="0">
                <a:effectLst/>
                <a:ea typeface="Calibri" panose="020F0502020204030204" pitchFamily="34" charset="0"/>
              </a:rPr>
              <a:t> </a:t>
            </a:r>
            <a:r>
              <a:rPr lang="en-US" sz="2000" dirty="0">
                <a:effectLst/>
                <a:ea typeface="Calibri" panose="020F0502020204030204" pitchFamily="34" charset="0"/>
              </a:rPr>
              <a:t>for</a:t>
            </a:r>
            <a:r>
              <a:rPr lang="en-US" sz="2000" spc="-15" dirty="0">
                <a:effectLst/>
                <a:ea typeface="Calibri" panose="020F0502020204030204" pitchFamily="34" charset="0"/>
              </a:rPr>
              <a:t> </a:t>
            </a:r>
            <a:r>
              <a:rPr lang="en-US" sz="2000" dirty="0">
                <a:effectLst/>
                <a:ea typeface="Calibri" panose="020F0502020204030204" pitchFamily="34" charset="0"/>
              </a:rPr>
              <a:t>each</a:t>
            </a:r>
            <a:r>
              <a:rPr lang="en-US" sz="2000" spc="-5" dirty="0">
                <a:effectLst/>
                <a:ea typeface="Calibri" panose="020F0502020204030204" pitchFamily="34" charset="0"/>
              </a:rPr>
              <a:t> </a:t>
            </a:r>
            <a:r>
              <a:rPr lang="en-US" sz="2000" dirty="0">
                <a:effectLst/>
                <a:ea typeface="Calibri" panose="020F0502020204030204" pitchFamily="34" charset="0"/>
              </a:rPr>
              <a:t>data</a:t>
            </a:r>
            <a:r>
              <a:rPr lang="en-US" sz="2000" spc="-15" dirty="0">
                <a:effectLst/>
                <a:ea typeface="Calibri" panose="020F0502020204030204" pitchFamily="34" charset="0"/>
              </a:rPr>
              <a:t> </a:t>
            </a:r>
            <a:r>
              <a:rPr lang="en-US" sz="2000" dirty="0">
                <a:effectLst/>
                <a:ea typeface="Calibri" panose="020F0502020204030204" pitchFamily="34" charset="0"/>
              </a:rPr>
              <a:t>item. R</a:t>
            </a:r>
            <a:r>
              <a:rPr lang="en-US" sz="2000" dirty="0"/>
              <a:t>eferential integrity constraint, Uniqueness </a:t>
            </a:r>
            <a:r>
              <a:rPr lang="en-US" sz="2000" dirty="0">
                <a:effectLst/>
                <a:ea typeface="Calibri" panose="020F0502020204030204" pitchFamily="34" charset="0"/>
              </a:rPr>
              <a:t>constraint.</a:t>
            </a:r>
            <a:endParaRPr lang="en-US" sz="2000" b="1" spc="-10" dirty="0">
              <a:effectLst/>
              <a:ea typeface="Calibri" panose="020F0502020204030204" pitchFamily="34" charset="0"/>
            </a:endParaRPr>
          </a:p>
          <a:p>
            <a:pPr marL="596900" indent="-457200" algn="just">
              <a:spcBef>
                <a:spcPts val="745"/>
              </a:spcBef>
              <a:buFont typeface="+mj-lt"/>
              <a:buAutoNum type="arabicPeriod" startAt="5"/>
            </a:pPr>
            <a:r>
              <a:rPr lang="en-US" sz="2400" b="1" spc="-10" dirty="0"/>
              <a:t>Permitting Inferencing and Actions Via Rules: </a:t>
            </a:r>
            <a:r>
              <a:rPr lang="en-US" sz="2000" dirty="0">
                <a:effectLst/>
                <a:ea typeface="Calibri" panose="020F0502020204030204" pitchFamily="34" charset="0"/>
              </a:rPr>
              <a:t>In a </a:t>
            </a:r>
            <a:r>
              <a:rPr lang="en-US" sz="2000" b="1" dirty="0">
                <a:effectLst/>
                <a:ea typeface="Calibri" panose="020F0502020204030204" pitchFamily="34" charset="0"/>
              </a:rPr>
              <a:t>deductive </a:t>
            </a:r>
            <a:r>
              <a:rPr lang="en-US" sz="2000" dirty="0">
                <a:effectLst/>
                <a:ea typeface="Calibri" panose="020F0502020204030204" pitchFamily="34" charset="0"/>
              </a:rPr>
              <a:t>database system, one may specify </a:t>
            </a:r>
            <a:r>
              <a:rPr lang="en-US" sz="2000" i="1" dirty="0">
                <a:effectLst/>
                <a:ea typeface="Calibri" panose="020F0502020204030204" pitchFamily="34" charset="0"/>
              </a:rPr>
              <a:t>declarative </a:t>
            </a:r>
            <a:r>
              <a:rPr lang="en-US" sz="2000" dirty="0">
                <a:effectLst/>
                <a:ea typeface="Calibri" panose="020F0502020204030204" pitchFamily="34" charset="0"/>
              </a:rPr>
              <a:t>rules that allow the database to infer new data. </a:t>
            </a:r>
            <a:r>
              <a:rPr lang="en-US" sz="2000" b="1" dirty="0">
                <a:effectLst/>
                <a:ea typeface="Calibri" panose="020F0502020204030204" pitchFamily="34" charset="0"/>
              </a:rPr>
              <a:t>Active</a:t>
            </a:r>
            <a:r>
              <a:rPr lang="en-US" sz="2000" b="1" spc="-20" dirty="0">
                <a:effectLst/>
                <a:ea typeface="Calibri" panose="020F0502020204030204" pitchFamily="34" charset="0"/>
              </a:rPr>
              <a:t> </a:t>
            </a:r>
            <a:r>
              <a:rPr lang="en-US" sz="2000" dirty="0">
                <a:effectLst/>
                <a:ea typeface="Calibri" panose="020F0502020204030204" pitchFamily="34" charset="0"/>
              </a:rPr>
              <a:t>database</a:t>
            </a:r>
            <a:r>
              <a:rPr lang="en-US" sz="2000" spc="-15" dirty="0">
                <a:effectLst/>
                <a:ea typeface="Calibri" panose="020F0502020204030204" pitchFamily="34" charset="0"/>
              </a:rPr>
              <a:t> </a:t>
            </a:r>
            <a:r>
              <a:rPr lang="en-US" sz="2000" dirty="0">
                <a:effectLst/>
                <a:ea typeface="Calibri" panose="020F0502020204030204" pitchFamily="34" charset="0"/>
              </a:rPr>
              <a:t>systems</a:t>
            </a:r>
            <a:r>
              <a:rPr lang="en-US" sz="2000" spc="-15" dirty="0">
                <a:effectLst/>
                <a:ea typeface="Calibri" panose="020F0502020204030204" pitchFamily="34" charset="0"/>
              </a:rPr>
              <a:t> </a:t>
            </a:r>
            <a:r>
              <a:rPr lang="en-US" sz="2000" dirty="0">
                <a:effectLst/>
                <a:ea typeface="Calibri" panose="020F0502020204030204" pitchFamily="34" charset="0"/>
              </a:rPr>
              <a:t>go</a:t>
            </a:r>
            <a:r>
              <a:rPr lang="en-US" sz="2000" spc="-20" dirty="0">
                <a:effectLst/>
                <a:ea typeface="Calibri" panose="020F0502020204030204" pitchFamily="34" charset="0"/>
              </a:rPr>
              <a:t> </a:t>
            </a:r>
            <a:r>
              <a:rPr lang="en-US" sz="2000" dirty="0">
                <a:effectLst/>
                <a:ea typeface="Calibri" panose="020F0502020204030204" pitchFamily="34" charset="0"/>
              </a:rPr>
              <a:t>one</a:t>
            </a:r>
            <a:r>
              <a:rPr lang="en-US" sz="2000" spc="-15" dirty="0">
                <a:effectLst/>
                <a:ea typeface="Calibri" panose="020F0502020204030204" pitchFamily="34" charset="0"/>
              </a:rPr>
              <a:t> </a:t>
            </a:r>
            <a:r>
              <a:rPr lang="en-US" sz="2000" dirty="0">
                <a:effectLst/>
                <a:ea typeface="Calibri" panose="020F0502020204030204" pitchFamily="34" charset="0"/>
              </a:rPr>
              <a:t>step</a:t>
            </a:r>
            <a:r>
              <a:rPr lang="en-US" sz="2000" spc="-15" dirty="0">
                <a:effectLst/>
                <a:ea typeface="Calibri" panose="020F0502020204030204" pitchFamily="34" charset="0"/>
              </a:rPr>
              <a:t> </a:t>
            </a:r>
            <a:r>
              <a:rPr lang="en-US" sz="2000" dirty="0">
                <a:effectLst/>
                <a:ea typeface="Calibri" panose="020F0502020204030204" pitchFamily="34" charset="0"/>
              </a:rPr>
              <a:t>further</a:t>
            </a:r>
            <a:r>
              <a:rPr lang="en-US" sz="2000" spc="-20" dirty="0">
                <a:effectLst/>
                <a:ea typeface="Calibri" panose="020F0502020204030204" pitchFamily="34" charset="0"/>
              </a:rPr>
              <a:t> </a:t>
            </a:r>
            <a:r>
              <a:rPr lang="en-US" sz="2000" dirty="0">
                <a:effectLst/>
                <a:ea typeface="Calibri" panose="020F0502020204030204" pitchFamily="34" charset="0"/>
              </a:rPr>
              <a:t>by</a:t>
            </a:r>
            <a:r>
              <a:rPr lang="en-US" sz="2000" spc="-15" dirty="0">
                <a:effectLst/>
                <a:ea typeface="Calibri" panose="020F0502020204030204" pitchFamily="34" charset="0"/>
              </a:rPr>
              <a:t> </a:t>
            </a:r>
            <a:r>
              <a:rPr lang="en-US" sz="2000" dirty="0">
                <a:effectLst/>
                <a:ea typeface="Calibri" panose="020F0502020204030204" pitchFamily="34" charset="0"/>
              </a:rPr>
              <a:t>allowing</a:t>
            </a:r>
            <a:r>
              <a:rPr lang="en-US" sz="2000" spc="-10" dirty="0">
                <a:effectLst/>
                <a:ea typeface="Calibri" panose="020F0502020204030204" pitchFamily="34" charset="0"/>
              </a:rPr>
              <a:t> </a:t>
            </a:r>
            <a:r>
              <a:rPr lang="en-US" sz="2000" dirty="0">
                <a:effectLst/>
                <a:ea typeface="Calibri" panose="020F0502020204030204" pitchFamily="34" charset="0"/>
              </a:rPr>
              <a:t>"active</a:t>
            </a:r>
            <a:r>
              <a:rPr lang="en-US" sz="2000" spc="-15" dirty="0">
                <a:effectLst/>
                <a:ea typeface="Calibri" panose="020F0502020204030204" pitchFamily="34" charset="0"/>
              </a:rPr>
              <a:t> </a:t>
            </a:r>
            <a:r>
              <a:rPr lang="en-US" sz="2000" dirty="0">
                <a:effectLst/>
                <a:ea typeface="Calibri" panose="020F0502020204030204" pitchFamily="34" charset="0"/>
              </a:rPr>
              <a:t>rules"</a:t>
            </a:r>
            <a:r>
              <a:rPr lang="en-US" sz="2000" spc="-25" dirty="0">
                <a:effectLst/>
                <a:ea typeface="Calibri" panose="020F0502020204030204" pitchFamily="34" charset="0"/>
              </a:rPr>
              <a:t> </a:t>
            </a:r>
            <a:r>
              <a:rPr lang="en-US" sz="2000" dirty="0">
                <a:effectLst/>
                <a:ea typeface="Calibri" panose="020F0502020204030204" pitchFamily="34" charset="0"/>
              </a:rPr>
              <a:t>that</a:t>
            </a:r>
            <a:r>
              <a:rPr lang="en-US" sz="2000" spc="-5" dirty="0">
                <a:effectLst/>
                <a:ea typeface="Calibri" panose="020F0502020204030204" pitchFamily="34" charset="0"/>
              </a:rPr>
              <a:t> </a:t>
            </a:r>
            <a:r>
              <a:rPr lang="en-US" sz="2000" dirty="0">
                <a:effectLst/>
                <a:ea typeface="Calibri" panose="020F0502020204030204" pitchFamily="34" charset="0"/>
              </a:rPr>
              <a:t>can</a:t>
            </a:r>
            <a:r>
              <a:rPr lang="en-US" sz="2000" spc="-20" dirty="0">
                <a:effectLst/>
                <a:ea typeface="Calibri" panose="020F0502020204030204" pitchFamily="34" charset="0"/>
              </a:rPr>
              <a:t> </a:t>
            </a:r>
            <a:r>
              <a:rPr lang="en-US" sz="2000" dirty="0">
                <a:effectLst/>
                <a:ea typeface="Calibri" panose="020F0502020204030204" pitchFamily="34" charset="0"/>
              </a:rPr>
              <a:t>be</a:t>
            </a:r>
            <a:r>
              <a:rPr lang="en-US" sz="2000" spc="5" dirty="0">
                <a:effectLst/>
                <a:ea typeface="Calibri" panose="020F0502020204030204" pitchFamily="34" charset="0"/>
              </a:rPr>
              <a:t> </a:t>
            </a:r>
            <a:r>
              <a:rPr lang="en-US" sz="2000" dirty="0">
                <a:effectLst/>
                <a:ea typeface="Calibri" panose="020F0502020204030204" pitchFamily="34" charset="0"/>
              </a:rPr>
              <a:t>used</a:t>
            </a:r>
            <a:r>
              <a:rPr lang="en-US" sz="2000" spc="-20" dirty="0">
                <a:effectLst/>
                <a:ea typeface="Calibri" panose="020F0502020204030204" pitchFamily="34" charset="0"/>
              </a:rPr>
              <a:t> </a:t>
            </a:r>
            <a:r>
              <a:rPr lang="en-US" sz="2000" dirty="0">
                <a:effectLst/>
                <a:ea typeface="Calibri" panose="020F0502020204030204" pitchFamily="34" charset="0"/>
              </a:rPr>
              <a:t>to initiate</a:t>
            </a:r>
            <a:r>
              <a:rPr lang="en-US" sz="2000" spc="-15" dirty="0">
                <a:effectLst/>
                <a:ea typeface="Calibri" panose="020F0502020204030204" pitchFamily="34" charset="0"/>
              </a:rPr>
              <a:t> </a:t>
            </a:r>
            <a:r>
              <a:rPr lang="en-US" sz="2000" dirty="0">
                <a:effectLst/>
                <a:ea typeface="Calibri" panose="020F0502020204030204" pitchFamily="34" charset="0"/>
              </a:rPr>
              <a:t>actions</a:t>
            </a:r>
            <a:r>
              <a:rPr lang="en-US" sz="2000" spc="-235" dirty="0">
                <a:effectLst/>
                <a:ea typeface="Calibri" panose="020F0502020204030204" pitchFamily="34" charset="0"/>
              </a:rPr>
              <a:t> </a:t>
            </a:r>
            <a:r>
              <a:rPr lang="en-US" sz="2000" dirty="0">
                <a:effectLst/>
                <a:ea typeface="Calibri" panose="020F0502020204030204" pitchFamily="34" charset="0"/>
              </a:rPr>
              <a:t>automatically.</a:t>
            </a:r>
          </a:p>
          <a:p>
            <a:pPr marL="596900" indent="-457200" algn="just">
              <a:spcBef>
                <a:spcPts val="745"/>
              </a:spcBef>
              <a:buFont typeface="+mj-lt"/>
              <a:buAutoNum type="arabicPeriod" startAt="5"/>
            </a:pPr>
            <a:endParaRPr lang="en-US" sz="1800" b="1" spc="-10" dirty="0"/>
          </a:p>
          <a:p>
            <a:pPr marL="596900" indent="-457200" algn="just">
              <a:spcBef>
                <a:spcPts val="745"/>
              </a:spcBef>
              <a:buFont typeface="+mj-lt"/>
              <a:buAutoNum type="arabicPeriod" startAt="5"/>
            </a:pPr>
            <a:endParaRPr lang="en-US" sz="1800" b="1" spc="-10" dirty="0">
              <a:effectLst/>
              <a:ea typeface="Calibri" panose="020F0502020204030204" pitchFamily="34" charset="0"/>
            </a:endParaRPr>
          </a:p>
          <a:p>
            <a:endParaRPr lang="en-US" dirty="0"/>
          </a:p>
        </p:txBody>
      </p:sp>
    </p:spTree>
    <p:extLst>
      <p:ext uri="{BB962C8B-B14F-4D97-AF65-F5344CB8AC3E}">
        <p14:creationId xmlns:p14="http://schemas.microsoft.com/office/powerpoint/2010/main" val="231538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09843D-A547-5662-CA6B-79033CFA1A24}"/>
              </a:ext>
            </a:extLst>
          </p:cNvPr>
          <p:cNvSpPr txBox="1"/>
          <p:nvPr/>
        </p:nvSpPr>
        <p:spPr>
          <a:xfrm>
            <a:off x="471948" y="353961"/>
            <a:ext cx="11312013" cy="4770537"/>
          </a:xfrm>
          <a:prstGeom prst="rect">
            <a:avLst/>
          </a:prstGeom>
          <a:noFill/>
        </p:spPr>
        <p:txBody>
          <a:bodyPr wrap="square" rtlCol="0">
            <a:spAutoFit/>
          </a:bodyPr>
          <a:lstStyle/>
          <a:p>
            <a:r>
              <a:rPr lang="en-US" sz="2800" b="1" i="0" u="sng" strike="noStrike" baseline="0" dirty="0"/>
              <a:t>When Not to Use a DBMS</a:t>
            </a:r>
          </a:p>
          <a:p>
            <a:endParaRPr lang="en-US" b="1" dirty="0">
              <a:latin typeface="AkzidenzGroteskBE-Bold"/>
            </a:endParaRPr>
          </a:p>
          <a:p>
            <a:pPr marL="285750" indent="-285750">
              <a:buFont typeface="Wingdings" panose="05000000000000000000" pitchFamily="2" charset="2"/>
              <a:buChar char="§"/>
            </a:pPr>
            <a:r>
              <a:rPr lang="en-US" sz="2400" dirty="0">
                <a:effectLst/>
                <a:ea typeface="Wingdings" panose="05000000000000000000" pitchFamily="2" charset="2"/>
                <a:cs typeface="Wingdings" panose="05000000000000000000" pitchFamily="2" charset="2"/>
              </a:rPr>
              <a:t>High</a:t>
            </a:r>
            <a:r>
              <a:rPr lang="en-US" sz="2400" spc="-2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initial</a:t>
            </a:r>
            <a:r>
              <a:rPr lang="en-US" sz="2400" spc="-2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investment</a:t>
            </a:r>
            <a:r>
              <a:rPr lang="en-US" sz="2400" spc="-2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and</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possible</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need</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for</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additional</a:t>
            </a:r>
            <a:r>
              <a:rPr lang="en-US" sz="2400" spc="-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hardware.</a:t>
            </a:r>
          </a:p>
          <a:p>
            <a:pPr marL="285750" indent="-285750">
              <a:buFont typeface="Wingdings" panose="05000000000000000000" pitchFamily="2" charset="2"/>
              <a:buChar char="§"/>
            </a:pPr>
            <a:r>
              <a:rPr lang="en-US" sz="2400" dirty="0">
                <a:effectLst/>
                <a:ea typeface="Wingdings" panose="05000000000000000000" pitchFamily="2" charset="2"/>
                <a:cs typeface="Wingdings" panose="05000000000000000000" pitchFamily="2" charset="2"/>
              </a:rPr>
              <a:t>Overhead</a:t>
            </a:r>
            <a:r>
              <a:rPr lang="en-US" sz="2400" spc="-2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for</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providing</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generality,</a:t>
            </a:r>
            <a:r>
              <a:rPr lang="en-US" sz="2400" spc="-3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security,</a:t>
            </a:r>
            <a:r>
              <a:rPr lang="en-US" sz="2400" spc="-3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concurrency</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control,</a:t>
            </a:r>
            <a:r>
              <a:rPr lang="en-US" sz="2400" spc="-3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recovery,</a:t>
            </a:r>
            <a:r>
              <a:rPr lang="en-US" sz="2400" spc="-3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and</a:t>
            </a:r>
            <a:r>
              <a:rPr lang="en-US" sz="2400" spc="-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integrity</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functions.</a:t>
            </a:r>
          </a:p>
          <a:p>
            <a:pPr marL="285750" indent="-285750">
              <a:buFont typeface="Wingdings" panose="05000000000000000000" pitchFamily="2" charset="2"/>
              <a:buChar char="§"/>
            </a:pPr>
            <a:r>
              <a:rPr lang="en-US" sz="2400" dirty="0">
                <a:effectLst/>
                <a:ea typeface="Wingdings" panose="05000000000000000000" pitchFamily="2" charset="2"/>
                <a:cs typeface="Wingdings" panose="05000000000000000000" pitchFamily="2" charset="2"/>
              </a:rPr>
              <a:t>If</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the</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database</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and</a:t>
            </a:r>
            <a:r>
              <a:rPr lang="en-US" sz="2400" spc="-2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applications</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are</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simple,</a:t>
            </a:r>
            <a:r>
              <a:rPr lang="en-US" sz="2400" spc="-2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well defined,</a:t>
            </a:r>
            <a:r>
              <a:rPr lang="en-US" sz="2400" spc="-2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and</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not</a:t>
            </a:r>
            <a:r>
              <a:rPr lang="en-US" sz="2400" spc="-2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expected</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to</a:t>
            </a:r>
            <a:r>
              <a:rPr lang="en-US" sz="2400" spc="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change.</a:t>
            </a:r>
          </a:p>
          <a:p>
            <a:pPr marL="285750" indent="-285750">
              <a:buFont typeface="Wingdings" panose="05000000000000000000" pitchFamily="2" charset="2"/>
              <a:buChar char="§"/>
            </a:pPr>
            <a:r>
              <a:rPr lang="en-US" sz="2400" dirty="0">
                <a:effectLst/>
                <a:ea typeface="Wingdings" panose="05000000000000000000" pitchFamily="2" charset="2"/>
                <a:cs typeface="Wingdings" panose="05000000000000000000" pitchFamily="2" charset="2"/>
              </a:rPr>
              <a:t>If</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there</a:t>
            </a:r>
            <a:r>
              <a:rPr lang="en-US" sz="2400" spc="-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are</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stringent</a:t>
            </a:r>
            <a:r>
              <a:rPr lang="en-US" sz="2400" spc="-2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real-time</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requirements</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that</a:t>
            </a:r>
            <a:r>
              <a:rPr lang="en-US" sz="2400" spc="-3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may</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not</a:t>
            </a:r>
            <a:r>
              <a:rPr lang="en-US" sz="2400" spc="-2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be</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met</a:t>
            </a:r>
            <a:r>
              <a:rPr lang="en-US" sz="2400" spc="-2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because</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of</a:t>
            </a:r>
            <a:r>
              <a:rPr lang="en-US" sz="2400" spc="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DBMS</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overhead.</a:t>
            </a:r>
          </a:p>
          <a:p>
            <a:pPr marL="285750" indent="-285750">
              <a:buFont typeface="Wingdings" panose="05000000000000000000" pitchFamily="2" charset="2"/>
              <a:buChar char="§"/>
            </a:pPr>
            <a:r>
              <a:rPr lang="en-US" sz="2400" dirty="0">
                <a:effectLst/>
                <a:ea typeface="Wingdings" panose="05000000000000000000" pitchFamily="2" charset="2"/>
                <a:cs typeface="Wingdings" panose="05000000000000000000" pitchFamily="2" charset="2"/>
              </a:rPr>
              <a:t>If</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access</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to</a:t>
            </a:r>
            <a:r>
              <a:rPr lang="en-US" sz="2400" spc="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data</a:t>
            </a:r>
            <a:r>
              <a:rPr lang="en-US" sz="2400" spc="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by</a:t>
            </a:r>
            <a:r>
              <a:rPr lang="en-US" sz="2400" spc="-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multiple</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users</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is</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not</a:t>
            </a:r>
            <a:r>
              <a:rPr lang="en-US" sz="2400" spc="-2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required.</a:t>
            </a:r>
          </a:p>
          <a:p>
            <a:pPr marL="285750" indent="-285750">
              <a:buFont typeface="Wingdings" panose="05000000000000000000" pitchFamily="2" charset="2"/>
              <a:buChar char="§"/>
            </a:pPr>
            <a:r>
              <a:rPr lang="en-US" sz="2400" dirty="0">
                <a:effectLst/>
                <a:ea typeface="Wingdings" panose="05000000000000000000" pitchFamily="2" charset="2"/>
                <a:cs typeface="Wingdings" panose="05000000000000000000" pitchFamily="2" charset="2"/>
              </a:rPr>
              <a:t>If</a:t>
            </a:r>
            <a:r>
              <a:rPr lang="en-US" sz="2400" spc="-2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the</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database</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system</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is</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not</a:t>
            </a:r>
            <a:r>
              <a:rPr lang="en-US" sz="2400" spc="-2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able</a:t>
            </a:r>
            <a:r>
              <a:rPr lang="en-US" sz="2400" spc="-2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to</a:t>
            </a:r>
            <a:r>
              <a:rPr lang="en-US" sz="2400" spc="-2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handle</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the</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complexity</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of</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data</a:t>
            </a:r>
            <a:r>
              <a:rPr lang="en-US" sz="2400" spc="-2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because</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of</a:t>
            </a:r>
            <a:r>
              <a:rPr lang="en-US" sz="2400" spc="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modeling</a:t>
            </a:r>
            <a:r>
              <a:rPr lang="en-US" sz="2400" spc="-1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limitations.</a:t>
            </a:r>
          </a:p>
          <a:p>
            <a:pPr marL="285750" indent="-285750">
              <a:buFont typeface="Wingdings" panose="05000000000000000000" pitchFamily="2" charset="2"/>
              <a:buChar char="§"/>
            </a:pPr>
            <a:r>
              <a:rPr lang="en-US" sz="2400" dirty="0">
                <a:effectLst/>
                <a:ea typeface="Wingdings" panose="05000000000000000000" pitchFamily="2" charset="2"/>
                <a:cs typeface="Wingdings" panose="05000000000000000000" pitchFamily="2" charset="2"/>
              </a:rPr>
              <a:t>If</a:t>
            </a:r>
            <a:r>
              <a:rPr lang="en-US" sz="2400" spc="-2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the</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database</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users</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need</a:t>
            </a:r>
            <a:r>
              <a:rPr lang="en-US" sz="2400" spc="-20"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special</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operations</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not</a:t>
            </a:r>
            <a:r>
              <a:rPr lang="en-US" sz="2400" spc="-2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supported</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by</a:t>
            </a:r>
            <a:r>
              <a:rPr lang="en-US" sz="2400" spc="-1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the</a:t>
            </a:r>
            <a:r>
              <a:rPr lang="en-US" sz="2400" spc="5" dirty="0">
                <a:effectLst/>
                <a:ea typeface="Wingdings" panose="05000000000000000000" pitchFamily="2" charset="2"/>
                <a:cs typeface="Wingdings" panose="05000000000000000000" pitchFamily="2" charset="2"/>
              </a:rPr>
              <a:t> </a:t>
            </a:r>
            <a:r>
              <a:rPr lang="en-US" sz="2400" dirty="0">
                <a:effectLst/>
                <a:ea typeface="Wingdings" panose="05000000000000000000" pitchFamily="2" charset="2"/>
                <a:cs typeface="Wingdings" panose="05000000000000000000" pitchFamily="2" charset="2"/>
              </a:rPr>
              <a:t>DBMS.</a:t>
            </a:r>
          </a:p>
          <a:p>
            <a:endParaRPr lang="en-US" dirty="0"/>
          </a:p>
        </p:txBody>
      </p:sp>
    </p:spTree>
    <p:extLst>
      <p:ext uri="{BB962C8B-B14F-4D97-AF65-F5344CB8AC3E}">
        <p14:creationId xmlns:p14="http://schemas.microsoft.com/office/powerpoint/2010/main" val="3943871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96D9FF-5FAA-D7B6-12C8-D449856B242F}"/>
              </a:ext>
            </a:extLst>
          </p:cNvPr>
          <p:cNvSpPr txBox="1"/>
          <p:nvPr/>
        </p:nvSpPr>
        <p:spPr>
          <a:xfrm>
            <a:off x="263013" y="368711"/>
            <a:ext cx="11665974" cy="4997265"/>
          </a:xfrm>
          <a:prstGeom prst="rect">
            <a:avLst/>
          </a:prstGeom>
          <a:noFill/>
        </p:spPr>
        <p:txBody>
          <a:bodyPr wrap="square" rtlCol="0">
            <a:spAutoFit/>
          </a:bodyPr>
          <a:lstStyle/>
          <a:p>
            <a:pPr algn="just"/>
            <a:r>
              <a:rPr lang="en-US" sz="3200" b="1" i="0" u="sng" strike="noStrike" baseline="0" dirty="0"/>
              <a:t>Database System Concepts and Architecture </a:t>
            </a:r>
          </a:p>
          <a:p>
            <a:pPr algn="just"/>
            <a:endParaRPr lang="en-US" b="1" dirty="0"/>
          </a:p>
          <a:p>
            <a:pPr algn="just"/>
            <a:r>
              <a:rPr lang="en-US" sz="2800" b="1" i="0" u="none" strike="noStrike" baseline="0" dirty="0"/>
              <a:t>Data Models, Schemas, and Instances</a:t>
            </a:r>
          </a:p>
          <a:p>
            <a:pPr algn="just"/>
            <a:endParaRPr lang="en-US" sz="2800" b="1" dirty="0"/>
          </a:p>
          <a:p>
            <a:pPr marL="482600" marR="0" indent="-342900" algn="just">
              <a:lnSpc>
                <a:spcPts val="1340"/>
              </a:lnSpc>
              <a:buFont typeface="Arial" panose="020B0604020202020204" pitchFamily="34" charset="0"/>
              <a:buChar char="•"/>
            </a:pPr>
            <a:r>
              <a:rPr lang="en-US" sz="2000" dirty="0">
                <a:effectLst/>
                <a:ea typeface="Calibri" panose="020F0502020204030204" pitchFamily="34" charset="0"/>
              </a:rPr>
              <a:t>One</a:t>
            </a:r>
            <a:r>
              <a:rPr lang="en-US" sz="2000" spc="-20" dirty="0">
                <a:effectLst/>
                <a:ea typeface="Calibri" panose="020F0502020204030204" pitchFamily="34" charset="0"/>
              </a:rPr>
              <a:t> </a:t>
            </a:r>
            <a:r>
              <a:rPr lang="en-US" sz="2000" dirty="0">
                <a:effectLst/>
                <a:ea typeface="Calibri" panose="020F0502020204030204" pitchFamily="34" charset="0"/>
              </a:rPr>
              <a:t>fundamental</a:t>
            </a:r>
            <a:r>
              <a:rPr lang="en-US" sz="2000" spc="-10" dirty="0">
                <a:effectLst/>
                <a:ea typeface="Calibri" panose="020F0502020204030204" pitchFamily="34" charset="0"/>
              </a:rPr>
              <a:t> </a:t>
            </a:r>
            <a:r>
              <a:rPr lang="en-US" sz="2000" dirty="0">
                <a:effectLst/>
                <a:ea typeface="Calibri" panose="020F0502020204030204" pitchFamily="34" charset="0"/>
              </a:rPr>
              <a:t>characteristic</a:t>
            </a:r>
            <a:r>
              <a:rPr lang="en-US" sz="2000" spc="-25" dirty="0">
                <a:effectLst/>
                <a:ea typeface="Calibri" panose="020F0502020204030204" pitchFamily="34" charset="0"/>
              </a:rPr>
              <a:t> </a:t>
            </a:r>
            <a:r>
              <a:rPr lang="en-US" sz="2000" dirty="0">
                <a:effectLst/>
                <a:ea typeface="Calibri" panose="020F0502020204030204" pitchFamily="34" charset="0"/>
              </a:rPr>
              <a:t>of</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database</a:t>
            </a:r>
            <a:r>
              <a:rPr lang="en-US" sz="2000" spc="-15" dirty="0">
                <a:effectLst/>
                <a:ea typeface="Calibri" panose="020F0502020204030204" pitchFamily="34" charset="0"/>
              </a:rPr>
              <a:t> </a:t>
            </a:r>
            <a:r>
              <a:rPr lang="en-US" sz="2000" dirty="0">
                <a:effectLst/>
                <a:ea typeface="Calibri" panose="020F0502020204030204" pitchFamily="34" charset="0"/>
              </a:rPr>
              <a:t>approach</a:t>
            </a:r>
            <a:r>
              <a:rPr lang="en-US" sz="2000" spc="-20" dirty="0">
                <a:effectLst/>
                <a:ea typeface="Calibri" panose="020F0502020204030204" pitchFamily="34" charset="0"/>
              </a:rPr>
              <a:t> </a:t>
            </a:r>
            <a:r>
              <a:rPr lang="en-US" sz="2000" dirty="0">
                <a:effectLst/>
                <a:ea typeface="Calibri" panose="020F0502020204030204" pitchFamily="34" charset="0"/>
              </a:rPr>
              <a:t>is</a:t>
            </a:r>
            <a:r>
              <a:rPr lang="en-US" sz="2000" spc="-20" dirty="0">
                <a:effectLst/>
                <a:ea typeface="Calibri" panose="020F0502020204030204" pitchFamily="34" charset="0"/>
              </a:rPr>
              <a:t> </a:t>
            </a:r>
            <a:r>
              <a:rPr lang="en-US" sz="2000" dirty="0">
                <a:effectLst/>
                <a:ea typeface="Calibri" panose="020F0502020204030204" pitchFamily="34" charset="0"/>
              </a:rPr>
              <a:t>that</a:t>
            </a:r>
            <a:r>
              <a:rPr lang="en-US" sz="2000" spc="-5" dirty="0">
                <a:effectLst/>
                <a:ea typeface="Calibri" panose="020F0502020204030204" pitchFamily="34" charset="0"/>
              </a:rPr>
              <a:t> </a:t>
            </a:r>
            <a:r>
              <a:rPr lang="en-US" sz="2000" dirty="0">
                <a:effectLst/>
                <a:ea typeface="Calibri" panose="020F0502020204030204" pitchFamily="34" charset="0"/>
              </a:rPr>
              <a:t>it</a:t>
            </a:r>
            <a:r>
              <a:rPr lang="en-US" sz="2000" spc="-25" dirty="0">
                <a:effectLst/>
                <a:ea typeface="Calibri" panose="020F0502020204030204" pitchFamily="34" charset="0"/>
              </a:rPr>
              <a:t> </a:t>
            </a:r>
            <a:r>
              <a:rPr lang="en-US" sz="2000" dirty="0">
                <a:effectLst/>
                <a:ea typeface="Calibri" panose="020F0502020204030204" pitchFamily="34" charset="0"/>
              </a:rPr>
              <a:t>provides</a:t>
            </a:r>
            <a:r>
              <a:rPr lang="en-US" sz="2000" spc="-10" dirty="0">
                <a:effectLst/>
                <a:ea typeface="Calibri" panose="020F0502020204030204" pitchFamily="34" charset="0"/>
              </a:rPr>
              <a:t> </a:t>
            </a:r>
            <a:r>
              <a:rPr lang="en-US" sz="2000" dirty="0">
                <a:effectLst/>
                <a:ea typeface="Calibri" panose="020F0502020204030204" pitchFamily="34" charset="0"/>
              </a:rPr>
              <a:t>some</a:t>
            </a:r>
            <a:r>
              <a:rPr lang="en-US" sz="2000" spc="-15" dirty="0">
                <a:effectLst/>
                <a:ea typeface="Calibri" panose="020F0502020204030204" pitchFamily="34" charset="0"/>
              </a:rPr>
              <a:t> </a:t>
            </a:r>
            <a:r>
              <a:rPr lang="en-US" sz="2000" dirty="0">
                <a:effectLst/>
                <a:ea typeface="Calibri" panose="020F0502020204030204" pitchFamily="34" charset="0"/>
              </a:rPr>
              <a:t>level</a:t>
            </a:r>
            <a:r>
              <a:rPr lang="en-US" sz="2000" spc="-5" dirty="0">
                <a:effectLst/>
                <a:ea typeface="Calibri" panose="020F0502020204030204" pitchFamily="34" charset="0"/>
              </a:rPr>
              <a:t> </a:t>
            </a:r>
            <a:r>
              <a:rPr lang="en-US" sz="2000" dirty="0">
                <a:effectLst/>
                <a:ea typeface="Calibri" panose="020F0502020204030204" pitchFamily="34" charset="0"/>
              </a:rPr>
              <a:t>of</a:t>
            </a:r>
            <a:r>
              <a:rPr lang="en-US" sz="2000" spc="-20" dirty="0">
                <a:effectLst/>
                <a:ea typeface="Calibri" panose="020F0502020204030204" pitchFamily="34" charset="0"/>
              </a:rPr>
              <a:t> </a:t>
            </a:r>
            <a:r>
              <a:rPr lang="en-US" sz="2000" dirty="0">
                <a:effectLst/>
                <a:ea typeface="Calibri" panose="020F0502020204030204" pitchFamily="34" charset="0"/>
              </a:rPr>
              <a:t>data</a:t>
            </a:r>
            <a:r>
              <a:rPr lang="en-US" sz="2000" spc="-15" dirty="0">
                <a:effectLst/>
                <a:ea typeface="Calibri" panose="020F0502020204030204" pitchFamily="34" charset="0"/>
              </a:rPr>
              <a:t> </a:t>
            </a:r>
            <a:r>
              <a:rPr lang="en-US" sz="2000" dirty="0">
                <a:effectLst/>
                <a:ea typeface="Calibri" panose="020F0502020204030204" pitchFamily="34" charset="0"/>
              </a:rPr>
              <a:t>abstraction.</a:t>
            </a:r>
          </a:p>
          <a:p>
            <a:pPr marL="0" marR="0" algn="just">
              <a:spcBef>
                <a:spcPts val="5"/>
              </a:spcBef>
              <a:buNone/>
            </a:pPr>
            <a:r>
              <a:rPr lang="en-US" sz="2000" dirty="0">
                <a:effectLst/>
                <a:ea typeface="Calibri" panose="020F0502020204030204" pitchFamily="34" charset="0"/>
              </a:rPr>
              <a:t> </a:t>
            </a:r>
          </a:p>
          <a:p>
            <a:pPr marL="482600" marR="84455" indent="-342900" algn="just">
              <a:lnSpc>
                <a:spcPct val="101000"/>
              </a:lnSpc>
              <a:buFont typeface="Arial" panose="020B0604020202020204" pitchFamily="34" charset="0"/>
              <a:buChar char="•"/>
            </a:pPr>
            <a:r>
              <a:rPr lang="en-US" sz="2000" b="1" dirty="0">
                <a:effectLst/>
                <a:ea typeface="Calibri" panose="020F0502020204030204" pitchFamily="34" charset="0"/>
              </a:rPr>
              <a:t>Data abstraction </a:t>
            </a:r>
            <a:r>
              <a:rPr lang="en-US" sz="2000" dirty="0">
                <a:effectLst/>
                <a:ea typeface="Calibri" panose="020F0502020204030204" pitchFamily="34" charset="0"/>
              </a:rPr>
              <a:t>generally refers to the </a:t>
            </a:r>
            <a:r>
              <a:rPr lang="en-US" sz="2000" b="1" i="1" dirty="0">
                <a:effectLst/>
                <a:ea typeface="Calibri" panose="020F0502020204030204" pitchFamily="34" charset="0"/>
              </a:rPr>
              <a:t>suppression of details of data organization and storage</a:t>
            </a:r>
            <a:r>
              <a:rPr lang="en-US" sz="2000" dirty="0">
                <a:effectLst/>
                <a:ea typeface="Calibri" panose="020F0502020204030204" pitchFamily="34" charset="0"/>
              </a:rPr>
              <a:t>, and the highlighting of</a:t>
            </a:r>
            <a:r>
              <a:rPr lang="en-US" sz="2000" spc="-235"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essential</a:t>
            </a:r>
            <a:r>
              <a:rPr lang="en-US" sz="2000" spc="-5" dirty="0">
                <a:effectLst/>
                <a:ea typeface="Calibri" panose="020F0502020204030204" pitchFamily="34" charset="0"/>
              </a:rPr>
              <a:t> </a:t>
            </a:r>
            <a:r>
              <a:rPr lang="en-US" sz="2000" dirty="0">
                <a:effectLst/>
                <a:ea typeface="Calibri" panose="020F0502020204030204" pitchFamily="34" charset="0"/>
              </a:rPr>
              <a:t>features</a:t>
            </a:r>
            <a:r>
              <a:rPr lang="en-US" sz="2000" spc="-10" dirty="0">
                <a:effectLst/>
                <a:ea typeface="Calibri" panose="020F0502020204030204" pitchFamily="34" charset="0"/>
              </a:rPr>
              <a:t> </a:t>
            </a:r>
            <a:r>
              <a:rPr lang="en-US" sz="2000" dirty="0">
                <a:effectLst/>
                <a:ea typeface="Calibri" panose="020F0502020204030204" pitchFamily="34" charset="0"/>
              </a:rPr>
              <a:t>for</a:t>
            </a:r>
            <a:r>
              <a:rPr lang="en-US" sz="2000" spc="-10" dirty="0">
                <a:effectLst/>
                <a:ea typeface="Calibri" panose="020F0502020204030204" pitchFamily="34" charset="0"/>
              </a:rPr>
              <a:t> </a:t>
            </a:r>
            <a:r>
              <a:rPr lang="en-US" sz="2000" dirty="0">
                <a:effectLst/>
                <a:ea typeface="Calibri" panose="020F0502020204030204" pitchFamily="34" charset="0"/>
              </a:rPr>
              <a:t>an</a:t>
            </a:r>
            <a:r>
              <a:rPr lang="en-US" sz="2000" spc="-15" dirty="0">
                <a:effectLst/>
                <a:ea typeface="Calibri" panose="020F0502020204030204" pitchFamily="34" charset="0"/>
              </a:rPr>
              <a:t> </a:t>
            </a:r>
            <a:r>
              <a:rPr lang="en-US" sz="2000" dirty="0">
                <a:effectLst/>
                <a:ea typeface="Calibri" panose="020F0502020204030204" pitchFamily="34" charset="0"/>
              </a:rPr>
              <a:t>improved</a:t>
            </a:r>
            <a:r>
              <a:rPr lang="en-US" sz="2000" spc="-10" dirty="0">
                <a:effectLst/>
                <a:ea typeface="Calibri" panose="020F0502020204030204" pitchFamily="34" charset="0"/>
              </a:rPr>
              <a:t> </a:t>
            </a:r>
            <a:r>
              <a:rPr lang="en-US" sz="2000" dirty="0">
                <a:effectLst/>
                <a:ea typeface="Calibri" panose="020F0502020204030204" pitchFamily="34" charset="0"/>
              </a:rPr>
              <a:t>understanding</a:t>
            </a:r>
            <a:r>
              <a:rPr lang="en-US" sz="2000" spc="-5"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data.</a:t>
            </a:r>
          </a:p>
          <a:p>
            <a:pPr marL="482600" marR="292100" indent="-342900" algn="just">
              <a:lnSpc>
                <a:spcPct val="101000"/>
              </a:lnSpc>
              <a:spcBef>
                <a:spcPts val="765"/>
              </a:spcBef>
              <a:buFont typeface="Arial" panose="020B0604020202020204" pitchFamily="34" charset="0"/>
              <a:buChar char="•"/>
            </a:pPr>
            <a:r>
              <a:rPr lang="en-US" sz="2000" dirty="0">
                <a:effectLst/>
                <a:ea typeface="Calibri" panose="020F0502020204030204" pitchFamily="34" charset="0"/>
              </a:rPr>
              <a:t>A</a:t>
            </a:r>
            <a:r>
              <a:rPr lang="en-US" sz="2000" spc="5" dirty="0">
                <a:effectLst/>
                <a:ea typeface="Calibri" panose="020F0502020204030204" pitchFamily="34" charset="0"/>
              </a:rPr>
              <a:t> </a:t>
            </a:r>
            <a:r>
              <a:rPr lang="en-US" sz="2000" b="1" dirty="0">
                <a:effectLst/>
                <a:ea typeface="Calibri" panose="020F0502020204030204" pitchFamily="34" charset="0"/>
              </a:rPr>
              <a:t>data</a:t>
            </a:r>
            <a:r>
              <a:rPr lang="en-US" sz="2000" b="1" spc="5" dirty="0">
                <a:effectLst/>
                <a:ea typeface="Calibri" panose="020F0502020204030204" pitchFamily="34" charset="0"/>
              </a:rPr>
              <a:t> </a:t>
            </a:r>
            <a:r>
              <a:rPr lang="en-US" sz="2000" b="1" dirty="0">
                <a:effectLst/>
                <a:ea typeface="Calibri" panose="020F0502020204030204" pitchFamily="34" charset="0"/>
              </a:rPr>
              <a:t>model</a:t>
            </a:r>
            <a:r>
              <a:rPr lang="en-US" sz="2000" dirty="0">
                <a:effectLst/>
                <a:ea typeface="Calibri" panose="020F0502020204030204" pitchFamily="34" charset="0"/>
              </a:rPr>
              <a:t>—a</a:t>
            </a:r>
            <a:r>
              <a:rPr lang="en-US" sz="2000" spc="5" dirty="0">
                <a:effectLst/>
                <a:ea typeface="Calibri" panose="020F0502020204030204" pitchFamily="34" charset="0"/>
              </a:rPr>
              <a:t> </a:t>
            </a:r>
            <a:r>
              <a:rPr lang="en-US" sz="2000" dirty="0">
                <a:effectLst/>
                <a:ea typeface="Calibri" panose="020F0502020204030204" pitchFamily="34" charset="0"/>
              </a:rPr>
              <a:t>collection</a:t>
            </a:r>
            <a:r>
              <a:rPr lang="en-US" sz="2000" spc="5" dirty="0">
                <a:effectLst/>
                <a:ea typeface="Calibri" panose="020F0502020204030204" pitchFamily="34" charset="0"/>
              </a:rPr>
              <a:t> </a:t>
            </a:r>
            <a:r>
              <a:rPr lang="en-US" sz="2000" dirty="0">
                <a:effectLst/>
                <a:ea typeface="Calibri" panose="020F0502020204030204" pitchFamily="34" charset="0"/>
              </a:rPr>
              <a:t>of</a:t>
            </a:r>
            <a:r>
              <a:rPr lang="en-US" sz="2000" spc="5" dirty="0">
                <a:effectLst/>
                <a:ea typeface="Calibri" panose="020F0502020204030204" pitchFamily="34" charset="0"/>
              </a:rPr>
              <a:t> </a:t>
            </a:r>
            <a:r>
              <a:rPr lang="en-US" sz="2000" dirty="0">
                <a:effectLst/>
                <a:ea typeface="Calibri" panose="020F0502020204030204" pitchFamily="34" charset="0"/>
              </a:rPr>
              <a:t>concepts</a:t>
            </a:r>
            <a:r>
              <a:rPr lang="en-US" sz="2000" spc="5" dirty="0">
                <a:effectLst/>
                <a:ea typeface="Calibri" panose="020F0502020204030204" pitchFamily="34" charset="0"/>
              </a:rPr>
              <a:t> </a:t>
            </a:r>
            <a:r>
              <a:rPr lang="en-US" sz="2000" dirty="0">
                <a:effectLst/>
                <a:ea typeface="Calibri" panose="020F0502020204030204" pitchFamily="34" charset="0"/>
              </a:rPr>
              <a:t>that</a:t>
            </a:r>
            <a:r>
              <a:rPr lang="en-US" sz="2000" spc="5" dirty="0">
                <a:effectLst/>
                <a:ea typeface="Calibri" panose="020F0502020204030204" pitchFamily="34" charset="0"/>
              </a:rPr>
              <a:t> </a:t>
            </a:r>
            <a:r>
              <a:rPr lang="en-US" sz="2000" dirty="0">
                <a:effectLst/>
                <a:ea typeface="Calibri" panose="020F0502020204030204" pitchFamily="34" charset="0"/>
              </a:rPr>
              <a:t>can</a:t>
            </a:r>
            <a:r>
              <a:rPr lang="en-US" sz="2000" spc="5" dirty="0">
                <a:effectLst/>
                <a:ea typeface="Calibri" panose="020F0502020204030204" pitchFamily="34" charset="0"/>
              </a:rPr>
              <a:t> </a:t>
            </a:r>
            <a:r>
              <a:rPr lang="en-US" sz="2000" dirty="0">
                <a:effectLst/>
                <a:ea typeface="Calibri" panose="020F0502020204030204" pitchFamily="34" charset="0"/>
              </a:rPr>
              <a:t>be</a:t>
            </a:r>
            <a:r>
              <a:rPr lang="en-US" sz="2000" spc="5" dirty="0">
                <a:effectLst/>
                <a:ea typeface="Calibri" panose="020F0502020204030204" pitchFamily="34" charset="0"/>
              </a:rPr>
              <a:t> </a:t>
            </a:r>
            <a:r>
              <a:rPr lang="en-US" sz="2000" dirty="0">
                <a:effectLst/>
                <a:ea typeface="Calibri" panose="020F0502020204030204" pitchFamily="34" charset="0"/>
              </a:rPr>
              <a:t>used</a:t>
            </a:r>
            <a:r>
              <a:rPr lang="en-US" sz="2000" spc="5" dirty="0">
                <a:effectLst/>
                <a:ea typeface="Calibri" panose="020F0502020204030204" pitchFamily="34" charset="0"/>
              </a:rPr>
              <a:t> </a:t>
            </a:r>
            <a:r>
              <a:rPr lang="en-US" sz="2000" dirty="0">
                <a:effectLst/>
                <a:ea typeface="Calibri" panose="020F0502020204030204" pitchFamily="34" charset="0"/>
              </a:rPr>
              <a:t>to</a:t>
            </a:r>
            <a:r>
              <a:rPr lang="en-US" sz="2000" spc="5" dirty="0">
                <a:effectLst/>
                <a:ea typeface="Calibri" panose="020F0502020204030204" pitchFamily="34" charset="0"/>
              </a:rPr>
              <a:t> </a:t>
            </a:r>
            <a:r>
              <a:rPr lang="en-US" sz="2000" dirty="0">
                <a:effectLst/>
                <a:ea typeface="Calibri" panose="020F0502020204030204" pitchFamily="34" charset="0"/>
              </a:rPr>
              <a:t>describe</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5" dirty="0">
                <a:effectLst/>
                <a:ea typeface="Calibri" panose="020F0502020204030204" pitchFamily="34" charset="0"/>
              </a:rPr>
              <a:t> </a:t>
            </a:r>
            <a:r>
              <a:rPr lang="en-US" sz="2000" b="1" i="1" dirty="0">
                <a:effectLst/>
                <a:ea typeface="Calibri" panose="020F0502020204030204" pitchFamily="34" charset="0"/>
              </a:rPr>
              <a:t>structure</a:t>
            </a:r>
            <a:r>
              <a:rPr lang="en-US" sz="2000" b="1" i="1" spc="5" dirty="0">
                <a:effectLst/>
                <a:ea typeface="Calibri" panose="020F0502020204030204" pitchFamily="34" charset="0"/>
              </a:rPr>
              <a:t> </a:t>
            </a:r>
            <a:r>
              <a:rPr lang="en-US" sz="2000" b="1" i="1" dirty="0">
                <a:effectLst/>
                <a:ea typeface="Calibri" panose="020F0502020204030204" pitchFamily="34" charset="0"/>
              </a:rPr>
              <a:t>of</a:t>
            </a:r>
            <a:r>
              <a:rPr lang="en-US" sz="2000" b="1" i="1" spc="5" dirty="0">
                <a:effectLst/>
                <a:ea typeface="Calibri" panose="020F0502020204030204" pitchFamily="34" charset="0"/>
              </a:rPr>
              <a:t> </a:t>
            </a:r>
            <a:r>
              <a:rPr lang="en-US" sz="2000" b="1" i="1" dirty="0">
                <a:effectLst/>
                <a:ea typeface="Calibri" panose="020F0502020204030204" pitchFamily="34" charset="0"/>
              </a:rPr>
              <a:t>a</a:t>
            </a:r>
            <a:r>
              <a:rPr lang="en-US" sz="2000" b="1" i="1" spc="5" dirty="0">
                <a:effectLst/>
                <a:ea typeface="Calibri" panose="020F0502020204030204" pitchFamily="34" charset="0"/>
              </a:rPr>
              <a:t> </a:t>
            </a:r>
            <a:r>
              <a:rPr lang="en-US" sz="2000" b="1" i="1" dirty="0">
                <a:effectLst/>
                <a:ea typeface="Calibri" panose="020F0502020204030204" pitchFamily="34" charset="0"/>
              </a:rPr>
              <a:t>database</a:t>
            </a:r>
            <a:r>
              <a:rPr lang="en-US" sz="2000" dirty="0">
                <a:effectLst/>
                <a:ea typeface="Calibri" panose="020F0502020204030204" pitchFamily="34" charset="0"/>
              </a:rPr>
              <a:t>—provides</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235" dirty="0">
                <a:effectLst/>
                <a:ea typeface="Calibri" panose="020F0502020204030204" pitchFamily="34" charset="0"/>
              </a:rPr>
              <a:t> </a:t>
            </a:r>
            <a:r>
              <a:rPr lang="en-US" sz="2000" dirty="0">
                <a:effectLst/>
                <a:ea typeface="Calibri" panose="020F0502020204030204" pitchFamily="34" charset="0"/>
              </a:rPr>
              <a:t>necessary</a:t>
            </a:r>
            <a:r>
              <a:rPr lang="en-US" sz="2000" spc="-15" dirty="0">
                <a:effectLst/>
                <a:ea typeface="Calibri" panose="020F0502020204030204" pitchFamily="34" charset="0"/>
              </a:rPr>
              <a:t> </a:t>
            </a:r>
            <a:r>
              <a:rPr lang="en-US" sz="2000" dirty="0">
                <a:effectLst/>
                <a:ea typeface="Calibri" panose="020F0502020204030204" pitchFamily="34" charset="0"/>
              </a:rPr>
              <a:t>means</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achieve</a:t>
            </a:r>
            <a:r>
              <a:rPr lang="en-US" sz="2000" spc="-10" dirty="0">
                <a:effectLst/>
                <a:ea typeface="Calibri" panose="020F0502020204030204" pitchFamily="34" charset="0"/>
              </a:rPr>
              <a:t> </a:t>
            </a:r>
            <a:r>
              <a:rPr lang="en-US" sz="2000" dirty="0">
                <a:effectLst/>
                <a:ea typeface="Calibri" panose="020F0502020204030204" pitchFamily="34" charset="0"/>
              </a:rPr>
              <a:t>this</a:t>
            </a:r>
            <a:r>
              <a:rPr lang="en-US" sz="2000" spc="-10" dirty="0">
                <a:effectLst/>
                <a:ea typeface="Calibri" panose="020F0502020204030204" pitchFamily="34" charset="0"/>
              </a:rPr>
              <a:t> </a:t>
            </a:r>
            <a:r>
              <a:rPr lang="en-US" sz="2000" dirty="0">
                <a:effectLst/>
                <a:ea typeface="Calibri" panose="020F0502020204030204" pitchFamily="34" charset="0"/>
              </a:rPr>
              <a:t>abstraction</a:t>
            </a:r>
          </a:p>
          <a:p>
            <a:pPr marL="482600" marR="292100" indent="-342900" algn="just">
              <a:lnSpc>
                <a:spcPct val="101000"/>
              </a:lnSpc>
              <a:spcBef>
                <a:spcPts val="740"/>
              </a:spcBef>
              <a:buFont typeface="Arial" panose="020B0604020202020204" pitchFamily="34" charset="0"/>
              <a:buChar char="•"/>
            </a:pPr>
            <a:r>
              <a:rPr lang="en-US" sz="2000" dirty="0">
                <a:effectLst/>
                <a:ea typeface="Calibri" panose="020F0502020204030204" pitchFamily="34" charset="0"/>
              </a:rPr>
              <a:t>By</a:t>
            </a:r>
            <a:r>
              <a:rPr lang="en-US" sz="2000" spc="-20" dirty="0">
                <a:effectLst/>
                <a:ea typeface="Calibri" panose="020F0502020204030204" pitchFamily="34" charset="0"/>
              </a:rPr>
              <a:t> </a:t>
            </a:r>
            <a:r>
              <a:rPr lang="en-US" sz="2000" dirty="0">
                <a:effectLst/>
                <a:ea typeface="Calibri" panose="020F0502020204030204" pitchFamily="34" charset="0"/>
              </a:rPr>
              <a:t>structure</a:t>
            </a:r>
            <a:r>
              <a:rPr lang="en-US" sz="2000" spc="-20" dirty="0">
                <a:effectLst/>
                <a:ea typeface="Calibri" panose="020F0502020204030204" pitchFamily="34" charset="0"/>
              </a:rPr>
              <a:t> </a:t>
            </a:r>
            <a:r>
              <a:rPr lang="en-US" sz="2000" dirty="0">
                <a:effectLst/>
                <a:ea typeface="Calibri" panose="020F0502020204030204" pitchFamily="34" charset="0"/>
              </a:rPr>
              <a:t>of a</a:t>
            </a:r>
            <a:r>
              <a:rPr lang="en-US" sz="2000" spc="-15" dirty="0">
                <a:effectLst/>
                <a:ea typeface="Calibri" panose="020F0502020204030204" pitchFamily="34" charset="0"/>
              </a:rPr>
              <a:t> </a:t>
            </a:r>
            <a:r>
              <a:rPr lang="en-US" sz="2000" dirty="0">
                <a:effectLst/>
                <a:ea typeface="Calibri" panose="020F0502020204030204" pitchFamily="34" charset="0"/>
              </a:rPr>
              <a:t>database</a:t>
            </a:r>
            <a:r>
              <a:rPr lang="en-US" sz="2000" spc="-20" dirty="0">
                <a:effectLst/>
                <a:ea typeface="Calibri" panose="020F0502020204030204" pitchFamily="34" charset="0"/>
              </a:rPr>
              <a:t> </a:t>
            </a:r>
            <a:r>
              <a:rPr lang="en-US" sz="2000" dirty="0">
                <a:effectLst/>
                <a:ea typeface="Calibri" panose="020F0502020204030204" pitchFamily="34" charset="0"/>
              </a:rPr>
              <a:t>means</a:t>
            </a:r>
            <a:r>
              <a:rPr lang="en-US" sz="2000" spc="-2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b="1" i="1" dirty="0">
                <a:effectLst/>
                <a:ea typeface="Calibri" panose="020F0502020204030204" pitchFamily="34" charset="0"/>
              </a:rPr>
              <a:t>data types,</a:t>
            </a:r>
            <a:r>
              <a:rPr lang="en-US" sz="2000" b="1" i="1" spc="-20" dirty="0">
                <a:effectLst/>
                <a:ea typeface="Calibri" panose="020F0502020204030204" pitchFamily="34" charset="0"/>
              </a:rPr>
              <a:t> </a:t>
            </a:r>
            <a:r>
              <a:rPr lang="en-US" sz="2000" b="1" i="1" dirty="0">
                <a:effectLst/>
                <a:ea typeface="Calibri" panose="020F0502020204030204" pitchFamily="34" charset="0"/>
              </a:rPr>
              <a:t>relationships, and</a:t>
            </a:r>
            <a:r>
              <a:rPr lang="en-US" sz="2000" b="1" i="1" spc="-20" dirty="0">
                <a:effectLst/>
                <a:ea typeface="Calibri" panose="020F0502020204030204" pitchFamily="34" charset="0"/>
              </a:rPr>
              <a:t> </a:t>
            </a:r>
            <a:r>
              <a:rPr lang="en-US" sz="2000" b="1" i="1" dirty="0">
                <a:effectLst/>
                <a:ea typeface="Calibri" panose="020F0502020204030204" pitchFamily="34" charset="0"/>
              </a:rPr>
              <a:t>constraints </a:t>
            </a:r>
            <a:r>
              <a:rPr lang="en-US" sz="2000" dirty="0">
                <a:effectLst/>
                <a:ea typeface="Calibri" panose="020F0502020204030204" pitchFamily="34" charset="0"/>
              </a:rPr>
              <a:t>that</a:t>
            </a:r>
            <a:r>
              <a:rPr lang="en-US" sz="2000" spc="-5" dirty="0">
                <a:effectLst/>
                <a:ea typeface="Calibri" panose="020F0502020204030204" pitchFamily="34" charset="0"/>
              </a:rPr>
              <a:t> </a:t>
            </a:r>
            <a:r>
              <a:rPr lang="en-US" sz="2000" dirty="0">
                <a:effectLst/>
                <a:ea typeface="Calibri" panose="020F0502020204030204" pitchFamily="34" charset="0"/>
              </a:rPr>
              <a:t>apply</a:t>
            </a:r>
            <a:r>
              <a:rPr lang="en-US" sz="2000" spc="-20" dirty="0">
                <a:effectLst/>
                <a:ea typeface="Calibri" panose="020F0502020204030204" pitchFamily="34" charset="0"/>
              </a:rPr>
              <a:t> </a:t>
            </a:r>
            <a:r>
              <a:rPr lang="en-US" sz="2000" dirty="0">
                <a:effectLst/>
                <a:ea typeface="Calibri" panose="020F0502020204030204" pitchFamily="34" charset="0"/>
              </a:rPr>
              <a:t>to</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dirty="0">
                <a:effectLst/>
                <a:ea typeface="Calibri" panose="020F0502020204030204" pitchFamily="34" charset="0"/>
              </a:rPr>
              <a:t>data.</a:t>
            </a:r>
            <a:r>
              <a:rPr lang="en-US" sz="2000" spc="-10" dirty="0">
                <a:effectLst/>
                <a:ea typeface="Calibri" panose="020F0502020204030204" pitchFamily="34" charset="0"/>
              </a:rPr>
              <a:t> </a:t>
            </a:r>
            <a:r>
              <a:rPr lang="en-US" sz="2000" dirty="0">
                <a:effectLst/>
                <a:ea typeface="Calibri" panose="020F0502020204030204" pitchFamily="34" charset="0"/>
              </a:rPr>
              <a:t>Most</a:t>
            </a:r>
            <a:r>
              <a:rPr lang="en-US" sz="2000" spc="-10" dirty="0">
                <a:effectLst/>
                <a:ea typeface="Calibri" panose="020F0502020204030204" pitchFamily="34" charset="0"/>
              </a:rPr>
              <a:t> </a:t>
            </a:r>
            <a:r>
              <a:rPr lang="en-US" sz="2000" dirty="0">
                <a:effectLst/>
                <a:ea typeface="Calibri" panose="020F0502020204030204" pitchFamily="34" charset="0"/>
              </a:rPr>
              <a:t>data</a:t>
            </a:r>
            <a:r>
              <a:rPr lang="en-US" sz="2000" spc="-235" dirty="0">
                <a:effectLst/>
                <a:ea typeface="Calibri" panose="020F0502020204030204" pitchFamily="34" charset="0"/>
              </a:rPr>
              <a:t> </a:t>
            </a:r>
            <a:r>
              <a:rPr lang="en-US" sz="2000" dirty="0">
                <a:effectLst/>
                <a:ea typeface="Calibri" panose="020F0502020204030204" pitchFamily="34" charset="0"/>
              </a:rPr>
              <a:t>models</a:t>
            </a:r>
            <a:r>
              <a:rPr lang="en-US" sz="2000" spc="-15" dirty="0">
                <a:effectLst/>
                <a:ea typeface="Calibri" panose="020F0502020204030204" pitchFamily="34" charset="0"/>
              </a:rPr>
              <a:t> </a:t>
            </a:r>
            <a:r>
              <a:rPr lang="en-US" sz="2000" dirty="0">
                <a:effectLst/>
                <a:ea typeface="Calibri" panose="020F0502020204030204" pitchFamily="34" charset="0"/>
              </a:rPr>
              <a:t>also</a:t>
            </a:r>
            <a:r>
              <a:rPr lang="en-US" sz="2000" spc="-15" dirty="0">
                <a:effectLst/>
                <a:ea typeface="Calibri" panose="020F0502020204030204" pitchFamily="34" charset="0"/>
              </a:rPr>
              <a:t> </a:t>
            </a:r>
            <a:r>
              <a:rPr lang="en-US" sz="2000" dirty="0">
                <a:effectLst/>
                <a:ea typeface="Calibri" panose="020F0502020204030204" pitchFamily="34" charset="0"/>
              </a:rPr>
              <a:t>include</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set</a:t>
            </a:r>
            <a:r>
              <a:rPr lang="en-US" sz="2000" spc="-20" dirty="0">
                <a:effectLst/>
                <a:ea typeface="Calibri" panose="020F0502020204030204" pitchFamily="34" charset="0"/>
              </a:rPr>
              <a:t> </a:t>
            </a:r>
            <a:r>
              <a:rPr lang="en-US" sz="2000" dirty="0">
                <a:effectLst/>
                <a:ea typeface="Calibri" panose="020F0502020204030204" pitchFamily="34" charset="0"/>
              </a:rPr>
              <a:t>of</a:t>
            </a:r>
            <a:r>
              <a:rPr lang="en-US" sz="2000" spc="-15" dirty="0">
                <a:effectLst/>
                <a:ea typeface="Calibri" panose="020F0502020204030204" pitchFamily="34" charset="0"/>
              </a:rPr>
              <a:t> </a:t>
            </a:r>
            <a:r>
              <a:rPr lang="en-US" sz="2000" dirty="0">
                <a:effectLst/>
                <a:ea typeface="Calibri" panose="020F0502020204030204" pitchFamily="34" charset="0"/>
              </a:rPr>
              <a:t>basic</a:t>
            </a:r>
            <a:r>
              <a:rPr lang="en-US" sz="2000" spc="-20" dirty="0">
                <a:effectLst/>
                <a:ea typeface="Calibri" panose="020F0502020204030204" pitchFamily="34" charset="0"/>
              </a:rPr>
              <a:t> </a:t>
            </a:r>
            <a:r>
              <a:rPr lang="en-US" sz="2000" dirty="0">
                <a:effectLst/>
                <a:ea typeface="Calibri" panose="020F0502020204030204" pitchFamily="34" charset="0"/>
              </a:rPr>
              <a:t>operations</a:t>
            </a:r>
            <a:r>
              <a:rPr lang="en-US" sz="2000" spc="-10" dirty="0">
                <a:effectLst/>
                <a:ea typeface="Calibri" panose="020F0502020204030204" pitchFamily="34" charset="0"/>
              </a:rPr>
              <a:t> </a:t>
            </a:r>
            <a:r>
              <a:rPr lang="en-US" sz="2000" dirty="0">
                <a:effectLst/>
                <a:ea typeface="Calibri" panose="020F0502020204030204" pitchFamily="34" charset="0"/>
              </a:rPr>
              <a:t>for</a:t>
            </a:r>
            <a:r>
              <a:rPr lang="en-US" sz="2000" spc="-10" dirty="0">
                <a:effectLst/>
                <a:ea typeface="Calibri" panose="020F0502020204030204" pitchFamily="34" charset="0"/>
              </a:rPr>
              <a:t> </a:t>
            </a:r>
            <a:r>
              <a:rPr lang="en-US" sz="2000" dirty="0">
                <a:effectLst/>
                <a:ea typeface="Calibri" panose="020F0502020204030204" pitchFamily="34" charset="0"/>
              </a:rPr>
              <a:t>specifying</a:t>
            </a:r>
            <a:r>
              <a:rPr lang="en-US" sz="2000" spc="-5" dirty="0">
                <a:effectLst/>
                <a:ea typeface="Calibri" panose="020F0502020204030204" pitchFamily="34" charset="0"/>
              </a:rPr>
              <a:t> </a:t>
            </a:r>
            <a:r>
              <a:rPr lang="en-US" sz="2000" dirty="0">
                <a:effectLst/>
                <a:ea typeface="Calibri" panose="020F0502020204030204" pitchFamily="34" charset="0"/>
              </a:rPr>
              <a:t>retrievals</a:t>
            </a:r>
            <a:r>
              <a:rPr lang="en-US" sz="2000" spc="-10" dirty="0">
                <a:effectLst/>
                <a:ea typeface="Calibri" panose="020F0502020204030204" pitchFamily="34" charset="0"/>
              </a:rPr>
              <a:t> </a:t>
            </a:r>
            <a:r>
              <a:rPr lang="en-US" sz="2000" dirty="0">
                <a:effectLst/>
                <a:ea typeface="Calibri" panose="020F0502020204030204" pitchFamily="34" charset="0"/>
              </a:rPr>
              <a:t>and</a:t>
            </a:r>
            <a:r>
              <a:rPr lang="en-US" sz="2000" spc="-20" dirty="0">
                <a:effectLst/>
                <a:ea typeface="Calibri" panose="020F0502020204030204" pitchFamily="34" charset="0"/>
              </a:rPr>
              <a:t> </a:t>
            </a:r>
            <a:r>
              <a:rPr lang="en-US" sz="2000" dirty="0">
                <a:effectLst/>
                <a:ea typeface="Calibri" panose="020F0502020204030204" pitchFamily="34" charset="0"/>
              </a:rPr>
              <a:t>updates</a:t>
            </a:r>
            <a:r>
              <a:rPr lang="en-US" sz="2000" spc="-5" dirty="0">
                <a:effectLst/>
                <a:ea typeface="Calibri" panose="020F0502020204030204" pitchFamily="34" charset="0"/>
              </a:rPr>
              <a:t> </a:t>
            </a:r>
            <a:r>
              <a:rPr lang="en-US" sz="2000" dirty="0">
                <a:effectLst/>
                <a:ea typeface="Calibri" panose="020F0502020204030204" pitchFamily="34" charset="0"/>
              </a:rPr>
              <a:t>on</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database.</a:t>
            </a:r>
          </a:p>
          <a:p>
            <a:pPr algn="just"/>
            <a:endParaRPr lang="en-US" sz="2800" dirty="0"/>
          </a:p>
        </p:txBody>
      </p:sp>
    </p:spTree>
    <p:extLst>
      <p:ext uri="{BB962C8B-B14F-4D97-AF65-F5344CB8AC3E}">
        <p14:creationId xmlns:p14="http://schemas.microsoft.com/office/powerpoint/2010/main" val="3307611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B070E-4352-91C8-6D6C-0FD2CA5323E3}"/>
              </a:ext>
            </a:extLst>
          </p:cNvPr>
          <p:cNvSpPr txBox="1"/>
          <p:nvPr/>
        </p:nvSpPr>
        <p:spPr>
          <a:xfrm>
            <a:off x="155483" y="0"/>
            <a:ext cx="11636477" cy="6966779"/>
          </a:xfrm>
          <a:prstGeom prst="rect">
            <a:avLst/>
          </a:prstGeom>
          <a:noFill/>
        </p:spPr>
        <p:txBody>
          <a:bodyPr wrap="square" rtlCol="0">
            <a:spAutoFit/>
          </a:bodyPr>
          <a:lstStyle/>
          <a:p>
            <a:r>
              <a:rPr lang="en-US" sz="2800" b="1" kern="0" dirty="0">
                <a:effectLst/>
                <a:ea typeface="Calibri" panose="020F0502020204030204" pitchFamily="34" charset="0"/>
              </a:rPr>
              <a:t>Categories</a:t>
            </a:r>
            <a:r>
              <a:rPr lang="en-US" sz="2800" b="1" kern="0" spc="-25" dirty="0">
                <a:effectLst/>
                <a:ea typeface="Calibri" panose="020F0502020204030204" pitchFamily="34" charset="0"/>
              </a:rPr>
              <a:t> </a:t>
            </a:r>
            <a:r>
              <a:rPr lang="en-US" sz="2800" b="1" kern="0" dirty="0">
                <a:effectLst/>
                <a:ea typeface="Calibri" panose="020F0502020204030204" pitchFamily="34" charset="0"/>
              </a:rPr>
              <a:t>of</a:t>
            </a:r>
            <a:r>
              <a:rPr lang="en-US" sz="2800" b="1" kern="0" spc="-30" dirty="0">
                <a:effectLst/>
                <a:ea typeface="Calibri" panose="020F0502020204030204" pitchFamily="34" charset="0"/>
              </a:rPr>
              <a:t> </a:t>
            </a:r>
            <a:r>
              <a:rPr lang="en-US" sz="2800" b="1" kern="0" dirty="0">
                <a:effectLst/>
                <a:ea typeface="Calibri" panose="020F0502020204030204" pitchFamily="34" charset="0"/>
              </a:rPr>
              <a:t>Data</a:t>
            </a:r>
            <a:r>
              <a:rPr lang="en-US" sz="2800" b="1" kern="0" spc="-15" dirty="0">
                <a:effectLst/>
                <a:ea typeface="Calibri" panose="020F0502020204030204" pitchFamily="34" charset="0"/>
              </a:rPr>
              <a:t> </a:t>
            </a:r>
            <a:r>
              <a:rPr lang="en-US" sz="2800" b="1" kern="0" dirty="0">
                <a:effectLst/>
                <a:ea typeface="Calibri" panose="020F0502020204030204" pitchFamily="34" charset="0"/>
              </a:rPr>
              <a:t>Models</a:t>
            </a:r>
          </a:p>
          <a:p>
            <a:endParaRPr lang="en-US" dirty="0"/>
          </a:p>
          <a:p>
            <a:pPr marL="342900" marR="0" lvl="0" indent="-342900" algn="just">
              <a:spcBef>
                <a:spcPts val="830"/>
              </a:spcBef>
              <a:buSzPts val="1100"/>
              <a:buFont typeface="Calibri" panose="020F0502020204030204" pitchFamily="34" charset="0"/>
              <a:buAutoNum type="arabicPeriod"/>
              <a:tabLst>
                <a:tab pos="277495" algn="l"/>
              </a:tabLst>
            </a:pPr>
            <a:r>
              <a:rPr lang="en-US" b="1" spc="-10" dirty="0">
                <a:effectLst/>
                <a:ea typeface="Calibri" panose="020F0502020204030204" pitchFamily="34" charset="0"/>
              </a:rPr>
              <a:t>High-level</a:t>
            </a:r>
            <a:r>
              <a:rPr lang="en-US" b="1" spc="-20" dirty="0">
                <a:effectLst/>
                <a:ea typeface="Calibri" panose="020F0502020204030204" pitchFamily="34" charset="0"/>
              </a:rPr>
              <a:t> </a:t>
            </a:r>
            <a:r>
              <a:rPr lang="en-US" b="1" spc="-10" dirty="0">
                <a:effectLst/>
                <a:ea typeface="Calibri" panose="020F0502020204030204" pitchFamily="34" charset="0"/>
              </a:rPr>
              <a:t>or</a:t>
            </a:r>
            <a:r>
              <a:rPr lang="en-US" b="1" spc="-20" dirty="0">
                <a:effectLst/>
                <a:ea typeface="Calibri" panose="020F0502020204030204" pitchFamily="34" charset="0"/>
              </a:rPr>
              <a:t> </a:t>
            </a:r>
            <a:r>
              <a:rPr lang="en-US" b="1" spc="-10" dirty="0">
                <a:effectLst/>
                <a:ea typeface="Calibri" panose="020F0502020204030204" pitchFamily="34" charset="0"/>
              </a:rPr>
              <a:t>conceptual</a:t>
            </a:r>
            <a:r>
              <a:rPr lang="en-US" b="1" spc="-20" dirty="0">
                <a:effectLst/>
                <a:ea typeface="Calibri" panose="020F0502020204030204" pitchFamily="34" charset="0"/>
              </a:rPr>
              <a:t> </a:t>
            </a:r>
            <a:r>
              <a:rPr lang="en-US" b="1" spc="-10" dirty="0">
                <a:effectLst/>
                <a:ea typeface="Calibri" panose="020F0502020204030204" pitchFamily="34" charset="0"/>
              </a:rPr>
              <a:t>data models</a:t>
            </a:r>
          </a:p>
          <a:p>
            <a:pPr marL="295275" marR="0" algn="just">
              <a:spcBef>
                <a:spcPts val="795"/>
              </a:spcBef>
              <a:buNone/>
            </a:pPr>
            <a:r>
              <a:rPr lang="en-US" dirty="0">
                <a:effectLst/>
                <a:ea typeface="Calibri" panose="020F0502020204030204" pitchFamily="34" charset="0"/>
              </a:rPr>
              <a:t>-provide</a:t>
            </a:r>
            <a:r>
              <a:rPr lang="en-US" spc="-15" dirty="0">
                <a:effectLst/>
                <a:ea typeface="Calibri" panose="020F0502020204030204" pitchFamily="34" charset="0"/>
              </a:rPr>
              <a:t> </a:t>
            </a:r>
            <a:r>
              <a:rPr lang="en-US" dirty="0">
                <a:effectLst/>
                <a:ea typeface="Calibri" panose="020F0502020204030204" pitchFamily="34" charset="0"/>
              </a:rPr>
              <a:t>concepts</a:t>
            </a:r>
            <a:r>
              <a:rPr lang="en-US" spc="-15" dirty="0">
                <a:effectLst/>
                <a:ea typeface="Calibri" panose="020F0502020204030204" pitchFamily="34" charset="0"/>
              </a:rPr>
              <a:t> </a:t>
            </a:r>
            <a:r>
              <a:rPr lang="en-US" dirty="0">
                <a:effectLst/>
                <a:ea typeface="Calibri" panose="020F0502020204030204" pitchFamily="34" charset="0"/>
              </a:rPr>
              <a:t>that</a:t>
            </a:r>
            <a:r>
              <a:rPr lang="en-US" spc="-25" dirty="0">
                <a:effectLst/>
                <a:ea typeface="Calibri" panose="020F0502020204030204" pitchFamily="34" charset="0"/>
              </a:rPr>
              <a:t> </a:t>
            </a:r>
            <a:r>
              <a:rPr lang="en-US" dirty="0">
                <a:effectLst/>
                <a:ea typeface="Calibri" panose="020F0502020204030204" pitchFamily="34" charset="0"/>
              </a:rPr>
              <a:t>are</a:t>
            </a:r>
            <a:r>
              <a:rPr lang="en-US" spc="5" dirty="0">
                <a:effectLst/>
                <a:ea typeface="Calibri" panose="020F0502020204030204" pitchFamily="34" charset="0"/>
              </a:rPr>
              <a:t> </a:t>
            </a:r>
            <a:r>
              <a:rPr lang="en-US" dirty="0">
                <a:effectLst/>
                <a:ea typeface="Calibri" panose="020F0502020204030204" pitchFamily="34" charset="0"/>
              </a:rPr>
              <a:t>close</a:t>
            </a:r>
            <a:r>
              <a:rPr lang="en-US" spc="-15" dirty="0">
                <a:effectLst/>
                <a:ea typeface="Calibri" panose="020F0502020204030204" pitchFamily="34" charset="0"/>
              </a:rPr>
              <a:t> </a:t>
            </a:r>
            <a:r>
              <a:rPr lang="en-US" dirty="0">
                <a:effectLst/>
                <a:ea typeface="Calibri" panose="020F0502020204030204" pitchFamily="34" charset="0"/>
              </a:rPr>
              <a:t>to the</a:t>
            </a:r>
            <a:r>
              <a:rPr lang="en-US" spc="-10" dirty="0">
                <a:effectLst/>
                <a:ea typeface="Calibri" panose="020F0502020204030204" pitchFamily="34" charset="0"/>
              </a:rPr>
              <a:t> </a:t>
            </a:r>
            <a:r>
              <a:rPr lang="en-US" dirty="0">
                <a:effectLst/>
                <a:ea typeface="Calibri" panose="020F0502020204030204" pitchFamily="34" charset="0"/>
              </a:rPr>
              <a:t>way</a:t>
            </a:r>
            <a:r>
              <a:rPr lang="en-US" spc="-10" dirty="0">
                <a:effectLst/>
                <a:ea typeface="Calibri" panose="020F0502020204030204" pitchFamily="34" charset="0"/>
              </a:rPr>
              <a:t> </a:t>
            </a:r>
            <a:r>
              <a:rPr lang="en-US" dirty="0">
                <a:effectLst/>
                <a:ea typeface="Calibri" panose="020F0502020204030204" pitchFamily="34" charset="0"/>
              </a:rPr>
              <a:t>many</a:t>
            </a:r>
            <a:r>
              <a:rPr lang="en-US" spc="-15" dirty="0">
                <a:effectLst/>
                <a:ea typeface="Calibri" panose="020F0502020204030204" pitchFamily="34" charset="0"/>
              </a:rPr>
              <a:t> </a:t>
            </a:r>
            <a:r>
              <a:rPr lang="en-US" dirty="0">
                <a:effectLst/>
                <a:ea typeface="Calibri" panose="020F0502020204030204" pitchFamily="34" charset="0"/>
              </a:rPr>
              <a:t>users</a:t>
            </a:r>
            <a:r>
              <a:rPr lang="en-US" spc="-15" dirty="0">
                <a:effectLst/>
                <a:ea typeface="Calibri" panose="020F0502020204030204" pitchFamily="34" charset="0"/>
              </a:rPr>
              <a:t> </a:t>
            </a:r>
            <a:r>
              <a:rPr lang="en-US" dirty="0">
                <a:effectLst/>
                <a:ea typeface="Calibri" panose="020F0502020204030204" pitchFamily="34" charset="0"/>
              </a:rPr>
              <a:t>perceive</a:t>
            </a:r>
            <a:r>
              <a:rPr lang="en-US" spc="-15" dirty="0">
                <a:effectLst/>
                <a:ea typeface="Calibri" panose="020F0502020204030204" pitchFamily="34" charset="0"/>
              </a:rPr>
              <a:t> </a:t>
            </a:r>
            <a:r>
              <a:rPr lang="en-US" dirty="0">
                <a:effectLst/>
                <a:ea typeface="Calibri" panose="020F0502020204030204" pitchFamily="34" charset="0"/>
              </a:rPr>
              <a:t>data. </a:t>
            </a:r>
            <a:r>
              <a:rPr lang="en-US" dirty="0"/>
              <a:t>One such popular model is the entity/relationship model (ER model). The E/R model specializes in entities, relationships, and even attributes that are used by database designers.</a:t>
            </a:r>
          </a:p>
          <a:p>
            <a:pPr marL="295275" marR="0" algn="just">
              <a:spcBef>
                <a:spcPts val="795"/>
              </a:spcBef>
              <a:buNone/>
            </a:pPr>
            <a:r>
              <a:rPr lang="en-US" dirty="0">
                <a:effectLst/>
                <a:ea typeface="Calibri" panose="020F0502020204030204" pitchFamily="34" charset="0"/>
              </a:rPr>
              <a:t>-use</a:t>
            </a:r>
            <a:r>
              <a:rPr lang="en-US" spc="-20" dirty="0">
                <a:effectLst/>
                <a:ea typeface="Calibri" panose="020F0502020204030204" pitchFamily="34" charset="0"/>
              </a:rPr>
              <a:t> </a:t>
            </a:r>
            <a:r>
              <a:rPr lang="en-US" dirty="0">
                <a:effectLst/>
                <a:ea typeface="Calibri" panose="020F0502020204030204" pitchFamily="34" charset="0"/>
              </a:rPr>
              <a:t>concepts such</a:t>
            </a:r>
            <a:r>
              <a:rPr lang="en-US" spc="-25" dirty="0">
                <a:effectLst/>
                <a:ea typeface="Calibri" panose="020F0502020204030204" pitchFamily="34" charset="0"/>
              </a:rPr>
              <a:t> </a:t>
            </a:r>
            <a:r>
              <a:rPr lang="en-US" dirty="0">
                <a:effectLst/>
                <a:ea typeface="Calibri" panose="020F0502020204030204" pitchFamily="34" charset="0"/>
              </a:rPr>
              <a:t>as</a:t>
            </a:r>
            <a:r>
              <a:rPr lang="en-US" spc="10" dirty="0">
                <a:effectLst/>
                <a:ea typeface="Calibri" panose="020F0502020204030204" pitchFamily="34" charset="0"/>
              </a:rPr>
              <a:t> </a:t>
            </a:r>
            <a:r>
              <a:rPr lang="en-US" b="1" dirty="0">
                <a:effectLst/>
                <a:ea typeface="Calibri" panose="020F0502020204030204" pitchFamily="34" charset="0"/>
              </a:rPr>
              <a:t>entities,</a:t>
            </a:r>
            <a:r>
              <a:rPr lang="en-US" b="1" spc="-20" dirty="0">
                <a:effectLst/>
                <a:ea typeface="Calibri" panose="020F0502020204030204" pitchFamily="34" charset="0"/>
              </a:rPr>
              <a:t> </a:t>
            </a:r>
            <a:r>
              <a:rPr lang="en-US" b="1" dirty="0">
                <a:effectLst/>
                <a:ea typeface="Calibri" panose="020F0502020204030204" pitchFamily="34" charset="0"/>
              </a:rPr>
              <a:t>attributes,</a:t>
            </a:r>
            <a:r>
              <a:rPr lang="en-US" b="1" spc="-20" dirty="0">
                <a:effectLst/>
                <a:ea typeface="Calibri" panose="020F0502020204030204" pitchFamily="34" charset="0"/>
              </a:rPr>
              <a:t> </a:t>
            </a:r>
            <a:r>
              <a:rPr lang="en-US" b="1" dirty="0">
                <a:effectLst/>
                <a:ea typeface="Calibri" panose="020F0502020204030204" pitchFamily="34" charset="0"/>
              </a:rPr>
              <a:t>and</a:t>
            </a:r>
            <a:r>
              <a:rPr lang="en-US" b="1" spc="-10" dirty="0">
                <a:effectLst/>
                <a:ea typeface="Calibri" panose="020F0502020204030204" pitchFamily="34" charset="0"/>
              </a:rPr>
              <a:t> </a:t>
            </a:r>
            <a:r>
              <a:rPr lang="en-US" b="1" dirty="0">
                <a:effectLst/>
                <a:ea typeface="Calibri" panose="020F0502020204030204" pitchFamily="34" charset="0"/>
              </a:rPr>
              <a:t>relationships.</a:t>
            </a:r>
            <a:endParaRPr lang="en-US" dirty="0">
              <a:effectLst/>
              <a:ea typeface="Calibri" panose="020F0502020204030204" pitchFamily="34" charset="0"/>
            </a:endParaRPr>
          </a:p>
          <a:p>
            <a:pPr marL="742950" marR="259080" lvl="1" indent="-285750" algn="just">
              <a:spcBef>
                <a:spcPts val="770"/>
              </a:spcBef>
              <a:buSzPts val="1100"/>
              <a:buFont typeface="Wingdings" panose="05000000000000000000" pitchFamily="2" charset="2"/>
              <a:buChar char=""/>
              <a:tabLst>
                <a:tab pos="597535" algn="l"/>
              </a:tabLst>
            </a:pPr>
            <a:r>
              <a:rPr lang="en-US" dirty="0">
                <a:effectLst/>
                <a:ea typeface="Wingdings" panose="05000000000000000000" pitchFamily="2" charset="2"/>
                <a:cs typeface="Wingdings" panose="05000000000000000000" pitchFamily="2" charset="2"/>
              </a:rPr>
              <a:t>An</a:t>
            </a:r>
            <a:r>
              <a:rPr lang="en-US" spc="-20" dirty="0">
                <a:effectLst/>
                <a:ea typeface="Wingdings" panose="05000000000000000000" pitchFamily="2" charset="2"/>
                <a:cs typeface="Wingdings" panose="05000000000000000000" pitchFamily="2" charset="2"/>
              </a:rPr>
              <a:t> </a:t>
            </a:r>
            <a:r>
              <a:rPr lang="en-US" b="1" dirty="0">
                <a:effectLst/>
                <a:ea typeface="Wingdings" panose="05000000000000000000" pitchFamily="2" charset="2"/>
                <a:cs typeface="Wingdings" panose="05000000000000000000" pitchFamily="2" charset="2"/>
              </a:rPr>
              <a:t>entity </a:t>
            </a:r>
            <a:r>
              <a:rPr lang="en-US" dirty="0">
                <a:effectLst/>
                <a:ea typeface="Wingdings" panose="05000000000000000000" pitchFamily="2" charset="2"/>
                <a:cs typeface="Wingdings" panose="05000000000000000000" pitchFamily="2" charset="2"/>
              </a:rPr>
              <a:t>represents</a:t>
            </a:r>
            <a:r>
              <a:rPr lang="en-US" spc="-10"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a</a:t>
            </a:r>
            <a:r>
              <a:rPr lang="en-US" spc="-10"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real-world</a:t>
            </a:r>
            <a:r>
              <a:rPr lang="en-US" spc="-15"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object</a:t>
            </a:r>
            <a:r>
              <a:rPr lang="en-US" spc="-20"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or</a:t>
            </a:r>
            <a:r>
              <a:rPr lang="en-US" spc="-15"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concept, such</a:t>
            </a:r>
            <a:r>
              <a:rPr lang="en-US" spc="-15"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as</a:t>
            </a:r>
            <a:r>
              <a:rPr lang="en-US" spc="-10"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an</a:t>
            </a:r>
            <a:r>
              <a:rPr lang="en-US" spc="-15"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employee</a:t>
            </a:r>
            <a:r>
              <a:rPr lang="en-US" spc="-10"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or</a:t>
            </a:r>
            <a:r>
              <a:rPr lang="en-US" spc="-10"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a</a:t>
            </a:r>
            <a:r>
              <a:rPr lang="en-US" spc="-15"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project</a:t>
            </a:r>
            <a:r>
              <a:rPr lang="en-US" spc="-20"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from</a:t>
            </a:r>
            <a:r>
              <a:rPr lang="en-US" spc="15"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the</a:t>
            </a:r>
            <a:r>
              <a:rPr lang="en-US" spc="-10" dirty="0">
                <a:effectLst/>
                <a:ea typeface="Wingdings" panose="05000000000000000000" pitchFamily="2" charset="2"/>
                <a:cs typeface="Wingdings" panose="05000000000000000000" pitchFamily="2" charset="2"/>
              </a:rPr>
              <a:t> </a:t>
            </a:r>
            <a:r>
              <a:rPr lang="en-US" dirty="0" err="1">
                <a:effectLst/>
                <a:ea typeface="Wingdings" panose="05000000000000000000" pitchFamily="2" charset="2"/>
                <a:cs typeface="Wingdings" panose="05000000000000000000" pitchFamily="2" charset="2"/>
              </a:rPr>
              <a:t>miniworld</a:t>
            </a:r>
            <a:r>
              <a:rPr lang="en-US" spc="-15"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that</a:t>
            </a:r>
            <a:r>
              <a:rPr lang="en-US" spc="-25"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is</a:t>
            </a:r>
            <a:r>
              <a:rPr lang="en-US" spc="-235"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described</a:t>
            </a:r>
            <a:r>
              <a:rPr lang="en-US" spc="-15"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in</a:t>
            </a:r>
            <a:r>
              <a:rPr lang="en-US" spc="-15"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the</a:t>
            </a:r>
            <a:r>
              <a:rPr lang="en-US" spc="-10"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database.</a:t>
            </a:r>
          </a:p>
          <a:p>
            <a:pPr marL="742950" marR="252095" lvl="1" indent="-285750" algn="just">
              <a:buSzPts val="1100"/>
              <a:buFont typeface="Wingdings" panose="05000000000000000000" pitchFamily="2" charset="2"/>
              <a:buChar char=""/>
              <a:tabLst>
                <a:tab pos="597535" algn="l"/>
              </a:tabLst>
            </a:pPr>
            <a:r>
              <a:rPr lang="en-US" dirty="0">
                <a:effectLst/>
                <a:ea typeface="Wingdings" panose="05000000000000000000" pitchFamily="2" charset="2"/>
                <a:cs typeface="Wingdings" panose="05000000000000000000" pitchFamily="2" charset="2"/>
              </a:rPr>
              <a:t>An </a:t>
            </a:r>
            <a:r>
              <a:rPr lang="en-US" b="1" dirty="0">
                <a:effectLst/>
                <a:ea typeface="Wingdings" panose="05000000000000000000" pitchFamily="2" charset="2"/>
                <a:cs typeface="Wingdings" panose="05000000000000000000" pitchFamily="2" charset="2"/>
              </a:rPr>
              <a:t>attribute </a:t>
            </a:r>
            <a:r>
              <a:rPr lang="en-US" dirty="0">
                <a:effectLst/>
                <a:ea typeface="Wingdings" panose="05000000000000000000" pitchFamily="2" charset="2"/>
                <a:cs typeface="Wingdings" panose="05000000000000000000" pitchFamily="2" charset="2"/>
              </a:rPr>
              <a:t>represents some property of interest that further describes an entity, such as the employee’s name</a:t>
            </a:r>
            <a:r>
              <a:rPr lang="en-US" spc="-240"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or</a:t>
            </a:r>
            <a:r>
              <a:rPr lang="en-US" spc="-10"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salary.</a:t>
            </a:r>
          </a:p>
          <a:p>
            <a:pPr marL="742950" marR="288290" lvl="1" indent="-285750" algn="just">
              <a:spcBef>
                <a:spcPts val="5"/>
              </a:spcBef>
              <a:buSzPts val="1100"/>
              <a:buFont typeface="Wingdings" panose="05000000000000000000" pitchFamily="2" charset="2"/>
              <a:buChar char=""/>
              <a:tabLst>
                <a:tab pos="597535" algn="l"/>
              </a:tabLst>
            </a:pPr>
            <a:r>
              <a:rPr lang="en-US" dirty="0">
                <a:effectLst/>
                <a:ea typeface="Wingdings" panose="05000000000000000000" pitchFamily="2" charset="2"/>
                <a:cs typeface="Wingdings" panose="05000000000000000000" pitchFamily="2" charset="2"/>
              </a:rPr>
              <a:t>A </a:t>
            </a:r>
            <a:r>
              <a:rPr lang="en-US" b="1" dirty="0">
                <a:effectLst/>
                <a:ea typeface="Wingdings" panose="05000000000000000000" pitchFamily="2" charset="2"/>
                <a:cs typeface="Wingdings" panose="05000000000000000000" pitchFamily="2" charset="2"/>
              </a:rPr>
              <a:t>relationship </a:t>
            </a:r>
            <a:r>
              <a:rPr lang="en-US" dirty="0">
                <a:effectLst/>
                <a:ea typeface="Wingdings" panose="05000000000000000000" pitchFamily="2" charset="2"/>
                <a:cs typeface="Wingdings" panose="05000000000000000000" pitchFamily="2" charset="2"/>
              </a:rPr>
              <a:t>among two or more entities represents an association among the entities., for example, a works-</a:t>
            </a:r>
            <a:r>
              <a:rPr lang="en-US" spc="-235"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on</a:t>
            </a:r>
            <a:r>
              <a:rPr lang="en-US" spc="-20"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relationship</a:t>
            </a:r>
            <a:r>
              <a:rPr lang="en-US" spc="-15"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between</a:t>
            </a:r>
            <a:r>
              <a:rPr lang="en-US" spc="-10"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an</a:t>
            </a:r>
            <a:r>
              <a:rPr lang="en-US" spc="-15"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employee</a:t>
            </a:r>
            <a:r>
              <a:rPr lang="en-US" spc="-10"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and</a:t>
            </a:r>
            <a:r>
              <a:rPr lang="en-US" spc="-15"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a</a:t>
            </a:r>
            <a:r>
              <a:rPr lang="en-US" spc="-10" dirty="0">
                <a:effectLst/>
                <a:ea typeface="Wingdings" panose="05000000000000000000" pitchFamily="2" charset="2"/>
                <a:cs typeface="Wingdings" panose="05000000000000000000" pitchFamily="2" charset="2"/>
              </a:rPr>
              <a:t> </a:t>
            </a:r>
            <a:r>
              <a:rPr lang="en-US" dirty="0">
                <a:effectLst/>
                <a:ea typeface="Wingdings" panose="05000000000000000000" pitchFamily="2" charset="2"/>
                <a:cs typeface="Wingdings" panose="05000000000000000000" pitchFamily="2" charset="2"/>
              </a:rPr>
              <a:t>project.</a:t>
            </a:r>
          </a:p>
          <a:p>
            <a:pPr marL="742950" marR="288290" lvl="1" indent="-285750" algn="just">
              <a:spcBef>
                <a:spcPts val="5"/>
              </a:spcBef>
              <a:buSzPts val="1100"/>
              <a:buFont typeface="Wingdings" panose="05000000000000000000" pitchFamily="2" charset="2"/>
              <a:buChar char=""/>
              <a:tabLst>
                <a:tab pos="597535" algn="l"/>
              </a:tabLst>
            </a:pPr>
            <a:endParaRPr lang="en-US" dirty="0">
              <a:ea typeface="Wingdings" panose="05000000000000000000" pitchFamily="2" charset="2"/>
              <a:cs typeface="Wingdings" panose="05000000000000000000" pitchFamily="2" charset="2"/>
            </a:endParaRPr>
          </a:p>
          <a:p>
            <a:pPr marL="342900" marR="0" lvl="0" indent="-342900" algn="just">
              <a:spcBef>
                <a:spcPts val="25"/>
              </a:spcBef>
              <a:buSzPts val="1100"/>
              <a:buFont typeface="+mj-lt"/>
              <a:buAutoNum type="arabicPeriod" startAt="2"/>
              <a:tabLst>
                <a:tab pos="248285" algn="l"/>
              </a:tabLst>
            </a:pPr>
            <a:r>
              <a:rPr lang="en-US" sz="1800" b="1" spc="-10" dirty="0">
                <a:effectLst/>
                <a:ea typeface="Calibri" panose="020F0502020204030204" pitchFamily="34" charset="0"/>
              </a:rPr>
              <a:t>Low-level</a:t>
            </a:r>
            <a:r>
              <a:rPr lang="en-US" sz="1800" b="1" spc="-25" dirty="0">
                <a:effectLst/>
                <a:ea typeface="Calibri" panose="020F0502020204030204" pitchFamily="34" charset="0"/>
              </a:rPr>
              <a:t> </a:t>
            </a:r>
            <a:r>
              <a:rPr lang="en-US" sz="1800" b="1" spc="-10" dirty="0">
                <a:effectLst/>
                <a:ea typeface="Calibri" panose="020F0502020204030204" pitchFamily="34" charset="0"/>
              </a:rPr>
              <a:t>or physical</a:t>
            </a:r>
            <a:r>
              <a:rPr lang="en-US" sz="1800" b="1" spc="-25" dirty="0">
                <a:effectLst/>
                <a:ea typeface="Calibri" panose="020F0502020204030204" pitchFamily="34" charset="0"/>
              </a:rPr>
              <a:t> </a:t>
            </a:r>
            <a:r>
              <a:rPr lang="en-US" sz="1800" b="1" spc="-10" dirty="0">
                <a:effectLst/>
                <a:ea typeface="Calibri" panose="020F0502020204030204" pitchFamily="34" charset="0"/>
              </a:rPr>
              <a:t>data models</a:t>
            </a:r>
          </a:p>
          <a:p>
            <a:pPr marL="139700" marR="292100" indent="249555" algn="just">
              <a:lnSpc>
                <a:spcPct val="101000"/>
              </a:lnSpc>
              <a:spcBef>
                <a:spcPts val="770"/>
              </a:spcBef>
              <a:buNone/>
            </a:pPr>
            <a:r>
              <a:rPr lang="en-US" sz="1800" b="1" dirty="0">
                <a:effectLst/>
                <a:ea typeface="Calibri" panose="020F0502020204030204" pitchFamily="34" charset="0"/>
              </a:rPr>
              <a:t>-</a:t>
            </a:r>
            <a:r>
              <a:rPr lang="en-US" sz="1800" b="1" spc="5" dirty="0">
                <a:effectLst/>
                <a:ea typeface="Calibri" panose="020F0502020204030204" pitchFamily="34" charset="0"/>
              </a:rPr>
              <a:t> </a:t>
            </a:r>
            <a:r>
              <a:rPr lang="en-US" sz="1800" dirty="0">
                <a:effectLst/>
                <a:ea typeface="Calibri" panose="020F0502020204030204" pitchFamily="34" charset="0"/>
              </a:rPr>
              <a:t>provide</a:t>
            </a:r>
            <a:r>
              <a:rPr lang="en-US" sz="1800" spc="5" dirty="0">
                <a:effectLst/>
                <a:ea typeface="Calibri" panose="020F0502020204030204" pitchFamily="34" charset="0"/>
              </a:rPr>
              <a:t> </a:t>
            </a:r>
            <a:r>
              <a:rPr lang="en-US" sz="1800" dirty="0">
                <a:effectLst/>
                <a:ea typeface="Calibri" panose="020F0502020204030204" pitchFamily="34" charset="0"/>
              </a:rPr>
              <a:t>concepts</a:t>
            </a:r>
            <a:r>
              <a:rPr lang="en-US" sz="1800" spc="5" dirty="0">
                <a:effectLst/>
                <a:ea typeface="Calibri" panose="020F0502020204030204" pitchFamily="34" charset="0"/>
              </a:rPr>
              <a:t> </a:t>
            </a:r>
            <a:r>
              <a:rPr lang="en-US" sz="1800" dirty="0">
                <a:effectLst/>
                <a:ea typeface="Calibri" panose="020F0502020204030204" pitchFamily="34" charset="0"/>
              </a:rPr>
              <a:t>that</a:t>
            </a:r>
            <a:r>
              <a:rPr lang="en-US" sz="1800" spc="5" dirty="0">
                <a:effectLst/>
                <a:ea typeface="Calibri" panose="020F0502020204030204" pitchFamily="34" charset="0"/>
              </a:rPr>
              <a:t> </a:t>
            </a:r>
            <a:r>
              <a:rPr lang="en-US" sz="1800" dirty="0">
                <a:effectLst/>
                <a:ea typeface="Calibri" panose="020F0502020204030204" pitchFamily="34" charset="0"/>
              </a:rPr>
              <a:t>describe</a:t>
            </a:r>
            <a:r>
              <a:rPr lang="en-US" sz="1800" spc="5" dirty="0">
                <a:effectLst/>
                <a:ea typeface="Calibri" panose="020F0502020204030204" pitchFamily="34" charset="0"/>
              </a:rPr>
              <a:t> </a:t>
            </a:r>
            <a:r>
              <a:rPr lang="en-US" sz="1800" dirty="0">
                <a:effectLst/>
                <a:ea typeface="Calibri" panose="020F0502020204030204" pitchFamily="34" charset="0"/>
              </a:rPr>
              <a:t>the</a:t>
            </a:r>
            <a:r>
              <a:rPr lang="en-US" sz="1800" spc="5" dirty="0">
                <a:effectLst/>
                <a:ea typeface="Calibri" panose="020F0502020204030204" pitchFamily="34" charset="0"/>
              </a:rPr>
              <a:t> </a:t>
            </a:r>
            <a:r>
              <a:rPr lang="en-US" sz="1800" dirty="0">
                <a:effectLst/>
                <a:ea typeface="Calibri" panose="020F0502020204030204" pitchFamily="34" charset="0"/>
              </a:rPr>
              <a:t>details</a:t>
            </a:r>
            <a:r>
              <a:rPr lang="en-US" sz="1800" spc="5" dirty="0">
                <a:effectLst/>
                <a:ea typeface="Calibri" panose="020F0502020204030204" pitchFamily="34" charset="0"/>
              </a:rPr>
              <a:t> </a:t>
            </a:r>
            <a:r>
              <a:rPr lang="en-US" sz="1800" dirty="0">
                <a:effectLst/>
                <a:ea typeface="Calibri" panose="020F0502020204030204" pitchFamily="34" charset="0"/>
              </a:rPr>
              <a:t>of</a:t>
            </a:r>
            <a:r>
              <a:rPr lang="en-US" sz="1800" spc="5" dirty="0">
                <a:effectLst/>
                <a:ea typeface="Calibri" panose="020F0502020204030204" pitchFamily="34" charset="0"/>
              </a:rPr>
              <a:t> </a:t>
            </a:r>
            <a:r>
              <a:rPr lang="en-US" sz="1800" dirty="0">
                <a:effectLst/>
                <a:ea typeface="Calibri" panose="020F0502020204030204" pitchFamily="34" charset="0"/>
              </a:rPr>
              <a:t>how</a:t>
            </a:r>
            <a:r>
              <a:rPr lang="en-US" sz="1800" spc="5" dirty="0">
                <a:effectLst/>
                <a:ea typeface="Calibri" panose="020F0502020204030204" pitchFamily="34" charset="0"/>
              </a:rPr>
              <a:t> </a:t>
            </a:r>
            <a:r>
              <a:rPr lang="en-US" sz="1800" dirty="0">
                <a:effectLst/>
                <a:ea typeface="Calibri" panose="020F0502020204030204" pitchFamily="34" charset="0"/>
              </a:rPr>
              <a:t>data</a:t>
            </a:r>
            <a:r>
              <a:rPr lang="en-US" sz="1800" spc="5" dirty="0">
                <a:effectLst/>
                <a:ea typeface="Calibri" panose="020F0502020204030204" pitchFamily="34" charset="0"/>
              </a:rPr>
              <a:t> </a:t>
            </a:r>
            <a:r>
              <a:rPr lang="en-US" sz="1800" dirty="0">
                <a:effectLst/>
                <a:ea typeface="Calibri" panose="020F0502020204030204" pitchFamily="34" charset="0"/>
              </a:rPr>
              <a:t>is</a:t>
            </a:r>
            <a:r>
              <a:rPr lang="en-US" sz="1800" spc="5" dirty="0">
                <a:effectLst/>
                <a:ea typeface="Calibri" panose="020F0502020204030204" pitchFamily="34" charset="0"/>
              </a:rPr>
              <a:t> </a:t>
            </a:r>
            <a:r>
              <a:rPr lang="en-US" sz="1800" dirty="0">
                <a:effectLst/>
                <a:ea typeface="Calibri" panose="020F0502020204030204" pitchFamily="34" charset="0"/>
              </a:rPr>
              <a:t>stored</a:t>
            </a:r>
            <a:r>
              <a:rPr lang="en-US" sz="1800" spc="5" dirty="0">
                <a:effectLst/>
                <a:ea typeface="Calibri" panose="020F0502020204030204" pitchFamily="34" charset="0"/>
              </a:rPr>
              <a:t> </a:t>
            </a:r>
            <a:r>
              <a:rPr lang="en-US" sz="1800" dirty="0">
                <a:effectLst/>
                <a:ea typeface="Calibri" panose="020F0502020204030204" pitchFamily="34" charset="0"/>
              </a:rPr>
              <a:t>on</a:t>
            </a:r>
            <a:r>
              <a:rPr lang="en-US" sz="1800" spc="5" dirty="0">
                <a:effectLst/>
                <a:ea typeface="Calibri" panose="020F0502020204030204" pitchFamily="34" charset="0"/>
              </a:rPr>
              <a:t> </a:t>
            </a:r>
            <a:r>
              <a:rPr lang="en-US" sz="1800" dirty="0">
                <a:effectLst/>
                <a:ea typeface="Calibri" panose="020F0502020204030204" pitchFamily="34" charset="0"/>
              </a:rPr>
              <a:t>the</a:t>
            </a:r>
            <a:r>
              <a:rPr lang="en-US" sz="1800" spc="5" dirty="0">
                <a:effectLst/>
                <a:ea typeface="Calibri" panose="020F0502020204030204" pitchFamily="34" charset="0"/>
              </a:rPr>
              <a:t> </a:t>
            </a:r>
            <a:r>
              <a:rPr lang="en-US" sz="1800" dirty="0">
                <a:effectLst/>
                <a:ea typeface="Calibri" panose="020F0502020204030204" pitchFamily="34" charset="0"/>
              </a:rPr>
              <a:t>computer</a:t>
            </a:r>
            <a:r>
              <a:rPr lang="en-US" sz="1800" spc="5" dirty="0">
                <a:effectLst/>
                <a:ea typeface="Calibri" panose="020F0502020204030204" pitchFamily="34" charset="0"/>
              </a:rPr>
              <a:t> </a:t>
            </a:r>
            <a:r>
              <a:rPr lang="en-US" sz="1800" dirty="0">
                <a:effectLst/>
                <a:ea typeface="Calibri" panose="020F0502020204030204" pitchFamily="34" charset="0"/>
              </a:rPr>
              <a:t>storage</a:t>
            </a:r>
            <a:r>
              <a:rPr lang="en-US" sz="1800" spc="245" dirty="0">
                <a:effectLst/>
                <a:ea typeface="Calibri" panose="020F0502020204030204" pitchFamily="34" charset="0"/>
              </a:rPr>
              <a:t> </a:t>
            </a:r>
            <a:r>
              <a:rPr lang="en-US" sz="1800" dirty="0">
                <a:effectLst/>
                <a:ea typeface="Calibri" panose="020F0502020204030204" pitchFamily="34" charset="0"/>
              </a:rPr>
              <a:t>media,</a:t>
            </a:r>
            <a:r>
              <a:rPr lang="en-US" sz="1800" spc="250" dirty="0">
                <a:effectLst/>
                <a:ea typeface="Calibri" panose="020F0502020204030204" pitchFamily="34" charset="0"/>
              </a:rPr>
              <a:t> </a:t>
            </a:r>
            <a:r>
              <a:rPr lang="en-US" sz="1800" dirty="0">
                <a:effectLst/>
                <a:ea typeface="Calibri" panose="020F0502020204030204" pitchFamily="34" charset="0"/>
              </a:rPr>
              <a:t>typically</a:t>
            </a:r>
            <a:r>
              <a:rPr lang="en-US" sz="1800" spc="-235" dirty="0">
                <a:effectLst/>
                <a:ea typeface="Calibri" panose="020F0502020204030204" pitchFamily="34" charset="0"/>
              </a:rPr>
              <a:t> </a:t>
            </a:r>
            <a:r>
              <a:rPr lang="en-US" sz="1800" dirty="0">
                <a:effectLst/>
                <a:ea typeface="Calibri" panose="020F0502020204030204" pitchFamily="34" charset="0"/>
              </a:rPr>
              <a:t>magnetic</a:t>
            </a:r>
            <a:r>
              <a:rPr lang="en-US" sz="1800" spc="-25" dirty="0">
                <a:effectLst/>
                <a:ea typeface="Calibri" panose="020F0502020204030204" pitchFamily="34" charset="0"/>
              </a:rPr>
              <a:t> </a:t>
            </a:r>
            <a:r>
              <a:rPr lang="en-US" sz="1800" dirty="0">
                <a:effectLst/>
                <a:ea typeface="Calibri" panose="020F0502020204030204" pitchFamily="34" charset="0"/>
              </a:rPr>
              <a:t>disks. </a:t>
            </a:r>
            <a:r>
              <a:rPr lang="en-US" dirty="0"/>
              <a:t> The physical Data Model is used to practically implement Relational Data Model. Ultimately, all data in a database is stored physically on a secondary storage device such as discs and tapes. This is stored in the form of files, records, and certain other data structures.</a:t>
            </a:r>
            <a:endParaRPr lang="en-US" sz="1800" dirty="0">
              <a:effectLst/>
              <a:ea typeface="Calibri" panose="020F0502020204030204" pitchFamily="34" charset="0"/>
            </a:endParaRPr>
          </a:p>
          <a:p>
            <a:pPr marL="389890" marR="0" algn="just">
              <a:spcBef>
                <a:spcPts val="795"/>
              </a:spcBef>
            </a:pPr>
            <a:r>
              <a:rPr lang="en-US" sz="1800" dirty="0">
                <a:effectLst/>
                <a:ea typeface="Calibri" panose="020F0502020204030204" pitchFamily="34" charset="0"/>
              </a:rPr>
              <a:t>-</a:t>
            </a:r>
            <a:r>
              <a:rPr lang="en-US" sz="1800" spc="-20" dirty="0">
                <a:effectLst/>
                <a:ea typeface="Calibri" panose="020F0502020204030204" pitchFamily="34" charset="0"/>
              </a:rPr>
              <a:t> </a:t>
            </a:r>
            <a:r>
              <a:rPr lang="en-US" sz="1800" dirty="0">
                <a:effectLst/>
                <a:ea typeface="Calibri" panose="020F0502020204030204" pitchFamily="34" charset="0"/>
              </a:rPr>
              <a:t>Concepts</a:t>
            </a:r>
            <a:r>
              <a:rPr lang="en-US" sz="1800" spc="-10" dirty="0">
                <a:effectLst/>
                <a:ea typeface="Calibri" panose="020F0502020204030204" pitchFamily="34" charset="0"/>
              </a:rPr>
              <a:t> </a:t>
            </a:r>
            <a:r>
              <a:rPr lang="en-US" sz="1800" dirty="0">
                <a:effectLst/>
                <a:ea typeface="Calibri" panose="020F0502020204030204" pitchFamily="34" charset="0"/>
              </a:rPr>
              <a:t>provided</a:t>
            </a:r>
            <a:r>
              <a:rPr lang="en-US" sz="1800" spc="-10" dirty="0">
                <a:effectLst/>
                <a:ea typeface="Calibri" panose="020F0502020204030204" pitchFamily="34" charset="0"/>
              </a:rPr>
              <a:t> </a:t>
            </a:r>
            <a:r>
              <a:rPr lang="en-US" sz="1800" dirty="0">
                <a:effectLst/>
                <a:ea typeface="Calibri" panose="020F0502020204030204" pitchFamily="34" charset="0"/>
              </a:rPr>
              <a:t>by</a:t>
            </a:r>
            <a:r>
              <a:rPr lang="en-US" sz="1800" spc="-10" dirty="0">
                <a:effectLst/>
                <a:ea typeface="Calibri" panose="020F0502020204030204" pitchFamily="34" charset="0"/>
              </a:rPr>
              <a:t> </a:t>
            </a:r>
            <a:r>
              <a:rPr lang="en-US" sz="1800" dirty="0">
                <a:effectLst/>
                <a:ea typeface="Calibri" panose="020F0502020204030204" pitchFamily="34" charset="0"/>
              </a:rPr>
              <a:t>low-level data</a:t>
            </a:r>
            <a:r>
              <a:rPr lang="en-US" sz="1800" spc="-10" dirty="0">
                <a:effectLst/>
                <a:ea typeface="Calibri" panose="020F0502020204030204" pitchFamily="34" charset="0"/>
              </a:rPr>
              <a:t> </a:t>
            </a:r>
            <a:r>
              <a:rPr lang="en-US" sz="1800" dirty="0">
                <a:effectLst/>
                <a:ea typeface="Calibri" panose="020F0502020204030204" pitchFamily="34" charset="0"/>
              </a:rPr>
              <a:t>models</a:t>
            </a:r>
            <a:r>
              <a:rPr lang="en-US" sz="1800" spc="-15" dirty="0">
                <a:effectLst/>
                <a:ea typeface="Calibri" panose="020F0502020204030204" pitchFamily="34" charset="0"/>
              </a:rPr>
              <a:t> </a:t>
            </a:r>
            <a:r>
              <a:rPr lang="en-US" sz="1800" dirty="0">
                <a:effectLst/>
                <a:ea typeface="Calibri" panose="020F0502020204030204" pitchFamily="34" charset="0"/>
              </a:rPr>
              <a:t>are</a:t>
            </a:r>
            <a:r>
              <a:rPr lang="en-US" sz="1800" spc="-35" dirty="0">
                <a:effectLst/>
                <a:ea typeface="Calibri" panose="020F0502020204030204" pitchFamily="34" charset="0"/>
              </a:rPr>
              <a:t> </a:t>
            </a:r>
            <a:r>
              <a:rPr lang="en-US" sz="1800" dirty="0">
                <a:effectLst/>
                <a:ea typeface="Calibri" panose="020F0502020204030204" pitchFamily="34" charset="0"/>
              </a:rPr>
              <a:t>generally</a:t>
            </a:r>
            <a:r>
              <a:rPr lang="en-US" sz="1800" spc="-10" dirty="0">
                <a:effectLst/>
                <a:ea typeface="Calibri" panose="020F0502020204030204" pitchFamily="34" charset="0"/>
              </a:rPr>
              <a:t> </a:t>
            </a:r>
            <a:r>
              <a:rPr lang="en-US" sz="1800" dirty="0">
                <a:effectLst/>
                <a:ea typeface="Calibri" panose="020F0502020204030204" pitchFamily="34" charset="0"/>
              </a:rPr>
              <a:t>meant</a:t>
            </a:r>
            <a:r>
              <a:rPr lang="en-US" sz="1800" spc="-30" dirty="0">
                <a:effectLst/>
                <a:ea typeface="Calibri" panose="020F0502020204030204" pitchFamily="34" charset="0"/>
              </a:rPr>
              <a:t> </a:t>
            </a:r>
            <a:r>
              <a:rPr lang="en-US" sz="1800" dirty="0">
                <a:effectLst/>
                <a:ea typeface="Calibri" panose="020F0502020204030204" pitchFamily="34" charset="0"/>
              </a:rPr>
              <a:t>for</a:t>
            </a:r>
            <a:r>
              <a:rPr lang="en-US" sz="1800" spc="-10" dirty="0">
                <a:effectLst/>
                <a:ea typeface="Calibri" panose="020F0502020204030204" pitchFamily="34" charset="0"/>
              </a:rPr>
              <a:t> </a:t>
            </a:r>
            <a:r>
              <a:rPr lang="en-US" sz="1800" dirty="0">
                <a:effectLst/>
                <a:ea typeface="Calibri" panose="020F0502020204030204" pitchFamily="34" charset="0"/>
              </a:rPr>
              <a:t>computer</a:t>
            </a:r>
            <a:r>
              <a:rPr lang="en-US" sz="1800" spc="-10" dirty="0">
                <a:effectLst/>
                <a:ea typeface="Calibri" panose="020F0502020204030204" pitchFamily="34" charset="0"/>
              </a:rPr>
              <a:t> </a:t>
            </a:r>
            <a:r>
              <a:rPr lang="en-US" sz="1800" dirty="0">
                <a:effectLst/>
                <a:ea typeface="Calibri" panose="020F0502020204030204" pitchFamily="34" charset="0"/>
              </a:rPr>
              <a:t>specialists,</a:t>
            </a:r>
            <a:r>
              <a:rPr lang="en-US" sz="1800" spc="-30" dirty="0">
                <a:effectLst/>
                <a:ea typeface="Calibri" panose="020F0502020204030204" pitchFamily="34" charset="0"/>
              </a:rPr>
              <a:t> </a:t>
            </a:r>
            <a:r>
              <a:rPr lang="en-US" sz="1800" dirty="0">
                <a:effectLst/>
                <a:ea typeface="Calibri" panose="020F0502020204030204" pitchFamily="34" charset="0"/>
              </a:rPr>
              <a:t>not</a:t>
            </a:r>
            <a:r>
              <a:rPr lang="en-US" sz="1800" spc="-20" dirty="0">
                <a:effectLst/>
                <a:ea typeface="Calibri" panose="020F0502020204030204" pitchFamily="34" charset="0"/>
              </a:rPr>
              <a:t> </a:t>
            </a:r>
            <a:r>
              <a:rPr lang="en-US" sz="1800" dirty="0">
                <a:effectLst/>
                <a:ea typeface="Calibri" panose="020F0502020204030204" pitchFamily="34" charset="0"/>
              </a:rPr>
              <a:t>for</a:t>
            </a:r>
            <a:r>
              <a:rPr lang="en-US" sz="1800" spc="-10" dirty="0">
                <a:effectLst/>
                <a:ea typeface="Calibri" panose="020F0502020204030204" pitchFamily="34" charset="0"/>
              </a:rPr>
              <a:t> </a:t>
            </a:r>
            <a:r>
              <a:rPr lang="en-US" sz="1800" dirty="0">
                <a:effectLst/>
                <a:ea typeface="Calibri" panose="020F0502020204030204" pitchFamily="34" charset="0"/>
              </a:rPr>
              <a:t>end</a:t>
            </a:r>
            <a:r>
              <a:rPr lang="en-US" sz="1800" spc="5" dirty="0">
                <a:effectLst/>
                <a:ea typeface="Calibri" panose="020F0502020204030204" pitchFamily="34" charset="0"/>
              </a:rPr>
              <a:t> </a:t>
            </a:r>
            <a:r>
              <a:rPr lang="en-US" sz="1800" dirty="0">
                <a:effectLst/>
                <a:ea typeface="Calibri" panose="020F0502020204030204" pitchFamily="34" charset="0"/>
              </a:rPr>
              <a:t>users</a:t>
            </a:r>
          </a:p>
          <a:p>
            <a:pPr marR="288290" lvl="1" algn="just">
              <a:spcBef>
                <a:spcPts val="5"/>
              </a:spcBef>
              <a:buSzPts val="1100"/>
              <a:tabLst>
                <a:tab pos="597535" algn="l"/>
              </a:tabLst>
            </a:pPr>
            <a:endParaRPr lang="en-US" dirty="0">
              <a:effectLst/>
              <a:ea typeface="Wingdings" panose="05000000000000000000" pitchFamily="2" charset="2"/>
              <a:cs typeface="Wingdings" panose="05000000000000000000" pitchFamily="2" charset="2"/>
            </a:endParaRPr>
          </a:p>
          <a:p>
            <a:endParaRPr lang="en-US" dirty="0"/>
          </a:p>
        </p:txBody>
      </p:sp>
    </p:spTree>
    <p:extLst>
      <p:ext uri="{BB962C8B-B14F-4D97-AF65-F5344CB8AC3E}">
        <p14:creationId xmlns:p14="http://schemas.microsoft.com/office/powerpoint/2010/main" val="1965800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979971-51C1-5F5F-56CF-B883C74836A4}"/>
              </a:ext>
            </a:extLst>
          </p:cNvPr>
          <p:cNvSpPr txBox="1"/>
          <p:nvPr/>
        </p:nvSpPr>
        <p:spPr>
          <a:xfrm>
            <a:off x="353961" y="339213"/>
            <a:ext cx="11562736" cy="4945713"/>
          </a:xfrm>
          <a:prstGeom prst="rect">
            <a:avLst/>
          </a:prstGeom>
          <a:noFill/>
        </p:spPr>
        <p:txBody>
          <a:bodyPr wrap="square" rtlCol="0">
            <a:spAutoFit/>
          </a:bodyPr>
          <a:lstStyle/>
          <a:p>
            <a:pPr marL="342900" marR="0" lvl="0" indent="-342900" algn="just">
              <a:spcBef>
                <a:spcPts val="790"/>
              </a:spcBef>
              <a:buSzPts val="1100"/>
              <a:buFont typeface="+mj-lt"/>
              <a:buAutoNum type="arabicPeriod" startAt="3"/>
              <a:tabLst>
                <a:tab pos="277495" algn="l"/>
              </a:tabLst>
            </a:pPr>
            <a:r>
              <a:rPr lang="en-US" sz="1800" b="1" spc="-10" dirty="0">
                <a:effectLst/>
                <a:ea typeface="Calibri" panose="020F0502020204030204" pitchFamily="34" charset="0"/>
              </a:rPr>
              <a:t>Representational</a:t>
            </a:r>
            <a:r>
              <a:rPr lang="en-US" sz="1800" b="1" spc="-25" dirty="0">
                <a:effectLst/>
                <a:ea typeface="Calibri" panose="020F0502020204030204" pitchFamily="34" charset="0"/>
              </a:rPr>
              <a:t> </a:t>
            </a:r>
            <a:r>
              <a:rPr lang="en-US" sz="1800" b="1" spc="-10" dirty="0">
                <a:effectLst/>
                <a:ea typeface="Calibri" panose="020F0502020204030204" pitchFamily="34" charset="0"/>
              </a:rPr>
              <a:t>(or</a:t>
            </a:r>
            <a:r>
              <a:rPr lang="en-US" sz="1800" b="1" spc="-20" dirty="0">
                <a:effectLst/>
                <a:ea typeface="Calibri" panose="020F0502020204030204" pitchFamily="34" charset="0"/>
              </a:rPr>
              <a:t> </a:t>
            </a:r>
            <a:r>
              <a:rPr lang="en-US" sz="1800" b="1" spc="-10" dirty="0">
                <a:effectLst/>
                <a:ea typeface="Calibri" panose="020F0502020204030204" pitchFamily="34" charset="0"/>
              </a:rPr>
              <a:t>implementation)</a:t>
            </a:r>
            <a:r>
              <a:rPr lang="en-US" sz="1800" b="1" spc="-25" dirty="0">
                <a:effectLst/>
                <a:ea typeface="Calibri" panose="020F0502020204030204" pitchFamily="34" charset="0"/>
              </a:rPr>
              <a:t> </a:t>
            </a:r>
            <a:r>
              <a:rPr lang="en-US" sz="1800" b="1" spc="-10" dirty="0">
                <a:effectLst/>
                <a:ea typeface="Calibri" panose="020F0502020204030204" pitchFamily="34" charset="0"/>
              </a:rPr>
              <a:t>data</a:t>
            </a:r>
            <a:r>
              <a:rPr lang="en-US" sz="1800" b="1" spc="-5" dirty="0">
                <a:effectLst/>
                <a:ea typeface="Calibri" panose="020F0502020204030204" pitchFamily="34" charset="0"/>
              </a:rPr>
              <a:t> </a:t>
            </a:r>
            <a:r>
              <a:rPr lang="en-US" sz="1800" b="1" spc="-10" dirty="0">
                <a:effectLst/>
                <a:ea typeface="Calibri" panose="020F0502020204030204" pitchFamily="34" charset="0"/>
              </a:rPr>
              <a:t>models</a:t>
            </a:r>
          </a:p>
          <a:p>
            <a:pPr marL="642938" marR="224155" lvl="0" indent="-285750" algn="just">
              <a:lnSpc>
                <a:spcPct val="101000"/>
              </a:lnSpc>
              <a:spcBef>
                <a:spcPts val="770"/>
              </a:spcBef>
              <a:buSzPts val="1100"/>
              <a:buFont typeface="Arial" panose="020B0604020202020204" pitchFamily="34" charset="0"/>
              <a:buChar char="•"/>
              <a:tabLst>
                <a:tab pos="469265" algn="l"/>
              </a:tabLst>
            </a:pPr>
            <a:r>
              <a:rPr lang="en-US" sz="1800" dirty="0">
                <a:effectLst/>
                <a:ea typeface="Calibri" panose="020F0502020204030204" pitchFamily="34" charset="0"/>
              </a:rPr>
              <a:t>provide</a:t>
            </a:r>
            <a:r>
              <a:rPr lang="en-US" sz="1800" spc="30" dirty="0">
                <a:effectLst/>
                <a:ea typeface="Calibri" panose="020F0502020204030204" pitchFamily="34" charset="0"/>
              </a:rPr>
              <a:t> </a:t>
            </a:r>
            <a:r>
              <a:rPr lang="en-US" sz="1800" dirty="0">
                <a:effectLst/>
                <a:ea typeface="Calibri" panose="020F0502020204030204" pitchFamily="34" charset="0"/>
              </a:rPr>
              <a:t>concepts</a:t>
            </a:r>
            <a:r>
              <a:rPr lang="en-US" sz="1800" spc="30" dirty="0">
                <a:effectLst/>
                <a:ea typeface="Calibri" panose="020F0502020204030204" pitchFamily="34" charset="0"/>
              </a:rPr>
              <a:t> </a:t>
            </a:r>
            <a:r>
              <a:rPr lang="en-US" sz="1800" dirty="0">
                <a:effectLst/>
                <a:ea typeface="Calibri" panose="020F0502020204030204" pitchFamily="34" charset="0"/>
              </a:rPr>
              <a:t>that</a:t>
            </a:r>
            <a:r>
              <a:rPr lang="en-US" sz="1800" spc="20" dirty="0">
                <a:effectLst/>
                <a:ea typeface="Calibri" panose="020F0502020204030204" pitchFamily="34" charset="0"/>
              </a:rPr>
              <a:t> </a:t>
            </a:r>
            <a:r>
              <a:rPr lang="en-US" sz="1800" dirty="0">
                <a:effectLst/>
                <a:ea typeface="Calibri" panose="020F0502020204030204" pitchFamily="34" charset="0"/>
              </a:rPr>
              <a:t>may</a:t>
            </a:r>
            <a:r>
              <a:rPr lang="en-US" sz="1800" spc="35" dirty="0">
                <a:effectLst/>
                <a:ea typeface="Calibri" panose="020F0502020204030204" pitchFamily="34" charset="0"/>
              </a:rPr>
              <a:t> </a:t>
            </a:r>
            <a:r>
              <a:rPr lang="en-US" sz="1800" dirty="0">
                <a:effectLst/>
                <a:ea typeface="Calibri" panose="020F0502020204030204" pitchFamily="34" charset="0"/>
              </a:rPr>
              <a:t>be</a:t>
            </a:r>
            <a:r>
              <a:rPr lang="en-US" sz="1800" spc="30" dirty="0">
                <a:effectLst/>
                <a:ea typeface="Calibri" panose="020F0502020204030204" pitchFamily="34" charset="0"/>
              </a:rPr>
              <a:t> </a:t>
            </a:r>
            <a:r>
              <a:rPr lang="en-US" sz="1800" dirty="0">
                <a:effectLst/>
                <a:ea typeface="Calibri" panose="020F0502020204030204" pitchFamily="34" charset="0"/>
              </a:rPr>
              <a:t>easily</a:t>
            </a:r>
            <a:r>
              <a:rPr lang="en-US" sz="1800" spc="35" dirty="0">
                <a:effectLst/>
                <a:ea typeface="Calibri" panose="020F0502020204030204" pitchFamily="34" charset="0"/>
              </a:rPr>
              <a:t> </a:t>
            </a:r>
            <a:r>
              <a:rPr lang="en-US" sz="1800" dirty="0">
                <a:effectLst/>
                <a:ea typeface="Calibri" panose="020F0502020204030204" pitchFamily="34" charset="0"/>
              </a:rPr>
              <a:t>understood</a:t>
            </a:r>
            <a:r>
              <a:rPr lang="en-US" sz="1800" spc="5" dirty="0">
                <a:effectLst/>
                <a:ea typeface="Calibri" panose="020F0502020204030204" pitchFamily="34" charset="0"/>
              </a:rPr>
              <a:t> </a:t>
            </a:r>
            <a:r>
              <a:rPr lang="en-US" sz="1800" dirty="0">
                <a:effectLst/>
                <a:ea typeface="Calibri" panose="020F0502020204030204" pitchFamily="34" charset="0"/>
              </a:rPr>
              <a:t>by</a:t>
            </a:r>
            <a:r>
              <a:rPr lang="en-US" sz="1800" spc="35" dirty="0">
                <a:effectLst/>
                <a:ea typeface="Calibri" panose="020F0502020204030204" pitchFamily="34" charset="0"/>
              </a:rPr>
              <a:t> </a:t>
            </a:r>
            <a:r>
              <a:rPr lang="en-US" sz="1800" dirty="0">
                <a:effectLst/>
                <a:ea typeface="Calibri" panose="020F0502020204030204" pitchFamily="34" charset="0"/>
              </a:rPr>
              <a:t>end</a:t>
            </a:r>
            <a:r>
              <a:rPr lang="en-US" sz="1800" spc="25" dirty="0">
                <a:effectLst/>
                <a:ea typeface="Calibri" panose="020F0502020204030204" pitchFamily="34" charset="0"/>
              </a:rPr>
              <a:t> </a:t>
            </a:r>
            <a:r>
              <a:rPr lang="en-US" sz="1800" dirty="0">
                <a:effectLst/>
                <a:ea typeface="Calibri" panose="020F0502020204030204" pitchFamily="34" charset="0"/>
              </a:rPr>
              <a:t>users</a:t>
            </a:r>
            <a:r>
              <a:rPr lang="en-US" sz="1800" spc="10" dirty="0">
                <a:effectLst/>
                <a:ea typeface="Calibri" panose="020F0502020204030204" pitchFamily="34" charset="0"/>
              </a:rPr>
              <a:t> </a:t>
            </a:r>
            <a:r>
              <a:rPr lang="en-US" sz="1800" dirty="0">
                <a:effectLst/>
                <a:ea typeface="Calibri" panose="020F0502020204030204" pitchFamily="34" charset="0"/>
              </a:rPr>
              <a:t>but</a:t>
            </a:r>
            <a:r>
              <a:rPr lang="en-US" sz="1800" spc="15" dirty="0">
                <a:effectLst/>
                <a:ea typeface="Calibri" panose="020F0502020204030204" pitchFamily="34" charset="0"/>
              </a:rPr>
              <a:t> </a:t>
            </a:r>
            <a:r>
              <a:rPr lang="en-US" sz="1800" dirty="0">
                <a:effectLst/>
                <a:ea typeface="Calibri" panose="020F0502020204030204" pitchFamily="34" charset="0"/>
              </a:rPr>
              <a:t>that</a:t>
            </a:r>
            <a:r>
              <a:rPr lang="en-US" sz="1800" spc="20" dirty="0">
                <a:effectLst/>
                <a:ea typeface="Calibri" panose="020F0502020204030204" pitchFamily="34" charset="0"/>
              </a:rPr>
              <a:t> </a:t>
            </a:r>
            <a:r>
              <a:rPr lang="en-US" sz="1800" dirty="0">
                <a:effectLst/>
                <a:ea typeface="Calibri" panose="020F0502020204030204" pitchFamily="34" charset="0"/>
              </a:rPr>
              <a:t>are</a:t>
            </a:r>
            <a:r>
              <a:rPr lang="en-US" sz="1800" spc="30" dirty="0">
                <a:effectLst/>
                <a:ea typeface="Calibri" panose="020F0502020204030204" pitchFamily="34" charset="0"/>
              </a:rPr>
              <a:t> </a:t>
            </a:r>
            <a:r>
              <a:rPr lang="en-US" sz="1800" dirty="0">
                <a:effectLst/>
                <a:ea typeface="Calibri" panose="020F0502020204030204" pitchFamily="34" charset="0"/>
              </a:rPr>
              <a:t>not</a:t>
            </a:r>
            <a:r>
              <a:rPr lang="en-US" sz="1800" spc="20" dirty="0">
                <a:effectLst/>
                <a:ea typeface="Calibri" panose="020F0502020204030204" pitchFamily="34" charset="0"/>
              </a:rPr>
              <a:t> </a:t>
            </a:r>
            <a:r>
              <a:rPr lang="en-US" sz="1800" dirty="0">
                <a:effectLst/>
                <a:ea typeface="Calibri" panose="020F0502020204030204" pitchFamily="34" charset="0"/>
              </a:rPr>
              <a:t>too</a:t>
            </a:r>
            <a:r>
              <a:rPr lang="en-US" sz="1800" spc="25" dirty="0">
                <a:effectLst/>
                <a:ea typeface="Calibri" panose="020F0502020204030204" pitchFamily="34" charset="0"/>
              </a:rPr>
              <a:t> </a:t>
            </a:r>
            <a:r>
              <a:rPr lang="en-US" sz="1800" dirty="0">
                <a:effectLst/>
                <a:ea typeface="Calibri" panose="020F0502020204030204" pitchFamily="34" charset="0"/>
              </a:rPr>
              <a:t>far</a:t>
            </a:r>
            <a:r>
              <a:rPr lang="en-US" sz="1800" spc="20" dirty="0">
                <a:effectLst/>
                <a:ea typeface="Calibri" panose="020F0502020204030204" pitchFamily="34" charset="0"/>
              </a:rPr>
              <a:t> </a:t>
            </a:r>
            <a:r>
              <a:rPr lang="en-US" sz="1800" dirty="0">
                <a:effectLst/>
                <a:ea typeface="Calibri" panose="020F0502020204030204" pitchFamily="34" charset="0"/>
              </a:rPr>
              <a:t>removed</a:t>
            </a:r>
            <a:r>
              <a:rPr lang="en-US" sz="1800" spc="5" dirty="0">
                <a:effectLst/>
                <a:ea typeface="Calibri" panose="020F0502020204030204" pitchFamily="34" charset="0"/>
              </a:rPr>
              <a:t> </a:t>
            </a:r>
            <a:r>
              <a:rPr lang="en-US" sz="1800" dirty="0">
                <a:effectLst/>
                <a:ea typeface="Calibri" panose="020F0502020204030204" pitchFamily="34" charset="0"/>
              </a:rPr>
              <a:t>from</a:t>
            </a:r>
            <a:r>
              <a:rPr lang="en-US" sz="1800" spc="35" dirty="0">
                <a:effectLst/>
                <a:ea typeface="Calibri" panose="020F0502020204030204" pitchFamily="34" charset="0"/>
              </a:rPr>
              <a:t> </a:t>
            </a:r>
            <a:r>
              <a:rPr lang="en-US" sz="1800" dirty="0">
                <a:effectLst/>
                <a:ea typeface="Calibri" panose="020F0502020204030204" pitchFamily="34" charset="0"/>
              </a:rPr>
              <a:t>the</a:t>
            </a:r>
            <a:r>
              <a:rPr lang="en-US" sz="1800" spc="35" dirty="0">
                <a:effectLst/>
                <a:ea typeface="Calibri" panose="020F0502020204030204" pitchFamily="34" charset="0"/>
              </a:rPr>
              <a:t> </a:t>
            </a:r>
            <a:r>
              <a:rPr lang="en-US" sz="1800" dirty="0">
                <a:effectLst/>
                <a:ea typeface="Calibri" panose="020F0502020204030204" pitchFamily="34" charset="0"/>
              </a:rPr>
              <a:t>way</a:t>
            </a:r>
            <a:r>
              <a:rPr lang="en-US" sz="1800" spc="35" dirty="0">
                <a:effectLst/>
                <a:ea typeface="Calibri" panose="020F0502020204030204" pitchFamily="34" charset="0"/>
              </a:rPr>
              <a:t> </a:t>
            </a:r>
            <a:r>
              <a:rPr lang="en-US" sz="1800" dirty="0">
                <a:effectLst/>
                <a:ea typeface="Calibri" panose="020F0502020204030204" pitchFamily="34" charset="0"/>
              </a:rPr>
              <a:t>data</a:t>
            </a:r>
            <a:r>
              <a:rPr lang="en-US" sz="1800" spc="-235" dirty="0">
                <a:effectLst/>
                <a:ea typeface="Calibri" panose="020F0502020204030204" pitchFamily="34" charset="0"/>
              </a:rPr>
              <a:t> </a:t>
            </a:r>
            <a:r>
              <a:rPr lang="en-US" sz="1800" dirty="0">
                <a:effectLst/>
                <a:ea typeface="Calibri" panose="020F0502020204030204" pitchFamily="34" charset="0"/>
              </a:rPr>
              <a:t>is</a:t>
            </a:r>
            <a:r>
              <a:rPr lang="en-US" sz="1800" spc="-15" dirty="0">
                <a:effectLst/>
                <a:ea typeface="Calibri" panose="020F0502020204030204" pitchFamily="34" charset="0"/>
              </a:rPr>
              <a:t> </a:t>
            </a:r>
            <a:r>
              <a:rPr lang="en-US" sz="1800" dirty="0">
                <a:effectLst/>
                <a:ea typeface="Calibri" panose="020F0502020204030204" pitchFamily="34" charset="0"/>
              </a:rPr>
              <a:t>organized</a:t>
            </a:r>
            <a:r>
              <a:rPr lang="en-US" sz="1800" spc="-10" dirty="0">
                <a:effectLst/>
                <a:ea typeface="Calibri" panose="020F0502020204030204" pitchFamily="34" charset="0"/>
              </a:rPr>
              <a:t> </a:t>
            </a:r>
            <a:r>
              <a:rPr lang="en-US" sz="1800" dirty="0">
                <a:effectLst/>
                <a:ea typeface="Calibri" panose="020F0502020204030204" pitchFamily="34" charset="0"/>
              </a:rPr>
              <a:t>in</a:t>
            </a:r>
            <a:r>
              <a:rPr lang="en-US" sz="1800" spc="-15" dirty="0">
                <a:effectLst/>
                <a:ea typeface="Calibri" panose="020F0502020204030204" pitchFamily="34" charset="0"/>
              </a:rPr>
              <a:t> </a:t>
            </a:r>
            <a:r>
              <a:rPr lang="en-US" sz="1800" dirty="0">
                <a:effectLst/>
                <a:ea typeface="Calibri" panose="020F0502020204030204" pitchFamily="34" charset="0"/>
              </a:rPr>
              <a:t>computer</a:t>
            </a:r>
            <a:r>
              <a:rPr lang="en-US" sz="1800" spc="-10" dirty="0">
                <a:effectLst/>
                <a:ea typeface="Calibri" panose="020F0502020204030204" pitchFamily="34" charset="0"/>
              </a:rPr>
              <a:t> </a:t>
            </a:r>
            <a:r>
              <a:rPr lang="en-US" sz="1800" dirty="0">
                <a:effectLst/>
                <a:ea typeface="Calibri" panose="020F0502020204030204" pitchFamily="34" charset="0"/>
              </a:rPr>
              <a:t>storage. </a:t>
            </a:r>
            <a:r>
              <a:rPr lang="en-US" dirty="0"/>
              <a:t>This type of data model is used to represent only the logical part of the database and does not represent the physical structure of the database. The representational data model allows us to focus primarily, on the design part of the database. A popular representational model is a Relational model.</a:t>
            </a:r>
          </a:p>
          <a:p>
            <a:pPr marL="645160" marR="0" indent="-285750" algn="just">
              <a:spcBef>
                <a:spcPts val="765"/>
              </a:spcBef>
              <a:buFont typeface="Arial" panose="020B0604020202020204" pitchFamily="34" charset="0"/>
              <a:buChar char="•"/>
            </a:pPr>
            <a:r>
              <a:rPr lang="en-US" sz="1800" dirty="0">
                <a:effectLst/>
                <a:ea typeface="Calibri" panose="020F0502020204030204" pitchFamily="34" charset="0"/>
              </a:rPr>
              <a:t>in</a:t>
            </a:r>
            <a:r>
              <a:rPr lang="en-US" sz="1800" spc="-15" dirty="0">
                <a:effectLst/>
                <a:ea typeface="Calibri" panose="020F0502020204030204" pitchFamily="34" charset="0"/>
              </a:rPr>
              <a:t> </a:t>
            </a:r>
            <a:r>
              <a:rPr lang="en-US" sz="1800" dirty="0">
                <a:effectLst/>
                <a:ea typeface="Calibri" panose="020F0502020204030204" pitchFamily="34" charset="0"/>
              </a:rPr>
              <a:t>between</a:t>
            </a:r>
            <a:r>
              <a:rPr lang="en-US" sz="1800" spc="-10" dirty="0">
                <a:effectLst/>
                <a:ea typeface="Calibri" panose="020F0502020204030204" pitchFamily="34" charset="0"/>
              </a:rPr>
              <a:t> </a:t>
            </a:r>
            <a:r>
              <a:rPr lang="en-US" sz="1800" dirty="0">
                <a:effectLst/>
                <a:ea typeface="Calibri" panose="020F0502020204030204" pitchFamily="34" charset="0"/>
              </a:rPr>
              <a:t>high</a:t>
            </a:r>
            <a:r>
              <a:rPr lang="en-US" sz="1800" spc="-15" dirty="0">
                <a:effectLst/>
                <a:ea typeface="Calibri" panose="020F0502020204030204" pitchFamily="34" charset="0"/>
              </a:rPr>
              <a:t> </a:t>
            </a:r>
            <a:r>
              <a:rPr lang="en-US" sz="1800" dirty="0">
                <a:effectLst/>
                <a:ea typeface="Calibri" panose="020F0502020204030204" pitchFamily="34" charset="0"/>
              </a:rPr>
              <a:t>level and</a:t>
            </a:r>
            <a:r>
              <a:rPr lang="en-US" sz="1800" spc="-15" dirty="0">
                <a:effectLst/>
                <a:ea typeface="Calibri" panose="020F0502020204030204" pitchFamily="34" charset="0"/>
              </a:rPr>
              <a:t> </a:t>
            </a:r>
            <a:r>
              <a:rPr lang="en-US" sz="1800" dirty="0">
                <a:effectLst/>
                <a:ea typeface="Calibri" panose="020F0502020204030204" pitchFamily="34" charset="0"/>
              </a:rPr>
              <a:t>low</a:t>
            </a:r>
            <a:r>
              <a:rPr lang="en-US" sz="1800" spc="-10" dirty="0">
                <a:effectLst/>
                <a:ea typeface="Calibri" panose="020F0502020204030204" pitchFamily="34" charset="0"/>
              </a:rPr>
              <a:t> </a:t>
            </a:r>
            <a:r>
              <a:rPr lang="en-US" sz="1800" dirty="0">
                <a:effectLst/>
                <a:ea typeface="Calibri" panose="020F0502020204030204" pitchFamily="34" charset="0"/>
              </a:rPr>
              <a:t>level</a:t>
            </a:r>
          </a:p>
          <a:p>
            <a:pPr marL="620713" marR="0" lvl="0" indent="-263525" algn="just">
              <a:spcBef>
                <a:spcPts val="820"/>
              </a:spcBef>
              <a:buSzPts val="1100"/>
              <a:buFont typeface="Arial" panose="020B0604020202020204" pitchFamily="34" charset="0"/>
              <a:buChar char="•"/>
              <a:tabLst>
                <a:tab pos="463550" algn="l"/>
              </a:tabLst>
            </a:pPr>
            <a:r>
              <a:rPr lang="en-US" dirty="0"/>
              <a:t>In the Relational Model, we basically use tables to represent our data and the relationships between them.</a:t>
            </a:r>
            <a:endParaRPr lang="en-US" sz="1800" b="1" kern="0" dirty="0">
              <a:effectLst/>
              <a:latin typeface="Times New Roman" panose="02020603050405020304" pitchFamily="18" charset="0"/>
              <a:ea typeface="Calibri" panose="020F0502020204030204" pitchFamily="34" charset="0"/>
            </a:endParaRPr>
          </a:p>
          <a:p>
            <a:pPr marR="0" algn="just">
              <a:spcBef>
                <a:spcPts val="770"/>
              </a:spcBef>
              <a:buNone/>
            </a:pPr>
            <a:r>
              <a:rPr lang="en-US" sz="2000" b="1" u="sng" kern="0" dirty="0">
                <a:effectLst/>
                <a:latin typeface="Times New Roman" panose="02020603050405020304" pitchFamily="18" charset="0"/>
                <a:ea typeface="Calibri" panose="020F0502020204030204" pitchFamily="34" charset="0"/>
              </a:rPr>
              <a:t>Schemas</a:t>
            </a:r>
            <a:endParaRPr lang="en-US" sz="2000" b="1" u="sng" kern="0" dirty="0">
              <a:effectLst/>
              <a:latin typeface="Calibri" panose="020F0502020204030204" pitchFamily="34" charset="0"/>
              <a:ea typeface="Calibri" panose="020F0502020204030204" pitchFamily="34" charset="0"/>
            </a:endParaRPr>
          </a:p>
          <a:p>
            <a:pPr marL="285750" indent="-285750">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The</a:t>
            </a:r>
            <a:r>
              <a:rPr lang="en-US" sz="1800" spc="180"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description</a:t>
            </a:r>
            <a:r>
              <a:rPr lang="en-US" sz="1800" spc="170"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of</a:t>
            </a:r>
            <a:r>
              <a:rPr lang="en-US" sz="1800" spc="20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a</a:t>
            </a:r>
            <a:r>
              <a:rPr lang="en-US" sz="1800" spc="17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database</a:t>
            </a:r>
            <a:r>
              <a:rPr lang="en-US" sz="1800" spc="180"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is</a:t>
            </a:r>
            <a:r>
              <a:rPr lang="en-US" sz="1800" spc="20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called</a:t>
            </a:r>
            <a:r>
              <a:rPr lang="en-US" sz="1800" spc="17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the</a:t>
            </a:r>
            <a:r>
              <a:rPr lang="en-US" sz="1800" spc="205" dirty="0">
                <a:effectLst/>
                <a:latin typeface="Times New Roman" panose="02020603050405020304" pitchFamily="18" charset="0"/>
                <a:ea typeface="Calibri" panose="020F0502020204030204" pitchFamily="34" charset="0"/>
              </a:rPr>
              <a:t> </a:t>
            </a:r>
            <a:r>
              <a:rPr lang="en-US" sz="1800" b="1" dirty="0">
                <a:effectLst/>
                <a:latin typeface="Times New Roman" panose="02020603050405020304" pitchFamily="18" charset="0"/>
                <a:ea typeface="Calibri" panose="020F0502020204030204" pitchFamily="34" charset="0"/>
              </a:rPr>
              <a:t>database</a:t>
            </a:r>
            <a:r>
              <a:rPr lang="en-US" sz="1800" b="1" spc="170" dirty="0">
                <a:effectLst/>
                <a:latin typeface="Times New Roman" panose="02020603050405020304" pitchFamily="18" charset="0"/>
                <a:ea typeface="Calibri" panose="020F0502020204030204" pitchFamily="34" charset="0"/>
              </a:rPr>
              <a:t> </a:t>
            </a:r>
            <a:r>
              <a:rPr lang="en-US" sz="1800" b="1" dirty="0">
                <a:effectLst/>
                <a:latin typeface="Times New Roman" panose="02020603050405020304" pitchFamily="18" charset="0"/>
                <a:ea typeface="Calibri" panose="020F0502020204030204" pitchFamily="34" charset="0"/>
              </a:rPr>
              <a:t>schema</a:t>
            </a:r>
            <a:r>
              <a:rPr lang="en-US" sz="1800" dirty="0">
                <a:effectLst/>
                <a:latin typeface="Times New Roman" panose="02020603050405020304" pitchFamily="18" charset="0"/>
                <a:ea typeface="Calibri" panose="020F0502020204030204" pitchFamily="34" charset="0"/>
              </a:rPr>
              <a:t>,</a:t>
            </a:r>
            <a:r>
              <a:rPr lang="en-US" sz="1800" spc="16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which</a:t>
            </a:r>
            <a:r>
              <a:rPr lang="en-US" sz="1800" spc="200"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is</a:t>
            </a:r>
            <a:r>
              <a:rPr lang="en-US" sz="1800" spc="17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specified</a:t>
            </a:r>
            <a:r>
              <a:rPr lang="en-US" sz="1800" spc="180"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during</a:t>
            </a:r>
            <a:r>
              <a:rPr lang="en-US" sz="1800" spc="18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database</a:t>
            </a:r>
            <a:r>
              <a:rPr lang="en-US" sz="1800" spc="180"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design</a:t>
            </a:r>
            <a:r>
              <a:rPr lang="en-US" sz="1800" spc="17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and</a:t>
            </a:r>
            <a:r>
              <a:rPr lang="en-US" sz="1800" spc="170"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is</a:t>
            </a:r>
            <a:r>
              <a:rPr lang="en-US" sz="1800" spc="17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not</a:t>
            </a:r>
            <a:r>
              <a:rPr lang="en-US" sz="1800" spc="-230"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expected</a:t>
            </a:r>
            <a:r>
              <a:rPr lang="en-US" sz="1800" spc="-1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to</a:t>
            </a:r>
            <a:r>
              <a:rPr lang="en-US" sz="1800" spc="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change</a:t>
            </a:r>
            <a:r>
              <a:rPr lang="en-US" sz="1800" spc="-10"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frequently.</a:t>
            </a:r>
          </a:p>
          <a:p>
            <a:pPr marL="285750" indent="-285750">
              <a:buFont typeface="Arial" panose="020B0604020202020204" pitchFamily="34" charset="0"/>
              <a:buChar char="•"/>
            </a:pPr>
            <a:endParaRPr lang="en-US" dirty="0">
              <a:latin typeface="Times New Roman" panose="02020603050405020304" pitchFamily="18" charset="0"/>
              <a:ea typeface="Calibri" panose="020F0502020204030204" pitchFamily="34" charset="0"/>
            </a:endParaRPr>
          </a:p>
          <a:p>
            <a:pPr marL="285750" indent="-285750">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A</a:t>
            </a:r>
            <a:r>
              <a:rPr lang="en-US" sz="1800" spc="-10"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displayed</a:t>
            </a:r>
            <a:r>
              <a:rPr lang="en-US" sz="1800" spc="-1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schema</a:t>
            </a:r>
            <a:r>
              <a:rPr lang="en-US" sz="1800" spc="-15"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is</a:t>
            </a:r>
            <a:r>
              <a:rPr lang="en-US" sz="1800" spc="-10"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called</a:t>
            </a:r>
            <a:r>
              <a:rPr lang="en-US" sz="1800" spc="-10" dirty="0">
                <a:effectLst/>
                <a:latin typeface="Times New Roman" panose="02020603050405020304" pitchFamily="18" charset="0"/>
                <a:ea typeface="Calibri" panose="020F0502020204030204" pitchFamily="34" charset="0"/>
              </a:rPr>
              <a:t> </a:t>
            </a:r>
            <a:r>
              <a:rPr lang="en-US" sz="1800" dirty="0">
                <a:effectLst/>
                <a:latin typeface="Times New Roman" panose="02020603050405020304" pitchFamily="18" charset="0"/>
                <a:ea typeface="Calibri" panose="020F0502020204030204" pitchFamily="34" charset="0"/>
              </a:rPr>
              <a:t>a</a:t>
            </a:r>
            <a:r>
              <a:rPr lang="en-US" sz="1800" spc="-5" dirty="0">
                <a:effectLst/>
                <a:latin typeface="Times New Roman" panose="02020603050405020304" pitchFamily="18" charset="0"/>
                <a:ea typeface="Calibri" panose="020F0502020204030204" pitchFamily="34" charset="0"/>
              </a:rPr>
              <a:t> </a:t>
            </a:r>
            <a:r>
              <a:rPr lang="en-US" sz="1800" b="1" dirty="0">
                <a:effectLst/>
                <a:latin typeface="Times New Roman" panose="02020603050405020304" pitchFamily="18" charset="0"/>
                <a:ea typeface="Calibri" panose="020F0502020204030204" pitchFamily="34" charset="0"/>
              </a:rPr>
              <a:t>schema</a:t>
            </a:r>
            <a:r>
              <a:rPr lang="en-US" sz="1800" b="1" spc="-5" dirty="0">
                <a:effectLst/>
                <a:latin typeface="Times New Roman" panose="02020603050405020304" pitchFamily="18" charset="0"/>
                <a:ea typeface="Calibri" panose="020F0502020204030204" pitchFamily="34" charset="0"/>
              </a:rPr>
              <a:t> </a:t>
            </a:r>
            <a:r>
              <a:rPr lang="en-US" sz="1800" b="1" dirty="0">
                <a:effectLst/>
                <a:latin typeface="Times New Roman" panose="02020603050405020304" pitchFamily="18" charset="0"/>
                <a:ea typeface="Calibri" panose="020F0502020204030204" pitchFamily="34" charset="0"/>
              </a:rPr>
              <a:t>diagram.</a:t>
            </a:r>
          </a:p>
          <a:p>
            <a:pPr marL="285750" indent="-285750">
              <a:buFont typeface="Arial" panose="020B0604020202020204" pitchFamily="34" charset="0"/>
              <a:buChar char="•"/>
            </a:pPr>
            <a:endParaRPr lang="en-US" b="1" dirty="0">
              <a:latin typeface="Times New Roman" panose="02020603050405020304" pitchFamily="18" charset="0"/>
              <a:ea typeface="Calibri" panose="020F0502020204030204" pitchFamily="34" charset="0"/>
            </a:endParaRPr>
          </a:p>
          <a:p>
            <a:pPr marL="285750" indent="-285750">
              <a:buFont typeface="Arial" panose="020B0604020202020204" pitchFamily="34" charset="0"/>
              <a:buChar char="•"/>
            </a:pPr>
            <a:endParaRPr lang="en-US" sz="1800" dirty="0">
              <a:effectLst/>
              <a:latin typeface="Calibri" panose="020F0502020204030204" pitchFamily="34" charset="0"/>
              <a:ea typeface="Calibri" panose="020F0502020204030204" pitchFamily="34" charset="0"/>
            </a:endParaRPr>
          </a:p>
          <a:p>
            <a:pPr>
              <a:buNone/>
            </a:pPr>
            <a:endParaRPr lang="en-US" sz="1800" dirty="0">
              <a:effectLst/>
              <a:ea typeface="Calibri" panose="020F0502020204030204" pitchFamily="34" charset="0"/>
            </a:endParaRPr>
          </a:p>
          <a:p>
            <a:endParaRPr lang="en-US" dirty="0"/>
          </a:p>
        </p:txBody>
      </p:sp>
      <p:pic>
        <p:nvPicPr>
          <p:cNvPr id="4" name="Picture 3">
            <a:extLst>
              <a:ext uri="{FF2B5EF4-FFF2-40B4-BE49-F238E27FC236}">
                <a16:creationId xmlns:a16="http://schemas.microsoft.com/office/drawing/2014/main" id="{958A4FAD-1D85-BA35-4764-7A38CE4FDE51}"/>
              </a:ext>
            </a:extLst>
          </p:cNvPr>
          <p:cNvPicPr>
            <a:picLocks noChangeAspect="1"/>
          </p:cNvPicPr>
          <p:nvPr/>
        </p:nvPicPr>
        <p:blipFill>
          <a:blip r:embed="rId2"/>
          <a:stretch>
            <a:fillRect/>
          </a:stretch>
        </p:blipFill>
        <p:spPr>
          <a:xfrm>
            <a:off x="5697860" y="3297141"/>
            <a:ext cx="6218837" cy="2941754"/>
          </a:xfrm>
          <a:prstGeom prst="rect">
            <a:avLst/>
          </a:prstGeom>
        </p:spPr>
      </p:pic>
    </p:spTree>
    <p:extLst>
      <p:ext uri="{BB962C8B-B14F-4D97-AF65-F5344CB8AC3E}">
        <p14:creationId xmlns:p14="http://schemas.microsoft.com/office/powerpoint/2010/main" val="1091544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C81084-4629-256D-76D0-26707D0ED8BF}"/>
              </a:ext>
            </a:extLst>
          </p:cNvPr>
          <p:cNvSpPr txBox="1"/>
          <p:nvPr/>
        </p:nvSpPr>
        <p:spPr>
          <a:xfrm>
            <a:off x="324465" y="280219"/>
            <a:ext cx="11488993" cy="5683607"/>
          </a:xfrm>
          <a:prstGeom prst="rect">
            <a:avLst/>
          </a:prstGeom>
          <a:noFill/>
        </p:spPr>
        <p:txBody>
          <a:bodyPr wrap="square" rtlCol="0">
            <a:spAutoFit/>
          </a:bodyPr>
          <a:lstStyle/>
          <a:p>
            <a:pPr marL="342900" indent="-342900">
              <a:buFont typeface="Arial" panose="020B0604020202020204" pitchFamily="34" charset="0"/>
              <a:buChar char="•"/>
            </a:pP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a:effectLst/>
                <a:ea typeface="Calibri" panose="020F0502020204030204" pitchFamily="34" charset="0"/>
              </a:rPr>
              <a:t>schema</a:t>
            </a:r>
            <a:r>
              <a:rPr lang="en-US" sz="2000" spc="5" dirty="0">
                <a:effectLst/>
                <a:ea typeface="Calibri" panose="020F0502020204030204" pitchFamily="34" charset="0"/>
              </a:rPr>
              <a:t> </a:t>
            </a:r>
            <a:r>
              <a:rPr lang="en-US" sz="2000" dirty="0">
                <a:effectLst/>
                <a:ea typeface="Calibri" panose="020F0502020204030204" pitchFamily="34" charset="0"/>
              </a:rPr>
              <a:t>diagram</a:t>
            </a:r>
            <a:r>
              <a:rPr lang="en-US" sz="2000" spc="10" dirty="0">
                <a:effectLst/>
                <a:ea typeface="Calibri" panose="020F0502020204030204" pitchFamily="34" charset="0"/>
              </a:rPr>
              <a:t> </a:t>
            </a:r>
            <a:r>
              <a:rPr lang="en-US" sz="2000" dirty="0">
                <a:effectLst/>
                <a:ea typeface="Calibri" panose="020F0502020204030204" pitchFamily="34" charset="0"/>
              </a:rPr>
              <a:t>displays</a:t>
            </a:r>
            <a:r>
              <a:rPr lang="en-US" sz="2000" spc="10" dirty="0">
                <a:effectLst/>
                <a:ea typeface="Calibri" panose="020F0502020204030204" pitchFamily="34" charset="0"/>
              </a:rPr>
              <a:t> </a:t>
            </a:r>
            <a:r>
              <a:rPr lang="en-US" sz="2000" dirty="0">
                <a:effectLst/>
                <a:ea typeface="Calibri" panose="020F0502020204030204" pitchFamily="34" charset="0"/>
              </a:rPr>
              <a:t>only</a:t>
            </a:r>
            <a:r>
              <a:rPr lang="en-US" sz="2000" spc="10" dirty="0">
                <a:effectLst/>
                <a:ea typeface="Calibri" panose="020F0502020204030204" pitchFamily="34" charset="0"/>
              </a:rPr>
              <a:t> </a:t>
            </a:r>
            <a:r>
              <a:rPr lang="en-US" sz="2000" dirty="0">
                <a:effectLst/>
                <a:ea typeface="Calibri" panose="020F0502020204030204" pitchFamily="34" charset="0"/>
              </a:rPr>
              <a:t>some</a:t>
            </a:r>
            <a:r>
              <a:rPr lang="en-US" sz="2000" spc="10" dirty="0">
                <a:effectLst/>
                <a:ea typeface="Calibri" panose="020F0502020204030204" pitchFamily="34" charset="0"/>
              </a:rPr>
              <a:t> </a:t>
            </a:r>
            <a:r>
              <a:rPr lang="en-US" sz="2000" dirty="0">
                <a:effectLst/>
                <a:ea typeface="Calibri" panose="020F0502020204030204" pitchFamily="34" charset="0"/>
              </a:rPr>
              <a:t>aspects</a:t>
            </a:r>
            <a:r>
              <a:rPr lang="en-US" sz="2000" spc="5"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5" dirty="0">
                <a:effectLst/>
                <a:ea typeface="Calibri" panose="020F0502020204030204" pitchFamily="34" charset="0"/>
              </a:rPr>
              <a:t> </a:t>
            </a:r>
            <a:r>
              <a:rPr lang="en-US" sz="2000" dirty="0">
                <a:effectLst/>
                <a:ea typeface="Calibri" panose="020F0502020204030204" pitchFamily="34" charset="0"/>
              </a:rPr>
              <a:t>schema,</a:t>
            </a:r>
            <a:r>
              <a:rPr lang="en-US" sz="2000" spc="-5" dirty="0">
                <a:effectLst/>
                <a:ea typeface="Calibri" panose="020F0502020204030204" pitchFamily="34" charset="0"/>
              </a:rPr>
              <a:t> </a:t>
            </a:r>
            <a:r>
              <a:rPr lang="en-US" sz="2000" dirty="0">
                <a:effectLst/>
                <a:ea typeface="Calibri" panose="020F0502020204030204" pitchFamily="34" charset="0"/>
              </a:rPr>
              <a:t>such</a:t>
            </a:r>
            <a:r>
              <a:rPr lang="en-US" sz="2000" spc="45" dirty="0">
                <a:effectLst/>
                <a:ea typeface="Calibri" panose="020F0502020204030204" pitchFamily="34" charset="0"/>
              </a:rPr>
              <a:t> </a:t>
            </a:r>
            <a:r>
              <a:rPr lang="en-US" sz="2000" dirty="0">
                <a:effectLst/>
                <a:ea typeface="Calibri" panose="020F0502020204030204" pitchFamily="34" charset="0"/>
              </a:rPr>
              <a:t>as</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names</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record</a:t>
            </a:r>
            <a:r>
              <a:rPr lang="en-US" sz="2000" spc="5" dirty="0">
                <a:effectLst/>
                <a:ea typeface="Calibri" panose="020F0502020204030204" pitchFamily="34" charset="0"/>
              </a:rPr>
              <a:t> </a:t>
            </a:r>
            <a:r>
              <a:rPr lang="en-US" sz="2000" dirty="0">
                <a:effectLst/>
                <a:ea typeface="Calibri" panose="020F0502020204030204" pitchFamily="34" charset="0"/>
              </a:rPr>
              <a:t>types</a:t>
            </a:r>
            <a:r>
              <a:rPr lang="en-US" sz="2000" spc="10" dirty="0">
                <a:effectLst/>
                <a:ea typeface="Calibri" panose="020F0502020204030204" pitchFamily="34" charset="0"/>
              </a:rPr>
              <a:t> </a:t>
            </a:r>
            <a:r>
              <a:rPr lang="en-US" sz="2000" dirty="0">
                <a:effectLst/>
                <a:ea typeface="Calibri" panose="020F0502020204030204" pitchFamily="34" charset="0"/>
              </a:rPr>
              <a:t>and</a:t>
            </a:r>
            <a:r>
              <a:rPr lang="en-US" sz="2000" spc="5" dirty="0">
                <a:effectLst/>
                <a:ea typeface="Calibri" panose="020F0502020204030204" pitchFamily="34" charset="0"/>
              </a:rPr>
              <a:t> </a:t>
            </a:r>
            <a:r>
              <a:rPr lang="en-US" sz="2000" dirty="0">
                <a:effectLst/>
                <a:ea typeface="Calibri" panose="020F0502020204030204" pitchFamily="34" charset="0"/>
              </a:rPr>
              <a:t>data</a:t>
            </a:r>
            <a:r>
              <a:rPr lang="en-US" sz="2000" spc="5" dirty="0">
                <a:effectLst/>
                <a:ea typeface="Calibri" panose="020F0502020204030204" pitchFamily="34" charset="0"/>
              </a:rPr>
              <a:t> </a:t>
            </a:r>
            <a:r>
              <a:rPr lang="en-US" sz="2000" dirty="0">
                <a:effectLst/>
                <a:ea typeface="Calibri" panose="020F0502020204030204" pitchFamily="34" charset="0"/>
              </a:rPr>
              <a:t>items,</a:t>
            </a:r>
            <a:r>
              <a:rPr lang="en-US" sz="2000" spc="-5" dirty="0">
                <a:effectLst/>
                <a:ea typeface="Calibri" panose="020F0502020204030204" pitchFamily="34" charset="0"/>
              </a:rPr>
              <a:t> </a:t>
            </a:r>
            <a:r>
              <a:rPr lang="en-US" sz="2000" dirty="0">
                <a:effectLst/>
                <a:ea typeface="Calibri" panose="020F0502020204030204" pitchFamily="34" charset="0"/>
              </a:rPr>
              <a:t>and</a:t>
            </a:r>
            <a:r>
              <a:rPr lang="en-US" sz="2000" spc="5" dirty="0">
                <a:effectLst/>
                <a:ea typeface="Calibri" panose="020F0502020204030204" pitchFamily="34" charset="0"/>
              </a:rPr>
              <a:t> </a:t>
            </a:r>
            <a:r>
              <a:rPr lang="en-US" sz="2000" dirty="0">
                <a:effectLst/>
                <a:ea typeface="Calibri" panose="020F0502020204030204" pitchFamily="34" charset="0"/>
              </a:rPr>
              <a:t>some</a:t>
            </a:r>
            <a:r>
              <a:rPr lang="en-US" sz="2000" spc="-230" dirty="0">
                <a:effectLst/>
                <a:ea typeface="Calibri" panose="020F0502020204030204" pitchFamily="34" charset="0"/>
              </a:rPr>
              <a:t> </a:t>
            </a:r>
            <a:r>
              <a:rPr lang="en-US" sz="2000" dirty="0">
                <a:effectLst/>
                <a:ea typeface="Calibri" panose="020F0502020204030204" pitchFamily="34" charset="0"/>
              </a:rPr>
              <a:t>types</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constraints.</a:t>
            </a:r>
          </a:p>
          <a:p>
            <a:pPr marL="342900" indent="-342900">
              <a:buFont typeface="Arial" panose="020B0604020202020204" pitchFamily="34" charset="0"/>
              <a:buChar char="•"/>
            </a:pPr>
            <a:endParaRPr lang="en-US" sz="2000" dirty="0">
              <a:ea typeface="Calibri" panose="020F0502020204030204" pitchFamily="34" charset="0"/>
            </a:endParaRPr>
          </a:p>
          <a:p>
            <a:pPr marL="342900" indent="-342900">
              <a:buFont typeface="Arial" panose="020B0604020202020204" pitchFamily="34" charset="0"/>
              <a:buChar char="•"/>
            </a:pPr>
            <a:r>
              <a:rPr lang="en-US" sz="2000" dirty="0">
                <a:effectLst/>
                <a:ea typeface="Calibri" panose="020F0502020204030204" pitchFamily="34" charset="0"/>
              </a:rPr>
              <a:t>The data in the database at a particular moment in time is called a </a:t>
            </a:r>
            <a:r>
              <a:rPr lang="en-US" sz="2000" b="1" dirty="0">
                <a:effectLst/>
                <a:ea typeface="Calibri" panose="020F0502020204030204" pitchFamily="34" charset="0"/>
              </a:rPr>
              <a:t>database state or SNAPSHOT</a:t>
            </a:r>
            <a:r>
              <a:rPr lang="en-US" sz="2000" dirty="0">
                <a:effectLst/>
                <a:ea typeface="Calibri" panose="020F0502020204030204" pitchFamily="34" charset="0"/>
              </a:rPr>
              <a:t>. It is also called the</a:t>
            </a:r>
            <a:r>
              <a:rPr lang="en-US" sz="2000" spc="5" dirty="0">
                <a:effectLst/>
                <a:ea typeface="Calibri" panose="020F0502020204030204" pitchFamily="34" charset="0"/>
              </a:rPr>
              <a:t> </a:t>
            </a:r>
            <a:r>
              <a:rPr lang="en-US" sz="2000" b="1" dirty="0">
                <a:effectLst/>
                <a:ea typeface="Calibri" panose="020F0502020204030204" pitchFamily="34" charset="0"/>
              </a:rPr>
              <a:t>current set of occurrences or instances </a:t>
            </a:r>
            <a:r>
              <a:rPr lang="en-US" sz="2000" dirty="0">
                <a:effectLst/>
                <a:ea typeface="Calibri" panose="020F0502020204030204" pitchFamily="34" charset="0"/>
              </a:rPr>
              <a:t>in the database.</a:t>
            </a:r>
          </a:p>
          <a:p>
            <a:pPr marL="482600" marR="292100" indent="-342900" algn="just">
              <a:lnSpc>
                <a:spcPct val="101000"/>
              </a:lnSpc>
              <a:spcBef>
                <a:spcPts val="645"/>
              </a:spcBef>
              <a:buFont typeface="Arial" panose="020B0604020202020204" pitchFamily="34" charset="0"/>
              <a:buChar char="•"/>
            </a:pPr>
            <a:endParaRPr lang="en-US" sz="2000" dirty="0">
              <a:ea typeface="Calibri" panose="020F0502020204030204" pitchFamily="34" charset="0"/>
            </a:endParaRPr>
          </a:p>
          <a:p>
            <a:pPr marL="482600" marR="292100" indent="-342900" algn="just">
              <a:lnSpc>
                <a:spcPct val="101000"/>
              </a:lnSpc>
              <a:spcBef>
                <a:spcPts val="645"/>
              </a:spcBef>
              <a:buFont typeface="Arial" panose="020B0604020202020204" pitchFamily="34" charset="0"/>
              <a:buChar char="•"/>
            </a:pPr>
            <a:r>
              <a:rPr lang="en-US" sz="2000" dirty="0">
                <a:effectLst/>
                <a:ea typeface="Calibri" panose="020F0502020204030204" pitchFamily="34" charset="0"/>
              </a:rPr>
              <a:t>When</a:t>
            </a:r>
            <a:r>
              <a:rPr lang="en-US" sz="2000" spc="-20" dirty="0">
                <a:effectLst/>
                <a:ea typeface="Calibri" panose="020F0502020204030204" pitchFamily="34" charset="0"/>
              </a:rPr>
              <a:t> </a:t>
            </a:r>
            <a:r>
              <a:rPr lang="en-US" sz="2000" dirty="0">
                <a:effectLst/>
                <a:ea typeface="Calibri" panose="020F0502020204030204" pitchFamily="34" charset="0"/>
              </a:rPr>
              <a:t>we</a:t>
            </a:r>
            <a:r>
              <a:rPr lang="en-US" sz="2000" spc="-10" dirty="0">
                <a:effectLst/>
                <a:ea typeface="Calibri" panose="020F0502020204030204" pitchFamily="34" charset="0"/>
              </a:rPr>
              <a:t> </a:t>
            </a:r>
            <a:r>
              <a:rPr lang="en-US" sz="2000" dirty="0">
                <a:effectLst/>
                <a:ea typeface="Calibri" panose="020F0502020204030204" pitchFamily="34" charset="0"/>
              </a:rPr>
              <a:t>define</a:t>
            </a:r>
            <a:r>
              <a:rPr lang="en-US" sz="2000" spc="-15"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new</a:t>
            </a:r>
            <a:r>
              <a:rPr lang="en-US" sz="2000" spc="-10" dirty="0">
                <a:effectLst/>
                <a:ea typeface="Calibri" panose="020F0502020204030204" pitchFamily="34" charset="0"/>
              </a:rPr>
              <a:t> </a:t>
            </a:r>
            <a:r>
              <a:rPr lang="en-US" sz="2000" dirty="0">
                <a:effectLst/>
                <a:ea typeface="Calibri" panose="020F0502020204030204" pitchFamily="34" charset="0"/>
              </a:rPr>
              <a:t>database,</a:t>
            </a:r>
            <a:r>
              <a:rPr lang="en-US" sz="2000" spc="-25" dirty="0">
                <a:effectLst/>
                <a:ea typeface="Calibri" panose="020F0502020204030204" pitchFamily="34" charset="0"/>
              </a:rPr>
              <a:t> </a:t>
            </a:r>
            <a:r>
              <a:rPr lang="en-US" sz="2000" dirty="0">
                <a:effectLst/>
                <a:ea typeface="Calibri" panose="020F0502020204030204" pitchFamily="34" charset="0"/>
              </a:rPr>
              <a:t>we</a:t>
            </a:r>
            <a:r>
              <a:rPr lang="en-US" sz="2000" spc="-10" dirty="0">
                <a:effectLst/>
                <a:ea typeface="Calibri" panose="020F0502020204030204" pitchFamily="34" charset="0"/>
              </a:rPr>
              <a:t> </a:t>
            </a:r>
            <a:r>
              <a:rPr lang="en-US" sz="2000" dirty="0">
                <a:effectLst/>
                <a:ea typeface="Calibri" panose="020F0502020204030204" pitchFamily="34" charset="0"/>
              </a:rPr>
              <a:t>specify</a:t>
            </a:r>
            <a:r>
              <a:rPr lang="en-US" sz="2000" spc="-15" dirty="0">
                <a:effectLst/>
                <a:ea typeface="Calibri" panose="020F0502020204030204" pitchFamily="34" charset="0"/>
              </a:rPr>
              <a:t> </a:t>
            </a:r>
            <a:r>
              <a:rPr lang="en-US" sz="2000" dirty="0">
                <a:effectLst/>
                <a:ea typeface="Calibri" panose="020F0502020204030204" pitchFamily="34" charset="0"/>
              </a:rPr>
              <a:t>its</a:t>
            </a:r>
            <a:r>
              <a:rPr lang="en-US" sz="2000" spc="-10" dirty="0">
                <a:effectLst/>
                <a:ea typeface="Calibri" panose="020F0502020204030204" pitchFamily="34" charset="0"/>
              </a:rPr>
              <a:t> </a:t>
            </a:r>
            <a:r>
              <a:rPr lang="en-US" sz="2000" dirty="0">
                <a:effectLst/>
                <a:ea typeface="Calibri" panose="020F0502020204030204" pitchFamily="34" charset="0"/>
              </a:rPr>
              <a:t>database</a:t>
            </a:r>
            <a:r>
              <a:rPr lang="en-US" sz="2000" spc="-10" dirty="0">
                <a:effectLst/>
                <a:ea typeface="Calibri" panose="020F0502020204030204" pitchFamily="34" charset="0"/>
              </a:rPr>
              <a:t> </a:t>
            </a:r>
            <a:r>
              <a:rPr lang="en-US" sz="2000" dirty="0">
                <a:effectLst/>
                <a:ea typeface="Calibri" panose="020F0502020204030204" pitchFamily="34" charset="0"/>
              </a:rPr>
              <a:t>schema</a:t>
            </a:r>
            <a:r>
              <a:rPr lang="en-US" sz="2000" spc="-15" dirty="0">
                <a:effectLst/>
                <a:ea typeface="Calibri" panose="020F0502020204030204" pitchFamily="34" charset="0"/>
              </a:rPr>
              <a:t> </a:t>
            </a:r>
            <a:r>
              <a:rPr lang="en-US" sz="2000" dirty="0">
                <a:effectLst/>
                <a:ea typeface="Calibri" panose="020F0502020204030204" pitchFamily="34" charset="0"/>
              </a:rPr>
              <a:t>only</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DBMS.</a:t>
            </a:r>
            <a:r>
              <a:rPr lang="en-US" sz="2000" spc="-5" dirty="0">
                <a:effectLst/>
                <a:ea typeface="Calibri" panose="020F0502020204030204" pitchFamily="34" charset="0"/>
              </a:rPr>
              <a:t> </a:t>
            </a:r>
            <a:r>
              <a:rPr lang="en-US" sz="2000" dirty="0">
                <a:effectLst/>
                <a:ea typeface="Calibri" panose="020F0502020204030204" pitchFamily="34" charset="0"/>
              </a:rPr>
              <a:t>At</a:t>
            </a:r>
            <a:r>
              <a:rPr lang="en-US" sz="2000" spc="-25" dirty="0">
                <a:effectLst/>
                <a:ea typeface="Calibri" panose="020F0502020204030204" pitchFamily="34" charset="0"/>
              </a:rPr>
              <a:t> </a:t>
            </a:r>
            <a:r>
              <a:rPr lang="en-US" sz="2000" dirty="0">
                <a:effectLst/>
                <a:ea typeface="Calibri" panose="020F0502020204030204" pitchFamily="34" charset="0"/>
              </a:rPr>
              <a:t>this</a:t>
            </a:r>
            <a:r>
              <a:rPr lang="en-US" sz="2000" spc="-10" dirty="0">
                <a:effectLst/>
                <a:ea typeface="Calibri" panose="020F0502020204030204" pitchFamily="34" charset="0"/>
              </a:rPr>
              <a:t> </a:t>
            </a:r>
            <a:r>
              <a:rPr lang="en-US" sz="2000" dirty="0">
                <a:effectLst/>
                <a:ea typeface="Calibri" panose="020F0502020204030204" pitchFamily="34" charset="0"/>
              </a:rPr>
              <a:t>point, the</a:t>
            </a:r>
            <a:r>
              <a:rPr lang="en-US" sz="2000" spc="-15" dirty="0">
                <a:effectLst/>
                <a:ea typeface="Calibri" panose="020F0502020204030204" pitchFamily="34" charset="0"/>
              </a:rPr>
              <a:t> </a:t>
            </a:r>
            <a:r>
              <a:rPr lang="en-US" sz="2000" dirty="0">
                <a:effectLst/>
                <a:ea typeface="Calibri" panose="020F0502020204030204" pitchFamily="34" charset="0"/>
              </a:rPr>
              <a:t>corresponding</a:t>
            </a:r>
            <a:r>
              <a:rPr lang="en-US" sz="2000" spc="-235" dirty="0">
                <a:effectLst/>
                <a:ea typeface="Calibri" panose="020F0502020204030204" pitchFamily="34" charset="0"/>
              </a:rPr>
              <a:t> </a:t>
            </a:r>
            <a:r>
              <a:rPr lang="en-US" sz="2000" dirty="0">
                <a:effectLst/>
                <a:ea typeface="Calibri" panose="020F0502020204030204" pitchFamily="34" charset="0"/>
              </a:rPr>
              <a:t>database</a:t>
            </a:r>
            <a:r>
              <a:rPr lang="en-US" sz="2000" spc="-15" dirty="0">
                <a:effectLst/>
                <a:ea typeface="Calibri" panose="020F0502020204030204" pitchFamily="34" charset="0"/>
              </a:rPr>
              <a:t> </a:t>
            </a:r>
            <a:r>
              <a:rPr lang="en-US" sz="2000" dirty="0">
                <a:effectLst/>
                <a:ea typeface="Calibri" panose="020F0502020204030204" pitchFamily="34" charset="0"/>
              </a:rPr>
              <a:t>state</a:t>
            </a:r>
            <a:r>
              <a:rPr lang="en-US" sz="2000" spc="-10"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b="1" dirty="0">
                <a:effectLst/>
                <a:ea typeface="Calibri" panose="020F0502020204030204" pitchFamily="34" charset="0"/>
              </a:rPr>
              <a:t>empty</a:t>
            </a:r>
            <a:r>
              <a:rPr lang="en-US" sz="2000" b="1" spc="-5" dirty="0">
                <a:effectLst/>
                <a:ea typeface="Calibri" panose="020F0502020204030204" pitchFamily="34" charset="0"/>
              </a:rPr>
              <a:t> </a:t>
            </a:r>
            <a:r>
              <a:rPr lang="en-US" sz="2000" b="1" dirty="0">
                <a:effectLst/>
                <a:ea typeface="Calibri" panose="020F0502020204030204" pitchFamily="34" charset="0"/>
              </a:rPr>
              <a:t>state</a:t>
            </a:r>
            <a:r>
              <a:rPr lang="en-US" sz="2000" b="1" spc="-5" dirty="0">
                <a:effectLst/>
                <a:ea typeface="Calibri" panose="020F0502020204030204" pitchFamily="34" charset="0"/>
              </a:rPr>
              <a:t> </a:t>
            </a:r>
            <a:r>
              <a:rPr lang="en-US" sz="2000" dirty="0">
                <a:effectLst/>
                <a:ea typeface="Calibri" panose="020F0502020204030204" pitchFamily="34" charset="0"/>
              </a:rPr>
              <a:t>with</a:t>
            </a:r>
            <a:r>
              <a:rPr lang="en-US" sz="2000" spc="-15" dirty="0">
                <a:effectLst/>
                <a:ea typeface="Calibri" panose="020F0502020204030204" pitchFamily="34" charset="0"/>
              </a:rPr>
              <a:t> </a:t>
            </a:r>
            <a:r>
              <a:rPr lang="en-US" sz="2000" dirty="0">
                <a:effectLst/>
                <a:ea typeface="Calibri" panose="020F0502020204030204" pitchFamily="34" charset="0"/>
              </a:rPr>
              <a:t>no</a:t>
            </a:r>
            <a:r>
              <a:rPr lang="en-US" sz="2000" spc="-15" dirty="0">
                <a:effectLst/>
                <a:ea typeface="Calibri" panose="020F0502020204030204" pitchFamily="34" charset="0"/>
              </a:rPr>
              <a:t> </a:t>
            </a:r>
            <a:r>
              <a:rPr lang="en-US" sz="2000" dirty="0">
                <a:effectLst/>
                <a:ea typeface="Calibri" panose="020F0502020204030204" pitchFamily="34" charset="0"/>
              </a:rPr>
              <a:t>data.</a:t>
            </a:r>
          </a:p>
          <a:p>
            <a:pPr marL="482600" marR="84455" indent="-342900" algn="just">
              <a:lnSpc>
                <a:spcPct val="101000"/>
              </a:lnSpc>
              <a:spcBef>
                <a:spcPts val="765"/>
              </a:spcBef>
              <a:buFont typeface="Arial" panose="020B0604020202020204" pitchFamily="34" charset="0"/>
              <a:buChar char="•"/>
            </a:pPr>
            <a:r>
              <a:rPr lang="en-US" sz="2000" dirty="0">
                <a:effectLst/>
                <a:ea typeface="Calibri" panose="020F0502020204030204" pitchFamily="34" charset="0"/>
              </a:rPr>
              <a:t>We</a:t>
            </a:r>
            <a:r>
              <a:rPr lang="en-US" sz="2000" spc="55" dirty="0">
                <a:effectLst/>
                <a:ea typeface="Calibri" panose="020F0502020204030204" pitchFamily="34" charset="0"/>
              </a:rPr>
              <a:t> </a:t>
            </a:r>
            <a:r>
              <a:rPr lang="en-US" sz="2000" dirty="0">
                <a:effectLst/>
                <a:ea typeface="Calibri" panose="020F0502020204030204" pitchFamily="34" charset="0"/>
              </a:rPr>
              <a:t>get</a:t>
            </a:r>
            <a:r>
              <a:rPr lang="en-US" sz="2000" spc="45" dirty="0">
                <a:effectLst/>
                <a:ea typeface="Calibri" panose="020F0502020204030204" pitchFamily="34" charset="0"/>
              </a:rPr>
              <a:t> </a:t>
            </a:r>
            <a:r>
              <a:rPr lang="en-US" sz="2000" dirty="0">
                <a:effectLst/>
                <a:ea typeface="Calibri" panose="020F0502020204030204" pitchFamily="34" charset="0"/>
              </a:rPr>
              <a:t>the</a:t>
            </a:r>
            <a:r>
              <a:rPr lang="en-US" sz="2000" spc="55" dirty="0">
                <a:effectLst/>
                <a:ea typeface="Calibri" panose="020F0502020204030204" pitchFamily="34" charset="0"/>
              </a:rPr>
              <a:t> </a:t>
            </a:r>
            <a:r>
              <a:rPr lang="en-US" sz="2000" dirty="0">
                <a:effectLst/>
                <a:ea typeface="Calibri" panose="020F0502020204030204" pitchFamily="34" charset="0"/>
              </a:rPr>
              <a:t>initial</a:t>
            </a:r>
            <a:r>
              <a:rPr lang="en-US" sz="2000" spc="65" dirty="0">
                <a:effectLst/>
                <a:ea typeface="Calibri" panose="020F0502020204030204" pitchFamily="34" charset="0"/>
              </a:rPr>
              <a:t> </a:t>
            </a:r>
            <a:r>
              <a:rPr lang="en-US" sz="2000" dirty="0">
                <a:effectLst/>
                <a:ea typeface="Calibri" panose="020F0502020204030204" pitchFamily="34" charset="0"/>
              </a:rPr>
              <a:t>state</a:t>
            </a:r>
            <a:r>
              <a:rPr lang="en-US" sz="2000" spc="55" dirty="0">
                <a:effectLst/>
                <a:ea typeface="Calibri" panose="020F0502020204030204" pitchFamily="34" charset="0"/>
              </a:rPr>
              <a:t> </a:t>
            </a:r>
            <a:r>
              <a:rPr lang="en-US" sz="2000" dirty="0">
                <a:effectLst/>
                <a:ea typeface="Calibri" panose="020F0502020204030204" pitchFamily="34" charset="0"/>
              </a:rPr>
              <a:t>of</a:t>
            </a:r>
            <a:r>
              <a:rPr lang="en-US" sz="2000" spc="50" dirty="0">
                <a:effectLst/>
                <a:ea typeface="Calibri" panose="020F0502020204030204" pitchFamily="34" charset="0"/>
              </a:rPr>
              <a:t> </a:t>
            </a:r>
            <a:r>
              <a:rPr lang="en-US" sz="2000" dirty="0">
                <a:effectLst/>
                <a:ea typeface="Calibri" panose="020F0502020204030204" pitchFamily="34" charset="0"/>
              </a:rPr>
              <a:t>the</a:t>
            </a:r>
            <a:r>
              <a:rPr lang="en-US" sz="2000" spc="55" dirty="0">
                <a:effectLst/>
                <a:ea typeface="Calibri" panose="020F0502020204030204" pitchFamily="34" charset="0"/>
              </a:rPr>
              <a:t> </a:t>
            </a:r>
            <a:r>
              <a:rPr lang="en-US" sz="2000" dirty="0">
                <a:effectLst/>
                <a:ea typeface="Calibri" panose="020F0502020204030204" pitchFamily="34" charset="0"/>
              </a:rPr>
              <a:t>database</a:t>
            </a:r>
            <a:r>
              <a:rPr lang="en-US" sz="2000" spc="55" dirty="0">
                <a:effectLst/>
                <a:ea typeface="Calibri" panose="020F0502020204030204" pitchFamily="34" charset="0"/>
              </a:rPr>
              <a:t> </a:t>
            </a:r>
            <a:r>
              <a:rPr lang="en-US" sz="2000" dirty="0">
                <a:effectLst/>
                <a:ea typeface="Calibri" panose="020F0502020204030204" pitchFamily="34" charset="0"/>
              </a:rPr>
              <a:t>when</a:t>
            </a:r>
            <a:r>
              <a:rPr lang="en-US" sz="2000" spc="45" dirty="0">
                <a:effectLst/>
                <a:ea typeface="Calibri" panose="020F0502020204030204" pitchFamily="34" charset="0"/>
              </a:rPr>
              <a:t> </a:t>
            </a:r>
            <a:r>
              <a:rPr lang="en-US" sz="2000" dirty="0">
                <a:effectLst/>
                <a:ea typeface="Calibri" panose="020F0502020204030204" pitchFamily="34" charset="0"/>
              </a:rPr>
              <a:t>the</a:t>
            </a:r>
            <a:r>
              <a:rPr lang="en-US" sz="2000" spc="55" dirty="0">
                <a:effectLst/>
                <a:ea typeface="Calibri" panose="020F0502020204030204" pitchFamily="34" charset="0"/>
              </a:rPr>
              <a:t> </a:t>
            </a:r>
            <a:r>
              <a:rPr lang="en-US" sz="2000" dirty="0">
                <a:effectLst/>
                <a:ea typeface="Calibri" panose="020F0502020204030204" pitchFamily="34" charset="0"/>
              </a:rPr>
              <a:t>database</a:t>
            </a:r>
            <a:r>
              <a:rPr lang="en-US" sz="2000" spc="50" dirty="0">
                <a:effectLst/>
                <a:ea typeface="Calibri" panose="020F0502020204030204" pitchFamily="34" charset="0"/>
              </a:rPr>
              <a:t> </a:t>
            </a:r>
            <a:r>
              <a:rPr lang="en-US" sz="2000" dirty="0">
                <a:effectLst/>
                <a:ea typeface="Calibri" panose="020F0502020204030204" pitchFamily="34" charset="0"/>
              </a:rPr>
              <a:t>is</a:t>
            </a:r>
            <a:r>
              <a:rPr lang="en-US" sz="2000" spc="55" dirty="0">
                <a:effectLst/>
                <a:ea typeface="Calibri" panose="020F0502020204030204" pitchFamily="34" charset="0"/>
              </a:rPr>
              <a:t> </a:t>
            </a:r>
            <a:r>
              <a:rPr lang="en-US" sz="2000" dirty="0">
                <a:effectLst/>
                <a:ea typeface="Calibri" panose="020F0502020204030204" pitchFamily="34" charset="0"/>
              </a:rPr>
              <a:t>first</a:t>
            </a:r>
            <a:r>
              <a:rPr lang="en-US" sz="2000" spc="40" dirty="0">
                <a:effectLst/>
                <a:ea typeface="Calibri" panose="020F0502020204030204" pitchFamily="34" charset="0"/>
              </a:rPr>
              <a:t> </a:t>
            </a:r>
            <a:r>
              <a:rPr lang="en-US" sz="2000" dirty="0">
                <a:effectLst/>
                <a:ea typeface="Calibri" panose="020F0502020204030204" pitchFamily="34" charset="0"/>
              </a:rPr>
              <a:t>populated</a:t>
            </a:r>
            <a:r>
              <a:rPr lang="en-US" sz="2000" spc="50" dirty="0">
                <a:effectLst/>
                <a:ea typeface="Calibri" panose="020F0502020204030204" pitchFamily="34" charset="0"/>
              </a:rPr>
              <a:t> </a:t>
            </a:r>
            <a:r>
              <a:rPr lang="en-US" sz="2000" dirty="0">
                <a:effectLst/>
                <a:ea typeface="Calibri" panose="020F0502020204030204" pitchFamily="34" charset="0"/>
              </a:rPr>
              <a:t>or</a:t>
            </a:r>
            <a:r>
              <a:rPr lang="en-US" sz="2000" spc="55" dirty="0">
                <a:effectLst/>
                <a:ea typeface="Calibri" panose="020F0502020204030204" pitchFamily="34" charset="0"/>
              </a:rPr>
              <a:t> </a:t>
            </a:r>
            <a:r>
              <a:rPr lang="en-US" sz="2000" dirty="0">
                <a:effectLst/>
                <a:ea typeface="Calibri" panose="020F0502020204030204" pitchFamily="34" charset="0"/>
              </a:rPr>
              <a:t>loaded</a:t>
            </a:r>
            <a:r>
              <a:rPr lang="en-US" sz="2000" spc="50" dirty="0">
                <a:effectLst/>
                <a:ea typeface="Calibri" panose="020F0502020204030204" pitchFamily="34" charset="0"/>
              </a:rPr>
              <a:t> </a:t>
            </a:r>
            <a:r>
              <a:rPr lang="en-US" sz="2000" dirty="0">
                <a:effectLst/>
                <a:ea typeface="Calibri" panose="020F0502020204030204" pitchFamily="34" charset="0"/>
              </a:rPr>
              <a:t>with</a:t>
            </a:r>
            <a:r>
              <a:rPr lang="en-US" sz="2000" spc="45" dirty="0">
                <a:effectLst/>
                <a:ea typeface="Calibri" panose="020F0502020204030204" pitchFamily="34" charset="0"/>
              </a:rPr>
              <a:t> </a:t>
            </a:r>
            <a:r>
              <a:rPr lang="en-US" sz="2000" dirty="0">
                <a:effectLst/>
                <a:ea typeface="Calibri" panose="020F0502020204030204" pitchFamily="34" charset="0"/>
              </a:rPr>
              <a:t>the</a:t>
            </a:r>
            <a:r>
              <a:rPr lang="en-US" sz="2000" spc="55" dirty="0">
                <a:effectLst/>
                <a:ea typeface="Calibri" panose="020F0502020204030204" pitchFamily="34" charset="0"/>
              </a:rPr>
              <a:t> </a:t>
            </a:r>
            <a:r>
              <a:rPr lang="en-US" sz="2000" dirty="0">
                <a:effectLst/>
                <a:ea typeface="Calibri" panose="020F0502020204030204" pitchFamily="34" charset="0"/>
              </a:rPr>
              <a:t>initial</a:t>
            </a:r>
            <a:r>
              <a:rPr lang="en-US" sz="2000" spc="65" dirty="0">
                <a:effectLst/>
                <a:ea typeface="Calibri" panose="020F0502020204030204" pitchFamily="34" charset="0"/>
              </a:rPr>
              <a:t> </a:t>
            </a:r>
            <a:r>
              <a:rPr lang="en-US" sz="2000" dirty="0">
                <a:effectLst/>
                <a:ea typeface="Calibri" panose="020F0502020204030204" pitchFamily="34" charset="0"/>
              </a:rPr>
              <a:t>data.</a:t>
            </a:r>
            <a:r>
              <a:rPr lang="en-US" sz="2000" spc="60" dirty="0">
                <a:effectLst/>
                <a:ea typeface="Calibri" panose="020F0502020204030204" pitchFamily="34" charset="0"/>
              </a:rPr>
              <a:t> </a:t>
            </a:r>
            <a:r>
              <a:rPr lang="en-US" sz="2000" dirty="0">
                <a:effectLst/>
                <a:ea typeface="Calibri" panose="020F0502020204030204" pitchFamily="34" charset="0"/>
              </a:rPr>
              <a:t>From</a:t>
            </a:r>
            <a:r>
              <a:rPr lang="en-US" sz="2000" spc="55" dirty="0">
                <a:effectLst/>
                <a:ea typeface="Calibri" panose="020F0502020204030204" pitchFamily="34" charset="0"/>
              </a:rPr>
              <a:t> </a:t>
            </a:r>
            <a:r>
              <a:rPr lang="en-US" sz="2000" dirty="0">
                <a:effectLst/>
                <a:ea typeface="Calibri" panose="020F0502020204030204" pitchFamily="34" charset="0"/>
              </a:rPr>
              <a:t>then</a:t>
            </a:r>
            <a:r>
              <a:rPr lang="en-US" sz="2000" spc="-235" dirty="0">
                <a:effectLst/>
                <a:ea typeface="Calibri" panose="020F0502020204030204" pitchFamily="34" charset="0"/>
              </a:rPr>
              <a:t> </a:t>
            </a:r>
            <a:r>
              <a:rPr lang="en-US" sz="2000" dirty="0">
                <a:effectLst/>
                <a:ea typeface="Calibri" panose="020F0502020204030204" pitchFamily="34" charset="0"/>
              </a:rPr>
              <a:t>on,</a:t>
            </a:r>
            <a:r>
              <a:rPr lang="en-US" sz="2000" spc="-25" dirty="0">
                <a:effectLst/>
                <a:ea typeface="Calibri" panose="020F0502020204030204" pitchFamily="34" charset="0"/>
              </a:rPr>
              <a:t> </a:t>
            </a:r>
            <a:r>
              <a:rPr lang="en-US" sz="2000" dirty="0">
                <a:effectLst/>
                <a:ea typeface="Calibri" panose="020F0502020204030204" pitchFamily="34" charset="0"/>
              </a:rPr>
              <a:t>every</a:t>
            </a:r>
            <a:r>
              <a:rPr lang="en-US" sz="2000" spc="-10" dirty="0">
                <a:effectLst/>
                <a:ea typeface="Calibri" panose="020F0502020204030204" pitchFamily="34" charset="0"/>
              </a:rPr>
              <a:t> </a:t>
            </a:r>
            <a:r>
              <a:rPr lang="en-US" sz="2000" dirty="0">
                <a:effectLst/>
                <a:ea typeface="Calibri" panose="020F0502020204030204" pitchFamily="34" charset="0"/>
              </a:rPr>
              <a:t>time</a:t>
            </a:r>
            <a:r>
              <a:rPr lang="en-US" sz="2000" spc="-10" dirty="0">
                <a:effectLst/>
                <a:ea typeface="Calibri" panose="020F0502020204030204" pitchFamily="34" charset="0"/>
              </a:rPr>
              <a:t> </a:t>
            </a:r>
            <a:r>
              <a:rPr lang="en-US" sz="2000" dirty="0">
                <a:effectLst/>
                <a:ea typeface="Calibri" panose="020F0502020204030204" pitchFamily="34" charset="0"/>
              </a:rPr>
              <a:t>an</a:t>
            </a:r>
            <a:r>
              <a:rPr lang="en-US" sz="2000" spc="-15" dirty="0">
                <a:effectLst/>
                <a:ea typeface="Calibri" panose="020F0502020204030204" pitchFamily="34" charset="0"/>
              </a:rPr>
              <a:t> </a:t>
            </a:r>
            <a:r>
              <a:rPr lang="en-US" sz="2000" dirty="0">
                <a:effectLst/>
                <a:ea typeface="Calibri" panose="020F0502020204030204" pitchFamily="34" charset="0"/>
              </a:rPr>
              <a:t>update</a:t>
            </a:r>
            <a:r>
              <a:rPr lang="en-US" sz="2000" spc="-10" dirty="0">
                <a:effectLst/>
                <a:ea typeface="Calibri" panose="020F0502020204030204" pitchFamily="34" charset="0"/>
              </a:rPr>
              <a:t> </a:t>
            </a:r>
            <a:r>
              <a:rPr lang="en-US" sz="2000" dirty="0">
                <a:effectLst/>
                <a:ea typeface="Calibri" panose="020F0502020204030204" pitchFamily="34" charset="0"/>
              </a:rPr>
              <a:t>operation</a:t>
            </a:r>
            <a:r>
              <a:rPr lang="en-US" sz="2000" spc="5"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applied</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database,</a:t>
            </a:r>
            <a:r>
              <a:rPr lang="en-US" sz="2000" spc="-20" dirty="0">
                <a:effectLst/>
                <a:ea typeface="Calibri" panose="020F0502020204030204" pitchFamily="34" charset="0"/>
              </a:rPr>
              <a:t> </a:t>
            </a:r>
            <a:r>
              <a:rPr lang="en-US" sz="2000" dirty="0">
                <a:effectLst/>
                <a:ea typeface="Calibri" panose="020F0502020204030204" pitchFamily="34" charset="0"/>
              </a:rPr>
              <a:t>we</a:t>
            </a:r>
            <a:r>
              <a:rPr lang="en-US" sz="2000" spc="-10" dirty="0">
                <a:effectLst/>
                <a:ea typeface="Calibri" panose="020F0502020204030204" pitchFamily="34" charset="0"/>
              </a:rPr>
              <a:t> </a:t>
            </a:r>
            <a:r>
              <a:rPr lang="en-US" sz="2000" dirty="0">
                <a:effectLst/>
                <a:ea typeface="Calibri" panose="020F0502020204030204" pitchFamily="34" charset="0"/>
              </a:rPr>
              <a:t>get</a:t>
            </a:r>
            <a:r>
              <a:rPr lang="en-US" sz="2000" spc="-20" dirty="0">
                <a:effectLst/>
                <a:ea typeface="Calibri" panose="020F0502020204030204" pitchFamily="34" charset="0"/>
              </a:rPr>
              <a:t> </a:t>
            </a:r>
            <a:r>
              <a:rPr lang="en-US" sz="2000" dirty="0">
                <a:effectLst/>
                <a:ea typeface="Calibri" panose="020F0502020204030204" pitchFamily="34" charset="0"/>
              </a:rPr>
              <a:t>another</a:t>
            </a:r>
            <a:r>
              <a:rPr lang="en-US" sz="2000" spc="40" dirty="0">
                <a:effectLst/>
                <a:ea typeface="Calibri" panose="020F0502020204030204" pitchFamily="34" charset="0"/>
              </a:rPr>
              <a:t> </a:t>
            </a:r>
            <a:r>
              <a:rPr lang="en-US" sz="2000" b="1" dirty="0">
                <a:effectLst/>
                <a:ea typeface="Calibri" panose="020F0502020204030204" pitchFamily="34" charset="0"/>
              </a:rPr>
              <a:t>database</a:t>
            </a:r>
            <a:r>
              <a:rPr lang="en-US" sz="2000" b="1" spc="-15" dirty="0">
                <a:effectLst/>
                <a:ea typeface="Calibri" panose="020F0502020204030204" pitchFamily="34" charset="0"/>
              </a:rPr>
              <a:t> </a:t>
            </a:r>
            <a:r>
              <a:rPr lang="en-US" sz="2000" b="1" dirty="0">
                <a:effectLst/>
                <a:ea typeface="Calibri" panose="020F0502020204030204" pitchFamily="34" charset="0"/>
              </a:rPr>
              <a:t>state</a:t>
            </a:r>
            <a:r>
              <a:rPr lang="en-US" sz="2000" dirty="0">
                <a:effectLst/>
                <a:ea typeface="Calibri" panose="020F0502020204030204" pitchFamily="34" charset="0"/>
              </a:rPr>
              <a:t>.</a:t>
            </a:r>
          </a:p>
          <a:p>
            <a:pPr marL="482600" marR="84455" indent="-342900" algn="just">
              <a:lnSpc>
                <a:spcPct val="101000"/>
              </a:lnSpc>
              <a:spcBef>
                <a:spcPts val="765"/>
              </a:spcBef>
              <a:buFont typeface="Arial" panose="020B0604020202020204" pitchFamily="34" charset="0"/>
              <a:buChar char="•"/>
            </a:pPr>
            <a:r>
              <a:rPr lang="en-US" sz="2000" dirty="0">
                <a:effectLst/>
                <a:ea typeface="Calibri" panose="020F0502020204030204" pitchFamily="34" charset="0"/>
              </a:rPr>
              <a:t>Application requirements change occasionally, which is one of the reasons why software maintenance is important. On</a:t>
            </a:r>
            <a:r>
              <a:rPr lang="en-US" sz="2000" spc="5" dirty="0">
                <a:effectLst/>
                <a:ea typeface="Calibri" panose="020F0502020204030204" pitchFamily="34" charset="0"/>
              </a:rPr>
              <a:t> </a:t>
            </a:r>
            <a:r>
              <a:rPr lang="en-US" sz="2000" dirty="0">
                <a:effectLst/>
                <a:ea typeface="Calibri" panose="020F0502020204030204" pitchFamily="34" charset="0"/>
              </a:rPr>
              <a:t>such occasions, a change to a database's schema may be called for. An example would be to add a </a:t>
            </a:r>
            <a:r>
              <a:rPr lang="en-US" sz="2000" dirty="0" err="1">
                <a:effectLst/>
                <a:ea typeface="Calibri" panose="020F0502020204030204" pitchFamily="34" charset="0"/>
              </a:rPr>
              <a:t>Date_of_Birth</a:t>
            </a:r>
            <a:r>
              <a:rPr lang="en-US" sz="2000" spc="5" dirty="0">
                <a:effectLst/>
                <a:ea typeface="Calibri" panose="020F0502020204030204" pitchFamily="34" charset="0"/>
              </a:rPr>
              <a:t> </a:t>
            </a:r>
            <a:r>
              <a:rPr lang="en-US" sz="2000" dirty="0">
                <a:effectLst/>
                <a:ea typeface="Calibri" panose="020F0502020204030204" pitchFamily="34" charset="0"/>
              </a:rPr>
              <a:t>field/attribute to the STUDENT table. Making changes to a database schema is known as </a:t>
            </a:r>
            <a:r>
              <a:rPr lang="en-US" sz="2000" b="1" dirty="0">
                <a:effectLst/>
                <a:ea typeface="Calibri" panose="020F0502020204030204" pitchFamily="34" charset="0"/>
              </a:rPr>
              <a:t>SCHEMA EVOLUTION</a:t>
            </a:r>
            <a:endParaRPr lang="en-US" sz="2000" dirty="0">
              <a:effectLst/>
              <a:ea typeface="Calibri" panose="020F0502020204030204" pitchFamily="34" charset="0"/>
            </a:endParaRPr>
          </a:p>
          <a:p>
            <a:endParaRPr lang="en-US" sz="2000" dirty="0">
              <a:effectLst/>
              <a:ea typeface="Calibri" panose="020F0502020204030204" pitchFamily="34" charset="0"/>
            </a:endParaRPr>
          </a:p>
          <a:p>
            <a:endParaRPr lang="en-US" dirty="0"/>
          </a:p>
        </p:txBody>
      </p:sp>
    </p:spTree>
    <p:extLst>
      <p:ext uri="{BB962C8B-B14F-4D97-AF65-F5344CB8AC3E}">
        <p14:creationId xmlns:p14="http://schemas.microsoft.com/office/powerpoint/2010/main" val="3935591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B5333E14-DE70-0A4A-0D0A-2BBD10DC4C7A}"/>
              </a:ext>
            </a:extLst>
          </p:cNvPr>
          <p:cNvGraphicFramePr/>
          <p:nvPr>
            <p:extLst>
              <p:ext uri="{D42A27DB-BD31-4B8C-83A1-F6EECF244321}">
                <p14:modId xmlns:p14="http://schemas.microsoft.com/office/powerpoint/2010/main" val="3726378202"/>
              </p:ext>
            </p:extLst>
          </p:nvPr>
        </p:nvGraphicFramePr>
        <p:xfrm>
          <a:off x="324465" y="147485"/>
          <a:ext cx="11636477" cy="25072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A047AF43-3508-30D1-599C-A65FF550E9E4}"/>
              </a:ext>
            </a:extLst>
          </p:cNvPr>
          <p:cNvPicPr>
            <a:picLocks noChangeAspect="1"/>
          </p:cNvPicPr>
          <p:nvPr/>
        </p:nvPicPr>
        <p:blipFill>
          <a:blip r:embed="rId7"/>
          <a:stretch>
            <a:fillRect/>
          </a:stretch>
        </p:blipFill>
        <p:spPr>
          <a:xfrm>
            <a:off x="2233270" y="2280315"/>
            <a:ext cx="7102305" cy="4002498"/>
          </a:xfrm>
          <a:prstGeom prst="rect">
            <a:avLst/>
          </a:prstGeom>
        </p:spPr>
      </p:pic>
    </p:spTree>
    <p:extLst>
      <p:ext uri="{BB962C8B-B14F-4D97-AF65-F5344CB8AC3E}">
        <p14:creationId xmlns:p14="http://schemas.microsoft.com/office/powerpoint/2010/main" val="1102479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ECF48669-14D4-9D37-489B-E95B96F53D80}"/>
              </a:ext>
            </a:extLst>
          </p:cNvPr>
          <p:cNvGraphicFramePr/>
          <p:nvPr>
            <p:extLst>
              <p:ext uri="{D42A27DB-BD31-4B8C-83A1-F6EECF244321}">
                <p14:modId xmlns:p14="http://schemas.microsoft.com/office/powerpoint/2010/main" val="1997413542"/>
              </p:ext>
            </p:extLst>
          </p:nvPr>
        </p:nvGraphicFramePr>
        <p:xfrm>
          <a:off x="383458" y="294968"/>
          <a:ext cx="11651226" cy="47212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4160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998454F5-2293-FA1C-42A1-1B91C3315EED}"/>
              </a:ext>
            </a:extLst>
          </p:cNvPr>
          <p:cNvGraphicFramePr/>
          <p:nvPr>
            <p:extLst>
              <p:ext uri="{D42A27DB-BD31-4B8C-83A1-F6EECF244321}">
                <p14:modId xmlns:p14="http://schemas.microsoft.com/office/powerpoint/2010/main" val="4036253728"/>
              </p:ext>
            </p:extLst>
          </p:nvPr>
        </p:nvGraphicFramePr>
        <p:xfrm>
          <a:off x="280219" y="235974"/>
          <a:ext cx="11606981" cy="20205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4236D30D-A34C-C04B-C3E5-FC6F9884B56B}"/>
              </a:ext>
            </a:extLst>
          </p:cNvPr>
          <p:cNvSpPr txBox="1"/>
          <p:nvPr/>
        </p:nvSpPr>
        <p:spPr>
          <a:xfrm>
            <a:off x="324465" y="2728452"/>
            <a:ext cx="11651225" cy="1631216"/>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effectLst/>
                <a:ea typeface="Calibri" panose="020F0502020204030204" pitchFamily="34" charset="0"/>
              </a:rPr>
              <a:t>The</a:t>
            </a:r>
            <a:r>
              <a:rPr lang="en-US" sz="2000" spc="100" dirty="0">
                <a:effectLst/>
                <a:ea typeface="Calibri" panose="020F0502020204030204" pitchFamily="34" charset="0"/>
              </a:rPr>
              <a:t> </a:t>
            </a:r>
            <a:r>
              <a:rPr lang="en-US" sz="2000" dirty="0">
                <a:effectLst/>
                <a:ea typeface="Calibri" panose="020F0502020204030204" pitchFamily="34" charset="0"/>
              </a:rPr>
              <a:t>DBMS</a:t>
            </a:r>
            <a:r>
              <a:rPr lang="en-US" sz="2000" spc="95" dirty="0">
                <a:effectLst/>
                <a:ea typeface="Calibri" panose="020F0502020204030204" pitchFamily="34" charset="0"/>
              </a:rPr>
              <a:t> </a:t>
            </a:r>
            <a:r>
              <a:rPr lang="en-US" sz="2000" dirty="0">
                <a:effectLst/>
                <a:ea typeface="Calibri" panose="020F0502020204030204" pitchFamily="34" charset="0"/>
              </a:rPr>
              <a:t>must</a:t>
            </a:r>
            <a:r>
              <a:rPr lang="en-US" sz="2000" spc="90" dirty="0">
                <a:effectLst/>
                <a:ea typeface="Calibri" panose="020F0502020204030204" pitchFamily="34" charset="0"/>
              </a:rPr>
              <a:t> </a:t>
            </a:r>
            <a:r>
              <a:rPr lang="en-US" sz="2000" dirty="0">
                <a:effectLst/>
                <a:ea typeface="Calibri" panose="020F0502020204030204" pitchFamily="34" charset="0"/>
              </a:rPr>
              <a:t>transform</a:t>
            </a:r>
            <a:r>
              <a:rPr lang="en-US" sz="2000" spc="100" dirty="0">
                <a:effectLst/>
                <a:ea typeface="Calibri" panose="020F0502020204030204" pitchFamily="34" charset="0"/>
              </a:rPr>
              <a:t> </a:t>
            </a:r>
            <a:r>
              <a:rPr lang="en-US" sz="2000" dirty="0">
                <a:effectLst/>
                <a:ea typeface="Calibri" panose="020F0502020204030204" pitchFamily="34" charset="0"/>
              </a:rPr>
              <a:t>a</a:t>
            </a:r>
            <a:r>
              <a:rPr lang="en-US" sz="2000" spc="95" dirty="0">
                <a:effectLst/>
                <a:ea typeface="Calibri" panose="020F0502020204030204" pitchFamily="34" charset="0"/>
              </a:rPr>
              <a:t> </a:t>
            </a:r>
            <a:r>
              <a:rPr lang="en-US" sz="2000" dirty="0">
                <a:effectLst/>
                <a:ea typeface="Calibri" panose="020F0502020204030204" pitchFamily="34" charset="0"/>
              </a:rPr>
              <a:t>request</a:t>
            </a:r>
            <a:r>
              <a:rPr lang="en-US" sz="2000" spc="90" dirty="0">
                <a:effectLst/>
                <a:ea typeface="Calibri" panose="020F0502020204030204" pitchFamily="34" charset="0"/>
              </a:rPr>
              <a:t> </a:t>
            </a:r>
            <a:r>
              <a:rPr lang="en-US" sz="2000" dirty="0">
                <a:effectLst/>
                <a:ea typeface="Calibri" panose="020F0502020204030204" pitchFamily="34" charset="0"/>
              </a:rPr>
              <a:t>specified</a:t>
            </a:r>
            <a:r>
              <a:rPr lang="en-US" sz="2000" spc="75" dirty="0">
                <a:effectLst/>
                <a:ea typeface="Calibri" panose="020F0502020204030204" pitchFamily="34" charset="0"/>
              </a:rPr>
              <a:t> </a:t>
            </a:r>
            <a:r>
              <a:rPr lang="en-US" sz="2000" dirty="0">
                <a:effectLst/>
                <a:ea typeface="Calibri" panose="020F0502020204030204" pitchFamily="34" charset="0"/>
              </a:rPr>
              <a:t>on</a:t>
            </a:r>
            <a:r>
              <a:rPr lang="en-US" sz="2000" spc="95" dirty="0">
                <a:effectLst/>
                <a:ea typeface="Calibri" panose="020F0502020204030204" pitchFamily="34" charset="0"/>
              </a:rPr>
              <a:t> </a:t>
            </a:r>
            <a:r>
              <a:rPr lang="en-US" sz="2000" dirty="0">
                <a:effectLst/>
                <a:ea typeface="Calibri" panose="020F0502020204030204" pitchFamily="34" charset="0"/>
              </a:rPr>
              <a:t>an</a:t>
            </a:r>
            <a:r>
              <a:rPr lang="en-US" sz="2000" spc="95" dirty="0">
                <a:effectLst/>
                <a:ea typeface="Calibri" panose="020F0502020204030204" pitchFamily="34" charset="0"/>
              </a:rPr>
              <a:t> </a:t>
            </a:r>
            <a:r>
              <a:rPr lang="en-US" sz="2000" dirty="0">
                <a:effectLst/>
                <a:ea typeface="Calibri" panose="020F0502020204030204" pitchFamily="34" charset="0"/>
              </a:rPr>
              <a:t>external</a:t>
            </a:r>
            <a:r>
              <a:rPr lang="en-US" sz="2000" spc="105" dirty="0">
                <a:effectLst/>
                <a:ea typeface="Calibri" panose="020F0502020204030204" pitchFamily="34" charset="0"/>
              </a:rPr>
              <a:t> </a:t>
            </a:r>
            <a:r>
              <a:rPr lang="en-US" sz="2000" dirty="0">
                <a:effectLst/>
                <a:ea typeface="Calibri" panose="020F0502020204030204" pitchFamily="34" charset="0"/>
              </a:rPr>
              <a:t>schema</a:t>
            </a:r>
            <a:r>
              <a:rPr lang="en-US" sz="2000" spc="80" dirty="0">
                <a:effectLst/>
                <a:ea typeface="Calibri" panose="020F0502020204030204" pitchFamily="34" charset="0"/>
              </a:rPr>
              <a:t> </a:t>
            </a:r>
            <a:r>
              <a:rPr lang="en-US" sz="2000" dirty="0">
                <a:effectLst/>
                <a:ea typeface="Calibri" panose="020F0502020204030204" pitchFamily="34" charset="0"/>
              </a:rPr>
              <a:t>into</a:t>
            </a:r>
            <a:r>
              <a:rPr lang="en-US" sz="2000" spc="90" dirty="0">
                <a:effectLst/>
                <a:ea typeface="Calibri" panose="020F0502020204030204" pitchFamily="34" charset="0"/>
              </a:rPr>
              <a:t> </a:t>
            </a:r>
            <a:r>
              <a:rPr lang="en-US" sz="2000" dirty="0">
                <a:effectLst/>
                <a:ea typeface="Calibri" panose="020F0502020204030204" pitchFamily="34" charset="0"/>
              </a:rPr>
              <a:t>a</a:t>
            </a:r>
            <a:r>
              <a:rPr lang="en-US" sz="2000" spc="95" dirty="0">
                <a:effectLst/>
                <a:ea typeface="Calibri" panose="020F0502020204030204" pitchFamily="34" charset="0"/>
              </a:rPr>
              <a:t> </a:t>
            </a:r>
            <a:r>
              <a:rPr lang="en-US" sz="2000" dirty="0">
                <a:effectLst/>
                <a:ea typeface="Calibri" panose="020F0502020204030204" pitchFamily="34" charset="0"/>
              </a:rPr>
              <a:t>request</a:t>
            </a:r>
            <a:r>
              <a:rPr lang="en-US" sz="2000" spc="90" dirty="0">
                <a:effectLst/>
                <a:ea typeface="Calibri" panose="020F0502020204030204" pitchFamily="34" charset="0"/>
              </a:rPr>
              <a:t> </a:t>
            </a:r>
            <a:r>
              <a:rPr lang="en-US" sz="2000" dirty="0">
                <a:effectLst/>
                <a:ea typeface="Calibri" panose="020F0502020204030204" pitchFamily="34" charset="0"/>
              </a:rPr>
              <a:t>against</a:t>
            </a:r>
            <a:r>
              <a:rPr lang="en-US" sz="2000" spc="90" dirty="0">
                <a:effectLst/>
                <a:ea typeface="Calibri" panose="020F0502020204030204" pitchFamily="34" charset="0"/>
              </a:rPr>
              <a:t> </a:t>
            </a:r>
            <a:r>
              <a:rPr lang="en-US" sz="2000" dirty="0">
                <a:effectLst/>
                <a:ea typeface="Calibri" panose="020F0502020204030204" pitchFamily="34" charset="0"/>
              </a:rPr>
              <a:t>the</a:t>
            </a:r>
            <a:r>
              <a:rPr lang="en-US" sz="2000" spc="100" dirty="0">
                <a:effectLst/>
                <a:ea typeface="Calibri" panose="020F0502020204030204" pitchFamily="34" charset="0"/>
              </a:rPr>
              <a:t> </a:t>
            </a:r>
            <a:r>
              <a:rPr lang="en-US" sz="2000" dirty="0">
                <a:effectLst/>
                <a:ea typeface="Calibri" panose="020F0502020204030204" pitchFamily="34" charset="0"/>
              </a:rPr>
              <a:t>conceptual</a:t>
            </a:r>
            <a:r>
              <a:rPr lang="en-US" sz="2000" spc="105" dirty="0">
                <a:effectLst/>
                <a:ea typeface="Calibri" panose="020F0502020204030204" pitchFamily="34" charset="0"/>
              </a:rPr>
              <a:t> </a:t>
            </a:r>
            <a:r>
              <a:rPr lang="en-US" sz="2000" dirty="0">
                <a:effectLst/>
                <a:ea typeface="Calibri" panose="020F0502020204030204" pitchFamily="34" charset="0"/>
              </a:rPr>
              <a:t>schema,</a:t>
            </a:r>
            <a:r>
              <a:rPr lang="en-US" sz="2000" spc="-230" dirty="0">
                <a:effectLst/>
                <a:ea typeface="Calibri" panose="020F0502020204030204" pitchFamily="34" charset="0"/>
              </a:rPr>
              <a:t> </a:t>
            </a:r>
            <a:r>
              <a:rPr lang="en-US" sz="2000" dirty="0">
                <a:effectLst/>
                <a:ea typeface="Calibri" panose="020F0502020204030204" pitchFamily="34" charset="0"/>
              </a:rPr>
              <a:t>and</a:t>
            </a:r>
            <a:r>
              <a:rPr lang="en-US" sz="2000" spc="-20" dirty="0">
                <a:effectLst/>
                <a:ea typeface="Calibri" panose="020F0502020204030204" pitchFamily="34" charset="0"/>
              </a:rPr>
              <a:t> </a:t>
            </a:r>
            <a:r>
              <a:rPr lang="en-US" sz="2000" dirty="0">
                <a:effectLst/>
                <a:ea typeface="Calibri" panose="020F0502020204030204" pitchFamily="34" charset="0"/>
              </a:rPr>
              <a:t>then</a:t>
            </a:r>
            <a:r>
              <a:rPr lang="en-US" sz="2000" spc="-15" dirty="0">
                <a:effectLst/>
                <a:ea typeface="Calibri" panose="020F0502020204030204" pitchFamily="34" charset="0"/>
              </a:rPr>
              <a:t> </a:t>
            </a:r>
            <a:r>
              <a:rPr lang="en-US" sz="2000" dirty="0">
                <a:effectLst/>
                <a:ea typeface="Calibri" panose="020F0502020204030204" pitchFamily="34" charset="0"/>
              </a:rPr>
              <a:t>into</a:t>
            </a:r>
            <a:r>
              <a:rPr lang="en-US" sz="2000" spc="5"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request</a:t>
            </a:r>
            <a:r>
              <a:rPr lang="en-US" sz="2000" spc="-20" dirty="0">
                <a:effectLst/>
                <a:ea typeface="Calibri" panose="020F0502020204030204" pitchFamily="34" charset="0"/>
              </a:rPr>
              <a:t> </a:t>
            </a:r>
            <a:r>
              <a:rPr lang="en-US" sz="2000" dirty="0">
                <a:effectLst/>
                <a:ea typeface="Calibri" panose="020F0502020204030204" pitchFamily="34" charset="0"/>
              </a:rPr>
              <a:t>on</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internal schema</a:t>
            </a:r>
            <a:r>
              <a:rPr lang="en-US" sz="2000" spc="-10" dirty="0">
                <a:effectLst/>
                <a:ea typeface="Calibri" panose="020F0502020204030204" pitchFamily="34" charset="0"/>
              </a:rPr>
              <a:t> </a:t>
            </a:r>
            <a:r>
              <a:rPr lang="en-US" sz="2000" dirty="0">
                <a:effectLst/>
                <a:ea typeface="Calibri" panose="020F0502020204030204" pitchFamily="34" charset="0"/>
              </a:rPr>
              <a:t>for</a:t>
            </a:r>
            <a:r>
              <a:rPr lang="en-US" sz="2000" spc="5" dirty="0">
                <a:effectLst/>
                <a:ea typeface="Calibri" panose="020F0502020204030204" pitchFamily="34" charset="0"/>
              </a:rPr>
              <a:t> </a:t>
            </a:r>
            <a:r>
              <a:rPr lang="en-US" sz="2000" dirty="0">
                <a:effectLst/>
                <a:ea typeface="Calibri" panose="020F0502020204030204" pitchFamily="34" charset="0"/>
              </a:rPr>
              <a:t>processing</a:t>
            </a:r>
            <a:r>
              <a:rPr lang="en-US" sz="2000" spc="-5" dirty="0">
                <a:effectLst/>
                <a:ea typeface="Calibri" panose="020F0502020204030204" pitchFamily="34" charset="0"/>
              </a:rPr>
              <a:t> </a:t>
            </a:r>
            <a:r>
              <a:rPr lang="en-US" sz="2000" dirty="0">
                <a:effectLst/>
                <a:ea typeface="Calibri" panose="020F0502020204030204" pitchFamily="34" charset="0"/>
              </a:rPr>
              <a:t>over</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stored</a:t>
            </a:r>
            <a:r>
              <a:rPr lang="en-US" sz="2000" spc="-15" dirty="0">
                <a:effectLst/>
                <a:ea typeface="Calibri" panose="020F0502020204030204" pitchFamily="34" charset="0"/>
              </a:rPr>
              <a:t> </a:t>
            </a:r>
            <a:r>
              <a:rPr lang="en-US" sz="2000" dirty="0">
                <a:effectLst/>
                <a:ea typeface="Calibri" panose="020F0502020204030204" pitchFamily="34" charset="0"/>
              </a:rPr>
              <a:t>database.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processes</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transforming</a:t>
            </a:r>
            <a:r>
              <a:rPr lang="en-US" sz="2000" spc="-10" dirty="0">
                <a:effectLst/>
                <a:ea typeface="Calibri" panose="020F0502020204030204" pitchFamily="34" charset="0"/>
              </a:rPr>
              <a:t> </a:t>
            </a:r>
            <a:r>
              <a:rPr lang="en-US" sz="2000" dirty="0">
                <a:effectLst/>
                <a:ea typeface="Calibri" panose="020F0502020204030204" pitchFamily="34" charset="0"/>
              </a:rPr>
              <a:t>requests</a:t>
            </a:r>
            <a:r>
              <a:rPr lang="en-US" sz="2000" spc="-10"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results</a:t>
            </a:r>
            <a:r>
              <a:rPr lang="en-US" sz="2000" spc="-10" dirty="0">
                <a:effectLst/>
                <a:ea typeface="Calibri" panose="020F0502020204030204" pitchFamily="34" charset="0"/>
              </a:rPr>
              <a:t> </a:t>
            </a:r>
            <a:r>
              <a:rPr lang="en-US" sz="2000" dirty="0">
                <a:effectLst/>
                <a:ea typeface="Calibri" panose="020F0502020204030204" pitchFamily="34" charset="0"/>
              </a:rPr>
              <a:t>between</a:t>
            </a:r>
            <a:r>
              <a:rPr lang="en-US" sz="2000" spc="-15" dirty="0">
                <a:effectLst/>
                <a:ea typeface="Calibri" panose="020F0502020204030204" pitchFamily="34" charset="0"/>
              </a:rPr>
              <a:t> </a:t>
            </a:r>
            <a:r>
              <a:rPr lang="en-US" sz="2000" dirty="0">
                <a:effectLst/>
                <a:ea typeface="Calibri" panose="020F0502020204030204" pitchFamily="34" charset="0"/>
              </a:rPr>
              <a:t>levels</a:t>
            </a:r>
            <a:r>
              <a:rPr lang="en-US" sz="2000" spc="-10" dirty="0">
                <a:effectLst/>
                <a:ea typeface="Calibri" panose="020F0502020204030204" pitchFamily="34" charset="0"/>
              </a:rPr>
              <a:t> </a:t>
            </a:r>
            <a:r>
              <a:rPr lang="en-US" sz="2000" dirty="0">
                <a:effectLst/>
                <a:ea typeface="Calibri" panose="020F0502020204030204" pitchFamily="34" charset="0"/>
              </a:rPr>
              <a:t>are</a:t>
            </a:r>
            <a:r>
              <a:rPr lang="en-US" sz="2000" spc="-10" dirty="0">
                <a:effectLst/>
                <a:ea typeface="Calibri" panose="020F0502020204030204" pitchFamily="34" charset="0"/>
              </a:rPr>
              <a:t> </a:t>
            </a:r>
            <a:r>
              <a:rPr lang="en-US" sz="2000" dirty="0">
                <a:effectLst/>
                <a:ea typeface="Calibri" panose="020F0502020204030204" pitchFamily="34" charset="0"/>
              </a:rPr>
              <a:t>called </a:t>
            </a:r>
            <a:r>
              <a:rPr lang="en-US" sz="2000" b="1" dirty="0">
                <a:effectLst/>
                <a:ea typeface="Calibri" panose="020F0502020204030204" pitchFamily="34" charset="0"/>
              </a:rPr>
              <a:t>mappings</a:t>
            </a:r>
            <a:endParaRPr lang="en-US" sz="2000" dirty="0"/>
          </a:p>
        </p:txBody>
      </p:sp>
    </p:spTree>
    <p:extLst>
      <p:ext uri="{BB962C8B-B14F-4D97-AF65-F5344CB8AC3E}">
        <p14:creationId xmlns:p14="http://schemas.microsoft.com/office/powerpoint/2010/main" val="33970180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AAECC502-F8A8-C617-6EB5-EF68FF519B08}"/>
              </a:ext>
            </a:extLst>
          </p:cNvPr>
          <p:cNvGraphicFramePr/>
          <p:nvPr>
            <p:extLst>
              <p:ext uri="{D42A27DB-BD31-4B8C-83A1-F6EECF244321}">
                <p14:modId xmlns:p14="http://schemas.microsoft.com/office/powerpoint/2010/main" val="3833531605"/>
              </p:ext>
            </p:extLst>
          </p:nvPr>
        </p:nvGraphicFramePr>
        <p:xfrm>
          <a:off x="294968" y="280219"/>
          <a:ext cx="11651226" cy="16312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1E79A20C-D04C-A902-7AE4-BA8DD47D92C4}"/>
              </a:ext>
            </a:extLst>
          </p:cNvPr>
          <p:cNvSpPr txBox="1"/>
          <p:nvPr/>
        </p:nvSpPr>
        <p:spPr>
          <a:xfrm>
            <a:off x="486697" y="1911435"/>
            <a:ext cx="11061290" cy="4426853"/>
          </a:xfrm>
          <a:prstGeom prst="rect">
            <a:avLst/>
          </a:prstGeom>
          <a:noFill/>
        </p:spPr>
        <p:txBody>
          <a:bodyPr wrap="square" rtlCol="0">
            <a:spAutoFit/>
          </a:bodyPr>
          <a:lstStyle/>
          <a:p>
            <a:pPr marL="200660" marR="0" algn="just">
              <a:buNone/>
            </a:pPr>
            <a:r>
              <a:rPr lang="en-US" sz="2000" dirty="0">
                <a:effectLst/>
                <a:ea typeface="Calibri" panose="020F0502020204030204" pitchFamily="34" charset="0"/>
              </a:rPr>
              <a:t>We</a:t>
            </a:r>
            <a:r>
              <a:rPr lang="en-US" sz="2000" spc="-15" dirty="0">
                <a:effectLst/>
                <a:ea typeface="Calibri" panose="020F0502020204030204" pitchFamily="34" charset="0"/>
              </a:rPr>
              <a:t> </a:t>
            </a:r>
            <a:r>
              <a:rPr lang="en-US" sz="2000" dirty="0">
                <a:effectLst/>
                <a:ea typeface="Calibri" panose="020F0502020204030204" pitchFamily="34" charset="0"/>
              </a:rPr>
              <a:t>can</a:t>
            </a:r>
            <a:r>
              <a:rPr lang="en-US" sz="2000" spc="-20" dirty="0">
                <a:effectLst/>
                <a:ea typeface="Calibri" panose="020F0502020204030204" pitchFamily="34" charset="0"/>
              </a:rPr>
              <a:t> </a:t>
            </a:r>
            <a:r>
              <a:rPr lang="en-US" sz="2000" dirty="0">
                <a:effectLst/>
                <a:ea typeface="Calibri" panose="020F0502020204030204" pitchFamily="34" charset="0"/>
              </a:rPr>
              <a:t>define</a:t>
            </a:r>
            <a:r>
              <a:rPr lang="en-US" sz="2000" spc="-10" dirty="0">
                <a:effectLst/>
                <a:ea typeface="Calibri" panose="020F0502020204030204" pitchFamily="34" charset="0"/>
              </a:rPr>
              <a:t> </a:t>
            </a:r>
            <a:r>
              <a:rPr lang="en-US" sz="2000" dirty="0">
                <a:effectLst/>
                <a:ea typeface="Calibri" panose="020F0502020204030204" pitchFamily="34" charset="0"/>
              </a:rPr>
              <a:t>two</a:t>
            </a:r>
            <a:r>
              <a:rPr lang="en-US" sz="2000" spc="5" dirty="0">
                <a:effectLst/>
                <a:ea typeface="Calibri" panose="020F0502020204030204" pitchFamily="34" charset="0"/>
              </a:rPr>
              <a:t> </a:t>
            </a:r>
            <a:r>
              <a:rPr lang="en-US" sz="2000" dirty="0">
                <a:effectLst/>
                <a:ea typeface="Calibri" panose="020F0502020204030204" pitchFamily="34" charset="0"/>
              </a:rPr>
              <a:t>types</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5" dirty="0">
                <a:effectLst/>
                <a:ea typeface="Calibri" panose="020F0502020204030204" pitchFamily="34" charset="0"/>
              </a:rPr>
              <a:t> </a:t>
            </a:r>
            <a:r>
              <a:rPr lang="en-US" sz="2000" dirty="0">
                <a:effectLst/>
                <a:ea typeface="Calibri" panose="020F0502020204030204" pitchFamily="34" charset="0"/>
              </a:rPr>
              <a:t>data</a:t>
            </a:r>
            <a:r>
              <a:rPr lang="en-US" sz="2000" spc="-10" dirty="0">
                <a:effectLst/>
                <a:ea typeface="Calibri" panose="020F0502020204030204" pitchFamily="34" charset="0"/>
              </a:rPr>
              <a:t> </a:t>
            </a:r>
            <a:r>
              <a:rPr lang="en-US" sz="2000" dirty="0">
                <a:effectLst/>
                <a:ea typeface="Calibri" panose="020F0502020204030204" pitchFamily="34" charset="0"/>
              </a:rPr>
              <a:t>independence:</a:t>
            </a:r>
          </a:p>
          <a:p>
            <a:pPr marL="657860" marR="0" indent="-457200" algn="just">
              <a:buFont typeface="+mj-lt"/>
              <a:buAutoNum type="arabicPeriod"/>
            </a:pPr>
            <a:r>
              <a:rPr lang="en-US" sz="2000" b="1" spc="-10" dirty="0">
                <a:effectLst/>
                <a:ea typeface="Calibri" panose="020F0502020204030204" pitchFamily="34" charset="0"/>
              </a:rPr>
              <a:t>Logical</a:t>
            </a:r>
            <a:r>
              <a:rPr lang="en-US" sz="2000" b="1" spc="-25" dirty="0">
                <a:effectLst/>
                <a:ea typeface="Calibri" panose="020F0502020204030204" pitchFamily="34" charset="0"/>
              </a:rPr>
              <a:t> </a:t>
            </a:r>
            <a:r>
              <a:rPr lang="en-US" sz="2000" b="1" spc="-10" dirty="0">
                <a:effectLst/>
                <a:ea typeface="Calibri" panose="020F0502020204030204" pitchFamily="34" charset="0"/>
              </a:rPr>
              <a:t>data</a:t>
            </a:r>
            <a:r>
              <a:rPr lang="en-US" sz="2000" b="1" spc="-5" dirty="0">
                <a:effectLst/>
                <a:ea typeface="Calibri" panose="020F0502020204030204" pitchFamily="34" charset="0"/>
              </a:rPr>
              <a:t> </a:t>
            </a:r>
            <a:r>
              <a:rPr lang="en-US" sz="2000" b="1" spc="-10" dirty="0">
                <a:effectLst/>
                <a:ea typeface="Calibri" panose="020F0502020204030204" pitchFamily="34" charset="0"/>
              </a:rPr>
              <a:t>independence</a:t>
            </a:r>
          </a:p>
          <a:p>
            <a:pPr marL="1482725" marR="0" indent="-342900" algn="just">
              <a:spcBef>
                <a:spcPts val="5"/>
              </a:spcBef>
              <a:buFont typeface="Arial" panose="020B0604020202020204" pitchFamily="34" charset="0"/>
              <a:buChar char="•"/>
            </a:pPr>
            <a:r>
              <a:rPr lang="en-US" sz="2000" dirty="0">
                <a:effectLst/>
                <a:ea typeface="Calibri" panose="020F0502020204030204" pitchFamily="34" charset="0"/>
              </a:rPr>
              <a:t>capacity</a:t>
            </a:r>
            <a:r>
              <a:rPr lang="en-US" sz="2000" spc="50" dirty="0">
                <a:effectLst/>
                <a:ea typeface="Calibri" panose="020F0502020204030204" pitchFamily="34" charset="0"/>
              </a:rPr>
              <a:t> </a:t>
            </a:r>
            <a:r>
              <a:rPr lang="en-US" sz="2000" dirty="0">
                <a:effectLst/>
                <a:ea typeface="Calibri" panose="020F0502020204030204" pitchFamily="34" charset="0"/>
              </a:rPr>
              <a:t>to</a:t>
            </a:r>
            <a:r>
              <a:rPr lang="en-US" sz="2000" spc="45" dirty="0">
                <a:effectLst/>
                <a:ea typeface="Calibri" panose="020F0502020204030204" pitchFamily="34" charset="0"/>
              </a:rPr>
              <a:t> </a:t>
            </a:r>
            <a:r>
              <a:rPr lang="en-US" sz="2000" dirty="0">
                <a:effectLst/>
                <a:ea typeface="Calibri" panose="020F0502020204030204" pitchFamily="34" charset="0"/>
              </a:rPr>
              <a:t>change</a:t>
            </a:r>
            <a:r>
              <a:rPr lang="en-US" sz="2000" spc="55" dirty="0">
                <a:effectLst/>
                <a:ea typeface="Calibri" panose="020F0502020204030204" pitchFamily="34" charset="0"/>
              </a:rPr>
              <a:t> </a:t>
            </a:r>
            <a:r>
              <a:rPr lang="en-US" sz="2000" dirty="0">
                <a:effectLst/>
                <a:ea typeface="Calibri" panose="020F0502020204030204" pitchFamily="34" charset="0"/>
              </a:rPr>
              <a:t>the</a:t>
            </a:r>
            <a:r>
              <a:rPr lang="en-US" sz="2000" spc="50" dirty="0">
                <a:effectLst/>
                <a:ea typeface="Calibri" panose="020F0502020204030204" pitchFamily="34" charset="0"/>
              </a:rPr>
              <a:t> </a:t>
            </a:r>
            <a:r>
              <a:rPr lang="en-US" sz="2000" dirty="0">
                <a:effectLst/>
                <a:ea typeface="Calibri" panose="020F0502020204030204" pitchFamily="34" charset="0"/>
              </a:rPr>
              <a:t>conceptual</a:t>
            </a:r>
            <a:r>
              <a:rPr lang="en-US" sz="2000" spc="60" dirty="0">
                <a:effectLst/>
                <a:ea typeface="Calibri" panose="020F0502020204030204" pitchFamily="34" charset="0"/>
              </a:rPr>
              <a:t> </a:t>
            </a:r>
            <a:r>
              <a:rPr lang="en-US" sz="2000" dirty="0">
                <a:effectLst/>
                <a:ea typeface="Calibri" panose="020F0502020204030204" pitchFamily="34" charset="0"/>
              </a:rPr>
              <a:t>schema</a:t>
            </a:r>
            <a:r>
              <a:rPr lang="en-US" sz="2000" spc="45" dirty="0">
                <a:effectLst/>
                <a:ea typeface="Calibri" panose="020F0502020204030204" pitchFamily="34" charset="0"/>
              </a:rPr>
              <a:t> </a:t>
            </a:r>
            <a:r>
              <a:rPr lang="en-US" sz="2000" dirty="0">
                <a:effectLst/>
                <a:ea typeface="Calibri" panose="020F0502020204030204" pitchFamily="34" charset="0"/>
              </a:rPr>
              <a:t>without</a:t>
            </a:r>
            <a:r>
              <a:rPr lang="en-US" sz="2000" spc="40" dirty="0">
                <a:effectLst/>
                <a:ea typeface="Calibri" panose="020F0502020204030204" pitchFamily="34" charset="0"/>
              </a:rPr>
              <a:t> </a:t>
            </a:r>
            <a:r>
              <a:rPr lang="en-US" sz="2000" dirty="0">
                <a:effectLst/>
                <a:ea typeface="Calibri" panose="020F0502020204030204" pitchFamily="34" charset="0"/>
              </a:rPr>
              <a:t>having</a:t>
            </a:r>
            <a:r>
              <a:rPr lang="en-US" sz="2000" spc="55" dirty="0">
                <a:effectLst/>
                <a:ea typeface="Calibri" panose="020F0502020204030204" pitchFamily="34" charset="0"/>
              </a:rPr>
              <a:t> </a:t>
            </a:r>
            <a:r>
              <a:rPr lang="en-US" sz="2000" dirty="0">
                <a:effectLst/>
                <a:ea typeface="Calibri" panose="020F0502020204030204" pitchFamily="34" charset="0"/>
              </a:rPr>
              <a:t>to</a:t>
            </a:r>
            <a:r>
              <a:rPr lang="en-US" sz="2000" spc="45" dirty="0">
                <a:effectLst/>
                <a:ea typeface="Calibri" panose="020F0502020204030204" pitchFamily="34" charset="0"/>
              </a:rPr>
              <a:t> </a:t>
            </a:r>
            <a:r>
              <a:rPr lang="en-US" sz="2000" dirty="0">
                <a:effectLst/>
                <a:ea typeface="Calibri" panose="020F0502020204030204" pitchFamily="34" charset="0"/>
              </a:rPr>
              <a:t>change</a:t>
            </a:r>
            <a:r>
              <a:rPr lang="en-US" sz="2000" spc="50" dirty="0">
                <a:effectLst/>
                <a:ea typeface="Calibri" panose="020F0502020204030204" pitchFamily="34" charset="0"/>
              </a:rPr>
              <a:t> </a:t>
            </a:r>
            <a:r>
              <a:rPr lang="en-US" sz="2000" dirty="0">
                <a:effectLst/>
                <a:ea typeface="Calibri" panose="020F0502020204030204" pitchFamily="34" charset="0"/>
              </a:rPr>
              <a:t>external</a:t>
            </a:r>
            <a:r>
              <a:rPr lang="en-US" sz="2000" spc="60" dirty="0">
                <a:effectLst/>
                <a:ea typeface="Calibri" panose="020F0502020204030204" pitchFamily="34" charset="0"/>
              </a:rPr>
              <a:t> </a:t>
            </a:r>
            <a:r>
              <a:rPr lang="en-US" sz="2000" dirty="0">
                <a:effectLst/>
                <a:ea typeface="Calibri" panose="020F0502020204030204" pitchFamily="34" charset="0"/>
              </a:rPr>
              <a:t>schemas</a:t>
            </a:r>
            <a:r>
              <a:rPr lang="en-US" sz="2000" spc="50" dirty="0">
                <a:effectLst/>
                <a:ea typeface="Calibri" panose="020F0502020204030204" pitchFamily="34" charset="0"/>
              </a:rPr>
              <a:t> </a:t>
            </a:r>
            <a:r>
              <a:rPr lang="en-US" sz="2000" dirty="0">
                <a:effectLst/>
                <a:ea typeface="Calibri" panose="020F0502020204030204" pitchFamily="34" charset="0"/>
              </a:rPr>
              <a:t>or</a:t>
            </a:r>
            <a:r>
              <a:rPr lang="en-US" sz="2000" spc="20" dirty="0">
                <a:effectLst/>
                <a:ea typeface="Calibri" panose="020F0502020204030204" pitchFamily="34" charset="0"/>
              </a:rPr>
              <a:t> </a:t>
            </a:r>
            <a:r>
              <a:rPr lang="en-US" sz="2000" dirty="0">
                <a:effectLst/>
                <a:ea typeface="Calibri" panose="020F0502020204030204" pitchFamily="34" charset="0"/>
              </a:rPr>
              <a:t>application</a:t>
            </a:r>
            <a:r>
              <a:rPr lang="en-US" sz="2000" spc="-230" dirty="0">
                <a:effectLst/>
                <a:ea typeface="Calibri" panose="020F0502020204030204" pitchFamily="34" charset="0"/>
              </a:rPr>
              <a:t> </a:t>
            </a:r>
            <a:r>
              <a:rPr lang="en-US" sz="2000" dirty="0">
                <a:effectLst/>
                <a:ea typeface="Calibri" panose="020F0502020204030204" pitchFamily="34" charset="0"/>
              </a:rPr>
              <a:t>programs</a:t>
            </a:r>
          </a:p>
          <a:p>
            <a:pPr marL="1482725" marR="0" indent="-342900" algn="just">
              <a:spcBef>
                <a:spcPts val="5"/>
              </a:spcBef>
              <a:buFont typeface="Arial" panose="020B0604020202020204" pitchFamily="34" charset="0"/>
              <a:buChar char="•"/>
            </a:pPr>
            <a:r>
              <a:rPr lang="en-US" sz="2000" dirty="0">
                <a:effectLst/>
                <a:ea typeface="Calibri" panose="020F0502020204030204" pitchFamily="34" charset="0"/>
              </a:rPr>
              <a:t>change</a:t>
            </a:r>
            <a:r>
              <a:rPr lang="en-US" sz="2000" spc="220" dirty="0">
                <a:effectLst/>
                <a:ea typeface="Calibri" panose="020F0502020204030204" pitchFamily="34" charset="0"/>
              </a:rPr>
              <a:t> </a:t>
            </a:r>
            <a:r>
              <a:rPr lang="en-US" sz="2000" dirty="0">
                <a:effectLst/>
                <a:ea typeface="Calibri" panose="020F0502020204030204" pitchFamily="34" charset="0"/>
              </a:rPr>
              <a:t>the</a:t>
            </a:r>
            <a:r>
              <a:rPr lang="en-US" sz="2000" spc="225" dirty="0">
                <a:effectLst/>
                <a:ea typeface="Calibri" panose="020F0502020204030204" pitchFamily="34" charset="0"/>
              </a:rPr>
              <a:t> </a:t>
            </a:r>
            <a:r>
              <a:rPr lang="en-US" sz="2000" dirty="0">
                <a:effectLst/>
                <a:ea typeface="Calibri" panose="020F0502020204030204" pitchFamily="34" charset="0"/>
              </a:rPr>
              <a:t>conceptual</a:t>
            </a:r>
            <a:r>
              <a:rPr lang="en-US" sz="2000" spc="225" dirty="0">
                <a:effectLst/>
                <a:ea typeface="Calibri" panose="020F0502020204030204" pitchFamily="34" charset="0"/>
              </a:rPr>
              <a:t> </a:t>
            </a:r>
            <a:r>
              <a:rPr lang="en-US" sz="2000" dirty="0">
                <a:effectLst/>
                <a:ea typeface="Calibri" panose="020F0502020204030204" pitchFamily="34" charset="0"/>
              </a:rPr>
              <a:t>schema</a:t>
            </a:r>
            <a:r>
              <a:rPr lang="en-US" sz="2000" spc="220" dirty="0">
                <a:effectLst/>
                <a:ea typeface="Calibri" panose="020F0502020204030204" pitchFamily="34" charset="0"/>
              </a:rPr>
              <a:t> </a:t>
            </a:r>
            <a:r>
              <a:rPr lang="en-US" sz="2000" dirty="0">
                <a:effectLst/>
                <a:ea typeface="Calibri" panose="020F0502020204030204" pitchFamily="34" charset="0"/>
              </a:rPr>
              <a:t>to</a:t>
            </a:r>
            <a:r>
              <a:rPr lang="en-US" sz="2000" spc="215" dirty="0">
                <a:effectLst/>
                <a:ea typeface="Calibri" panose="020F0502020204030204" pitchFamily="34" charset="0"/>
              </a:rPr>
              <a:t> </a:t>
            </a:r>
            <a:r>
              <a:rPr lang="en-US" sz="2000" dirty="0">
                <a:effectLst/>
                <a:ea typeface="Calibri" panose="020F0502020204030204" pitchFamily="34" charset="0"/>
              </a:rPr>
              <a:t>expand</a:t>
            </a:r>
            <a:r>
              <a:rPr lang="en-US" sz="2000" spc="215" dirty="0">
                <a:effectLst/>
                <a:ea typeface="Calibri" panose="020F0502020204030204" pitchFamily="34" charset="0"/>
              </a:rPr>
              <a:t> </a:t>
            </a:r>
            <a:r>
              <a:rPr lang="en-US" sz="2000" dirty="0">
                <a:effectLst/>
                <a:ea typeface="Calibri" panose="020F0502020204030204" pitchFamily="34" charset="0"/>
              </a:rPr>
              <a:t>the</a:t>
            </a:r>
            <a:r>
              <a:rPr lang="en-US" sz="2000" spc="245" dirty="0">
                <a:effectLst/>
                <a:ea typeface="Calibri" panose="020F0502020204030204" pitchFamily="34" charset="0"/>
              </a:rPr>
              <a:t> </a:t>
            </a:r>
            <a:r>
              <a:rPr lang="en-US" sz="2000" dirty="0">
                <a:effectLst/>
                <a:ea typeface="Calibri" panose="020F0502020204030204" pitchFamily="34" charset="0"/>
              </a:rPr>
              <a:t>database,</a:t>
            </a:r>
            <a:r>
              <a:rPr lang="en-US" sz="2000" spc="210" dirty="0">
                <a:effectLst/>
                <a:ea typeface="Calibri" panose="020F0502020204030204" pitchFamily="34" charset="0"/>
              </a:rPr>
              <a:t> </a:t>
            </a:r>
            <a:r>
              <a:rPr lang="en-US" sz="2000" dirty="0">
                <a:effectLst/>
                <a:ea typeface="Calibri" panose="020F0502020204030204" pitchFamily="34" charset="0"/>
              </a:rPr>
              <a:t>to</a:t>
            </a:r>
            <a:r>
              <a:rPr lang="en-US" sz="2000" spc="215" dirty="0">
                <a:effectLst/>
                <a:ea typeface="Calibri" panose="020F0502020204030204" pitchFamily="34" charset="0"/>
              </a:rPr>
              <a:t> </a:t>
            </a:r>
            <a:r>
              <a:rPr lang="en-US" sz="2000" dirty="0">
                <a:effectLst/>
                <a:ea typeface="Calibri" panose="020F0502020204030204" pitchFamily="34" charset="0"/>
              </a:rPr>
              <a:t>change</a:t>
            </a:r>
            <a:r>
              <a:rPr lang="en-US" sz="2000" spc="225" dirty="0">
                <a:effectLst/>
                <a:ea typeface="Calibri" panose="020F0502020204030204" pitchFamily="34" charset="0"/>
              </a:rPr>
              <a:t> </a:t>
            </a:r>
            <a:r>
              <a:rPr lang="en-US" sz="2000" dirty="0">
                <a:effectLst/>
                <a:ea typeface="Calibri" panose="020F0502020204030204" pitchFamily="34" charset="0"/>
              </a:rPr>
              <a:t>constraints,</a:t>
            </a:r>
            <a:r>
              <a:rPr lang="en-US" sz="2000" spc="205" dirty="0">
                <a:effectLst/>
                <a:ea typeface="Calibri" panose="020F0502020204030204" pitchFamily="34" charset="0"/>
              </a:rPr>
              <a:t> </a:t>
            </a:r>
            <a:r>
              <a:rPr lang="en-US" sz="2000" dirty="0">
                <a:effectLst/>
                <a:ea typeface="Calibri" panose="020F0502020204030204" pitchFamily="34" charset="0"/>
              </a:rPr>
              <a:t>or</a:t>
            </a:r>
            <a:r>
              <a:rPr lang="en-US" sz="2000" spc="220" dirty="0">
                <a:effectLst/>
                <a:ea typeface="Calibri" panose="020F0502020204030204" pitchFamily="34" charset="0"/>
              </a:rPr>
              <a:t> </a:t>
            </a:r>
            <a:r>
              <a:rPr lang="en-US" sz="2000" dirty="0">
                <a:effectLst/>
                <a:ea typeface="Calibri" panose="020F0502020204030204" pitchFamily="34" charset="0"/>
              </a:rPr>
              <a:t>to</a:t>
            </a:r>
            <a:r>
              <a:rPr lang="en-US" sz="2000" spc="215" dirty="0">
                <a:effectLst/>
                <a:ea typeface="Calibri" panose="020F0502020204030204" pitchFamily="34" charset="0"/>
              </a:rPr>
              <a:t> </a:t>
            </a:r>
            <a:r>
              <a:rPr lang="en-US" sz="2000" dirty="0">
                <a:effectLst/>
                <a:ea typeface="Calibri" panose="020F0502020204030204" pitchFamily="34" charset="0"/>
              </a:rPr>
              <a:t>reduce</a:t>
            </a:r>
            <a:r>
              <a:rPr lang="en-US" sz="2000" spc="225" dirty="0">
                <a:effectLst/>
                <a:ea typeface="Calibri" panose="020F0502020204030204" pitchFamily="34" charset="0"/>
              </a:rPr>
              <a:t> </a:t>
            </a:r>
            <a:r>
              <a:rPr lang="en-US" sz="2000" dirty="0">
                <a:effectLst/>
                <a:ea typeface="Calibri" panose="020F0502020204030204" pitchFamily="34" charset="0"/>
              </a:rPr>
              <a:t>the</a:t>
            </a:r>
            <a:r>
              <a:rPr lang="en-US" sz="2000" spc="-235" dirty="0">
                <a:effectLst/>
                <a:ea typeface="Calibri" panose="020F0502020204030204" pitchFamily="34" charset="0"/>
              </a:rPr>
              <a:t> </a:t>
            </a:r>
            <a:r>
              <a:rPr lang="en-US" sz="2000" dirty="0">
                <a:effectLst/>
                <a:ea typeface="Calibri" panose="020F0502020204030204" pitchFamily="34" charset="0"/>
              </a:rPr>
              <a:t>database</a:t>
            </a:r>
          </a:p>
          <a:p>
            <a:pPr marL="1482725" marR="292100" indent="-342900" algn="just">
              <a:buFont typeface="Arial" panose="020B0604020202020204" pitchFamily="34" charset="0"/>
              <a:buChar char="•"/>
            </a:pPr>
            <a:r>
              <a:rPr lang="en-US" sz="2000" dirty="0">
                <a:effectLst/>
                <a:ea typeface="Calibri" panose="020F0502020204030204" pitchFamily="34" charset="0"/>
              </a:rPr>
              <a:t>changes</a:t>
            </a:r>
            <a:r>
              <a:rPr lang="en-US" sz="2000" spc="20" dirty="0">
                <a:effectLst/>
                <a:ea typeface="Calibri" panose="020F0502020204030204" pitchFamily="34" charset="0"/>
              </a:rPr>
              <a:t> </a:t>
            </a:r>
            <a:r>
              <a:rPr lang="en-US" sz="2000" dirty="0">
                <a:effectLst/>
                <a:ea typeface="Calibri" panose="020F0502020204030204" pitchFamily="34" charset="0"/>
              </a:rPr>
              <a:t>to</a:t>
            </a:r>
            <a:r>
              <a:rPr lang="en-US" sz="2000" spc="10" dirty="0">
                <a:effectLst/>
                <a:ea typeface="Calibri" panose="020F0502020204030204" pitchFamily="34" charset="0"/>
              </a:rPr>
              <a:t> </a:t>
            </a:r>
            <a:r>
              <a:rPr lang="en-US" sz="2000" dirty="0">
                <a:effectLst/>
                <a:ea typeface="Calibri" panose="020F0502020204030204" pitchFamily="34" charset="0"/>
              </a:rPr>
              <a:t>constraints</a:t>
            </a:r>
            <a:r>
              <a:rPr lang="en-US" sz="2000" spc="20" dirty="0">
                <a:effectLst/>
                <a:ea typeface="Calibri" panose="020F0502020204030204" pitchFamily="34" charset="0"/>
              </a:rPr>
              <a:t> </a:t>
            </a:r>
            <a:r>
              <a:rPr lang="en-US" sz="2000" dirty="0">
                <a:effectLst/>
                <a:ea typeface="Calibri" panose="020F0502020204030204" pitchFamily="34" charset="0"/>
              </a:rPr>
              <a:t>can</a:t>
            </a:r>
            <a:r>
              <a:rPr lang="en-US" sz="2000" spc="10" dirty="0">
                <a:effectLst/>
                <a:ea typeface="Calibri" panose="020F0502020204030204" pitchFamily="34" charset="0"/>
              </a:rPr>
              <a:t> </a:t>
            </a:r>
            <a:r>
              <a:rPr lang="en-US" sz="2000" dirty="0">
                <a:effectLst/>
                <a:ea typeface="Calibri" panose="020F0502020204030204" pitchFamily="34" charset="0"/>
              </a:rPr>
              <a:t>be</a:t>
            </a:r>
            <a:r>
              <a:rPr lang="en-US" sz="2000" spc="20" dirty="0">
                <a:effectLst/>
                <a:ea typeface="Calibri" panose="020F0502020204030204" pitchFamily="34" charset="0"/>
              </a:rPr>
              <a:t> </a:t>
            </a:r>
            <a:r>
              <a:rPr lang="en-US" sz="2000" dirty="0">
                <a:effectLst/>
                <a:ea typeface="Calibri" panose="020F0502020204030204" pitchFamily="34" charset="0"/>
              </a:rPr>
              <a:t>applied</a:t>
            </a:r>
            <a:r>
              <a:rPr lang="en-US" sz="2000" spc="15" dirty="0">
                <a:effectLst/>
                <a:ea typeface="Calibri" panose="020F0502020204030204" pitchFamily="34" charset="0"/>
              </a:rPr>
              <a:t> </a:t>
            </a:r>
            <a:r>
              <a:rPr lang="en-US" sz="2000" dirty="0">
                <a:effectLst/>
                <a:ea typeface="Calibri" panose="020F0502020204030204" pitchFamily="34" charset="0"/>
              </a:rPr>
              <a:t>to</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dirty="0">
                <a:effectLst/>
                <a:ea typeface="Calibri" panose="020F0502020204030204" pitchFamily="34" charset="0"/>
              </a:rPr>
              <a:t>conceptual</a:t>
            </a:r>
            <a:r>
              <a:rPr lang="en-US" sz="2000" spc="25" dirty="0">
                <a:effectLst/>
                <a:ea typeface="Calibri" panose="020F0502020204030204" pitchFamily="34" charset="0"/>
              </a:rPr>
              <a:t> </a:t>
            </a:r>
            <a:r>
              <a:rPr lang="en-US" sz="2000" dirty="0">
                <a:effectLst/>
                <a:ea typeface="Calibri" panose="020F0502020204030204" pitchFamily="34" charset="0"/>
              </a:rPr>
              <a:t>schema</a:t>
            </a:r>
            <a:r>
              <a:rPr lang="en-US" sz="2000" spc="15" dirty="0">
                <a:effectLst/>
                <a:ea typeface="Calibri" panose="020F0502020204030204" pitchFamily="34" charset="0"/>
              </a:rPr>
              <a:t> </a:t>
            </a:r>
            <a:r>
              <a:rPr lang="en-US" sz="2000" dirty="0">
                <a:effectLst/>
                <a:ea typeface="Calibri" panose="020F0502020204030204" pitchFamily="34" charset="0"/>
              </a:rPr>
              <a:t>without</a:t>
            </a:r>
            <a:r>
              <a:rPr lang="en-US" sz="2000" spc="5" dirty="0">
                <a:effectLst/>
                <a:ea typeface="Calibri" panose="020F0502020204030204" pitchFamily="34" charset="0"/>
              </a:rPr>
              <a:t> </a:t>
            </a:r>
            <a:r>
              <a:rPr lang="en-US" sz="2000" dirty="0">
                <a:effectLst/>
                <a:ea typeface="Calibri" panose="020F0502020204030204" pitchFamily="34" charset="0"/>
              </a:rPr>
              <a:t>affecting</a:t>
            </a:r>
            <a:r>
              <a:rPr lang="en-US" sz="2000" spc="25" dirty="0">
                <a:effectLst/>
                <a:ea typeface="Calibri" panose="020F0502020204030204" pitchFamily="34" charset="0"/>
              </a:rPr>
              <a:t> </a:t>
            </a: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dirty="0">
                <a:effectLst/>
                <a:ea typeface="Calibri" panose="020F0502020204030204" pitchFamily="34" charset="0"/>
              </a:rPr>
              <a:t>external</a:t>
            </a:r>
            <a:r>
              <a:rPr lang="en-US" sz="2000" spc="-235" dirty="0">
                <a:effectLst/>
                <a:ea typeface="Calibri" panose="020F0502020204030204" pitchFamily="34" charset="0"/>
              </a:rPr>
              <a:t> </a:t>
            </a:r>
            <a:r>
              <a:rPr lang="en-US" sz="2000" dirty="0">
                <a:effectLst/>
                <a:ea typeface="Calibri" panose="020F0502020204030204" pitchFamily="34" charset="0"/>
              </a:rPr>
              <a:t>schemas</a:t>
            </a:r>
            <a:r>
              <a:rPr lang="en-US" sz="2000" spc="-15" dirty="0">
                <a:effectLst/>
                <a:ea typeface="Calibri" panose="020F0502020204030204" pitchFamily="34" charset="0"/>
              </a:rPr>
              <a:t> </a:t>
            </a:r>
            <a:r>
              <a:rPr lang="en-US" sz="2000" dirty="0">
                <a:effectLst/>
                <a:ea typeface="Calibri" panose="020F0502020204030204" pitchFamily="34" charset="0"/>
              </a:rPr>
              <a:t>or</a:t>
            </a:r>
            <a:r>
              <a:rPr lang="en-US" sz="2000" spc="-10" dirty="0">
                <a:effectLst/>
                <a:ea typeface="Calibri" panose="020F0502020204030204" pitchFamily="34" charset="0"/>
              </a:rPr>
              <a:t> </a:t>
            </a:r>
            <a:r>
              <a:rPr lang="en-US" sz="2000" dirty="0">
                <a:effectLst/>
                <a:ea typeface="Calibri" panose="020F0502020204030204" pitchFamily="34" charset="0"/>
              </a:rPr>
              <a:t>application</a:t>
            </a:r>
            <a:r>
              <a:rPr lang="en-US" sz="2000" spc="-15" dirty="0">
                <a:effectLst/>
                <a:ea typeface="Calibri" panose="020F0502020204030204" pitchFamily="34" charset="0"/>
              </a:rPr>
              <a:t> </a:t>
            </a:r>
            <a:r>
              <a:rPr lang="en-US" sz="2000" dirty="0">
                <a:effectLst/>
                <a:ea typeface="Calibri" panose="020F0502020204030204" pitchFamily="34" charset="0"/>
              </a:rPr>
              <a:t>programs.</a:t>
            </a:r>
          </a:p>
          <a:p>
            <a:pPr marL="890588" marR="292100" indent="-720725" algn="just">
              <a:buFont typeface="+mj-lt"/>
              <a:buAutoNum type="arabicPeriod" startAt="2"/>
            </a:pPr>
            <a:r>
              <a:rPr lang="en-US" sz="2000" b="1" spc="-10" dirty="0">
                <a:effectLst/>
                <a:ea typeface="Calibri" panose="020F0502020204030204" pitchFamily="34" charset="0"/>
              </a:rPr>
              <a:t>Physical</a:t>
            </a:r>
            <a:r>
              <a:rPr lang="en-US" sz="2000" b="1" spc="-25" dirty="0">
                <a:effectLst/>
                <a:ea typeface="Calibri" panose="020F0502020204030204" pitchFamily="34" charset="0"/>
              </a:rPr>
              <a:t> </a:t>
            </a:r>
            <a:r>
              <a:rPr lang="en-US" sz="2000" b="1" spc="-10" dirty="0">
                <a:effectLst/>
                <a:ea typeface="Calibri" panose="020F0502020204030204" pitchFamily="34" charset="0"/>
              </a:rPr>
              <a:t>data independence</a:t>
            </a:r>
          </a:p>
          <a:p>
            <a:pPr marL="1457960" marR="0" indent="-342900" algn="just">
              <a:buFont typeface="Arial" panose="020B0604020202020204" pitchFamily="34" charset="0"/>
              <a:buChar char="•"/>
            </a:pPr>
            <a:r>
              <a:rPr lang="en-US" sz="2000" dirty="0">
                <a:effectLst/>
                <a:ea typeface="Calibri" panose="020F0502020204030204" pitchFamily="34" charset="0"/>
              </a:rPr>
              <a:t>capacity</a:t>
            </a:r>
            <a:r>
              <a:rPr lang="en-US" sz="2000" spc="55" dirty="0">
                <a:effectLst/>
                <a:ea typeface="Calibri" panose="020F0502020204030204" pitchFamily="34" charset="0"/>
              </a:rPr>
              <a:t> </a:t>
            </a:r>
            <a:r>
              <a:rPr lang="en-US" sz="2000" dirty="0">
                <a:effectLst/>
                <a:ea typeface="Calibri" panose="020F0502020204030204" pitchFamily="34" charset="0"/>
              </a:rPr>
              <a:t>to</a:t>
            </a:r>
            <a:r>
              <a:rPr lang="en-US" sz="2000" spc="45" dirty="0">
                <a:effectLst/>
                <a:ea typeface="Calibri" panose="020F0502020204030204" pitchFamily="34" charset="0"/>
              </a:rPr>
              <a:t> </a:t>
            </a:r>
            <a:r>
              <a:rPr lang="en-US" sz="2000" dirty="0">
                <a:effectLst/>
                <a:ea typeface="Calibri" panose="020F0502020204030204" pitchFamily="34" charset="0"/>
              </a:rPr>
              <a:t>change</a:t>
            </a:r>
            <a:r>
              <a:rPr lang="en-US" sz="2000" spc="55" dirty="0">
                <a:effectLst/>
                <a:ea typeface="Calibri" panose="020F0502020204030204" pitchFamily="34" charset="0"/>
              </a:rPr>
              <a:t> </a:t>
            </a:r>
            <a:r>
              <a:rPr lang="en-US" sz="2000" dirty="0">
                <a:effectLst/>
                <a:ea typeface="Calibri" panose="020F0502020204030204" pitchFamily="34" charset="0"/>
              </a:rPr>
              <a:t>the</a:t>
            </a:r>
            <a:r>
              <a:rPr lang="en-US" sz="2000" spc="55" dirty="0">
                <a:effectLst/>
                <a:ea typeface="Calibri" panose="020F0502020204030204" pitchFamily="34" charset="0"/>
              </a:rPr>
              <a:t> </a:t>
            </a:r>
            <a:r>
              <a:rPr lang="en-US" sz="2000" dirty="0">
                <a:effectLst/>
                <a:ea typeface="Calibri" panose="020F0502020204030204" pitchFamily="34" charset="0"/>
              </a:rPr>
              <a:t>internal</a:t>
            </a:r>
            <a:r>
              <a:rPr lang="en-US" sz="2000" spc="65" dirty="0">
                <a:effectLst/>
                <a:ea typeface="Calibri" panose="020F0502020204030204" pitchFamily="34" charset="0"/>
              </a:rPr>
              <a:t> </a:t>
            </a:r>
            <a:r>
              <a:rPr lang="en-US" sz="2000" dirty="0">
                <a:effectLst/>
                <a:ea typeface="Calibri" panose="020F0502020204030204" pitchFamily="34" charset="0"/>
              </a:rPr>
              <a:t>schema</a:t>
            </a:r>
            <a:r>
              <a:rPr lang="en-US" sz="2000" spc="50" dirty="0">
                <a:effectLst/>
                <a:ea typeface="Calibri" panose="020F0502020204030204" pitchFamily="34" charset="0"/>
              </a:rPr>
              <a:t> </a:t>
            </a:r>
            <a:r>
              <a:rPr lang="en-US" sz="2000" dirty="0">
                <a:effectLst/>
                <a:ea typeface="Calibri" panose="020F0502020204030204" pitchFamily="34" charset="0"/>
              </a:rPr>
              <a:t>without</a:t>
            </a:r>
            <a:r>
              <a:rPr lang="en-US" sz="2000" spc="40" dirty="0">
                <a:effectLst/>
                <a:ea typeface="Calibri" panose="020F0502020204030204" pitchFamily="34" charset="0"/>
              </a:rPr>
              <a:t> </a:t>
            </a:r>
            <a:r>
              <a:rPr lang="en-US" sz="2000" dirty="0">
                <a:effectLst/>
                <a:ea typeface="Calibri" panose="020F0502020204030204" pitchFamily="34" charset="0"/>
              </a:rPr>
              <a:t>having</a:t>
            </a:r>
            <a:r>
              <a:rPr lang="en-US" sz="2000" spc="55" dirty="0">
                <a:effectLst/>
                <a:ea typeface="Calibri" panose="020F0502020204030204" pitchFamily="34" charset="0"/>
              </a:rPr>
              <a:t> </a:t>
            </a:r>
            <a:r>
              <a:rPr lang="en-US" sz="2000" dirty="0">
                <a:effectLst/>
                <a:ea typeface="Calibri" panose="020F0502020204030204" pitchFamily="34" charset="0"/>
              </a:rPr>
              <a:t>to</a:t>
            </a:r>
            <a:r>
              <a:rPr lang="en-US" sz="2000" spc="50" dirty="0">
                <a:effectLst/>
                <a:ea typeface="Calibri" panose="020F0502020204030204" pitchFamily="34" charset="0"/>
              </a:rPr>
              <a:t> </a:t>
            </a:r>
            <a:r>
              <a:rPr lang="en-US" sz="2000" dirty="0">
                <a:effectLst/>
                <a:ea typeface="Calibri" panose="020F0502020204030204" pitchFamily="34" charset="0"/>
              </a:rPr>
              <a:t>change</a:t>
            </a:r>
            <a:r>
              <a:rPr lang="en-US" sz="2000" spc="55" dirty="0">
                <a:effectLst/>
                <a:ea typeface="Calibri" panose="020F0502020204030204" pitchFamily="34" charset="0"/>
              </a:rPr>
              <a:t> </a:t>
            </a:r>
            <a:r>
              <a:rPr lang="en-US" sz="2000" dirty="0">
                <a:effectLst/>
                <a:ea typeface="Calibri" panose="020F0502020204030204" pitchFamily="34" charset="0"/>
              </a:rPr>
              <a:t>the</a:t>
            </a:r>
            <a:r>
              <a:rPr lang="en-US" sz="2000" spc="55" dirty="0">
                <a:effectLst/>
                <a:ea typeface="Calibri" panose="020F0502020204030204" pitchFamily="34" charset="0"/>
              </a:rPr>
              <a:t> </a:t>
            </a:r>
            <a:r>
              <a:rPr lang="en-US" sz="2000" dirty="0">
                <a:effectLst/>
                <a:ea typeface="Calibri" panose="020F0502020204030204" pitchFamily="34" charset="0"/>
              </a:rPr>
              <a:t>conceptual</a:t>
            </a:r>
            <a:r>
              <a:rPr lang="en-US" sz="2000" spc="60" dirty="0">
                <a:effectLst/>
                <a:ea typeface="Calibri" panose="020F0502020204030204" pitchFamily="34" charset="0"/>
              </a:rPr>
              <a:t> </a:t>
            </a:r>
            <a:r>
              <a:rPr lang="en-US" sz="2000" dirty="0">
                <a:effectLst/>
                <a:ea typeface="Calibri" panose="020F0502020204030204" pitchFamily="34" charset="0"/>
              </a:rPr>
              <a:t>schema.</a:t>
            </a:r>
            <a:r>
              <a:rPr lang="en-US" sz="2000" spc="40" dirty="0">
                <a:effectLst/>
                <a:ea typeface="Calibri" panose="020F0502020204030204" pitchFamily="34" charset="0"/>
              </a:rPr>
              <a:t> </a:t>
            </a:r>
            <a:r>
              <a:rPr lang="en-US" sz="2000" dirty="0">
                <a:effectLst/>
                <a:ea typeface="Calibri" panose="020F0502020204030204" pitchFamily="34" charset="0"/>
              </a:rPr>
              <a:t>Hence,</a:t>
            </a:r>
            <a:r>
              <a:rPr lang="en-US" sz="2000" spc="40" dirty="0">
                <a:effectLst/>
                <a:ea typeface="Calibri" panose="020F0502020204030204" pitchFamily="34" charset="0"/>
              </a:rPr>
              <a:t> </a:t>
            </a:r>
            <a:r>
              <a:rPr lang="en-US" sz="2000" dirty="0">
                <a:effectLst/>
                <a:ea typeface="Calibri" panose="020F0502020204030204" pitchFamily="34" charset="0"/>
              </a:rPr>
              <a:t>the</a:t>
            </a:r>
            <a:r>
              <a:rPr lang="en-US" sz="2000" spc="-235" dirty="0">
                <a:effectLst/>
                <a:ea typeface="Calibri" panose="020F0502020204030204" pitchFamily="34" charset="0"/>
              </a:rPr>
              <a:t> </a:t>
            </a:r>
            <a:r>
              <a:rPr lang="en-US" sz="2000" dirty="0">
                <a:effectLst/>
                <a:ea typeface="Calibri" panose="020F0502020204030204" pitchFamily="34" charset="0"/>
              </a:rPr>
              <a:t>external</a:t>
            </a:r>
            <a:r>
              <a:rPr lang="en-US" sz="2000" spc="-5" dirty="0">
                <a:effectLst/>
                <a:ea typeface="Calibri" panose="020F0502020204030204" pitchFamily="34" charset="0"/>
              </a:rPr>
              <a:t> </a:t>
            </a:r>
            <a:r>
              <a:rPr lang="en-US" sz="2000" dirty="0">
                <a:effectLst/>
                <a:ea typeface="Calibri" panose="020F0502020204030204" pitchFamily="34" charset="0"/>
              </a:rPr>
              <a:t>schemas</a:t>
            </a:r>
            <a:r>
              <a:rPr lang="en-US" sz="2000" spc="-10" dirty="0">
                <a:effectLst/>
                <a:ea typeface="Calibri" panose="020F0502020204030204" pitchFamily="34" charset="0"/>
              </a:rPr>
              <a:t> </a:t>
            </a:r>
            <a:r>
              <a:rPr lang="en-US" sz="2000" dirty="0">
                <a:effectLst/>
                <a:ea typeface="Calibri" panose="020F0502020204030204" pitchFamily="34" charset="0"/>
              </a:rPr>
              <a:t>need</a:t>
            </a:r>
            <a:r>
              <a:rPr lang="en-US" sz="2000" spc="-15" dirty="0">
                <a:effectLst/>
                <a:ea typeface="Calibri" panose="020F0502020204030204" pitchFamily="34" charset="0"/>
              </a:rPr>
              <a:t> </a:t>
            </a:r>
            <a:r>
              <a:rPr lang="en-US" sz="2000" dirty="0">
                <a:effectLst/>
                <a:ea typeface="Calibri" panose="020F0502020204030204" pitchFamily="34" charset="0"/>
              </a:rPr>
              <a:t>not</a:t>
            </a:r>
            <a:r>
              <a:rPr lang="en-US" sz="2000" spc="-20" dirty="0">
                <a:effectLst/>
                <a:ea typeface="Calibri" panose="020F0502020204030204" pitchFamily="34" charset="0"/>
              </a:rPr>
              <a:t> </a:t>
            </a:r>
            <a:r>
              <a:rPr lang="en-US" sz="2000" dirty="0">
                <a:effectLst/>
                <a:ea typeface="Calibri" panose="020F0502020204030204" pitchFamily="34" charset="0"/>
              </a:rPr>
              <a:t>be</a:t>
            </a:r>
            <a:r>
              <a:rPr lang="en-US" sz="2000" spc="-10" dirty="0">
                <a:effectLst/>
                <a:ea typeface="Calibri" panose="020F0502020204030204" pitchFamily="34" charset="0"/>
              </a:rPr>
              <a:t> </a:t>
            </a:r>
            <a:r>
              <a:rPr lang="en-US" sz="2000" dirty="0">
                <a:effectLst/>
                <a:ea typeface="Calibri" panose="020F0502020204030204" pitchFamily="34" charset="0"/>
              </a:rPr>
              <a:t>changed</a:t>
            </a:r>
            <a:r>
              <a:rPr lang="en-US" sz="2000" spc="-10" dirty="0">
                <a:effectLst/>
                <a:ea typeface="Calibri" panose="020F0502020204030204" pitchFamily="34" charset="0"/>
              </a:rPr>
              <a:t> </a:t>
            </a:r>
            <a:r>
              <a:rPr lang="en-US" sz="2000" dirty="0">
                <a:effectLst/>
                <a:ea typeface="Calibri" panose="020F0502020204030204" pitchFamily="34" charset="0"/>
              </a:rPr>
              <a:t>as</a:t>
            </a:r>
            <a:r>
              <a:rPr lang="en-US" sz="2000" spc="10" dirty="0">
                <a:effectLst/>
                <a:ea typeface="Calibri" panose="020F0502020204030204" pitchFamily="34" charset="0"/>
              </a:rPr>
              <a:t> </a:t>
            </a:r>
            <a:r>
              <a:rPr lang="en-US" sz="2000" dirty="0">
                <a:effectLst/>
                <a:ea typeface="Calibri" panose="020F0502020204030204" pitchFamily="34" charset="0"/>
              </a:rPr>
              <a:t>well.</a:t>
            </a:r>
          </a:p>
          <a:p>
            <a:pPr marL="1457960" marR="0" indent="-342900" algn="just">
              <a:buFont typeface="Arial" panose="020B0604020202020204" pitchFamily="34" charset="0"/>
              <a:buChar char="•"/>
            </a:pPr>
            <a:endParaRPr lang="en-US" sz="2000" dirty="0">
              <a:effectLst/>
              <a:ea typeface="Calibri" panose="020F0502020204030204" pitchFamily="34" charset="0"/>
            </a:endParaRPr>
          </a:p>
          <a:p>
            <a:pPr marL="1458595" marR="0" indent="-342900" algn="just">
              <a:lnSpc>
                <a:spcPts val="1320"/>
              </a:lnSpc>
              <a:buFont typeface="Arial" panose="020B0604020202020204" pitchFamily="34" charset="0"/>
              <a:buChar char="•"/>
            </a:pPr>
            <a:r>
              <a:rPr lang="en-US" sz="2000" dirty="0">
                <a:effectLst/>
                <a:ea typeface="Calibri" panose="020F0502020204030204" pitchFamily="34" charset="0"/>
              </a:rPr>
              <a:t>by</a:t>
            </a:r>
            <a:r>
              <a:rPr lang="en-US" sz="2000" spc="10" dirty="0">
                <a:effectLst/>
                <a:ea typeface="Calibri" panose="020F0502020204030204" pitchFamily="34" charset="0"/>
              </a:rPr>
              <a:t> </a:t>
            </a:r>
            <a:r>
              <a:rPr lang="en-US" sz="2000" dirty="0">
                <a:effectLst/>
                <a:ea typeface="Calibri" panose="020F0502020204030204" pitchFamily="34" charset="0"/>
              </a:rPr>
              <a:t>creating</a:t>
            </a:r>
            <a:r>
              <a:rPr lang="en-US" sz="2000" spc="-5" dirty="0">
                <a:effectLst/>
                <a:ea typeface="Calibri" panose="020F0502020204030204" pitchFamily="34" charset="0"/>
              </a:rPr>
              <a:t> </a:t>
            </a:r>
            <a:r>
              <a:rPr lang="en-US" sz="2000" dirty="0">
                <a:effectLst/>
                <a:ea typeface="Calibri" panose="020F0502020204030204" pitchFamily="34" charset="0"/>
              </a:rPr>
              <a:t>additional</a:t>
            </a:r>
            <a:r>
              <a:rPr lang="en-US" sz="2000" spc="-10" dirty="0">
                <a:effectLst/>
                <a:ea typeface="Calibri" panose="020F0502020204030204" pitchFamily="34" charset="0"/>
              </a:rPr>
              <a:t> </a:t>
            </a:r>
            <a:r>
              <a:rPr lang="en-US" sz="2000" dirty="0">
                <a:effectLst/>
                <a:ea typeface="Calibri" panose="020F0502020204030204" pitchFamily="34" charset="0"/>
              </a:rPr>
              <a:t>access</a:t>
            </a:r>
            <a:r>
              <a:rPr lang="en-US" sz="2000" spc="-5" dirty="0">
                <a:effectLst/>
                <a:ea typeface="Calibri" panose="020F0502020204030204" pitchFamily="34" charset="0"/>
              </a:rPr>
              <a:t> </a:t>
            </a:r>
            <a:r>
              <a:rPr lang="en-US" sz="2000" dirty="0">
                <a:effectLst/>
                <a:ea typeface="Calibri" panose="020F0502020204030204" pitchFamily="34" charset="0"/>
              </a:rPr>
              <a:t>structures—to</a:t>
            </a:r>
            <a:r>
              <a:rPr lang="en-US" sz="2000" spc="-20" dirty="0">
                <a:effectLst/>
                <a:ea typeface="Calibri" panose="020F0502020204030204" pitchFamily="34" charset="0"/>
              </a:rPr>
              <a:t> </a:t>
            </a:r>
            <a:r>
              <a:rPr lang="en-US" sz="2000" dirty="0">
                <a:effectLst/>
                <a:ea typeface="Calibri" panose="020F0502020204030204" pitchFamily="34" charset="0"/>
              </a:rPr>
              <a:t>improve</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performance</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5" dirty="0">
                <a:effectLst/>
                <a:ea typeface="Calibri" panose="020F0502020204030204" pitchFamily="34" charset="0"/>
              </a:rPr>
              <a:t> </a:t>
            </a:r>
            <a:r>
              <a:rPr lang="en-US" sz="2000" dirty="0">
                <a:effectLst/>
                <a:ea typeface="Calibri" panose="020F0502020204030204" pitchFamily="34" charset="0"/>
              </a:rPr>
              <a:t>retrieval</a:t>
            </a:r>
            <a:r>
              <a:rPr lang="en-US" sz="2000" spc="-5" dirty="0">
                <a:effectLst/>
                <a:ea typeface="Calibri" panose="020F0502020204030204" pitchFamily="34" charset="0"/>
              </a:rPr>
              <a:t> </a:t>
            </a:r>
            <a:r>
              <a:rPr lang="en-US" sz="2000" dirty="0">
                <a:effectLst/>
                <a:ea typeface="Calibri" panose="020F0502020204030204" pitchFamily="34" charset="0"/>
              </a:rPr>
              <a:t>or</a:t>
            </a:r>
            <a:r>
              <a:rPr lang="en-US" sz="2000" spc="-10" dirty="0">
                <a:effectLst/>
                <a:ea typeface="Calibri" panose="020F0502020204030204" pitchFamily="34" charset="0"/>
              </a:rPr>
              <a:t> </a:t>
            </a:r>
            <a:r>
              <a:rPr lang="en-US" sz="2000" dirty="0">
                <a:effectLst/>
                <a:ea typeface="Calibri" panose="020F0502020204030204" pitchFamily="34" charset="0"/>
              </a:rPr>
              <a:t>update.</a:t>
            </a:r>
          </a:p>
          <a:p>
            <a:endParaRPr lang="en-US" sz="2000" dirty="0"/>
          </a:p>
        </p:txBody>
      </p:sp>
    </p:spTree>
    <p:extLst>
      <p:ext uri="{BB962C8B-B14F-4D97-AF65-F5344CB8AC3E}">
        <p14:creationId xmlns:p14="http://schemas.microsoft.com/office/powerpoint/2010/main" val="502524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447B172B-0E98-70FA-E432-F914FE60F931}"/>
              </a:ext>
            </a:extLst>
          </p:cNvPr>
          <p:cNvGraphicFramePr/>
          <p:nvPr>
            <p:extLst>
              <p:ext uri="{D42A27DB-BD31-4B8C-83A1-F6EECF244321}">
                <p14:modId xmlns:p14="http://schemas.microsoft.com/office/powerpoint/2010/main" val="1460388904"/>
              </p:ext>
            </p:extLst>
          </p:nvPr>
        </p:nvGraphicFramePr>
        <p:xfrm>
          <a:off x="309966" y="278969"/>
          <a:ext cx="11484244" cy="2031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3800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7A7569-F7DA-DF91-48FD-96D5F1E04C4C}"/>
              </a:ext>
            </a:extLst>
          </p:cNvPr>
          <p:cNvSpPr txBox="1"/>
          <p:nvPr/>
        </p:nvSpPr>
        <p:spPr>
          <a:xfrm>
            <a:off x="294468" y="294468"/>
            <a:ext cx="11499742" cy="6063198"/>
          </a:xfrm>
          <a:prstGeom prst="rect">
            <a:avLst/>
          </a:prstGeom>
          <a:noFill/>
        </p:spPr>
        <p:txBody>
          <a:bodyPr wrap="square" rtlCol="0">
            <a:spAutoFit/>
          </a:bodyPr>
          <a:lstStyle/>
          <a:p>
            <a:r>
              <a:rPr lang="en-US" sz="2400" dirty="0">
                <a:effectLst/>
                <a:ea typeface="Calibri" panose="020F0502020204030204" pitchFamily="34" charset="0"/>
              </a:rPr>
              <a:t>There are two main types of </a:t>
            </a:r>
            <a:r>
              <a:rPr lang="en-US" sz="2400" b="1" dirty="0">
                <a:effectLst/>
                <a:ea typeface="Calibri" panose="020F0502020204030204" pitchFamily="34" charset="0"/>
              </a:rPr>
              <a:t>DMLs</a:t>
            </a:r>
            <a:r>
              <a:rPr lang="en-US" sz="2400" dirty="0">
                <a:effectLst/>
                <a:ea typeface="Calibri" panose="020F0502020204030204" pitchFamily="34" charset="0"/>
              </a:rPr>
              <a:t>.</a:t>
            </a:r>
          </a:p>
          <a:p>
            <a:endParaRPr lang="en-US" sz="2000" dirty="0"/>
          </a:p>
          <a:p>
            <a:r>
              <a:rPr lang="en-US" sz="2400" dirty="0">
                <a:effectLst/>
                <a:ea typeface="Calibri" panose="020F0502020204030204" pitchFamily="34" charset="0"/>
              </a:rPr>
              <a:t>A</a:t>
            </a:r>
            <a:r>
              <a:rPr lang="en-US" sz="2400" spc="-5" dirty="0">
                <a:effectLst/>
                <a:ea typeface="Calibri" panose="020F0502020204030204" pitchFamily="34" charset="0"/>
              </a:rPr>
              <a:t> </a:t>
            </a:r>
            <a:r>
              <a:rPr lang="en-US" sz="2400" b="1" dirty="0">
                <a:effectLst/>
                <a:ea typeface="Calibri" panose="020F0502020204030204" pitchFamily="34" charset="0"/>
              </a:rPr>
              <a:t>high-level</a:t>
            </a:r>
            <a:r>
              <a:rPr lang="en-US" sz="2400" b="1" spc="-20" dirty="0">
                <a:effectLst/>
                <a:ea typeface="Calibri" panose="020F0502020204030204" pitchFamily="34" charset="0"/>
              </a:rPr>
              <a:t> </a:t>
            </a:r>
            <a:r>
              <a:rPr lang="en-US" sz="2400" b="1" dirty="0">
                <a:effectLst/>
                <a:ea typeface="Calibri" panose="020F0502020204030204" pitchFamily="34" charset="0"/>
              </a:rPr>
              <a:t>or</a:t>
            </a:r>
            <a:r>
              <a:rPr lang="en-US" sz="2400" b="1" spc="-20" dirty="0">
                <a:effectLst/>
                <a:ea typeface="Calibri" panose="020F0502020204030204" pitchFamily="34" charset="0"/>
              </a:rPr>
              <a:t> </a:t>
            </a:r>
            <a:r>
              <a:rPr lang="en-US" sz="2400" b="1" dirty="0">
                <a:effectLst/>
                <a:ea typeface="Calibri" panose="020F0502020204030204" pitchFamily="34" charset="0"/>
              </a:rPr>
              <a:t>nonprocedural</a:t>
            </a:r>
            <a:r>
              <a:rPr lang="en-US" sz="2400" b="1" spc="-25" dirty="0">
                <a:effectLst/>
                <a:ea typeface="Calibri" panose="020F0502020204030204" pitchFamily="34" charset="0"/>
              </a:rPr>
              <a:t> </a:t>
            </a:r>
            <a:r>
              <a:rPr lang="en-US" sz="2400" b="1" dirty="0">
                <a:effectLst/>
                <a:ea typeface="Calibri" panose="020F0502020204030204" pitchFamily="34" charset="0"/>
              </a:rPr>
              <a:t>DML:</a:t>
            </a:r>
          </a:p>
          <a:p>
            <a:endParaRPr lang="en-US" sz="2000" b="1" dirty="0">
              <a:ea typeface="Calibri" panose="020F0502020204030204" pitchFamily="34" charset="0"/>
            </a:endParaRPr>
          </a:p>
          <a:p>
            <a:pPr marL="285750" indent="-285750" algn="just">
              <a:buFont typeface="Arial" panose="020B0604020202020204" pitchFamily="34" charset="0"/>
              <a:buChar char="•"/>
            </a:pPr>
            <a:r>
              <a:rPr lang="en-US" sz="2000" dirty="0">
                <a:effectLst/>
                <a:ea typeface="Calibri" panose="020F0502020204030204" pitchFamily="34" charset="0"/>
              </a:rPr>
              <a:t>can</a:t>
            </a:r>
            <a:r>
              <a:rPr lang="en-US" sz="2000" spc="-25" dirty="0">
                <a:effectLst/>
                <a:ea typeface="Calibri" panose="020F0502020204030204" pitchFamily="34" charset="0"/>
              </a:rPr>
              <a:t> </a:t>
            </a:r>
            <a:r>
              <a:rPr lang="en-US" sz="2000" dirty="0">
                <a:effectLst/>
                <a:ea typeface="Calibri" panose="020F0502020204030204" pitchFamily="34" charset="0"/>
              </a:rPr>
              <a:t>be</a:t>
            </a:r>
            <a:r>
              <a:rPr lang="en-US" sz="2000" spc="-15" dirty="0">
                <a:effectLst/>
                <a:ea typeface="Calibri" panose="020F0502020204030204" pitchFamily="34" charset="0"/>
              </a:rPr>
              <a:t> </a:t>
            </a:r>
            <a:r>
              <a:rPr lang="en-US" sz="2000" dirty="0">
                <a:effectLst/>
                <a:ea typeface="Calibri" panose="020F0502020204030204" pitchFamily="34" charset="0"/>
              </a:rPr>
              <a:t>used</a:t>
            </a:r>
            <a:r>
              <a:rPr lang="en-US" sz="2000" spc="-25" dirty="0">
                <a:effectLst/>
                <a:ea typeface="Calibri" panose="020F0502020204030204" pitchFamily="34" charset="0"/>
              </a:rPr>
              <a:t> </a:t>
            </a:r>
            <a:r>
              <a:rPr lang="en-US" sz="2000" dirty="0">
                <a:effectLst/>
                <a:ea typeface="Calibri" panose="020F0502020204030204" pitchFamily="34" charset="0"/>
              </a:rPr>
              <a:t>on its</a:t>
            </a:r>
            <a:r>
              <a:rPr lang="en-US" sz="2000" spc="-20" dirty="0">
                <a:effectLst/>
                <a:ea typeface="Calibri" panose="020F0502020204030204" pitchFamily="34" charset="0"/>
              </a:rPr>
              <a:t> </a:t>
            </a:r>
            <a:r>
              <a:rPr lang="en-US" sz="2000" dirty="0">
                <a:effectLst/>
                <a:ea typeface="Calibri" panose="020F0502020204030204" pitchFamily="34" charset="0"/>
              </a:rPr>
              <a:t>own</a:t>
            </a:r>
            <a:r>
              <a:rPr lang="en-US" sz="2000" spc="5" dirty="0">
                <a:effectLst/>
                <a:ea typeface="Calibri" panose="020F0502020204030204" pitchFamily="34" charset="0"/>
              </a:rPr>
              <a:t> </a:t>
            </a:r>
            <a:r>
              <a:rPr lang="en-US" sz="2000" dirty="0">
                <a:effectLst/>
                <a:ea typeface="Calibri" panose="020F0502020204030204" pitchFamily="34" charset="0"/>
              </a:rPr>
              <a:t>to</a:t>
            </a:r>
            <a:r>
              <a:rPr lang="en-US" sz="2000" spc="-25" dirty="0">
                <a:effectLst/>
                <a:ea typeface="Calibri" panose="020F0502020204030204" pitchFamily="34" charset="0"/>
              </a:rPr>
              <a:t> </a:t>
            </a:r>
            <a:r>
              <a:rPr lang="en-US" sz="2000" dirty="0">
                <a:effectLst/>
                <a:ea typeface="Calibri" panose="020F0502020204030204" pitchFamily="34" charset="0"/>
              </a:rPr>
              <a:t>specify complex</a:t>
            </a:r>
            <a:r>
              <a:rPr lang="en-US" sz="2000" spc="-20" dirty="0">
                <a:effectLst/>
                <a:ea typeface="Calibri" panose="020F0502020204030204" pitchFamily="34" charset="0"/>
              </a:rPr>
              <a:t> </a:t>
            </a:r>
            <a:r>
              <a:rPr lang="en-US" sz="2000" dirty="0">
                <a:effectLst/>
                <a:ea typeface="Calibri" panose="020F0502020204030204" pitchFamily="34" charset="0"/>
              </a:rPr>
              <a:t>database</a:t>
            </a:r>
            <a:r>
              <a:rPr lang="en-US" sz="2000" spc="-15" dirty="0">
                <a:effectLst/>
                <a:ea typeface="Calibri" panose="020F0502020204030204" pitchFamily="34" charset="0"/>
              </a:rPr>
              <a:t> </a:t>
            </a:r>
            <a:r>
              <a:rPr lang="en-US" sz="2000" dirty="0">
                <a:effectLst/>
                <a:ea typeface="Calibri" panose="020F0502020204030204" pitchFamily="34" charset="0"/>
              </a:rPr>
              <a:t>operations</a:t>
            </a:r>
            <a:r>
              <a:rPr lang="en-US" sz="2000" spc="-20" dirty="0">
                <a:effectLst/>
                <a:ea typeface="Calibri" panose="020F0502020204030204" pitchFamily="34" charset="0"/>
              </a:rPr>
              <a:t> </a:t>
            </a:r>
            <a:r>
              <a:rPr lang="en-US" sz="2000" dirty="0">
                <a:effectLst/>
                <a:ea typeface="Calibri" panose="020F0502020204030204" pitchFamily="34" charset="0"/>
              </a:rPr>
              <a:t>concisely</a:t>
            </a:r>
            <a:r>
              <a:rPr lang="en-US" sz="2000" spc="-15" dirty="0">
                <a:ea typeface="Calibri" panose="020F0502020204030204" pitchFamily="34" charset="0"/>
              </a:rPr>
              <a:t>.</a:t>
            </a:r>
          </a:p>
          <a:p>
            <a:pPr marL="285750" indent="-285750" algn="just">
              <a:buFont typeface="Arial" panose="020B0604020202020204" pitchFamily="34" charset="0"/>
              <a:buChar char="•"/>
            </a:pPr>
            <a:r>
              <a:rPr lang="en-US" sz="2000" b="0" i="0" u="none" strike="noStrike" baseline="0" dirty="0"/>
              <a:t>Many DBMSs allow high-level DML statements either to be entered interactively from a display monitor or terminal or to be embedded in a general-purpose programming language </a:t>
            </a:r>
            <a:r>
              <a:rPr lang="en-US" sz="2000" dirty="0">
                <a:effectLst/>
                <a:ea typeface="Calibri" panose="020F0502020204030204" pitchFamily="34" charset="0"/>
              </a:rPr>
              <a:t>(C, C++, JAVA).</a:t>
            </a:r>
            <a:endParaRPr lang="en-US" sz="2000" b="0" i="0" u="none" strike="noStrike" baseline="0" dirty="0"/>
          </a:p>
          <a:p>
            <a:pPr marL="285750" indent="-285750" algn="just">
              <a:buFont typeface="Arial" panose="020B0604020202020204" pitchFamily="34" charset="0"/>
              <a:buChar char="•"/>
            </a:pPr>
            <a:r>
              <a:rPr lang="en-US" sz="2000" dirty="0">
                <a:effectLst/>
                <a:ea typeface="Calibri" panose="020F0502020204030204" pitchFamily="34" charset="0"/>
              </a:rPr>
              <a:t>can</a:t>
            </a:r>
            <a:r>
              <a:rPr lang="en-US" sz="2000" spc="-5" dirty="0">
                <a:effectLst/>
                <a:ea typeface="Calibri" panose="020F0502020204030204" pitchFamily="34" charset="0"/>
              </a:rPr>
              <a:t> </a:t>
            </a:r>
            <a:r>
              <a:rPr lang="en-US" sz="2000" dirty="0">
                <a:effectLst/>
                <a:ea typeface="Calibri" panose="020F0502020204030204" pitchFamily="34" charset="0"/>
              </a:rPr>
              <a:t>specify</a:t>
            </a:r>
            <a:r>
              <a:rPr lang="en-US" sz="2000" spc="10" dirty="0">
                <a:effectLst/>
                <a:ea typeface="Calibri" panose="020F0502020204030204" pitchFamily="34" charset="0"/>
              </a:rPr>
              <a:t> </a:t>
            </a:r>
            <a:r>
              <a:rPr lang="en-US" sz="2000" dirty="0">
                <a:effectLst/>
                <a:ea typeface="Calibri" panose="020F0502020204030204" pitchFamily="34" charset="0"/>
              </a:rPr>
              <a:t>and</a:t>
            </a:r>
            <a:r>
              <a:rPr lang="en-US" sz="2000" spc="5" dirty="0">
                <a:effectLst/>
                <a:ea typeface="Calibri" panose="020F0502020204030204" pitchFamily="34" charset="0"/>
              </a:rPr>
              <a:t> </a:t>
            </a:r>
            <a:r>
              <a:rPr lang="en-US" sz="2000" dirty="0">
                <a:effectLst/>
                <a:ea typeface="Calibri" panose="020F0502020204030204" pitchFamily="34" charset="0"/>
              </a:rPr>
              <a:t>retrieve</a:t>
            </a:r>
            <a:r>
              <a:rPr lang="en-US" sz="2000" spc="-15" dirty="0">
                <a:effectLst/>
                <a:ea typeface="Calibri" panose="020F0502020204030204" pitchFamily="34" charset="0"/>
              </a:rPr>
              <a:t> </a:t>
            </a:r>
            <a:r>
              <a:rPr lang="en-US" sz="2000" dirty="0">
                <a:effectLst/>
                <a:ea typeface="Calibri" panose="020F0502020204030204" pitchFamily="34" charset="0"/>
              </a:rPr>
              <a:t>many</a:t>
            </a:r>
            <a:r>
              <a:rPr lang="en-US" sz="2000" spc="10" dirty="0">
                <a:effectLst/>
                <a:ea typeface="Calibri" panose="020F0502020204030204" pitchFamily="34" charset="0"/>
              </a:rPr>
              <a:t> </a:t>
            </a:r>
            <a:r>
              <a:rPr lang="en-US" sz="2000" dirty="0">
                <a:effectLst/>
                <a:ea typeface="Calibri" panose="020F0502020204030204" pitchFamily="34" charset="0"/>
              </a:rPr>
              <a:t>records</a:t>
            </a:r>
            <a:r>
              <a:rPr lang="en-US" sz="2000" spc="5" dirty="0">
                <a:effectLst/>
                <a:ea typeface="Calibri" panose="020F0502020204030204" pitchFamily="34" charset="0"/>
              </a:rPr>
              <a:t> </a:t>
            </a:r>
            <a:r>
              <a:rPr lang="en-US" sz="2000" dirty="0">
                <a:effectLst/>
                <a:ea typeface="Calibri" panose="020F0502020204030204" pitchFamily="34" charset="0"/>
              </a:rPr>
              <a:t>in</a:t>
            </a:r>
            <a:r>
              <a:rPr lang="en-US" sz="2000" spc="5" dirty="0">
                <a:effectLst/>
                <a:ea typeface="Calibri" panose="020F0502020204030204" pitchFamily="34" charset="0"/>
              </a:rPr>
              <a:t> </a:t>
            </a:r>
            <a:r>
              <a:rPr lang="en-US" sz="2000" dirty="0">
                <a:effectLst/>
                <a:ea typeface="Calibri" panose="020F0502020204030204" pitchFamily="34" charset="0"/>
              </a:rPr>
              <a:t>a single</a:t>
            </a:r>
            <a:r>
              <a:rPr lang="en-US" sz="2000" spc="35" dirty="0">
                <a:effectLst/>
                <a:ea typeface="Calibri" panose="020F0502020204030204" pitchFamily="34" charset="0"/>
              </a:rPr>
              <a:t> </a:t>
            </a:r>
            <a:r>
              <a:rPr lang="en-US" sz="2000" dirty="0">
                <a:effectLst/>
                <a:ea typeface="Calibri" panose="020F0502020204030204" pitchFamily="34" charset="0"/>
              </a:rPr>
              <a:t>DML statement; therefore,</a:t>
            </a:r>
            <a:r>
              <a:rPr lang="en-US" sz="2000" spc="-5" dirty="0">
                <a:effectLst/>
                <a:ea typeface="Calibri" panose="020F0502020204030204" pitchFamily="34" charset="0"/>
              </a:rPr>
              <a:t> </a:t>
            </a:r>
            <a:r>
              <a:rPr lang="en-US" sz="2000" dirty="0">
                <a:effectLst/>
                <a:ea typeface="Calibri" panose="020F0502020204030204" pitchFamily="34" charset="0"/>
              </a:rPr>
              <a:t>they</a:t>
            </a:r>
            <a:r>
              <a:rPr lang="en-US" sz="2000" spc="15" dirty="0">
                <a:effectLst/>
                <a:ea typeface="Calibri" panose="020F0502020204030204" pitchFamily="34" charset="0"/>
              </a:rPr>
              <a:t> </a:t>
            </a:r>
            <a:r>
              <a:rPr lang="en-US" sz="2000" dirty="0">
                <a:effectLst/>
                <a:ea typeface="Calibri" panose="020F0502020204030204" pitchFamily="34" charset="0"/>
              </a:rPr>
              <a:t>are called</a:t>
            </a:r>
            <a:r>
              <a:rPr lang="en-US" sz="2000" spc="20" dirty="0">
                <a:effectLst/>
                <a:ea typeface="Calibri" panose="020F0502020204030204" pitchFamily="34" charset="0"/>
              </a:rPr>
              <a:t> </a:t>
            </a:r>
            <a:r>
              <a:rPr lang="en-US" sz="2000" b="1" dirty="0">
                <a:effectLst/>
                <a:ea typeface="Calibri" panose="020F0502020204030204" pitchFamily="34" charset="0"/>
              </a:rPr>
              <a:t>set-at-a-time</a:t>
            </a:r>
            <a:r>
              <a:rPr lang="en-US" sz="2000" b="1" spc="5" dirty="0">
                <a:effectLst/>
                <a:ea typeface="Calibri" panose="020F0502020204030204" pitchFamily="34" charset="0"/>
              </a:rPr>
              <a:t> </a:t>
            </a:r>
            <a:r>
              <a:rPr lang="en-US" sz="2000" b="1" dirty="0">
                <a:effectLst/>
                <a:ea typeface="Calibri" panose="020F0502020204030204" pitchFamily="34" charset="0"/>
              </a:rPr>
              <a:t>or set-</a:t>
            </a:r>
            <a:r>
              <a:rPr lang="en-US" sz="2000" b="1" spc="-235" dirty="0">
                <a:effectLst/>
                <a:ea typeface="Calibri" panose="020F0502020204030204" pitchFamily="34" charset="0"/>
              </a:rPr>
              <a:t> </a:t>
            </a:r>
            <a:r>
              <a:rPr lang="en-US" sz="2000" b="1" dirty="0">
                <a:effectLst/>
                <a:ea typeface="Calibri" panose="020F0502020204030204" pitchFamily="34" charset="0"/>
              </a:rPr>
              <a:t>oriented</a:t>
            </a:r>
            <a:r>
              <a:rPr lang="en-US" sz="2000" b="1" spc="-15" dirty="0">
                <a:effectLst/>
                <a:ea typeface="Calibri" panose="020F0502020204030204" pitchFamily="34" charset="0"/>
              </a:rPr>
              <a:t> </a:t>
            </a:r>
            <a:r>
              <a:rPr lang="en-US" sz="2000" b="1" dirty="0">
                <a:effectLst/>
                <a:ea typeface="Calibri" panose="020F0502020204030204" pitchFamily="34" charset="0"/>
              </a:rPr>
              <a:t>DMLs.</a:t>
            </a:r>
          </a:p>
          <a:p>
            <a:pPr marL="285750" indent="-285750" algn="just">
              <a:buFont typeface="Arial" panose="020B0604020202020204" pitchFamily="34" charset="0"/>
              <a:buChar char="•"/>
            </a:pPr>
            <a:endParaRPr lang="en-US" sz="2000" b="1" dirty="0">
              <a:ea typeface="Calibri" panose="020F0502020204030204" pitchFamily="34" charset="0"/>
            </a:endParaRPr>
          </a:p>
          <a:p>
            <a:pPr algn="just"/>
            <a:r>
              <a:rPr lang="en-US" sz="2400" dirty="0">
                <a:effectLst/>
                <a:ea typeface="Calibri" panose="020F0502020204030204" pitchFamily="34" charset="0"/>
              </a:rPr>
              <a:t>A</a:t>
            </a:r>
            <a:r>
              <a:rPr lang="en-US" sz="2400" spc="-5" dirty="0">
                <a:effectLst/>
                <a:ea typeface="Calibri" panose="020F0502020204030204" pitchFamily="34" charset="0"/>
              </a:rPr>
              <a:t> </a:t>
            </a:r>
            <a:r>
              <a:rPr lang="en-US" sz="2400" b="1" dirty="0">
                <a:effectLst/>
                <a:ea typeface="Calibri" panose="020F0502020204030204" pitchFamily="34" charset="0"/>
              </a:rPr>
              <a:t>low-level</a:t>
            </a:r>
            <a:r>
              <a:rPr lang="en-US" sz="2400" b="1" spc="-25" dirty="0">
                <a:effectLst/>
                <a:ea typeface="Calibri" panose="020F0502020204030204" pitchFamily="34" charset="0"/>
              </a:rPr>
              <a:t> </a:t>
            </a:r>
            <a:r>
              <a:rPr lang="en-US" sz="2400" b="1" dirty="0">
                <a:effectLst/>
                <a:ea typeface="Calibri" panose="020F0502020204030204" pitchFamily="34" charset="0"/>
              </a:rPr>
              <a:t>or</a:t>
            </a:r>
            <a:r>
              <a:rPr lang="en-US" sz="2400" b="1" spc="-25" dirty="0">
                <a:effectLst/>
                <a:ea typeface="Calibri" panose="020F0502020204030204" pitchFamily="34" charset="0"/>
              </a:rPr>
              <a:t> </a:t>
            </a:r>
            <a:r>
              <a:rPr lang="en-US" sz="2400" b="1" dirty="0">
                <a:effectLst/>
                <a:ea typeface="Calibri" panose="020F0502020204030204" pitchFamily="34" charset="0"/>
              </a:rPr>
              <a:t>procedural</a:t>
            </a:r>
            <a:r>
              <a:rPr lang="en-US" sz="2400" b="1" spc="-25" dirty="0">
                <a:effectLst/>
                <a:ea typeface="Calibri" panose="020F0502020204030204" pitchFamily="34" charset="0"/>
              </a:rPr>
              <a:t> </a:t>
            </a:r>
            <a:r>
              <a:rPr lang="en-US" sz="2400" b="1" dirty="0">
                <a:effectLst/>
                <a:ea typeface="Calibri" panose="020F0502020204030204" pitchFamily="34" charset="0"/>
              </a:rPr>
              <a:t>DML:</a:t>
            </a:r>
          </a:p>
          <a:p>
            <a:pPr algn="just"/>
            <a:endParaRPr lang="en-US" sz="2000" b="1" dirty="0">
              <a:ea typeface="Calibri" panose="020F0502020204030204" pitchFamily="34" charset="0"/>
            </a:endParaRPr>
          </a:p>
          <a:p>
            <a:pPr marL="342900" indent="-342900" algn="just">
              <a:buFont typeface="Arial" panose="020B0604020202020204" pitchFamily="34" charset="0"/>
              <a:buChar char="•"/>
            </a:pPr>
            <a:r>
              <a:rPr lang="en-US" sz="2000" dirty="0">
                <a:effectLst/>
                <a:ea typeface="Calibri" panose="020F0502020204030204" pitchFamily="34" charset="0"/>
              </a:rPr>
              <a:t>must</a:t>
            </a:r>
            <a:r>
              <a:rPr lang="en-US" sz="2000" spc="-20" dirty="0">
                <a:effectLst/>
                <a:ea typeface="Calibri" panose="020F0502020204030204" pitchFamily="34" charset="0"/>
              </a:rPr>
              <a:t> </a:t>
            </a:r>
            <a:r>
              <a:rPr lang="en-US" sz="2000" dirty="0">
                <a:effectLst/>
                <a:ea typeface="Calibri" panose="020F0502020204030204" pitchFamily="34" charset="0"/>
              </a:rPr>
              <a:t>be</a:t>
            </a:r>
            <a:r>
              <a:rPr lang="en-US" sz="2000" spc="-5" dirty="0">
                <a:effectLst/>
                <a:ea typeface="Calibri" panose="020F0502020204030204" pitchFamily="34" charset="0"/>
              </a:rPr>
              <a:t> </a:t>
            </a:r>
            <a:r>
              <a:rPr lang="en-US" sz="2000" dirty="0">
                <a:effectLst/>
                <a:ea typeface="Calibri" panose="020F0502020204030204" pitchFamily="34" charset="0"/>
              </a:rPr>
              <a:t>embedded</a:t>
            </a:r>
            <a:r>
              <a:rPr lang="en-US" sz="2000" spc="-5" dirty="0">
                <a:effectLst/>
                <a:ea typeface="Calibri" panose="020F0502020204030204" pitchFamily="34" charset="0"/>
              </a:rPr>
              <a:t> </a:t>
            </a:r>
            <a:r>
              <a:rPr lang="en-US" sz="2000" dirty="0">
                <a:effectLst/>
                <a:ea typeface="Calibri" panose="020F0502020204030204" pitchFamily="34" charset="0"/>
              </a:rPr>
              <a:t>in</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5" dirty="0">
                <a:effectLst/>
                <a:ea typeface="Calibri" panose="020F0502020204030204" pitchFamily="34" charset="0"/>
              </a:rPr>
              <a:t> </a:t>
            </a:r>
            <a:r>
              <a:rPr lang="en-US" sz="2000" dirty="0">
                <a:effectLst/>
                <a:ea typeface="Calibri" panose="020F0502020204030204" pitchFamily="34" charset="0"/>
              </a:rPr>
              <a:t>general-purpose</a:t>
            </a:r>
            <a:r>
              <a:rPr lang="en-US" sz="2000" spc="-5" dirty="0">
                <a:effectLst/>
                <a:ea typeface="Calibri" panose="020F0502020204030204" pitchFamily="34" charset="0"/>
              </a:rPr>
              <a:t> </a:t>
            </a:r>
            <a:r>
              <a:rPr lang="en-US" sz="2000" dirty="0">
                <a:effectLst/>
                <a:ea typeface="Calibri" panose="020F0502020204030204" pitchFamily="34" charset="0"/>
              </a:rPr>
              <a:t>programming</a:t>
            </a:r>
            <a:r>
              <a:rPr lang="en-US" sz="2000" spc="-20" dirty="0">
                <a:effectLst/>
                <a:ea typeface="Calibri" panose="020F0502020204030204" pitchFamily="34" charset="0"/>
              </a:rPr>
              <a:t> </a:t>
            </a:r>
            <a:r>
              <a:rPr lang="en-US" sz="2000" dirty="0">
                <a:effectLst/>
                <a:ea typeface="Calibri" panose="020F0502020204030204" pitchFamily="34" charset="0"/>
              </a:rPr>
              <a:t>language (C, C++, JAVA).</a:t>
            </a:r>
          </a:p>
          <a:p>
            <a:pPr marL="342900" indent="-342900" algn="just">
              <a:buFont typeface="Arial" panose="020B0604020202020204" pitchFamily="34" charset="0"/>
              <a:buChar char="•"/>
            </a:pPr>
            <a:r>
              <a:rPr lang="en-US" sz="2000" dirty="0">
                <a:effectLst/>
                <a:ea typeface="Calibri" panose="020F0502020204030204" pitchFamily="34" charset="0"/>
              </a:rPr>
              <a:t>retrieves</a:t>
            </a:r>
            <a:r>
              <a:rPr lang="en-US" sz="2000" spc="-15" dirty="0">
                <a:effectLst/>
                <a:ea typeface="Calibri" panose="020F0502020204030204" pitchFamily="34" charset="0"/>
              </a:rPr>
              <a:t> </a:t>
            </a:r>
            <a:r>
              <a:rPr lang="en-US" sz="2000" dirty="0">
                <a:effectLst/>
                <a:ea typeface="Calibri" panose="020F0502020204030204" pitchFamily="34" charset="0"/>
              </a:rPr>
              <a:t>individual</a:t>
            </a:r>
            <a:r>
              <a:rPr lang="en-US" sz="2000" spc="-10" dirty="0">
                <a:effectLst/>
                <a:ea typeface="Calibri" panose="020F0502020204030204" pitchFamily="34" charset="0"/>
              </a:rPr>
              <a:t> </a:t>
            </a:r>
            <a:r>
              <a:rPr lang="en-US" sz="2000" dirty="0">
                <a:effectLst/>
                <a:ea typeface="Calibri" panose="020F0502020204030204" pitchFamily="34" charset="0"/>
              </a:rPr>
              <a:t>records</a:t>
            </a:r>
            <a:r>
              <a:rPr lang="en-US" sz="2000" spc="-20" dirty="0">
                <a:effectLst/>
                <a:ea typeface="Calibri" panose="020F0502020204030204" pitchFamily="34" charset="0"/>
              </a:rPr>
              <a:t> </a:t>
            </a:r>
            <a:r>
              <a:rPr lang="en-US" sz="2000" dirty="0">
                <a:effectLst/>
                <a:ea typeface="Calibri" panose="020F0502020204030204" pitchFamily="34" charset="0"/>
              </a:rPr>
              <a:t>or</a:t>
            </a:r>
            <a:r>
              <a:rPr lang="en-US" sz="2000" spc="-20" dirty="0">
                <a:effectLst/>
                <a:ea typeface="Calibri" panose="020F0502020204030204" pitchFamily="34" charset="0"/>
              </a:rPr>
              <a:t> </a:t>
            </a:r>
            <a:r>
              <a:rPr lang="en-US" sz="2000" dirty="0">
                <a:effectLst/>
                <a:ea typeface="Calibri" panose="020F0502020204030204" pitchFamily="34" charset="0"/>
              </a:rPr>
              <a:t>objects from</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5" dirty="0">
                <a:effectLst/>
                <a:ea typeface="Calibri" panose="020F0502020204030204" pitchFamily="34" charset="0"/>
              </a:rPr>
              <a:t> </a:t>
            </a:r>
            <a:r>
              <a:rPr lang="en-US" sz="2000" dirty="0">
                <a:effectLst/>
                <a:ea typeface="Calibri" panose="020F0502020204030204" pitchFamily="34" charset="0"/>
              </a:rPr>
              <a:t>database</a:t>
            </a:r>
            <a:r>
              <a:rPr lang="en-US" sz="2000" spc="-20" dirty="0">
                <a:effectLst/>
                <a:ea typeface="Calibri" panose="020F0502020204030204" pitchFamily="34" charset="0"/>
              </a:rPr>
              <a:t> </a:t>
            </a:r>
            <a:r>
              <a:rPr lang="en-US" sz="2000" dirty="0">
                <a:effectLst/>
                <a:ea typeface="Calibri" panose="020F0502020204030204" pitchFamily="34" charset="0"/>
              </a:rPr>
              <a:t>and</a:t>
            </a:r>
            <a:r>
              <a:rPr lang="en-US" sz="2000" spc="-10" dirty="0">
                <a:effectLst/>
                <a:ea typeface="Calibri" panose="020F0502020204030204" pitchFamily="34" charset="0"/>
              </a:rPr>
              <a:t> </a:t>
            </a:r>
            <a:r>
              <a:rPr lang="en-US" sz="2000" dirty="0">
                <a:effectLst/>
                <a:ea typeface="Calibri" panose="020F0502020204030204" pitchFamily="34" charset="0"/>
              </a:rPr>
              <a:t>processes</a:t>
            </a:r>
            <a:r>
              <a:rPr lang="en-US" sz="2000" spc="-20" dirty="0">
                <a:effectLst/>
                <a:ea typeface="Calibri" panose="020F0502020204030204" pitchFamily="34" charset="0"/>
              </a:rPr>
              <a:t> </a:t>
            </a:r>
            <a:r>
              <a:rPr lang="en-US" sz="2000" dirty="0">
                <a:effectLst/>
                <a:ea typeface="Calibri" panose="020F0502020204030204" pitchFamily="34" charset="0"/>
              </a:rPr>
              <a:t>each</a:t>
            </a:r>
            <a:r>
              <a:rPr lang="en-US" sz="2000" spc="-25" dirty="0">
                <a:effectLst/>
                <a:ea typeface="Calibri" panose="020F0502020204030204" pitchFamily="34" charset="0"/>
              </a:rPr>
              <a:t> </a:t>
            </a:r>
            <a:r>
              <a:rPr lang="en-US" sz="2000" dirty="0">
                <a:effectLst/>
                <a:ea typeface="Calibri" panose="020F0502020204030204" pitchFamily="34" charset="0"/>
              </a:rPr>
              <a:t>separately</a:t>
            </a:r>
            <a:r>
              <a:rPr lang="en-US" sz="2000" dirty="0">
                <a:ea typeface="Calibri" panose="020F0502020204030204" pitchFamily="34" charset="0"/>
              </a:rPr>
              <a:t>.</a:t>
            </a:r>
          </a:p>
          <a:p>
            <a:pPr marL="342900" indent="-342900" algn="just">
              <a:buFont typeface="Arial" panose="020B0604020202020204" pitchFamily="34" charset="0"/>
              <a:buChar char="•"/>
            </a:pPr>
            <a:r>
              <a:rPr lang="en-US" sz="2000" dirty="0">
                <a:effectLst/>
                <a:ea typeface="Calibri" panose="020F0502020204030204" pitchFamily="34" charset="0"/>
              </a:rPr>
              <a:t>to</a:t>
            </a:r>
            <a:r>
              <a:rPr lang="en-US" sz="2000" spc="-25" dirty="0">
                <a:effectLst/>
                <a:ea typeface="Calibri" panose="020F0502020204030204" pitchFamily="34" charset="0"/>
              </a:rPr>
              <a:t> </a:t>
            </a:r>
            <a:r>
              <a:rPr lang="en-US" sz="2000" dirty="0">
                <a:effectLst/>
                <a:ea typeface="Calibri" panose="020F0502020204030204" pitchFamily="34" charset="0"/>
              </a:rPr>
              <a:t>retrieve</a:t>
            </a:r>
            <a:r>
              <a:rPr lang="en-US" sz="2000" spc="-15" dirty="0">
                <a:effectLst/>
                <a:ea typeface="Calibri" panose="020F0502020204030204" pitchFamily="34" charset="0"/>
              </a:rPr>
              <a:t> </a:t>
            </a:r>
            <a:r>
              <a:rPr lang="en-US" sz="2000" dirty="0">
                <a:effectLst/>
                <a:ea typeface="Calibri" panose="020F0502020204030204" pitchFamily="34" charset="0"/>
              </a:rPr>
              <a:t>and</a:t>
            </a:r>
            <a:r>
              <a:rPr lang="en-US" sz="2000" spc="-20" dirty="0">
                <a:effectLst/>
                <a:ea typeface="Calibri" panose="020F0502020204030204" pitchFamily="34" charset="0"/>
              </a:rPr>
              <a:t> </a:t>
            </a:r>
            <a:r>
              <a:rPr lang="en-US" sz="2000" dirty="0">
                <a:effectLst/>
                <a:ea typeface="Calibri" panose="020F0502020204030204" pitchFamily="34" charset="0"/>
              </a:rPr>
              <a:t>process</a:t>
            </a:r>
            <a:r>
              <a:rPr lang="en-US" sz="2000" spc="-10" dirty="0">
                <a:effectLst/>
                <a:ea typeface="Calibri" panose="020F0502020204030204" pitchFamily="34" charset="0"/>
              </a:rPr>
              <a:t> </a:t>
            </a:r>
            <a:r>
              <a:rPr lang="en-US" sz="2000" dirty="0">
                <a:effectLst/>
                <a:ea typeface="Calibri" panose="020F0502020204030204" pitchFamily="34" charset="0"/>
              </a:rPr>
              <a:t>each record from</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a:effectLst/>
                <a:ea typeface="Calibri" panose="020F0502020204030204" pitchFamily="34" charset="0"/>
              </a:rPr>
              <a:t>set of</a:t>
            </a:r>
            <a:r>
              <a:rPr lang="en-US" sz="2000" spc="-15" dirty="0">
                <a:effectLst/>
                <a:ea typeface="Calibri" panose="020F0502020204030204" pitchFamily="34" charset="0"/>
              </a:rPr>
              <a:t> </a:t>
            </a:r>
            <a:r>
              <a:rPr lang="en-US" sz="2000" dirty="0">
                <a:effectLst/>
                <a:ea typeface="Calibri" panose="020F0502020204030204" pitchFamily="34" charset="0"/>
              </a:rPr>
              <a:t>records.</a:t>
            </a:r>
            <a:r>
              <a:rPr lang="en-US" sz="2000" spc="-10" dirty="0">
                <a:effectLst/>
                <a:ea typeface="Calibri" panose="020F0502020204030204" pitchFamily="34" charset="0"/>
              </a:rPr>
              <a:t> </a:t>
            </a:r>
            <a:r>
              <a:rPr lang="en-US" sz="2000" dirty="0">
                <a:effectLst/>
                <a:ea typeface="Calibri" panose="020F0502020204030204" pitchFamily="34" charset="0"/>
              </a:rPr>
              <a:t>Low-level</a:t>
            </a:r>
            <a:r>
              <a:rPr lang="en-US" sz="2000" spc="-5" dirty="0">
                <a:effectLst/>
                <a:ea typeface="Calibri" panose="020F0502020204030204" pitchFamily="34" charset="0"/>
              </a:rPr>
              <a:t> </a:t>
            </a:r>
            <a:r>
              <a:rPr lang="en-US" sz="2000" dirty="0">
                <a:effectLst/>
                <a:ea typeface="Calibri" panose="020F0502020204030204" pitchFamily="34" charset="0"/>
              </a:rPr>
              <a:t>DMLs</a:t>
            </a:r>
            <a:r>
              <a:rPr lang="en-US" sz="2000" spc="-15" dirty="0">
                <a:effectLst/>
                <a:ea typeface="Calibri" panose="020F0502020204030204" pitchFamily="34" charset="0"/>
              </a:rPr>
              <a:t> </a:t>
            </a:r>
            <a:r>
              <a:rPr lang="en-US" sz="2000" dirty="0">
                <a:effectLst/>
                <a:ea typeface="Calibri" panose="020F0502020204030204" pitchFamily="34" charset="0"/>
              </a:rPr>
              <a:t>are</a:t>
            </a:r>
            <a:r>
              <a:rPr lang="en-US" sz="2000" spc="-15" dirty="0">
                <a:effectLst/>
                <a:ea typeface="Calibri" panose="020F0502020204030204" pitchFamily="34" charset="0"/>
              </a:rPr>
              <a:t> </a:t>
            </a:r>
            <a:r>
              <a:rPr lang="en-US" sz="2000" dirty="0">
                <a:effectLst/>
                <a:ea typeface="Calibri" panose="020F0502020204030204" pitchFamily="34" charset="0"/>
              </a:rPr>
              <a:t>also</a:t>
            </a:r>
            <a:r>
              <a:rPr lang="en-US" sz="2000" spc="-20" dirty="0">
                <a:effectLst/>
                <a:ea typeface="Calibri" panose="020F0502020204030204" pitchFamily="34" charset="0"/>
              </a:rPr>
              <a:t> </a:t>
            </a:r>
            <a:r>
              <a:rPr lang="en-US" sz="2000" dirty="0">
                <a:effectLst/>
                <a:ea typeface="Calibri" panose="020F0502020204030204" pitchFamily="34" charset="0"/>
              </a:rPr>
              <a:t>called</a:t>
            </a:r>
            <a:r>
              <a:rPr lang="en-US" sz="2000" spc="-5" dirty="0">
                <a:effectLst/>
                <a:ea typeface="Calibri" panose="020F0502020204030204" pitchFamily="34" charset="0"/>
              </a:rPr>
              <a:t> </a:t>
            </a:r>
            <a:r>
              <a:rPr lang="en-US" sz="2000" b="1" dirty="0">
                <a:effectLst/>
                <a:ea typeface="Calibri" panose="020F0502020204030204" pitchFamily="34" charset="0"/>
              </a:rPr>
              <a:t>record-at-a-time</a:t>
            </a:r>
            <a:r>
              <a:rPr lang="en-US" sz="2000" b="1" spc="-20" dirty="0">
                <a:effectLst/>
                <a:ea typeface="Calibri" panose="020F0502020204030204" pitchFamily="34" charset="0"/>
              </a:rPr>
              <a:t> </a:t>
            </a:r>
            <a:r>
              <a:rPr lang="en-US" sz="2000" b="1" dirty="0">
                <a:effectLst/>
                <a:ea typeface="Calibri" panose="020F0502020204030204" pitchFamily="34" charset="0"/>
              </a:rPr>
              <a:t>DMLs</a:t>
            </a:r>
            <a:endParaRPr lang="en-US" sz="2000" dirty="0">
              <a:effectLst/>
              <a:ea typeface="Calibri" panose="020F0502020204030204" pitchFamily="34" charset="0"/>
            </a:endParaRPr>
          </a:p>
          <a:p>
            <a:pPr algn="just"/>
            <a:endParaRPr lang="en-US" sz="2000" b="1" dirty="0">
              <a:effectLst/>
              <a:ea typeface="Calibri" panose="020F0502020204030204" pitchFamily="34" charset="0"/>
            </a:endParaRPr>
          </a:p>
          <a:p>
            <a:pPr algn="just"/>
            <a:r>
              <a:rPr lang="en-US" dirty="0">
                <a:effectLst/>
                <a:ea typeface="Calibri" panose="020F0502020204030204" pitchFamily="34" charset="0"/>
              </a:rPr>
              <a:t>Whenever</a:t>
            </a:r>
            <a:r>
              <a:rPr lang="en-US" spc="5" dirty="0">
                <a:effectLst/>
                <a:ea typeface="Calibri" panose="020F0502020204030204" pitchFamily="34" charset="0"/>
              </a:rPr>
              <a:t> </a:t>
            </a:r>
            <a:r>
              <a:rPr lang="en-US" dirty="0">
                <a:effectLst/>
                <a:ea typeface="Calibri" panose="020F0502020204030204" pitchFamily="34" charset="0"/>
              </a:rPr>
              <a:t>DML commands,</a:t>
            </a:r>
            <a:r>
              <a:rPr lang="en-US" spc="-5" dirty="0">
                <a:effectLst/>
                <a:ea typeface="Calibri" panose="020F0502020204030204" pitchFamily="34" charset="0"/>
              </a:rPr>
              <a:t> </a:t>
            </a:r>
            <a:r>
              <a:rPr lang="en-US" dirty="0">
                <a:effectLst/>
                <a:ea typeface="Calibri" panose="020F0502020204030204" pitchFamily="34" charset="0"/>
              </a:rPr>
              <a:t>whether</a:t>
            </a:r>
            <a:r>
              <a:rPr lang="en-US" spc="10" dirty="0">
                <a:effectLst/>
                <a:ea typeface="Calibri" panose="020F0502020204030204" pitchFamily="34" charset="0"/>
              </a:rPr>
              <a:t> </a:t>
            </a:r>
            <a:r>
              <a:rPr lang="en-US" dirty="0">
                <a:effectLst/>
                <a:ea typeface="Calibri" panose="020F0502020204030204" pitchFamily="34" charset="0"/>
              </a:rPr>
              <a:t>high</a:t>
            </a:r>
            <a:r>
              <a:rPr lang="en-US" spc="5" dirty="0">
                <a:effectLst/>
                <a:ea typeface="Calibri" panose="020F0502020204030204" pitchFamily="34" charset="0"/>
              </a:rPr>
              <a:t> </a:t>
            </a:r>
            <a:r>
              <a:rPr lang="en-US" dirty="0">
                <a:effectLst/>
                <a:ea typeface="Calibri" panose="020F0502020204030204" pitchFamily="34" charset="0"/>
              </a:rPr>
              <a:t>level</a:t>
            </a:r>
            <a:r>
              <a:rPr lang="en-US" spc="15" dirty="0">
                <a:effectLst/>
                <a:ea typeface="Calibri" panose="020F0502020204030204" pitchFamily="34" charset="0"/>
              </a:rPr>
              <a:t> </a:t>
            </a:r>
            <a:r>
              <a:rPr lang="en-US" dirty="0">
                <a:effectLst/>
                <a:ea typeface="Calibri" panose="020F0502020204030204" pitchFamily="34" charset="0"/>
              </a:rPr>
              <a:t>or</a:t>
            </a:r>
            <a:r>
              <a:rPr lang="en-US" spc="5" dirty="0">
                <a:effectLst/>
                <a:ea typeface="Calibri" panose="020F0502020204030204" pitchFamily="34" charset="0"/>
              </a:rPr>
              <a:t> </a:t>
            </a:r>
            <a:r>
              <a:rPr lang="en-US" dirty="0">
                <a:effectLst/>
                <a:ea typeface="Calibri" panose="020F0502020204030204" pitchFamily="34" charset="0"/>
              </a:rPr>
              <a:t>low</a:t>
            </a:r>
            <a:r>
              <a:rPr lang="en-US" spc="-15" dirty="0">
                <a:effectLst/>
                <a:ea typeface="Calibri" panose="020F0502020204030204" pitchFamily="34" charset="0"/>
              </a:rPr>
              <a:t> </a:t>
            </a:r>
            <a:r>
              <a:rPr lang="en-US" dirty="0">
                <a:effectLst/>
                <a:ea typeface="Calibri" panose="020F0502020204030204" pitchFamily="34" charset="0"/>
              </a:rPr>
              <a:t>level,</a:t>
            </a:r>
            <a:r>
              <a:rPr lang="en-US" spc="-5" dirty="0">
                <a:effectLst/>
                <a:ea typeface="Calibri" panose="020F0502020204030204" pitchFamily="34" charset="0"/>
              </a:rPr>
              <a:t> </a:t>
            </a:r>
            <a:r>
              <a:rPr lang="en-US" dirty="0">
                <a:effectLst/>
                <a:ea typeface="Calibri" panose="020F0502020204030204" pitchFamily="34" charset="0"/>
              </a:rPr>
              <a:t>are</a:t>
            </a:r>
            <a:r>
              <a:rPr lang="en-US" spc="5" dirty="0">
                <a:effectLst/>
                <a:ea typeface="Calibri" panose="020F0502020204030204" pitchFamily="34" charset="0"/>
              </a:rPr>
              <a:t> </a:t>
            </a:r>
            <a:r>
              <a:rPr lang="en-US" dirty="0">
                <a:effectLst/>
                <a:ea typeface="Calibri" panose="020F0502020204030204" pitchFamily="34" charset="0"/>
              </a:rPr>
              <a:t>embedded</a:t>
            </a:r>
            <a:r>
              <a:rPr lang="en-US" spc="5" dirty="0">
                <a:effectLst/>
                <a:ea typeface="Calibri" panose="020F0502020204030204" pitchFamily="34" charset="0"/>
              </a:rPr>
              <a:t> </a:t>
            </a:r>
            <a:r>
              <a:rPr lang="en-US" dirty="0">
                <a:effectLst/>
                <a:ea typeface="Calibri" panose="020F0502020204030204" pitchFamily="34" charset="0"/>
              </a:rPr>
              <a:t>in</a:t>
            </a:r>
            <a:r>
              <a:rPr lang="en-US" spc="5" dirty="0">
                <a:effectLst/>
                <a:ea typeface="Calibri" panose="020F0502020204030204" pitchFamily="34" charset="0"/>
              </a:rPr>
              <a:t> </a:t>
            </a:r>
            <a:r>
              <a:rPr lang="en-US" dirty="0">
                <a:effectLst/>
                <a:ea typeface="Calibri" panose="020F0502020204030204" pitchFamily="34" charset="0"/>
              </a:rPr>
              <a:t>a</a:t>
            </a:r>
            <a:r>
              <a:rPr lang="en-US" spc="-15" dirty="0">
                <a:effectLst/>
                <a:ea typeface="Calibri" panose="020F0502020204030204" pitchFamily="34" charset="0"/>
              </a:rPr>
              <a:t> </a:t>
            </a:r>
            <a:r>
              <a:rPr lang="en-US" dirty="0">
                <a:effectLst/>
                <a:ea typeface="Calibri" panose="020F0502020204030204" pitchFamily="34" charset="0"/>
              </a:rPr>
              <a:t>general-purpose</a:t>
            </a:r>
            <a:r>
              <a:rPr lang="en-US" spc="10" dirty="0">
                <a:effectLst/>
                <a:ea typeface="Calibri" panose="020F0502020204030204" pitchFamily="34" charset="0"/>
              </a:rPr>
              <a:t> </a:t>
            </a:r>
            <a:r>
              <a:rPr lang="en-US" dirty="0">
                <a:effectLst/>
                <a:ea typeface="Calibri" panose="020F0502020204030204" pitchFamily="34" charset="0"/>
              </a:rPr>
              <a:t>programming</a:t>
            </a:r>
            <a:r>
              <a:rPr lang="en-US" spc="15" dirty="0">
                <a:effectLst/>
                <a:ea typeface="Calibri" panose="020F0502020204030204" pitchFamily="34" charset="0"/>
              </a:rPr>
              <a:t> </a:t>
            </a:r>
            <a:r>
              <a:rPr lang="en-US" dirty="0">
                <a:effectLst/>
                <a:ea typeface="Calibri" panose="020F0502020204030204" pitchFamily="34" charset="0"/>
              </a:rPr>
              <a:t>language,</a:t>
            </a:r>
            <a:r>
              <a:rPr lang="en-US" spc="-235" dirty="0">
                <a:effectLst/>
                <a:ea typeface="Calibri" panose="020F0502020204030204" pitchFamily="34" charset="0"/>
              </a:rPr>
              <a:t> </a:t>
            </a:r>
            <a:r>
              <a:rPr lang="en-US" dirty="0">
                <a:effectLst/>
                <a:ea typeface="Calibri" panose="020F0502020204030204" pitchFamily="34" charset="0"/>
              </a:rPr>
              <a:t>that</a:t>
            </a:r>
            <a:r>
              <a:rPr lang="en-US" spc="-25" dirty="0">
                <a:effectLst/>
                <a:ea typeface="Calibri" panose="020F0502020204030204" pitchFamily="34" charset="0"/>
              </a:rPr>
              <a:t> </a:t>
            </a:r>
            <a:r>
              <a:rPr lang="en-US" dirty="0">
                <a:effectLst/>
                <a:ea typeface="Calibri" panose="020F0502020204030204" pitchFamily="34" charset="0"/>
              </a:rPr>
              <a:t>language</a:t>
            </a:r>
            <a:r>
              <a:rPr lang="en-US" spc="-10" dirty="0">
                <a:effectLst/>
                <a:ea typeface="Calibri" panose="020F0502020204030204" pitchFamily="34" charset="0"/>
              </a:rPr>
              <a:t> </a:t>
            </a:r>
            <a:r>
              <a:rPr lang="en-US" dirty="0">
                <a:effectLst/>
                <a:ea typeface="Calibri" panose="020F0502020204030204" pitchFamily="34" charset="0"/>
              </a:rPr>
              <a:t>is</a:t>
            </a:r>
            <a:r>
              <a:rPr lang="en-US" spc="-10" dirty="0">
                <a:effectLst/>
                <a:ea typeface="Calibri" panose="020F0502020204030204" pitchFamily="34" charset="0"/>
              </a:rPr>
              <a:t> </a:t>
            </a:r>
            <a:r>
              <a:rPr lang="en-US" dirty="0">
                <a:effectLst/>
                <a:ea typeface="Calibri" panose="020F0502020204030204" pitchFamily="34" charset="0"/>
              </a:rPr>
              <a:t>called</a:t>
            </a:r>
            <a:r>
              <a:rPr lang="en-US" spc="-10" dirty="0">
                <a:effectLst/>
                <a:ea typeface="Calibri" panose="020F0502020204030204" pitchFamily="34" charset="0"/>
              </a:rPr>
              <a:t> </a:t>
            </a:r>
            <a:r>
              <a:rPr lang="en-US" dirty="0">
                <a:effectLst/>
                <a:ea typeface="Calibri" panose="020F0502020204030204" pitchFamily="34" charset="0"/>
              </a:rPr>
              <a:t>the </a:t>
            </a:r>
            <a:r>
              <a:rPr lang="en-US" b="1" dirty="0">
                <a:effectLst/>
                <a:ea typeface="Calibri" panose="020F0502020204030204" pitchFamily="34" charset="0"/>
              </a:rPr>
              <a:t>host</a:t>
            </a:r>
            <a:r>
              <a:rPr lang="en-US" b="1" spc="-10" dirty="0">
                <a:effectLst/>
                <a:ea typeface="Calibri" panose="020F0502020204030204" pitchFamily="34" charset="0"/>
              </a:rPr>
              <a:t> </a:t>
            </a:r>
            <a:r>
              <a:rPr lang="en-US" b="1" dirty="0">
                <a:effectLst/>
                <a:ea typeface="Calibri" panose="020F0502020204030204" pitchFamily="34" charset="0"/>
              </a:rPr>
              <a:t>language</a:t>
            </a:r>
            <a:r>
              <a:rPr lang="en-US" b="1" spc="-5" dirty="0">
                <a:effectLst/>
                <a:ea typeface="Calibri" panose="020F0502020204030204" pitchFamily="34" charset="0"/>
              </a:rPr>
              <a:t> </a:t>
            </a:r>
            <a:r>
              <a:rPr lang="en-US" dirty="0">
                <a:effectLst/>
                <a:ea typeface="Calibri" panose="020F0502020204030204" pitchFamily="34" charset="0"/>
              </a:rPr>
              <a:t>and</a:t>
            </a:r>
            <a:r>
              <a:rPr lang="en-US" spc="-15" dirty="0">
                <a:effectLst/>
                <a:ea typeface="Calibri" panose="020F0502020204030204" pitchFamily="34" charset="0"/>
              </a:rPr>
              <a:t> </a:t>
            </a:r>
            <a:r>
              <a:rPr lang="en-US" dirty="0">
                <a:effectLst/>
                <a:ea typeface="Calibri" panose="020F0502020204030204" pitchFamily="34" charset="0"/>
              </a:rPr>
              <a:t>the</a:t>
            </a:r>
            <a:r>
              <a:rPr lang="en-US" spc="-10" dirty="0">
                <a:effectLst/>
                <a:ea typeface="Calibri" panose="020F0502020204030204" pitchFamily="34" charset="0"/>
              </a:rPr>
              <a:t> </a:t>
            </a:r>
            <a:r>
              <a:rPr lang="en-US" dirty="0">
                <a:effectLst/>
                <a:ea typeface="Calibri" panose="020F0502020204030204" pitchFamily="34" charset="0"/>
              </a:rPr>
              <a:t>DML</a:t>
            </a:r>
            <a:r>
              <a:rPr lang="en-US" spc="5" dirty="0">
                <a:effectLst/>
                <a:ea typeface="Calibri" panose="020F0502020204030204" pitchFamily="34" charset="0"/>
              </a:rPr>
              <a:t> </a:t>
            </a:r>
            <a:r>
              <a:rPr lang="en-US" dirty="0">
                <a:effectLst/>
                <a:ea typeface="Calibri" panose="020F0502020204030204" pitchFamily="34" charset="0"/>
              </a:rPr>
              <a:t>is</a:t>
            </a:r>
            <a:r>
              <a:rPr lang="en-US" spc="-10" dirty="0">
                <a:effectLst/>
                <a:ea typeface="Calibri" panose="020F0502020204030204" pitchFamily="34" charset="0"/>
              </a:rPr>
              <a:t> </a:t>
            </a:r>
            <a:r>
              <a:rPr lang="en-US" dirty="0">
                <a:effectLst/>
                <a:ea typeface="Calibri" panose="020F0502020204030204" pitchFamily="34" charset="0"/>
              </a:rPr>
              <a:t>called</a:t>
            </a:r>
            <a:r>
              <a:rPr lang="en-US" spc="-10" dirty="0">
                <a:effectLst/>
                <a:ea typeface="Calibri" panose="020F0502020204030204" pitchFamily="34" charset="0"/>
              </a:rPr>
              <a:t> </a:t>
            </a:r>
            <a:r>
              <a:rPr lang="en-US" dirty="0">
                <a:effectLst/>
                <a:ea typeface="Calibri" panose="020F0502020204030204" pitchFamily="34" charset="0"/>
              </a:rPr>
              <a:t>the </a:t>
            </a:r>
            <a:r>
              <a:rPr lang="en-US" b="1" dirty="0">
                <a:effectLst/>
                <a:ea typeface="Calibri" panose="020F0502020204030204" pitchFamily="34" charset="0"/>
              </a:rPr>
              <a:t>data</a:t>
            </a:r>
            <a:r>
              <a:rPr lang="en-US" b="1" spc="-5" dirty="0">
                <a:effectLst/>
                <a:ea typeface="Calibri" panose="020F0502020204030204" pitchFamily="34" charset="0"/>
              </a:rPr>
              <a:t> </a:t>
            </a:r>
            <a:r>
              <a:rPr lang="en-US" b="1" dirty="0">
                <a:effectLst/>
                <a:ea typeface="Calibri" panose="020F0502020204030204" pitchFamily="34" charset="0"/>
              </a:rPr>
              <a:t>sublanguage</a:t>
            </a:r>
            <a:r>
              <a:rPr lang="en-US" dirty="0">
                <a:effectLst/>
                <a:ea typeface="Calibri" panose="020F0502020204030204" pitchFamily="34" charset="0"/>
              </a:rPr>
              <a:t>.</a:t>
            </a:r>
            <a:endParaRPr lang="en-US" b="1" dirty="0">
              <a:effectLst/>
              <a:ea typeface="Calibri" panose="020F0502020204030204" pitchFamily="34" charset="0"/>
            </a:endParaRPr>
          </a:p>
        </p:txBody>
      </p:sp>
    </p:spTree>
    <p:extLst>
      <p:ext uri="{BB962C8B-B14F-4D97-AF65-F5344CB8AC3E}">
        <p14:creationId xmlns:p14="http://schemas.microsoft.com/office/powerpoint/2010/main" val="691981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811B31-438B-3DAB-45A9-FA4D5B55C73B}"/>
              </a:ext>
            </a:extLst>
          </p:cNvPr>
          <p:cNvSpPr txBox="1"/>
          <p:nvPr/>
        </p:nvSpPr>
        <p:spPr>
          <a:xfrm>
            <a:off x="402956" y="371959"/>
            <a:ext cx="11391254" cy="6333529"/>
          </a:xfrm>
          <a:prstGeom prst="rect">
            <a:avLst/>
          </a:prstGeom>
          <a:noFill/>
        </p:spPr>
        <p:txBody>
          <a:bodyPr wrap="square" rtlCol="0">
            <a:spAutoFit/>
          </a:bodyPr>
          <a:lstStyle/>
          <a:p>
            <a:pPr marL="139700" marR="0" algn="just">
              <a:lnSpc>
                <a:spcPts val="1710"/>
              </a:lnSpc>
              <a:spcBef>
                <a:spcPts val="5"/>
              </a:spcBef>
              <a:buNone/>
            </a:pPr>
            <a:r>
              <a:rPr lang="en-US" sz="2400" b="1" kern="0" dirty="0">
                <a:effectLst/>
                <a:ea typeface="Calibri" panose="020F0502020204030204" pitchFamily="34" charset="0"/>
              </a:rPr>
              <a:t>DBMS</a:t>
            </a:r>
            <a:r>
              <a:rPr lang="en-US" sz="2400" b="1" kern="0" spc="-30" dirty="0">
                <a:effectLst/>
                <a:ea typeface="Calibri" panose="020F0502020204030204" pitchFamily="34" charset="0"/>
              </a:rPr>
              <a:t> </a:t>
            </a:r>
            <a:r>
              <a:rPr lang="en-US" sz="2400" b="1" kern="0" dirty="0">
                <a:effectLst/>
                <a:ea typeface="Calibri" panose="020F0502020204030204" pitchFamily="34" charset="0"/>
              </a:rPr>
              <a:t>Interfaces</a:t>
            </a:r>
          </a:p>
          <a:p>
            <a:pPr marL="342900" marR="229235" lvl="0" indent="-342900" algn="just">
              <a:lnSpc>
                <a:spcPct val="97000"/>
              </a:lnSpc>
              <a:spcBef>
                <a:spcPts val="20"/>
              </a:spcBef>
              <a:buFont typeface="Wingdings" panose="05000000000000000000" pitchFamily="2" charset="2"/>
              <a:buChar char=""/>
              <a:tabLst>
                <a:tab pos="597535" algn="l"/>
              </a:tabLst>
            </a:pPr>
            <a:r>
              <a:rPr lang="en-US" sz="2000" b="1" dirty="0">
                <a:effectLst/>
                <a:ea typeface="Calibri" panose="020F0502020204030204" pitchFamily="34" charset="0"/>
              </a:rPr>
              <a:t>Menu-Based</a:t>
            </a:r>
            <a:r>
              <a:rPr lang="en-US" sz="2000" b="1" spc="150" dirty="0">
                <a:effectLst/>
                <a:ea typeface="Calibri" panose="020F0502020204030204" pitchFamily="34" charset="0"/>
              </a:rPr>
              <a:t> </a:t>
            </a:r>
            <a:r>
              <a:rPr lang="en-US" sz="2000" b="1" dirty="0">
                <a:effectLst/>
                <a:ea typeface="Calibri" panose="020F0502020204030204" pitchFamily="34" charset="0"/>
              </a:rPr>
              <a:t>Interfaces</a:t>
            </a:r>
            <a:r>
              <a:rPr lang="en-US" sz="2000" b="1" spc="165" dirty="0">
                <a:effectLst/>
                <a:ea typeface="Calibri" panose="020F0502020204030204" pitchFamily="34" charset="0"/>
              </a:rPr>
              <a:t> </a:t>
            </a:r>
            <a:r>
              <a:rPr lang="en-US" sz="2000" dirty="0">
                <a:effectLst/>
                <a:ea typeface="Calibri" panose="020F0502020204030204" pitchFamily="34" charset="0"/>
              </a:rPr>
              <a:t>for</a:t>
            </a:r>
            <a:r>
              <a:rPr lang="en-US" sz="2000" spc="165" dirty="0">
                <a:effectLst/>
                <a:ea typeface="Calibri" panose="020F0502020204030204" pitchFamily="34" charset="0"/>
              </a:rPr>
              <a:t> </a:t>
            </a:r>
            <a:r>
              <a:rPr lang="en-US" sz="2000" dirty="0">
                <a:effectLst/>
                <a:ea typeface="Calibri" panose="020F0502020204030204" pitchFamily="34" charset="0"/>
              </a:rPr>
              <a:t>Web</a:t>
            </a:r>
            <a:r>
              <a:rPr lang="en-US" sz="2000" spc="140" dirty="0">
                <a:effectLst/>
                <a:ea typeface="Calibri" panose="020F0502020204030204" pitchFamily="34" charset="0"/>
              </a:rPr>
              <a:t> </a:t>
            </a:r>
            <a:r>
              <a:rPr lang="en-US" sz="2000" dirty="0">
                <a:effectLst/>
                <a:ea typeface="Calibri" panose="020F0502020204030204" pitchFamily="34" charset="0"/>
              </a:rPr>
              <a:t>Clients</a:t>
            </a:r>
            <a:r>
              <a:rPr lang="en-US" sz="2000" spc="165" dirty="0">
                <a:effectLst/>
                <a:ea typeface="Calibri" panose="020F0502020204030204" pitchFamily="34" charset="0"/>
              </a:rPr>
              <a:t> </a:t>
            </a:r>
            <a:r>
              <a:rPr lang="en-US" sz="2000" dirty="0">
                <a:effectLst/>
                <a:ea typeface="Calibri" panose="020F0502020204030204" pitchFamily="34" charset="0"/>
              </a:rPr>
              <a:t>or</a:t>
            </a:r>
            <a:r>
              <a:rPr lang="en-US" sz="2000" spc="145" dirty="0">
                <a:effectLst/>
                <a:ea typeface="Calibri" panose="020F0502020204030204" pitchFamily="34" charset="0"/>
              </a:rPr>
              <a:t> </a:t>
            </a:r>
            <a:r>
              <a:rPr lang="en-US" sz="2000" dirty="0">
                <a:effectLst/>
                <a:ea typeface="Calibri" panose="020F0502020204030204" pitchFamily="34" charset="0"/>
              </a:rPr>
              <a:t>Browsing.</a:t>
            </a:r>
            <a:r>
              <a:rPr lang="en-US" sz="2000" spc="175" dirty="0">
                <a:effectLst/>
                <a:ea typeface="Calibri" panose="020F0502020204030204" pitchFamily="34" charset="0"/>
              </a:rPr>
              <a:t> </a:t>
            </a:r>
            <a:r>
              <a:rPr lang="en-US" sz="2000" dirty="0">
                <a:effectLst/>
                <a:ea typeface="Calibri" panose="020F0502020204030204" pitchFamily="34" charset="0"/>
              </a:rPr>
              <a:t>These</a:t>
            </a:r>
            <a:r>
              <a:rPr lang="en-US" sz="2000" spc="145" dirty="0">
                <a:effectLst/>
                <a:ea typeface="Calibri" panose="020F0502020204030204" pitchFamily="34" charset="0"/>
              </a:rPr>
              <a:t> </a:t>
            </a:r>
            <a:r>
              <a:rPr lang="en-US" sz="2000" dirty="0">
                <a:effectLst/>
                <a:ea typeface="Calibri" panose="020F0502020204030204" pitchFamily="34" charset="0"/>
              </a:rPr>
              <a:t>interfaces</a:t>
            </a:r>
            <a:r>
              <a:rPr lang="en-US" sz="2000" spc="170" dirty="0">
                <a:effectLst/>
                <a:ea typeface="Calibri" panose="020F0502020204030204" pitchFamily="34" charset="0"/>
              </a:rPr>
              <a:t> </a:t>
            </a:r>
            <a:r>
              <a:rPr lang="en-US" sz="2000" dirty="0">
                <a:effectLst/>
                <a:ea typeface="Calibri" panose="020F0502020204030204" pitchFamily="34" charset="0"/>
              </a:rPr>
              <a:t>present</a:t>
            </a:r>
            <a:r>
              <a:rPr lang="en-US" sz="2000" spc="155" dirty="0">
                <a:effectLst/>
                <a:ea typeface="Calibri" panose="020F0502020204030204" pitchFamily="34" charset="0"/>
              </a:rPr>
              <a:t> </a:t>
            </a:r>
            <a:r>
              <a:rPr lang="en-US" sz="2000" dirty="0">
                <a:effectLst/>
                <a:ea typeface="Calibri" panose="020F0502020204030204" pitchFamily="34" charset="0"/>
              </a:rPr>
              <a:t>the</a:t>
            </a:r>
            <a:r>
              <a:rPr lang="en-US" sz="2000" spc="170" dirty="0">
                <a:effectLst/>
                <a:ea typeface="Calibri" panose="020F0502020204030204" pitchFamily="34" charset="0"/>
              </a:rPr>
              <a:t> </a:t>
            </a:r>
            <a:r>
              <a:rPr lang="en-US" sz="2000" dirty="0">
                <a:effectLst/>
                <a:ea typeface="Calibri" panose="020F0502020204030204" pitchFamily="34" charset="0"/>
              </a:rPr>
              <a:t>user</a:t>
            </a:r>
            <a:r>
              <a:rPr lang="en-US" sz="2000" spc="170" dirty="0">
                <a:effectLst/>
                <a:ea typeface="Calibri" panose="020F0502020204030204" pitchFamily="34" charset="0"/>
              </a:rPr>
              <a:t> </a:t>
            </a:r>
            <a:r>
              <a:rPr lang="en-US" sz="2000" dirty="0">
                <a:effectLst/>
                <a:ea typeface="Calibri" panose="020F0502020204030204" pitchFamily="34" charset="0"/>
              </a:rPr>
              <a:t>with</a:t>
            </a:r>
            <a:r>
              <a:rPr lang="en-US" sz="2000" spc="165" dirty="0">
                <a:effectLst/>
                <a:ea typeface="Calibri" panose="020F0502020204030204" pitchFamily="34" charset="0"/>
              </a:rPr>
              <a:t> </a:t>
            </a:r>
            <a:r>
              <a:rPr lang="en-US" sz="2000" dirty="0">
                <a:effectLst/>
                <a:ea typeface="Calibri" panose="020F0502020204030204" pitchFamily="34" charset="0"/>
              </a:rPr>
              <a:t>lists</a:t>
            </a:r>
            <a:r>
              <a:rPr lang="en-US" sz="2000" spc="165" dirty="0">
                <a:effectLst/>
                <a:ea typeface="Calibri" panose="020F0502020204030204" pitchFamily="34" charset="0"/>
              </a:rPr>
              <a:t> </a:t>
            </a:r>
            <a:r>
              <a:rPr lang="en-US" sz="2000" dirty="0">
                <a:effectLst/>
                <a:ea typeface="Calibri" panose="020F0502020204030204" pitchFamily="34" charset="0"/>
              </a:rPr>
              <a:t>of</a:t>
            </a:r>
            <a:r>
              <a:rPr lang="en-US" sz="2000" spc="165" dirty="0">
                <a:effectLst/>
                <a:ea typeface="Calibri" panose="020F0502020204030204" pitchFamily="34" charset="0"/>
              </a:rPr>
              <a:t> </a:t>
            </a:r>
            <a:r>
              <a:rPr lang="en-US" sz="2000" dirty="0">
                <a:effectLst/>
                <a:ea typeface="Calibri" panose="020F0502020204030204" pitchFamily="34" charset="0"/>
              </a:rPr>
              <a:t>options</a:t>
            </a:r>
            <a:r>
              <a:rPr lang="en-US" sz="2000" spc="-235" dirty="0">
                <a:effectLst/>
                <a:ea typeface="Calibri" panose="020F0502020204030204" pitchFamily="34" charset="0"/>
              </a:rPr>
              <a:t> </a:t>
            </a:r>
            <a:r>
              <a:rPr lang="en-US" sz="2000" dirty="0">
                <a:effectLst/>
                <a:ea typeface="Calibri" panose="020F0502020204030204" pitchFamily="34" charset="0"/>
              </a:rPr>
              <a:t>(called</a:t>
            </a:r>
            <a:r>
              <a:rPr lang="en-US" sz="2000" spc="-15" dirty="0">
                <a:effectLst/>
                <a:ea typeface="Calibri" panose="020F0502020204030204" pitchFamily="34" charset="0"/>
              </a:rPr>
              <a:t> </a:t>
            </a:r>
            <a:r>
              <a:rPr lang="en-US" sz="2000" dirty="0">
                <a:effectLst/>
                <a:ea typeface="Calibri" panose="020F0502020204030204" pitchFamily="34" charset="0"/>
              </a:rPr>
              <a:t>menus)</a:t>
            </a:r>
            <a:r>
              <a:rPr lang="en-US" sz="2000" spc="-10" dirty="0">
                <a:effectLst/>
                <a:ea typeface="Calibri" panose="020F0502020204030204" pitchFamily="34" charset="0"/>
              </a:rPr>
              <a:t> </a:t>
            </a:r>
            <a:r>
              <a:rPr lang="en-US" sz="2000" dirty="0">
                <a:effectLst/>
                <a:ea typeface="Calibri" panose="020F0502020204030204" pitchFamily="34" charset="0"/>
              </a:rPr>
              <a:t>that</a:t>
            </a:r>
            <a:r>
              <a:rPr lang="en-US" sz="2000" spc="-25" dirty="0">
                <a:effectLst/>
                <a:ea typeface="Calibri" panose="020F0502020204030204" pitchFamily="34" charset="0"/>
              </a:rPr>
              <a:t> </a:t>
            </a:r>
            <a:r>
              <a:rPr lang="en-US" sz="2000" dirty="0">
                <a:effectLst/>
                <a:ea typeface="Calibri" panose="020F0502020204030204" pitchFamily="34" charset="0"/>
              </a:rPr>
              <a:t>lead</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user</a:t>
            </a:r>
            <a:r>
              <a:rPr lang="en-US" sz="2000" spc="-10" dirty="0">
                <a:effectLst/>
                <a:ea typeface="Calibri" panose="020F0502020204030204" pitchFamily="34" charset="0"/>
              </a:rPr>
              <a:t> </a:t>
            </a:r>
            <a:r>
              <a:rPr lang="en-US" sz="2000" dirty="0">
                <a:effectLst/>
                <a:ea typeface="Calibri" panose="020F0502020204030204" pitchFamily="34" charset="0"/>
              </a:rPr>
              <a:t>through</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formulation</a:t>
            </a:r>
            <a:r>
              <a:rPr lang="en-US" sz="2000" spc="-15"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request.</a:t>
            </a:r>
            <a:br>
              <a:rPr lang="en-US" sz="2000" dirty="0">
                <a:effectLst/>
                <a:ea typeface="Calibri" panose="020F0502020204030204" pitchFamily="34" charset="0"/>
              </a:rPr>
            </a:br>
            <a:endParaRPr lang="en-US" sz="2000" dirty="0">
              <a:effectLst/>
              <a:ea typeface="Calibri" panose="020F0502020204030204" pitchFamily="34" charset="0"/>
            </a:endParaRPr>
          </a:p>
          <a:p>
            <a:pPr marL="342900" marR="229235" lvl="0" indent="-342900" algn="just">
              <a:lnSpc>
                <a:spcPct val="97000"/>
              </a:lnSpc>
              <a:spcBef>
                <a:spcPts val="20"/>
              </a:spcBef>
              <a:buFont typeface="Wingdings" panose="05000000000000000000" pitchFamily="2" charset="2"/>
              <a:buChar char=""/>
              <a:tabLst>
                <a:tab pos="597535" algn="l"/>
              </a:tabLst>
            </a:pPr>
            <a:r>
              <a:rPr lang="en-US" sz="2000" b="1" dirty="0">
                <a:effectLst/>
                <a:ea typeface="Calibri" panose="020F0502020204030204" pitchFamily="34" charset="0"/>
              </a:rPr>
              <a:t>Forms-Based Interfaces </a:t>
            </a:r>
            <a:r>
              <a:rPr lang="en-US" sz="2000" dirty="0">
                <a:effectLst/>
                <a:ea typeface="Calibri" panose="020F0502020204030204" pitchFamily="34" charset="0"/>
              </a:rPr>
              <a:t>displays a form to each user. Users can fill out all of the form entries to insert new data,</a:t>
            </a:r>
            <a:r>
              <a:rPr lang="en-US" sz="2000" spc="5" dirty="0">
                <a:effectLst/>
                <a:ea typeface="Calibri" panose="020F0502020204030204" pitchFamily="34" charset="0"/>
              </a:rPr>
              <a:t> </a:t>
            </a:r>
            <a:r>
              <a:rPr lang="en-US" sz="2000" dirty="0">
                <a:effectLst/>
                <a:ea typeface="Calibri" panose="020F0502020204030204" pitchFamily="34" charset="0"/>
              </a:rPr>
              <a:t>or they can fill out only certain entries, in which case the DBMS will retrieve matching data for the remaining</a:t>
            </a:r>
            <a:r>
              <a:rPr lang="en-US" sz="2000" spc="5" dirty="0">
                <a:effectLst/>
                <a:ea typeface="Calibri" panose="020F0502020204030204" pitchFamily="34" charset="0"/>
              </a:rPr>
              <a:t> </a:t>
            </a:r>
            <a:r>
              <a:rPr lang="en-US" sz="2000" dirty="0">
                <a:effectLst/>
                <a:ea typeface="Calibri" panose="020F0502020204030204" pitchFamily="34" charset="0"/>
              </a:rPr>
              <a:t>entries.</a:t>
            </a:r>
          </a:p>
          <a:p>
            <a:pPr marL="342900" marR="231140" lvl="0" indent="-342900" algn="just">
              <a:lnSpc>
                <a:spcPct val="97000"/>
              </a:lnSpc>
              <a:spcBef>
                <a:spcPts val="35"/>
              </a:spcBef>
              <a:buFont typeface="Wingdings" panose="05000000000000000000" pitchFamily="2" charset="2"/>
              <a:buChar char=""/>
              <a:tabLst>
                <a:tab pos="597535" algn="l"/>
              </a:tabLst>
            </a:pPr>
            <a:r>
              <a:rPr lang="en-US" sz="2000" b="1" dirty="0">
                <a:effectLst/>
                <a:ea typeface="Calibri" panose="020F0502020204030204" pitchFamily="34" charset="0"/>
              </a:rPr>
              <a:t>Graphical User Interfaces </a:t>
            </a:r>
            <a:r>
              <a:rPr lang="en-US" sz="2000" dirty="0">
                <a:effectLst/>
                <a:ea typeface="Calibri" panose="020F0502020204030204" pitchFamily="34" charset="0"/>
              </a:rPr>
              <a:t>displays a schema to the user in diagrammatic form. The user then can specify a query</a:t>
            </a:r>
            <a:r>
              <a:rPr lang="en-US" sz="2000" spc="5" dirty="0">
                <a:effectLst/>
                <a:ea typeface="Calibri" panose="020F0502020204030204" pitchFamily="34" charset="0"/>
              </a:rPr>
              <a:t> </a:t>
            </a:r>
            <a:r>
              <a:rPr lang="en-US" sz="2000" dirty="0">
                <a:effectLst/>
                <a:ea typeface="Calibri" panose="020F0502020204030204" pitchFamily="34" charset="0"/>
              </a:rPr>
              <a:t>by</a:t>
            </a:r>
            <a:r>
              <a:rPr lang="en-US" sz="2000" spc="-15" dirty="0">
                <a:effectLst/>
                <a:ea typeface="Calibri" panose="020F0502020204030204" pitchFamily="34" charset="0"/>
              </a:rPr>
              <a:t> </a:t>
            </a:r>
            <a:r>
              <a:rPr lang="en-US" sz="2000" dirty="0">
                <a:effectLst/>
                <a:ea typeface="Calibri" panose="020F0502020204030204" pitchFamily="34" charset="0"/>
              </a:rPr>
              <a:t>manipulating</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diagram.</a:t>
            </a:r>
            <a:r>
              <a:rPr lang="en-US" sz="2000" spc="5" dirty="0">
                <a:effectLst/>
                <a:ea typeface="Calibri" panose="020F0502020204030204" pitchFamily="34" charset="0"/>
              </a:rPr>
              <a:t> </a:t>
            </a:r>
            <a:r>
              <a:rPr lang="en-US" sz="2000" dirty="0">
                <a:effectLst/>
                <a:ea typeface="Calibri" panose="020F0502020204030204" pitchFamily="34" charset="0"/>
              </a:rPr>
              <a:t>GUIs</a:t>
            </a:r>
            <a:r>
              <a:rPr lang="en-US" sz="2000" spc="-15" dirty="0">
                <a:effectLst/>
                <a:ea typeface="Calibri" panose="020F0502020204030204" pitchFamily="34" charset="0"/>
              </a:rPr>
              <a:t> </a:t>
            </a:r>
            <a:r>
              <a:rPr lang="en-US" sz="2000" dirty="0">
                <a:effectLst/>
                <a:ea typeface="Calibri" panose="020F0502020204030204" pitchFamily="34" charset="0"/>
              </a:rPr>
              <a:t>utilize</a:t>
            </a:r>
            <a:r>
              <a:rPr lang="en-US" sz="2000" spc="-10" dirty="0">
                <a:effectLst/>
                <a:ea typeface="Calibri" panose="020F0502020204030204" pitchFamily="34" charset="0"/>
              </a:rPr>
              <a:t> </a:t>
            </a:r>
            <a:r>
              <a:rPr lang="en-US" sz="2000" dirty="0">
                <a:effectLst/>
                <a:ea typeface="Calibri" panose="020F0502020204030204" pitchFamily="34" charset="0"/>
              </a:rPr>
              <a:t>both</a:t>
            </a:r>
            <a:r>
              <a:rPr lang="en-US" sz="2000" spc="-15" dirty="0">
                <a:effectLst/>
                <a:ea typeface="Calibri" panose="020F0502020204030204" pitchFamily="34" charset="0"/>
              </a:rPr>
              <a:t> </a:t>
            </a:r>
            <a:r>
              <a:rPr lang="en-US" sz="2000" dirty="0">
                <a:effectLst/>
                <a:ea typeface="Calibri" panose="020F0502020204030204" pitchFamily="34" charset="0"/>
              </a:rPr>
              <a:t>menus</a:t>
            </a:r>
            <a:r>
              <a:rPr lang="en-US" sz="2000" spc="-10"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forms.</a:t>
            </a:r>
            <a:r>
              <a:rPr lang="en-US" sz="2000" spc="-5" dirty="0">
                <a:effectLst/>
                <a:ea typeface="Calibri" panose="020F0502020204030204" pitchFamily="34" charset="0"/>
              </a:rPr>
              <a:t> </a:t>
            </a:r>
            <a:r>
              <a:rPr lang="en-US" sz="2000" dirty="0">
                <a:effectLst/>
                <a:ea typeface="Calibri" panose="020F0502020204030204" pitchFamily="34" charset="0"/>
              </a:rPr>
              <a:t>Most</a:t>
            </a:r>
            <a:r>
              <a:rPr lang="en-US" sz="2000" spc="-20" dirty="0">
                <a:effectLst/>
                <a:ea typeface="Calibri" panose="020F0502020204030204" pitchFamily="34" charset="0"/>
              </a:rPr>
              <a:t> </a:t>
            </a:r>
            <a:r>
              <a:rPr lang="en-US" sz="2000" dirty="0">
                <a:effectLst/>
                <a:ea typeface="Calibri" panose="020F0502020204030204" pitchFamily="34" charset="0"/>
              </a:rPr>
              <a:t>GUIs</a:t>
            </a:r>
            <a:r>
              <a:rPr lang="en-US" sz="2000" spc="-10" dirty="0">
                <a:effectLst/>
                <a:ea typeface="Calibri" panose="020F0502020204030204" pitchFamily="34" charset="0"/>
              </a:rPr>
              <a:t> </a:t>
            </a:r>
            <a:r>
              <a:rPr lang="en-US" sz="2000" dirty="0">
                <a:effectLst/>
                <a:ea typeface="Calibri" panose="020F0502020204030204" pitchFamily="34" charset="0"/>
              </a:rPr>
              <a:t>use</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pointing</a:t>
            </a:r>
            <a:r>
              <a:rPr lang="en-US" sz="2000" spc="-10" dirty="0">
                <a:effectLst/>
                <a:ea typeface="Calibri" panose="020F0502020204030204" pitchFamily="34" charset="0"/>
              </a:rPr>
              <a:t> </a:t>
            </a:r>
            <a:r>
              <a:rPr lang="en-US" sz="2000" dirty="0">
                <a:effectLst/>
                <a:ea typeface="Calibri" panose="020F0502020204030204" pitchFamily="34" charset="0"/>
              </a:rPr>
              <a:t>device.</a:t>
            </a:r>
          </a:p>
          <a:p>
            <a:pPr marL="342900" marR="230505" lvl="0" indent="-342900" algn="just">
              <a:spcBef>
                <a:spcPts val="15"/>
              </a:spcBef>
              <a:buFont typeface="Wingdings" panose="05000000000000000000" pitchFamily="2" charset="2"/>
              <a:buChar char=""/>
              <a:tabLst>
                <a:tab pos="597535" algn="l"/>
              </a:tabLst>
            </a:pPr>
            <a:r>
              <a:rPr lang="en-US" sz="2000" b="1" dirty="0">
                <a:effectLst/>
                <a:ea typeface="Calibri" panose="020F0502020204030204" pitchFamily="34" charset="0"/>
              </a:rPr>
              <a:t>Natural</a:t>
            </a:r>
            <a:r>
              <a:rPr lang="en-US" sz="2000" b="1" spc="5" dirty="0">
                <a:effectLst/>
                <a:ea typeface="Calibri" panose="020F0502020204030204" pitchFamily="34" charset="0"/>
              </a:rPr>
              <a:t> </a:t>
            </a:r>
            <a:r>
              <a:rPr lang="en-US" sz="2000" b="1" dirty="0">
                <a:effectLst/>
                <a:ea typeface="Calibri" panose="020F0502020204030204" pitchFamily="34" charset="0"/>
              </a:rPr>
              <a:t>Language</a:t>
            </a:r>
            <a:r>
              <a:rPr lang="en-US" sz="2000" b="1" spc="5" dirty="0">
                <a:effectLst/>
                <a:ea typeface="Calibri" panose="020F0502020204030204" pitchFamily="34" charset="0"/>
              </a:rPr>
              <a:t> </a:t>
            </a:r>
            <a:r>
              <a:rPr lang="en-US" sz="2000" b="1" dirty="0">
                <a:effectLst/>
                <a:ea typeface="Calibri" panose="020F0502020204030204" pitchFamily="34" charset="0"/>
              </a:rPr>
              <a:t>Interfaces</a:t>
            </a:r>
            <a:r>
              <a:rPr lang="en-US" sz="2000" b="1" spc="5" dirty="0">
                <a:effectLst/>
                <a:ea typeface="Calibri" panose="020F0502020204030204" pitchFamily="34" charset="0"/>
              </a:rPr>
              <a:t> </a:t>
            </a:r>
            <a:r>
              <a:rPr lang="en-US" sz="2000" dirty="0">
                <a:effectLst/>
                <a:ea typeface="Calibri" panose="020F0502020204030204" pitchFamily="34" charset="0"/>
              </a:rPr>
              <a:t>accepts</a:t>
            </a:r>
            <a:r>
              <a:rPr lang="en-US" sz="2000" spc="5" dirty="0">
                <a:effectLst/>
                <a:ea typeface="Calibri" panose="020F0502020204030204" pitchFamily="34" charset="0"/>
              </a:rPr>
              <a:t> </a:t>
            </a:r>
            <a:r>
              <a:rPr lang="en-US" sz="2000" dirty="0">
                <a:effectLst/>
                <a:ea typeface="Calibri" panose="020F0502020204030204" pitchFamily="34" charset="0"/>
              </a:rPr>
              <a:t>requests</a:t>
            </a:r>
            <a:r>
              <a:rPr lang="en-US" sz="2000" spc="5" dirty="0">
                <a:effectLst/>
                <a:ea typeface="Calibri" panose="020F0502020204030204" pitchFamily="34" charset="0"/>
              </a:rPr>
              <a:t> </a:t>
            </a:r>
            <a:r>
              <a:rPr lang="en-US" sz="2000" dirty="0">
                <a:effectLst/>
                <a:ea typeface="Calibri" panose="020F0502020204030204" pitchFamily="34" charset="0"/>
              </a:rPr>
              <a:t>written</a:t>
            </a:r>
            <a:r>
              <a:rPr lang="en-US" sz="2000" spc="5" dirty="0">
                <a:effectLst/>
                <a:ea typeface="Calibri" panose="020F0502020204030204" pitchFamily="34" charset="0"/>
              </a:rPr>
              <a:t> </a:t>
            </a:r>
            <a:r>
              <a:rPr lang="en-US" sz="2000" dirty="0">
                <a:effectLst/>
                <a:ea typeface="Calibri" panose="020F0502020204030204" pitchFamily="34" charset="0"/>
              </a:rPr>
              <a:t>in</a:t>
            </a:r>
            <a:r>
              <a:rPr lang="en-US" sz="2000" spc="5" dirty="0">
                <a:effectLst/>
                <a:ea typeface="Calibri" panose="020F0502020204030204" pitchFamily="34" charset="0"/>
              </a:rPr>
              <a:t> </a:t>
            </a:r>
            <a:r>
              <a:rPr lang="en-US" sz="2000" dirty="0">
                <a:effectLst/>
                <a:ea typeface="Calibri" panose="020F0502020204030204" pitchFamily="34" charset="0"/>
              </a:rPr>
              <a:t>English</a:t>
            </a:r>
            <a:r>
              <a:rPr lang="en-US" sz="2000" spc="5" dirty="0">
                <a:effectLst/>
                <a:ea typeface="Calibri" panose="020F0502020204030204" pitchFamily="34" charset="0"/>
              </a:rPr>
              <a:t> </a:t>
            </a:r>
            <a:r>
              <a:rPr lang="en-US" sz="2000" dirty="0">
                <a:effectLst/>
                <a:ea typeface="Calibri" panose="020F0502020204030204" pitchFamily="34" charset="0"/>
              </a:rPr>
              <a:t>or</a:t>
            </a:r>
            <a:r>
              <a:rPr lang="en-US" sz="2000" spc="5" dirty="0">
                <a:effectLst/>
                <a:ea typeface="Calibri" panose="020F0502020204030204" pitchFamily="34" charset="0"/>
              </a:rPr>
              <a:t> </a:t>
            </a:r>
            <a:r>
              <a:rPr lang="en-US" sz="2000" dirty="0">
                <a:effectLst/>
                <a:ea typeface="Calibri" panose="020F0502020204030204" pitchFamily="34" charset="0"/>
              </a:rPr>
              <a:t>some</a:t>
            </a:r>
            <a:r>
              <a:rPr lang="en-US" sz="2000" spc="5" dirty="0">
                <a:effectLst/>
                <a:ea typeface="Calibri" panose="020F0502020204030204" pitchFamily="34" charset="0"/>
              </a:rPr>
              <a:t> </a:t>
            </a:r>
            <a:r>
              <a:rPr lang="en-US" sz="2000" dirty="0">
                <a:effectLst/>
                <a:ea typeface="Calibri" panose="020F0502020204030204" pitchFamily="34" charset="0"/>
              </a:rPr>
              <a:t>other</a:t>
            </a:r>
            <a:r>
              <a:rPr lang="en-US" sz="2000" spc="5" dirty="0">
                <a:effectLst/>
                <a:ea typeface="Calibri" panose="020F0502020204030204" pitchFamily="34" charset="0"/>
              </a:rPr>
              <a:t> </a:t>
            </a:r>
            <a:r>
              <a:rPr lang="en-US" sz="2000" dirty="0">
                <a:effectLst/>
                <a:ea typeface="Calibri" panose="020F0502020204030204" pitchFamily="34" charset="0"/>
              </a:rPr>
              <a:t>language</a:t>
            </a:r>
            <a:r>
              <a:rPr lang="en-US" sz="2000" spc="5" dirty="0">
                <a:effectLst/>
                <a:ea typeface="Calibri" panose="020F0502020204030204" pitchFamily="34" charset="0"/>
              </a:rPr>
              <a:t> </a:t>
            </a:r>
            <a:r>
              <a:rPr lang="en-US" sz="2000" dirty="0">
                <a:effectLst/>
                <a:ea typeface="Calibri" panose="020F0502020204030204" pitchFamily="34" charset="0"/>
              </a:rPr>
              <a:t>and</a:t>
            </a:r>
            <a:r>
              <a:rPr lang="en-US" sz="2000" spc="5" dirty="0">
                <a:effectLst/>
                <a:ea typeface="Calibri" panose="020F0502020204030204" pitchFamily="34" charset="0"/>
              </a:rPr>
              <a:t> </a:t>
            </a:r>
            <a:r>
              <a:rPr lang="en-US" sz="2000" dirty="0">
                <a:effectLst/>
                <a:ea typeface="Calibri" panose="020F0502020204030204" pitchFamily="34" charset="0"/>
              </a:rPr>
              <a:t>attempt</a:t>
            </a:r>
            <a:r>
              <a:rPr lang="en-US" sz="2000" spc="5" dirty="0">
                <a:effectLst/>
                <a:ea typeface="Calibri" panose="020F0502020204030204" pitchFamily="34" charset="0"/>
              </a:rPr>
              <a:t> </a:t>
            </a:r>
            <a:r>
              <a:rPr lang="en-US" sz="2000" dirty="0">
                <a:effectLst/>
                <a:ea typeface="Calibri" panose="020F0502020204030204" pitchFamily="34" charset="0"/>
              </a:rPr>
              <a:t>to</a:t>
            </a:r>
            <a:r>
              <a:rPr lang="en-US" sz="2000" spc="5" dirty="0">
                <a:effectLst/>
                <a:ea typeface="Calibri" panose="020F0502020204030204" pitchFamily="34" charset="0"/>
              </a:rPr>
              <a:t> </a:t>
            </a:r>
            <a:r>
              <a:rPr lang="en-US" sz="2000" dirty="0">
                <a:effectLst/>
                <a:ea typeface="Calibri" panose="020F0502020204030204" pitchFamily="34" charset="0"/>
              </a:rPr>
              <a:t>understand</a:t>
            </a:r>
            <a:r>
              <a:rPr lang="en-US" sz="2000" spc="-20" dirty="0">
                <a:effectLst/>
                <a:ea typeface="Calibri" panose="020F0502020204030204" pitchFamily="34" charset="0"/>
              </a:rPr>
              <a:t> </a:t>
            </a:r>
            <a:r>
              <a:rPr lang="en-US" sz="2000" dirty="0">
                <a:effectLst/>
                <a:ea typeface="Calibri" panose="020F0502020204030204" pitchFamily="34" charset="0"/>
              </a:rPr>
              <a:t>them.</a:t>
            </a:r>
          </a:p>
          <a:p>
            <a:pPr marL="342900" marR="226060" lvl="0" indent="-342900" algn="just">
              <a:spcBef>
                <a:spcPts val="10"/>
              </a:spcBef>
              <a:buFont typeface="Wingdings" panose="05000000000000000000" pitchFamily="2" charset="2"/>
              <a:buChar char=""/>
              <a:tabLst>
                <a:tab pos="597535" algn="l"/>
              </a:tabLst>
            </a:pPr>
            <a:r>
              <a:rPr lang="en-US" sz="2000" b="1" dirty="0">
                <a:effectLst/>
                <a:ea typeface="Calibri" panose="020F0502020204030204" pitchFamily="34" charset="0"/>
              </a:rPr>
              <a:t>Speech Input and Output </a:t>
            </a:r>
            <a:r>
              <a:rPr lang="en-US" sz="2000" dirty="0">
                <a:effectLst/>
                <a:ea typeface="Calibri" panose="020F0502020204030204" pitchFamily="34" charset="0"/>
              </a:rPr>
              <a:t>use of speech as an input query and speech as an answer to a question or result. The</a:t>
            </a:r>
            <a:r>
              <a:rPr lang="en-US" sz="2000" spc="5" dirty="0">
                <a:effectLst/>
                <a:ea typeface="Calibri" panose="020F0502020204030204" pitchFamily="34" charset="0"/>
              </a:rPr>
              <a:t> </a:t>
            </a:r>
            <a:r>
              <a:rPr lang="en-US" sz="2000" dirty="0">
                <a:effectLst/>
                <a:ea typeface="Calibri" panose="020F0502020204030204" pitchFamily="34" charset="0"/>
              </a:rPr>
              <a:t>speech input is detected using a library of predefined words and used to set up the parameters that are supplied</a:t>
            </a:r>
            <a:r>
              <a:rPr lang="en-US" sz="2000" spc="-235"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queries.</a:t>
            </a:r>
          </a:p>
          <a:p>
            <a:pPr marL="342900" marR="230505" lvl="0" indent="-342900" algn="just">
              <a:lnSpc>
                <a:spcPct val="97000"/>
              </a:lnSpc>
              <a:spcBef>
                <a:spcPts val="35"/>
              </a:spcBef>
              <a:buFont typeface="Wingdings" panose="05000000000000000000" pitchFamily="2" charset="2"/>
              <a:buChar char=""/>
              <a:tabLst>
                <a:tab pos="597535" algn="l"/>
              </a:tabLst>
            </a:pPr>
            <a:r>
              <a:rPr lang="en-US" sz="2000" b="1" dirty="0">
                <a:effectLst/>
                <a:ea typeface="Calibri" panose="020F0502020204030204" pitchFamily="34" charset="0"/>
              </a:rPr>
              <a:t>Interfaces for Parametric</a:t>
            </a:r>
            <a:r>
              <a:rPr lang="en-US" sz="2000" b="1" spc="5" dirty="0">
                <a:effectLst/>
                <a:ea typeface="Calibri" panose="020F0502020204030204" pitchFamily="34" charset="0"/>
              </a:rPr>
              <a:t> </a:t>
            </a:r>
            <a:r>
              <a:rPr lang="en-US" sz="2000" b="1" dirty="0">
                <a:effectLst/>
                <a:ea typeface="Calibri" panose="020F0502020204030204" pitchFamily="34" charset="0"/>
              </a:rPr>
              <a:t>Users</a:t>
            </a:r>
            <a:r>
              <a:rPr lang="en-US" sz="2000" b="1" spc="5" dirty="0">
                <a:effectLst/>
                <a:ea typeface="Calibri" panose="020F0502020204030204" pitchFamily="34" charset="0"/>
              </a:rPr>
              <a:t> </a:t>
            </a:r>
            <a:r>
              <a:rPr lang="en-US" sz="2000" dirty="0">
                <a:effectLst/>
                <a:ea typeface="Calibri" panose="020F0502020204030204" pitchFamily="34" charset="0"/>
              </a:rPr>
              <a:t>such</a:t>
            </a:r>
            <a:r>
              <a:rPr lang="en-US" sz="2000" spc="5" dirty="0">
                <a:effectLst/>
                <a:ea typeface="Calibri" panose="020F0502020204030204" pitchFamily="34" charset="0"/>
              </a:rPr>
              <a:t> </a:t>
            </a:r>
            <a:r>
              <a:rPr lang="en-US" sz="2000" dirty="0">
                <a:effectLst/>
                <a:ea typeface="Calibri" panose="020F0502020204030204" pitchFamily="34" charset="0"/>
              </a:rPr>
              <a:t>as</a:t>
            </a:r>
            <a:r>
              <a:rPr lang="en-US" sz="2000" spc="5" dirty="0">
                <a:effectLst/>
                <a:ea typeface="Calibri" panose="020F0502020204030204" pitchFamily="34" charset="0"/>
              </a:rPr>
              <a:t> </a:t>
            </a:r>
            <a:r>
              <a:rPr lang="en-US" sz="2000" dirty="0">
                <a:effectLst/>
                <a:ea typeface="Calibri" panose="020F0502020204030204" pitchFamily="34" charset="0"/>
              </a:rPr>
              <a:t>bank</a:t>
            </a:r>
            <a:r>
              <a:rPr lang="en-US" sz="2000" spc="5" dirty="0">
                <a:effectLst/>
                <a:ea typeface="Calibri" panose="020F0502020204030204" pitchFamily="34" charset="0"/>
              </a:rPr>
              <a:t> </a:t>
            </a:r>
            <a:r>
              <a:rPr lang="en-US" sz="2000" dirty="0">
                <a:effectLst/>
                <a:ea typeface="Calibri" panose="020F0502020204030204" pitchFamily="34" charset="0"/>
              </a:rPr>
              <a:t>tellers, often</a:t>
            </a:r>
            <a:r>
              <a:rPr lang="en-US" sz="2000" spc="5" dirty="0">
                <a:effectLst/>
                <a:ea typeface="Calibri" panose="020F0502020204030204" pitchFamily="34" charset="0"/>
              </a:rPr>
              <a:t> </a:t>
            </a:r>
            <a:r>
              <a:rPr lang="en-US" sz="2000" dirty="0">
                <a:effectLst/>
                <a:ea typeface="Calibri" panose="020F0502020204030204" pitchFamily="34" charset="0"/>
              </a:rPr>
              <a:t>have</a:t>
            </a:r>
            <a:r>
              <a:rPr lang="en-US" sz="2000" spc="5" dirty="0">
                <a:effectLst/>
                <a:ea typeface="Calibri" panose="020F0502020204030204" pitchFamily="34" charset="0"/>
              </a:rPr>
              <a:t> </a:t>
            </a:r>
            <a:r>
              <a:rPr lang="en-US" sz="2000" dirty="0">
                <a:effectLst/>
                <a:ea typeface="Calibri" panose="020F0502020204030204" pitchFamily="34" charset="0"/>
              </a:rPr>
              <a:t>a</a:t>
            </a:r>
            <a:r>
              <a:rPr lang="en-US" sz="2000" spc="5" dirty="0">
                <a:effectLst/>
                <a:ea typeface="Calibri" panose="020F0502020204030204" pitchFamily="34" charset="0"/>
              </a:rPr>
              <a:t> </a:t>
            </a:r>
            <a:r>
              <a:rPr lang="en-US" sz="2000" dirty="0">
                <a:effectLst/>
                <a:ea typeface="Calibri" panose="020F0502020204030204" pitchFamily="34" charset="0"/>
              </a:rPr>
              <a:t>small</a:t>
            </a:r>
            <a:r>
              <a:rPr lang="en-US" sz="2000" spc="5" dirty="0">
                <a:effectLst/>
                <a:ea typeface="Calibri" panose="020F0502020204030204" pitchFamily="34" charset="0"/>
              </a:rPr>
              <a:t> </a:t>
            </a:r>
            <a:r>
              <a:rPr lang="en-US" sz="2000" dirty="0">
                <a:effectLst/>
                <a:ea typeface="Calibri" panose="020F0502020204030204" pitchFamily="34" charset="0"/>
              </a:rPr>
              <a:t>set of</a:t>
            </a:r>
            <a:r>
              <a:rPr lang="en-US" sz="2000" spc="5" dirty="0">
                <a:effectLst/>
                <a:ea typeface="Calibri" panose="020F0502020204030204" pitchFamily="34" charset="0"/>
              </a:rPr>
              <a:t> </a:t>
            </a:r>
            <a:r>
              <a:rPr lang="en-US" sz="2000" dirty="0">
                <a:effectLst/>
                <a:ea typeface="Calibri" panose="020F0502020204030204" pitchFamily="34" charset="0"/>
              </a:rPr>
              <a:t>operations</a:t>
            </a:r>
            <a:r>
              <a:rPr lang="en-US" sz="2000" spc="245" dirty="0">
                <a:effectLst/>
                <a:ea typeface="Calibri" panose="020F0502020204030204" pitchFamily="34" charset="0"/>
              </a:rPr>
              <a:t> </a:t>
            </a:r>
            <a:r>
              <a:rPr lang="en-US" sz="2000" dirty="0">
                <a:effectLst/>
                <a:ea typeface="Calibri" panose="020F0502020204030204" pitchFamily="34" charset="0"/>
              </a:rPr>
              <a:t>that they must</a:t>
            </a:r>
            <a:r>
              <a:rPr lang="en-US" sz="2000" spc="5" dirty="0">
                <a:effectLst/>
                <a:ea typeface="Calibri" panose="020F0502020204030204" pitchFamily="34" charset="0"/>
              </a:rPr>
              <a:t> </a:t>
            </a:r>
            <a:r>
              <a:rPr lang="en-US" sz="2000" dirty="0">
                <a:effectLst/>
                <a:ea typeface="Calibri" panose="020F0502020204030204" pitchFamily="34" charset="0"/>
              </a:rPr>
              <a:t>perform</a:t>
            </a:r>
            <a:r>
              <a:rPr lang="en-US" sz="2000" spc="-10" dirty="0">
                <a:effectLst/>
                <a:ea typeface="Calibri" panose="020F0502020204030204" pitchFamily="34" charset="0"/>
              </a:rPr>
              <a:t> </a:t>
            </a:r>
            <a:r>
              <a:rPr lang="en-US" sz="2000" dirty="0">
                <a:effectLst/>
                <a:ea typeface="Calibri" panose="020F0502020204030204" pitchFamily="34" charset="0"/>
              </a:rPr>
              <a:t>repeatedly.</a:t>
            </a:r>
          </a:p>
          <a:p>
            <a:pPr marL="342900" marR="227330" lvl="0" indent="-342900" algn="just">
              <a:spcBef>
                <a:spcPts val="15"/>
              </a:spcBef>
              <a:buFont typeface="Wingdings" panose="05000000000000000000" pitchFamily="2" charset="2"/>
              <a:buChar char=""/>
              <a:tabLst>
                <a:tab pos="597535" algn="l"/>
              </a:tabLst>
            </a:pPr>
            <a:r>
              <a:rPr lang="en-US" sz="2000" b="1" dirty="0">
                <a:effectLst/>
                <a:ea typeface="Calibri" panose="020F0502020204030204" pitchFamily="34" charset="0"/>
              </a:rPr>
              <a:t>Interfaces for the DBA. </a:t>
            </a:r>
            <a:r>
              <a:rPr lang="en-US" sz="2000" dirty="0">
                <a:effectLst/>
                <a:ea typeface="Calibri" panose="020F0502020204030204" pitchFamily="34" charset="0"/>
              </a:rPr>
              <a:t>DBA use privileged commands. These include commands for creating accounts, setting</a:t>
            </a:r>
            <a:r>
              <a:rPr lang="en-US" sz="2000" spc="5" dirty="0">
                <a:effectLst/>
                <a:ea typeface="Calibri" panose="020F0502020204030204" pitchFamily="34" charset="0"/>
              </a:rPr>
              <a:t> </a:t>
            </a:r>
            <a:r>
              <a:rPr lang="en-US" sz="2000" dirty="0">
                <a:effectLst/>
                <a:ea typeface="Calibri" panose="020F0502020204030204" pitchFamily="34" charset="0"/>
              </a:rPr>
              <a:t>system parameters, granting account authorization, changing a schema, and reorganizing the storage structures</a:t>
            </a:r>
            <a:r>
              <a:rPr lang="en-US" sz="2000" spc="5" dirty="0">
                <a:effectLst/>
                <a:ea typeface="Calibri" panose="020F0502020204030204" pitchFamily="34" charset="0"/>
              </a:rPr>
              <a:t> </a:t>
            </a:r>
            <a:r>
              <a:rPr lang="en-US" sz="2000" dirty="0">
                <a:effectLst/>
                <a:ea typeface="Calibri" panose="020F0502020204030204" pitchFamily="34" charset="0"/>
              </a:rPr>
              <a:t>of</a:t>
            </a:r>
            <a:r>
              <a:rPr lang="en-US" sz="2000" spc="-15"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database.</a:t>
            </a:r>
          </a:p>
          <a:p>
            <a:endParaRPr lang="en-US" dirty="0"/>
          </a:p>
        </p:txBody>
      </p:sp>
    </p:spTree>
    <p:extLst>
      <p:ext uri="{BB962C8B-B14F-4D97-AF65-F5344CB8AC3E}">
        <p14:creationId xmlns:p14="http://schemas.microsoft.com/office/powerpoint/2010/main" val="2905811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9B0EFB56-50FD-9F58-4E9E-02720847EC57}"/>
              </a:ext>
            </a:extLst>
          </p:cNvPr>
          <p:cNvGraphicFramePr/>
          <p:nvPr>
            <p:extLst>
              <p:ext uri="{D42A27DB-BD31-4B8C-83A1-F6EECF244321}">
                <p14:modId xmlns:p14="http://schemas.microsoft.com/office/powerpoint/2010/main" val="900685404"/>
              </p:ext>
            </p:extLst>
          </p:nvPr>
        </p:nvGraphicFramePr>
        <p:xfrm>
          <a:off x="325464" y="309965"/>
          <a:ext cx="11670224" cy="13793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1E0553C6-7F90-451B-E85A-C8B8FA12A54D}"/>
              </a:ext>
            </a:extLst>
          </p:cNvPr>
          <p:cNvPicPr>
            <a:picLocks noChangeAspect="1"/>
          </p:cNvPicPr>
          <p:nvPr/>
        </p:nvPicPr>
        <p:blipFill>
          <a:blip r:embed="rId7"/>
          <a:stretch>
            <a:fillRect/>
          </a:stretch>
        </p:blipFill>
        <p:spPr>
          <a:xfrm>
            <a:off x="5042438" y="0"/>
            <a:ext cx="6953250" cy="6858000"/>
          </a:xfrm>
          <a:prstGeom prst="rect">
            <a:avLst/>
          </a:prstGeom>
        </p:spPr>
      </p:pic>
      <p:sp>
        <p:nvSpPr>
          <p:cNvPr id="6" name="TextBox 5">
            <a:extLst>
              <a:ext uri="{FF2B5EF4-FFF2-40B4-BE49-F238E27FC236}">
                <a16:creationId xmlns:a16="http://schemas.microsoft.com/office/drawing/2014/main" id="{21455602-2534-3E4D-9220-E92559E257BB}"/>
              </a:ext>
            </a:extLst>
          </p:cNvPr>
          <p:cNvSpPr txBox="1"/>
          <p:nvPr/>
        </p:nvSpPr>
        <p:spPr>
          <a:xfrm>
            <a:off x="325464" y="1844298"/>
            <a:ext cx="4432516" cy="4062651"/>
          </a:xfrm>
          <a:prstGeom prst="rect">
            <a:avLst/>
          </a:prstGeom>
          <a:noFill/>
        </p:spPr>
        <p:txBody>
          <a:bodyPr wrap="square" rtlCol="0">
            <a:spAutoFit/>
          </a:bodyPr>
          <a:lstStyle/>
          <a:p>
            <a:pPr marL="482600" marR="0" indent="-342900" algn="just">
              <a:lnSpc>
                <a:spcPct val="150000"/>
              </a:lnSpc>
              <a:buFont typeface="Arial" panose="020B0604020202020204" pitchFamily="34" charset="0"/>
              <a:buChar char="•"/>
            </a:pP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figure</a:t>
            </a:r>
            <a:r>
              <a:rPr lang="en-US" sz="2000" spc="-15" dirty="0">
                <a:effectLst/>
                <a:ea typeface="Calibri" panose="020F0502020204030204" pitchFamily="34" charset="0"/>
              </a:rPr>
              <a:t> </a:t>
            </a:r>
            <a:r>
              <a:rPr lang="en-US" sz="2000" dirty="0">
                <a:effectLst/>
                <a:ea typeface="Calibri" panose="020F0502020204030204" pitchFamily="34" charset="0"/>
              </a:rPr>
              <a:t>is</a:t>
            </a:r>
            <a:r>
              <a:rPr lang="en-US" sz="2000" spc="-15" dirty="0">
                <a:effectLst/>
                <a:ea typeface="Calibri" panose="020F0502020204030204" pitchFamily="34" charset="0"/>
              </a:rPr>
              <a:t> </a:t>
            </a:r>
            <a:r>
              <a:rPr lang="en-US" sz="2000" dirty="0">
                <a:effectLst/>
                <a:ea typeface="Calibri" panose="020F0502020204030204" pitchFamily="34" charset="0"/>
              </a:rPr>
              <a:t>divided</a:t>
            </a:r>
            <a:r>
              <a:rPr lang="en-US" sz="2000" spc="-15" dirty="0">
                <a:effectLst/>
                <a:ea typeface="Calibri" panose="020F0502020204030204" pitchFamily="34" charset="0"/>
              </a:rPr>
              <a:t> </a:t>
            </a:r>
            <a:r>
              <a:rPr lang="en-US" sz="2000" dirty="0">
                <a:effectLst/>
                <a:ea typeface="Calibri" panose="020F0502020204030204" pitchFamily="34" charset="0"/>
              </a:rPr>
              <a:t>into</a:t>
            </a:r>
            <a:r>
              <a:rPr lang="en-US" sz="2000" spc="-20" dirty="0">
                <a:effectLst/>
                <a:ea typeface="Calibri" panose="020F0502020204030204" pitchFamily="34" charset="0"/>
              </a:rPr>
              <a:t> </a:t>
            </a:r>
            <a:r>
              <a:rPr lang="en-US" sz="2000" dirty="0">
                <a:effectLst/>
                <a:ea typeface="Calibri" panose="020F0502020204030204" pitchFamily="34" charset="0"/>
              </a:rPr>
              <a:t>two</a:t>
            </a:r>
            <a:r>
              <a:rPr lang="en-US" sz="2000" spc="-20" dirty="0">
                <a:effectLst/>
                <a:ea typeface="Calibri" panose="020F0502020204030204" pitchFamily="34" charset="0"/>
              </a:rPr>
              <a:t> </a:t>
            </a:r>
            <a:r>
              <a:rPr lang="en-US" sz="2000" dirty="0">
                <a:effectLst/>
                <a:ea typeface="Calibri" panose="020F0502020204030204" pitchFamily="34" charset="0"/>
              </a:rPr>
              <a:t>parts.</a:t>
            </a:r>
          </a:p>
          <a:p>
            <a:pPr marL="482600" marR="0" indent="-342900" algn="just">
              <a:lnSpc>
                <a:spcPct val="150000"/>
              </a:lnSpc>
              <a:buFont typeface="Arial" panose="020B0604020202020204" pitchFamily="34" charset="0"/>
              <a:buChar char="•"/>
            </a:pP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b="1" dirty="0">
                <a:effectLst/>
                <a:ea typeface="Calibri" panose="020F0502020204030204" pitchFamily="34" charset="0"/>
              </a:rPr>
              <a:t>top</a:t>
            </a:r>
            <a:r>
              <a:rPr lang="en-US" sz="2000" b="1" spc="-5" dirty="0">
                <a:effectLst/>
                <a:ea typeface="Calibri" panose="020F0502020204030204" pitchFamily="34" charset="0"/>
              </a:rPr>
              <a:t> </a:t>
            </a:r>
            <a:r>
              <a:rPr lang="en-US" sz="2000" b="1" dirty="0">
                <a:effectLst/>
                <a:ea typeface="Calibri" panose="020F0502020204030204" pitchFamily="34" charset="0"/>
              </a:rPr>
              <a:t>part</a:t>
            </a:r>
            <a:r>
              <a:rPr lang="en-US" sz="2000" b="1"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figure</a:t>
            </a:r>
            <a:r>
              <a:rPr lang="en-US" sz="2000" spc="-10" dirty="0">
                <a:effectLst/>
                <a:ea typeface="Calibri" panose="020F0502020204030204" pitchFamily="34" charset="0"/>
              </a:rPr>
              <a:t> </a:t>
            </a:r>
            <a:r>
              <a:rPr lang="en-US" sz="2000" dirty="0">
                <a:effectLst/>
                <a:ea typeface="Calibri" panose="020F0502020204030204" pitchFamily="34" charset="0"/>
              </a:rPr>
              <a:t>refers</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2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various</a:t>
            </a:r>
            <a:r>
              <a:rPr lang="en-US" sz="2000" spc="-15" dirty="0">
                <a:effectLst/>
                <a:ea typeface="Calibri" panose="020F0502020204030204" pitchFamily="34" charset="0"/>
              </a:rPr>
              <a:t> </a:t>
            </a:r>
            <a:r>
              <a:rPr lang="en-US" sz="2000" dirty="0">
                <a:effectLst/>
                <a:ea typeface="Calibri" panose="020F0502020204030204" pitchFamily="34" charset="0"/>
              </a:rPr>
              <a:t>users</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database</a:t>
            </a:r>
            <a:r>
              <a:rPr lang="en-US" sz="2000" spc="-10" dirty="0">
                <a:effectLst/>
                <a:ea typeface="Calibri" panose="020F0502020204030204" pitchFamily="34" charset="0"/>
              </a:rPr>
              <a:t> </a:t>
            </a:r>
            <a:r>
              <a:rPr lang="en-US" sz="2000" dirty="0">
                <a:effectLst/>
                <a:ea typeface="Calibri" panose="020F0502020204030204" pitchFamily="34" charset="0"/>
              </a:rPr>
              <a:t>environment</a:t>
            </a:r>
            <a:r>
              <a:rPr lang="en-US" sz="2000" spc="-25" dirty="0">
                <a:effectLst/>
                <a:ea typeface="Calibri" panose="020F0502020204030204" pitchFamily="34" charset="0"/>
              </a:rPr>
              <a:t> </a:t>
            </a:r>
            <a:r>
              <a:rPr lang="en-US" sz="2000" dirty="0">
                <a:effectLst/>
                <a:ea typeface="Calibri" panose="020F0502020204030204" pitchFamily="34" charset="0"/>
              </a:rPr>
              <a:t>and</a:t>
            </a:r>
            <a:r>
              <a:rPr lang="en-US" sz="2000" spc="10" dirty="0">
                <a:effectLst/>
                <a:ea typeface="Calibri" panose="020F0502020204030204" pitchFamily="34" charset="0"/>
              </a:rPr>
              <a:t> </a:t>
            </a:r>
            <a:r>
              <a:rPr lang="en-US" sz="2000" dirty="0">
                <a:effectLst/>
                <a:ea typeface="Calibri" panose="020F0502020204030204" pitchFamily="34" charset="0"/>
              </a:rPr>
              <a:t>their</a:t>
            </a:r>
            <a:r>
              <a:rPr lang="en-US" sz="2000" spc="-15" dirty="0">
                <a:effectLst/>
                <a:ea typeface="Calibri" panose="020F0502020204030204" pitchFamily="34" charset="0"/>
              </a:rPr>
              <a:t> </a:t>
            </a:r>
            <a:r>
              <a:rPr lang="en-US" sz="2000" dirty="0">
                <a:effectLst/>
                <a:ea typeface="Calibri" panose="020F0502020204030204" pitchFamily="34" charset="0"/>
              </a:rPr>
              <a:t>interfaces.</a:t>
            </a:r>
          </a:p>
          <a:p>
            <a:pPr marL="482600" marR="0" indent="-342900" algn="just">
              <a:lnSpc>
                <a:spcPct val="150000"/>
              </a:lnSpc>
              <a:spcBef>
                <a:spcPts val="5"/>
              </a:spcBef>
              <a:buFont typeface="Arial" panose="020B0604020202020204" pitchFamily="34" charset="0"/>
              <a:buChar char="•"/>
            </a:pP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b="1" dirty="0">
                <a:effectLst/>
                <a:ea typeface="Calibri" panose="020F0502020204030204" pitchFamily="34" charset="0"/>
              </a:rPr>
              <a:t>lower</a:t>
            </a:r>
            <a:r>
              <a:rPr lang="en-US" sz="2000" b="1" spc="-25" dirty="0">
                <a:effectLst/>
                <a:ea typeface="Calibri" panose="020F0502020204030204" pitchFamily="34" charset="0"/>
              </a:rPr>
              <a:t> </a:t>
            </a:r>
            <a:r>
              <a:rPr lang="en-US" sz="2000" b="1" dirty="0">
                <a:effectLst/>
                <a:ea typeface="Calibri" panose="020F0502020204030204" pitchFamily="34" charset="0"/>
              </a:rPr>
              <a:t>part</a:t>
            </a:r>
            <a:r>
              <a:rPr lang="en-US" sz="2000" b="1" spc="-15" dirty="0">
                <a:effectLst/>
                <a:ea typeface="Calibri" panose="020F0502020204030204" pitchFamily="34" charset="0"/>
              </a:rPr>
              <a:t> </a:t>
            </a:r>
            <a:r>
              <a:rPr lang="en-US" sz="2000" dirty="0">
                <a:effectLst/>
                <a:ea typeface="Calibri" panose="020F0502020204030204" pitchFamily="34" charset="0"/>
              </a:rPr>
              <a:t>shows</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dirty="0">
                <a:effectLst/>
                <a:ea typeface="Calibri" panose="020F0502020204030204" pitchFamily="34" charset="0"/>
              </a:rPr>
              <a:t>internals</a:t>
            </a:r>
            <a:r>
              <a:rPr lang="en-US" sz="2000" spc="-15" dirty="0">
                <a:effectLst/>
                <a:ea typeface="Calibri" panose="020F0502020204030204" pitchFamily="34" charset="0"/>
              </a:rPr>
              <a:t> </a:t>
            </a:r>
            <a:r>
              <a:rPr lang="en-US" sz="2000" dirty="0">
                <a:effectLst/>
                <a:ea typeface="Calibri" panose="020F0502020204030204" pitchFamily="34" charset="0"/>
              </a:rPr>
              <a:t>of</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5" dirty="0">
                <a:effectLst/>
                <a:ea typeface="Calibri" panose="020F0502020204030204" pitchFamily="34" charset="0"/>
              </a:rPr>
              <a:t> </a:t>
            </a:r>
            <a:r>
              <a:rPr lang="en-US" sz="2000" dirty="0">
                <a:effectLst/>
                <a:ea typeface="Calibri" panose="020F0502020204030204" pitchFamily="34" charset="0"/>
              </a:rPr>
              <a:t>DBMS</a:t>
            </a:r>
            <a:r>
              <a:rPr lang="en-US" sz="2000" spc="-20" dirty="0">
                <a:effectLst/>
                <a:ea typeface="Calibri" panose="020F0502020204030204" pitchFamily="34" charset="0"/>
              </a:rPr>
              <a:t> </a:t>
            </a:r>
            <a:r>
              <a:rPr lang="en-US" sz="2000" dirty="0">
                <a:effectLst/>
                <a:ea typeface="Calibri" panose="020F0502020204030204" pitchFamily="34" charset="0"/>
              </a:rPr>
              <a:t>responsible</a:t>
            </a:r>
            <a:r>
              <a:rPr lang="en-US" sz="2000" spc="-20" dirty="0">
                <a:effectLst/>
                <a:ea typeface="Calibri" panose="020F0502020204030204" pitchFamily="34" charset="0"/>
              </a:rPr>
              <a:t> </a:t>
            </a:r>
            <a:r>
              <a:rPr lang="en-US" sz="2000" dirty="0">
                <a:effectLst/>
                <a:ea typeface="Calibri" panose="020F0502020204030204" pitchFamily="34" charset="0"/>
              </a:rPr>
              <a:t>for</a:t>
            </a:r>
            <a:r>
              <a:rPr lang="en-US" sz="2000" spc="-15" dirty="0">
                <a:effectLst/>
                <a:ea typeface="Calibri" panose="020F0502020204030204" pitchFamily="34" charset="0"/>
              </a:rPr>
              <a:t> </a:t>
            </a:r>
            <a:r>
              <a:rPr lang="en-US" sz="2000" dirty="0">
                <a:effectLst/>
                <a:ea typeface="Calibri" panose="020F0502020204030204" pitchFamily="34" charset="0"/>
              </a:rPr>
              <a:t>storage</a:t>
            </a:r>
            <a:r>
              <a:rPr lang="en-US" sz="2000" spc="-15" dirty="0">
                <a:effectLst/>
                <a:ea typeface="Calibri" panose="020F0502020204030204" pitchFamily="34" charset="0"/>
              </a:rPr>
              <a:t> </a:t>
            </a:r>
            <a:r>
              <a:rPr lang="en-US" sz="2000" dirty="0">
                <a:effectLst/>
                <a:ea typeface="Calibri" panose="020F0502020204030204" pitchFamily="34" charset="0"/>
              </a:rPr>
              <a:t>of</a:t>
            </a:r>
            <a:r>
              <a:rPr lang="en-US" sz="2000" spc="-20" dirty="0">
                <a:effectLst/>
                <a:ea typeface="Calibri" panose="020F0502020204030204" pitchFamily="34" charset="0"/>
              </a:rPr>
              <a:t> </a:t>
            </a:r>
            <a:r>
              <a:rPr lang="en-US" sz="2000" dirty="0">
                <a:effectLst/>
                <a:ea typeface="Calibri" panose="020F0502020204030204" pitchFamily="34" charset="0"/>
              </a:rPr>
              <a:t>data</a:t>
            </a:r>
            <a:r>
              <a:rPr lang="en-US" sz="2000" spc="-15" dirty="0">
                <a:effectLst/>
                <a:ea typeface="Calibri" panose="020F0502020204030204" pitchFamily="34" charset="0"/>
              </a:rPr>
              <a:t> </a:t>
            </a:r>
            <a:r>
              <a:rPr lang="en-US" sz="2000" dirty="0">
                <a:effectLst/>
                <a:ea typeface="Calibri" panose="020F0502020204030204" pitchFamily="34" charset="0"/>
              </a:rPr>
              <a:t>and</a:t>
            </a:r>
            <a:r>
              <a:rPr lang="en-US" sz="2000" spc="-5" dirty="0">
                <a:effectLst/>
                <a:ea typeface="Calibri" panose="020F0502020204030204" pitchFamily="34" charset="0"/>
              </a:rPr>
              <a:t> </a:t>
            </a:r>
            <a:r>
              <a:rPr lang="en-US" sz="2000" dirty="0">
                <a:effectLst/>
                <a:ea typeface="Calibri" panose="020F0502020204030204" pitchFamily="34" charset="0"/>
              </a:rPr>
              <a:t>processing</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5" dirty="0">
                <a:effectLst/>
                <a:ea typeface="Calibri" panose="020F0502020204030204" pitchFamily="34" charset="0"/>
              </a:rPr>
              <a:t> </a:t>
            </a:r>
            <a:r>
              <a:rPr lang="en-US" sz="2000" dirty="0">
                <a:effectLst/>
                <a:ea typeface="Calibri" panose="020F0502020204030204" pitchFamily="34" charset="0"/>
              </a:rPr>
              <a:t>transactions.</a:t>
            </a:r>
          </a:p>
          <a:p>
            <a:endParaRPr lang="en-US" dirty="0"/>
          </a:p>
        </p:txBody>
      </p:sp>
    </p:spTree>
    <p:extLst>
      <p:ext uri="{BB962C8B-B14F-4D97-AF65-F5344CB8AC3E}">
        <p14:creationId xmlns:p14="http://schemas.microsoft.com/office/powerpoint/2010/main" val="6887219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059894-7E13-4E34-D41E-38649CF75B6A}"/>
              </a:ext>
            </a:extLst>
          </p:cNvPr>
          <p:cNvSpPr txBox="1"/>
          <p:nvPr/>
        </p:nvSpPr>
        <p:spPr>
          <a:xfrm>
            <a:off x="371959" y="294468"/>
            <a:ext cx="11437749" cy="6370975"/>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effectLst/>
                <a:ea typeface="Calibri" panose="020F0502020204030204" pitchFamily="34" charset="0"/>
              </a:rPr>
              <a:t>The database and the DBMS catalog are usually stored on disk. Access to the disk is controlled primarily by the operating</a:t>
            </a:r>
            <a:r>
              <a:rPr lang="en-US" sz="2000" spc="-235" dirty="0">
                <a:effectLst/>
                <a:ea typeface="Calibri" panose="020F0502020204030204" pitchFamily="34" charset="0"/>
              </a:rPr>
              <a:t> </a:t>
            </a:r>
            <a:r>
              <a:rPr lang="en-US" sz="2000" dirty="0">
                <a:effectLst/>
                <a:ea typeface="Calibri" panose="020F0502020204030204" pitchFamily="34" charset="0"/>
              </a:rPr>
              <a:t>system</a:t>
            </a:r>
            <a:r>
              <a:rPr lang="en-US" sz="2000" spc="-10" dirty="0">
                <a:effectLst/>
                <a:ea typeface="Calibri" panose="020F0502020204030204" pitchFamily="34" charset="0"/>
              </a:rPr>
              <a:t> </a:t>
            </a:r>
            <a:r>
              <a:rPr lang="en-US" sz="2000" dirty="0">
                <a:effectLst/>
                <a:ea typeface="Calibri" panose="020F0502020204030204" pitchFamily="34" charset="0"/>
              </a:rPr>
              <a:t>(OS),</a:t>
            </a:r>
            <a:r>
              <a:rPr lang="en-US" sz="2000" spc="-25" dirty="0">
                <a:effectLst/>
                <a:ea typeface="Calibri" panose="020F0502020204030204" pitchFamily="34" charset="0"/>
              </a:rPr>
              <a:t> </a:t>
            </a:r>
            <a:r>
              <a:rPr lang="en-US" sz="2000" dirty="0">
                <a:effectLst/>
                <a:ea typeface="Calibri" panose="020F0502020204030204" pitchFamily="34" charset="0"/>
              </a:rPr>
              <a:t>which</a:t>
            </a:r>
            <a:r>
              <a:rPr lang="en-US" sz="2000" spc="-15" dirty="0">
                <a:effectLst/>
                <a:ea typeface="Calibri" panose="020F0502020204030204" pitchFamily="34" charset="0"/>
              </a:rPr>
              <a:t> </a:t>
            </a:r>
            <a:r>
              <a:rPr lang="en-US" sz="2000" dirty="0">
                <a:effectLst/>
                <a:ea typeface="Calibri" panose="020F0502020204030204" pitchFamily="34" charset="0"/>
              </a:rPr>
              <a:t>schedules</a:t>
            </a:r>
            <a:r>
              <a:rPr lang="en-US" sz="2000" spc="-10" dirty="0">
                <a:effectLst/>
                <a:ea typeface="Calibri" panose="020F0502020204030204" pitchFamily="34" charset="0"/>
              </a:rPr>
              <a:t> </a:t>
            </a:r>
            <a:r>
              <a:rPr lang="en-US" sz="2000" dirty="0">
                <a:effectLst/>
                <a:ea typeface="Calibri" panose="020F0502020204030204" pitchFamily="34" charset="0"/>
              </a:rPr>
              <a:t>disk</a:t>
            </a:r>
            <a:r>
              <a:rPr lang="en-US" sz="2000" spc="-10" dirty="0">
                <a:effectLst/>
                <a:ea typeface="Calibri" panose="020F0502020204030204" pitchFamily="34" charset="0"/>
              </a:rPr>
              <a:t> </a:t>
            </a:r>
            <a:r>
              <a:rPr lang="en-US" sz="2000" dirty="0">
                <a:effectLst/>
                <a:ea typeface="Calibri" panose="020F0502020204030204" pitchFamily="34" charset="0"/>
              </a:rPr>
              <a:t>read/write.</a:t>
            </a:r>
          </a:p>
          <a:p>
            <a:pPr marL="342900" indent="-342900" algn="just">
              <a:buFont typeface="Arial" panose="020B0604020202020204" pitchFamily="34" charset="0"/>
              <a:buChar char="•"/>
            </a:pPr>
            <a:endParaRPr lang="en-US" sz="2000" dirty="0">
              <a:ea typeface="Calibri" panose="020F0502020204030204" pitchFamily="34" charset="0"/>
            </a:endParaRPr>
          </a:p>
          <a:p>
            <a:pPr marL="342900" indent="-342900" algn="just">
              <a:buFont typeface="Arial" panose="020B0604020202020204" pitchFamily="34" charset="0"/>
              <a:buChar char="•"/>
            </a:pPr>
            <a:r>
              <a:rPr lang="en-US" sz="2000" dirty="0">
                <a:effectLst/>
                <a:ea typeface="Calibri" panose="020F0502020204030204" pitchFamily="34" charset="0"/>
              </a:rPr>
              <a:t>Many</a:t>
            </a:r>
            <a:r>
              <a:rPr lang="en-US" sz="2000" spc="-15" dirty="0">
                <a:effectLst/>
                <a:ea typeface="Calibri" panose="020F0502020204030204" pitchFamily="34" charset="0"/>
              </a:rPr>
              <a:t> </a:t>
            </a:r>
            <a:r>
              <a:rPr lang="en-US" sz="2000" dirty="0">
                <a:effectLst/>
                <a:ea typeface="Calibri" panose="020F0502020204030204" pitchFamily="34" charset="0"/>
              </a:rPr>
              <a:t>DBMSs</a:t>
            </a:r>
            <a:r>
              <a:rPr lang="en-US" sz="2000" spc="-15" dirty="0">
                <a:effectLst/>
                <a:ea typeface="Calibri" panose="020F0502020204030204" pitchFamily="34" charset="0"/>
              </a:rPr>
              <a:t> </a:t>
            </a:r>
            <a:r>
              <a:rPr lang="en-US" sz="2000" dirty="0">
                <a:effectLst/>
                <a:ea typeface="Calibri" panose="020F0502020204030204" pitchFamily="34" charset="0"/>
              </a:rPr>
              <a:t>have</a:t>
            </a:r>
            <a:r>
              <a:rPr lang="en-US" sz="2000" spc="-10" dirty="0">
                <a:effectLst/>
                <a:ea typeface="Calibri" panose="020F0502020204030204" pitchFamily="34" charset="0"/>
              </a:rPr>
              <a:t> </a:t>
            </a:r>
            <a:r>
              <a:rPr lang="en-US" sz="2000" dirty="0">
                <a:effectLst/>
                <a:ea typeface="Calibri" panose="020F0502020204030204" pitchFamily="34" charset="0"/>
              </a:rPr>
              <a:t>their</a:t>
            </a:r>
            <a:r>
              <a:rPr lang="en-US" sz="2000" spc="-15" dirty="0">
                <a:effectLst/>
                <a:ea typeface="Calibri" panose="020F0502020204030204" pitchFamily="34" charset="0"/>
              </a:rPr>
              <a:t> </a:t>
            </a:r>
            <a:r>
              <a:rPr lang="en-US" sz="2000" dirty="0">
                <a:effectLst/>
                <a:ea typeface="Calibri" panose="020F0502020204030204" pitchFamily="34" charset="0"/>
              </a:rPr>
              <a:t>own</a:t>
            </a:r>
            <a:r>
              <a:rPr lang="en-US" sz="2000" spc="-5" dirty="0">
                <a:effectLst/>
                <a:ea typeface="Calibri" panose="020F0502020204030204" pitchFamily="34" charset="0"/>
              </a:rPr>
              <a:t> </a:t>
            </a:r>
            <a:r>
              <a:rPr lang="en-US" sz="2000" b="1" dirty="0">
                <a:effectLst/>
                <a:ea typeface="Calibri" panose="020F0502020204030204" pitchFamily="34" charset="0"/>
              </a:rPr>
              <a:t>buffer</a:t>
            </a:r>
            <a:r>
              <a:rPr lang="en-US" sz="2000" b="1" spc="-20" dirty="0">
                <a:effectLst/>
                <a:ea typeface="Calibri" panose="020F0502020204030204" pitchFamily="34" charset="0"/>
              </a:rPr>
              <a:t> </a:t>
            </a:r>
            <a:r>
              <a:rPr lang="en-US" sz="2000" b="1" dirty="0">
                <a:effectLst/>
                <a:ea typeface="Calibri" panose="020F0502020204030204" pitchFamily="34" charset="0"/>
              </a:rPr>
              <a:t>management </a:t>
            </a:r>
            <a:r>
              <a:rPr lang="en-US" sz="2000" dirty="0">
                <a:effectLst/>
                <a:ea typeface="Calibri" panose="020F0502020204030204" pitchFamily="34" charset="0"/>
              </a:rPr>
              <a:t>module</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schedule</a:t>
            </a:r>
            <a:r>
              <a:rPr lang="en-US" sz="2000" spc="-15" dirty="0">
                <a:effectLst/>
                <a:ea typeface="Calibri" panose="020F0502020204030204" pitchFamily="34" charset="0"/>
              </a:rPr>
              <a:t> </a:t>
            </a:r>
            <a:r>
              <a:rPr lang="en-US" sz="2000" dirty="0">
                <a:effectLst/>
                <a:ea typeface="Calibri" panose="020F0502020204030204" pitchFamily="34" charset="0"/>
              </a:rPr>
              <a:t>disk</a:t>
            </a:r>
            <a:r>
              <a:rPr lang="en-US" sz="2000" spc="-10" dirty="0">
                <a:effectLst/>
                <a:ea typeface="Calibri" panose="020F0502020204030204" pitchFamily="34" charset="0"/>
              </a:rPr>
              <a:t> </a:t>
            </a:r>
            <a:r>
              <a:rPr lang="en-US" sz="2000" dirty="0">
                <a:effectLst/>
                <a:ea typeface="Calibri" panose="020F0502020204030204" pitchFamily="34" charset="0"/>
              </a:rPr>
              <a:t>read/write.</a:t>
            </a:r>
          </a:p>
          <a:p>
            <a:pPr marL="342900" indent="-342900" algn="just">
              <a:buFont typeface="Arial" panose="020B0604020202020204" pitchFamily="34" charset="0"/>
              <a:buChar char="•"/>
            </a:pPr>
            <a:endParaRPr lang="en-US" sz="2000" dirty="0">
              <a:ea typeface="Calibri" panose="020F0502020204030204" pitchFamily="34" charset="0"/>
            </a:endParaRPr>
          </a:p>
          <a:p>
            <a:pPr marL="342900" indent="-342900" algn="just">
              <a:buFont typeface="Arial" panose="020B0604020202020204" pitchFamily="34" charset="0"/>
              <a:buChar char="•"/>
            </a:pPr>
            <a:r>
              <a:rPr lang="en-US" sz="2000" b="1" dirty="0">
                <a:effectLst/>
                <a:ea typeface="Calibri" panose="020F0502020204030204" pitchFamily="34" charset="0"/>
              </a:rPr>
              <a:t>Stored</a:t>
            </a:r>
            <a:r>
              <a:rPr lang="en-US" sz="2000" b="1" spc="55" dirty="0">
                <a:effectLst/>
                <a:ea typeface="Calibri" panose="020F0502020204030204" pitchFamily="34" charset="0"/>
              </a:rPr>
              <a:t> </a:t>
            </a:r>
            <a:r>
              <a:rPr lang="en-US" sz="2000" b="1" dirty="0">
                <a:effectLst/>
                <a:ea typeface="Calibri" panose="020F0502020204030204" pitchFamily="34" charset="0"/>
              </a:rPr>
              <a:t>data</a:t>
            </a:r>
            <a:r>
              <a:rPr lang="en-US" sz="2000" b="1" spc="60" dirty="0">
                <a:effectLst/>
                <a:ea typeface="Calibri" panose="020F0502020204030204" pitchFamily="34" charset="0"/>
              </a:rPr>
              <a:t> </a:t>
            </a:r>
            <a:r>
              <a:rPr lang="en-US" sz="2000" b="1" dirty="0">
                <a:effectLst/>
                <a:ea typeface="Calibri" panose="020F0502020204030204" pitchFamily="34" charset="0"/>
              </a:rPr>
              <a:t>manager</a:t>
            </a:r>
            <a:r>
              <a:rPr lang="en-US" sz="2000" b="1" spc="65" dirty="0">
                <a:effectLst/>
                <a:ea typeface="Calibri" panose="020F0502020204030204" pitchFamily="34" charset="0"/>
              </a:rPr>
              <a:t> </a:t>
            </a:r>
            <a:r>
              <a:rPr lang="en-US" sz="2000" dirty="0">
                <a:effectLst/>
                <a:ea typeface="Calibri" panose="020F0502020204030204" pitchFamily="34" charset="0"/>
              </a:rPr>
              <a:t>controls</a:t>
            </a:r>
            <a:r>
              <a:rPr lang="en-US" sz="2000" spc="55" dirty="0">
                <a:effectLst/>
                <a:ea typeface="Calibri" panose="020F0502020204030204" pitchFamily="34" charset="0"/>
              </a:rPr>
              <a:t> </a:t>
            </a:r>
            <a:r>
              <a:rPr lang="en-US" sz="2000" dirty="0">
                <a:effectLst/>
                <a:ea typeface="Calibri" panose="020F0502020204030204" pitchFamily="34" charset="0"/>
              </a:rPr>
              <a:t>access</a:t>
            </a:r>
            <a:r>
              <a:rPr lang="en-US" sz="2000" spc="85" dirty="0">
                <a:effectLst/>
                <a:ea typeface="Calibri" panose="020F0502020204030204" pitchFamily="34" charset="0"/>
              </a:rPr>
              <a:t> </a:t>
            </a:r>
            <a:r>
              <a:rPr lang="en-US" sz="2000" dirty="0">
                <a:effectLst/>
                <a:ea typeface="Calibri" panose="020F0502020204030204" pitchFamily="34" charset="0"/>
              </a:rPr>
              <a:t>to</a:t>
            </a:r>
            <a:r>
              <a:rPr lang="en-US" sz="2000" spc="50" dirty="0">
                <a:effectLst/>
                <a:ea typeface="Calibri" panose="020F0502020204030204" pitchFamily="34" charset="0"/>
              </a:rPr>
              <a:t> </a:t>
            </a:r>
            <a:r>
              <a:rPr lang="en-US" sz="2000" dirty="0">
                <a:effectLst/>
                <a:ea typeface="Calibri" panose="020F0502020204030204" pitchFamily="34" charset="0"/>
              </a:rPr>
              <a:t>DBMS</a:t>
            </a:r>
            <a:r>
              <a:rPr lang="en-US" sz="2000" spc="50" dirty="0">
                <a:effectLst/>
                <a:ea typeface="Calibri" panose="020F0502020204030204" pitchFamily="34" charset="0"/>
              </a:rPr>
              <a:t> </a:t>
            </a:r>
            <a:r>
              <a:rPr lang="en-US" sz="2000" dirty="0">
                <a:effectLst/>
                <a:ea typeface="Calibri" panose="020F0502020204030204" pitchFamily="34" charset="0"/>
              </a:rPr>
              <a:t>information</a:t>
            </a:r>
            <a:r>
              <a:rPr lang="en-US" sz="2000" spc="50" dirty="0">
                <a:effectLst/>
                <a:ea typeface="Calibri" panose="020F0502020204030204" pitchFamily="34" charset="0"/>
              </a:rPr>
              <a:t> </a:t>
            </a:r>
            <a:r>
              <a:rPr lang="en-US" sz="2000" dirty="0">
                <a:effectLst/>
                <a:ea typeface="Calibri" panose="020F0502020204030204" pitchFamily="34" charset="0"/>
              </a:rPr>
              <a:t>that</a:t>
            </a:r>
            <a:r>
              <a:rPr lang="en-US" sz="2000" spc="45" dirty="0">
                <a:effectLst/>
                <a:ea typeface="Calibri" panose="020F0502020204030204" pitchFamily="34" charset="0"/>
              </a:rPr>
              <a:t> </a:t>
            </a:r>
            <a:r>
              <a:rPr lang="en-US" sz="2000" dirty="0">
                <a:effectLst/>
                <a:ea typeface="Calibri" panose="020F0502020204030204" pitchFamily="34" charset="0"/>
              </a:rPr>
              <a:t>is</a:t>
            </a:r>
            <a:r>
              <a:rPr lang="en-US" sz="2000" spc="55" dirty="0">
                <a:effectLst/>
                <a:ea typeface="Calibri" panose="020F0502020204030204" pitchFamily="34" charset="0"/>
              </a:rPr>
              <a:t> </a:t>
            </a:r>
            <a:r>
              <a:rPr lang="en-US" sz="2000" dirty="0">
                <a:effectLst/>
                <a:ea typeface="Calibri" panose="020F0502020204030204" pitchFamily="34" charset="0"/>
              </a:rPr>
              <a:t>stored</a:t>
            </a:r>
            <a:r>
              <a:rPr lang="en-US" sz="2000" spc="55" dirty="0">
                <a:effectLst/>
                <a:ea typeface="Calibri" panose="020F0502020204030204" pitchFamily="34" charset="0"/>
              </a:rPr>
              <a:t> </a:t>
            </a:r>
            <a:r>
              <a:rPr lang="en-US" sz="2000" dirty="0">
                <a:effectLst/>
                <a:ea typeface="Calibri" panose="020F0502020204030204" pitchFamily="34" charset="0"/>
              </a:rPr>
              <a:t>on</a:t>
            </a:r>
            <a:r>
              <a:rPr lang="en-US" sz="2000" spc="50" dirty="0">
                <a:effectLst/>
                <a:ea typeface="Calibri" panose="020F0502020204030204" pitchFamily="34" charset="0"/>
              </a:rPr>
              <a:t> </a:t>
            </a:r>
            <a:r>
              <a:rPr lang="en-US" sz="2000" dirty="0">
                <a:effectLst/>
                <a:ea typeface="Calibri" panose="020F0502020204030204" pitchFamily="34" charset="0"/>
              </a:rPr>
              <a:t>disk,</a:t>
            </a:r>
            <a:r>
              <a:rPr lang="en-US" sz="2000" spc="45" dirty="0">
                <a:effectLst/>
                <a:ea typeface="Calibri" panose="020F0502020204030204" pitchFamily="34" charset="0"/>
              </a:rPr>
              <a:t> </a:t>
            </a:r>
            <a:r>
              <a:rPr lang="en-US" sz="2000" dirty="0">
                <a:effectLst/>
                <a:ea typeface="Calibri" panose="020F0502020204030204" pitchFamily="34" charset="0"/>
              </a:rPr>
              <a:t>whether</a:t>
            </a:r>
            <a:r>
              <a:rPr lang="en-US" sz="2000" spc="55" dirty="0">
                <a:effectLst/>
                <a:ea typeface="Calibri" panose="020F0502020204030204" pitchFamily="34" charset="0"/>
              </a:rPr>
              <a:t> </a:t>
            </a:r>
            <a:r>
              <a:rPr lang="en-US" sz="2000" dirty="0">
                <a:effectLst/>
                <a:ea typeface="Calibri" panose="020F0502020204030204" pitchFamily="34" charset="0"/>
              </a:rPr>
              <a:t>it</a:t>
            </a:r>
            <a:r>
              <a:rPr lang="en-US" sz="2000" spc="70" dirty="0">
                <a:effectLst/>
                <a:ea typeface="Calibri" panose="020F0502020204030204" pitchFamily="34" charset="0"/>
              </a:rPr>
              <a:t> </a:t>
            </a:r>
            <a:r>
              <a:rPr lang="en-US" sz="2000" dirty="0">
                <a:effectLst/>
                <a:ea typeface="Calibri" panose="020F0502020204030204" pitchFamily="34" charset="0"/>
              </a:rPr>
              <a:t>is</a:t>
            </a:r>
            <a:r>
              <a:rPr lang="en-US" sz="2000" spc="55" dirty="0">
                <a:effectLst/>
                <a:ea typeface="Calibri" panose="020F0502020204030204" pitchFamily="34" charset="0"/>
              </a:rPr>
              <a:t> </a:t>
            </a:r>
            <a:r>
              <a:rPr lang="en-US" sz="2000" dirty="0">
                <a:effectLst/>
                <a:ea typeface="Calibri" panose="020F0502020204030204" pitchFamily="34" charset="0"/>
              </a:rPr>
              <a:t>part</a:t>
            </a:r>
            <a:r>
              <a:rPr lang="en-US" sz="2000" spc="45" dirty="0">
                <a:effectLst/>
                <a:ea typeface="Calibri" panose="020F0502020204030204" pitchFamily="34" charset="0"/>
              </a:rPr>
              <a:t> </a:t>
            </a:r>
            <a:r>
              <a:rPr lang="en-US" sz="2000" dirty="0">
                <a:effectLst/>
                <a:ea typeface="Calibri" panose="020F0502020204030204" pitchFamily="34" charset="0"/>
              </a:rPr>
              <a:t>of</a:t>
            </a:r>
            <a:r>
              <a:rPr lang="en-US" sz="2000" spc="80" dirty="0">
                <a:effectLst/>
                <a:ea typeface="Calibri" panose="020F0502020204030204" pitchFamily="34" charset="0"/>
              </a:rPr>
              <a:t> </a:t>
            </a:r>
            <a:r>
              <a:rPr lang="en-US" sz="2000" dirty="0">
                <a:effectLst/>
                <a:ea typeface="Calibri" panose="020F0502020204030204" pitchFamily="34" charset="0"/>
              </a:rPr>
              <a:t>the</a:t>
            </a:r>
            <a:r>
              <a:rPr lang="en-US" sz="2000" spc="80" dirty="0">
                <a:effectLst/>
                <a:ea typeface="Calibri" panose="020F0502020204030204" pitchFamily="34" charset="0"/>
              </a:rPr>
              <a:t> </a:t>
            </a:r>
            <a:r>
              <a:rPr lang="en-US" sz="2000" dirty="0">
                <a:effectLst/>
                <a:ea typeface="Calibri" panose="020F0502020204030204" pitchFamily="34" charset="0"/>
              </a:rPr>
              <a:t>database</a:t>
            </a:r>
            <a:r>
              <a:rPr lang="en-US" sz="2000" spc="55" dirty="0">
                <a:effectLst/>
                <a:ea typeface="Calibri" panose="020F0502020204030204" pitchFamily="34" charset="0"/>
              </a:rPr>
              <a:t> </a:t>
            </a:r>
            <a:r>
              <a:rPr lang="en-US" sz="2000" dirty="0">
                <a:effectLst/>
                <a:ea typeface="Calibri" panose="020F0502020204030204" pitchFamily="34" charset="0"/>
              </a:rPr>
              <a:t>or</a:t>
            </a:r>
            <a:r>
              <a:rPr lang="en-US" sz="2000" spc="-235"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catalog.</a:t>
            </a:r>
          </a:p>
          <a:p>
            <a:pPr marL="342900" indent="-342900" algn="just">
              <a:buFont typeface="Arial" panose="020B0604020202020204" pitchFamily="34" charset="0"/>
              <a:buChar char="•"/>
            </a:pPr>
            <a:endParaRPr lang="en-US" sz="2000" dirty="0">
              <a:ea typeface="Calibri" panose="020F0502020204030204" pitchFamily="34" charset="0"/>
            </a:endParaRPr>
          </a:p>
          <a:p>
            <a:pPr marL="139700" marR="0" algn="just">
              <a:lnSpc>
                <a:spcPct val="150000"/>
              </a:lnSpc>
              <a:spcBef>
                <a:spcPts val="5"/>
              </a:spcBef>
              <a:buNone/>
            </a:pPr>
            <a:r>
              <a:rPr lang="en-US" sz="2000" dirty="0">
                <a:effectLst/>
                <a:ea typeface="Calibri" panose="020F0502020204030204" pitchFamily="34" charset="0"/>
              </a:rPr>
              <a:t>Top</a:t>
            </a:r>
            <a:r>
              <a:rPr lang="en-US" sz="2000" spc="-20" dirty="0">
                <a:effectLst/>
                <a:ea typeface="Calibri" panose="020F0502020204030204" pitchFamily="34" charset="0"/>
              </a:rPr>
              <a:t> </a:t>
            </a:r>
            <a:r>
              <a:rPr lang="en-US" sz="2000" dirty="0">
                <a:effectLst/>
                <a:ea typeface="Calibri" panose="020F0502020204030204" pitchFamily="34" charset="0"/>
              </a:rPr>
              <a:t>half</a:t>
            </a:r>
            <a:r>
              <a:rPr lang="en-US" sz="2000" spc="-10" dirty="0">
                <a:effectLst/>
                <a:ea typeface="Calibri" panose="020F0502020204030204" pitchFamily="34" charset="0"/>
              </a:rPr>
              <a:t> </a:t>
            </a:r>
            <a:r>
              <a:rPr lang="en-US" sz="2000" dirty="0">
                <a:effectLst/>
                <a:ea typeface="Calibri" panose="020F0502020204030204" pitchFamily="34" charset="0"/>
              </a:rPr>
              <a:t>figure:</a:t>
            </a:r>
          </a:p>
          <a:p>
            <a:pPr marL="342900" marR="0" lvl="0" indent="-342900" algn="just">
              <a:lnSpc>
                <a:spcPct val="150000"/>
              </a:lnSpc>
              <a:spcBef>
                <a:spcPts val="5"/>
              </a:spcBef>
              <a:buFont typeface="Wingdings" panose="05000000000000000000" pitchFamily="2" charset="2"/>
              <a:buChar char=""/>
              <a:tabLst>
                <a:tab pos="624840" algn="l"/>
              </a:tabLst>
            </a:pPr>
            <a:r>
              <a:rPr lang="en-US" sz="2000" dirty="0">
                <a:effectLst/>
                <a:ea typeface="Calibri" panose="020F0502020204030204" pitchFamily="34" charset="0"/>
              </a:rPr>
              <a:t>it</a:t>
            </a:r>
            <a:r>
              <a:rPr lang="en-US" sz="2000" spc="-25" dirty="0">
                <a:effectLst/>
                <a:ea typeface="Calibri" panose="020F0502020204030204" pitchFamily="34" charset="0"/>
              </a:rPr>
              <a:t> </a:t>
            </a:r>
            <a:r>
              <a:rPr lang="en-US" sz="2000" dirty="0">
                <a:effectLst/>
                <a:ea typeface="Calibri" panose="020F0502020204030204" pitchFamily="34" charset="0"/>
              </a:rPr>
              <a:t>shows</a:t>
            </a:r>
            <a:r>
              <a:rPr lang="en-US" sz="2000" spc="-15" dirty="0">
                <a:effectLst/>
                <a:ea typeface="Calibri" panose="020F0502020204030204" pitchFamily="34" charset="0"/>
              </a:rPr>
              <a:t> </a:t>
            </a:r>
            <a:r>
              <a:rPr lang="en-US" sz="2000" dirty="0">
                <a:effectLst/>
                <a:ea typeface="Calibri" panose="020F0502020204030204" pitchFamily="34" charset="0"/>
              </a:rPr>
              <a:t>interfaces</a:t>
            </a:r>
            <a:r>
              <a:rPr lang="en-US" sz="2000" spc="-10" dirty="0">
                <a:effectLst/>
                <a:ea typeface="Calibri" panose="020F0502020204030204" pitchFamily="34" charset="0"/>
              </a:rPr>
              <a:t> </a:t>
            </a:r>
            <a:r>
              <a:rPr lang="en-US" sz="2000" dirty="0">
                <a:effectLst/>
                <a:ea typeface="Calibri" panose="020F0502020204030204" pitchFamily="34" charset="0"/>
              </a:rPr>
              <a:t>for</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DBA</a:t>
            </a:r>
            <a:r>
              <a:rPr lang="en-US" sz="2000" spc="-10" dirty="0">
                <a:effectLst/>
                <a:ea typeface="Calibri" panose="020F0502020204030204" pitchFamily="34" charset="0"/>
              </a:rPr>
              <a:t> </a:t>
            </a:r>
            <a:r>
              <a:rPr lang="en-US" sz="2000" dirty="0">
                <a:effectLst/>
                <a:ea typeface="Calibri" panose="020F0502020204030204" pitchFamily="34" charset="0"/>
              </a:rPr>
              <a:t>staff,</a:t>
            </a:r>
            <a:r>
              <a:rPr lang="en-US" sz="2000" spc="-5" dirty="0">
                <a:effectLst/>
                <a:ea typeface="Calibri" panose="020F0502020204030204" pitchFamily="34" charset="0"/>
              </a:rPr>
              <a:t> </a:t>
            </a:r>
            <a:r>
              <a:rPr lang="en-US" sz="2000" dirty="0">
                <a:effectLst/>
                <a:ea typeface="Calibri" panose="020F0502020204030204" pitchFamily="34" charset="0"/>
              </a:rPr>
              <a:t>casual</a:t>
            </a:r>
            <a:r>
              <a:rPr lang="en-US" sz="2000" spc="-10" dirty="0">
                <a:effectLst/>
                <a:ea typeface="Calibri" panose="020F0502020204030204" pitchFamily="34" charset="0"/>
              </a:rPr>
              <a:t> </a:t>
            </a:r>
            <a:r>
              <a:rPr lang="en-US" sz="2000" dirty="0">
                <a:effectLst/>
                <a:ea typeface="Calibri" panose="020F0502020204030204" pitchFamily="34" charset="0"/>
              </a:rPr>
              <a:t>users</a:t>
            </a:r>
            <a:r>
              <a:rPr lang="en-US" sz="2000" spc="-15" dirty="0">
                <a:effectLst/>
                <a:ea typeface="Calibri" panose="020F0502020204030204" pitchFamily="34" charset="0"/>
              </a:rPr>
              <a:t> </a:t>
            </a:r>
            <a:r>
              <a:rPr lang="en-US" sz="2000" dirty="0">
                <a:effectLst/>
                <a:ea typeface="Calibri" panose="020F0502020204030204" pitchFamily="34" charset="0"/>
              </a:rPr>
              <a:t>who work</a:t>
            </a:r>
            <a:r>
              <a:rPr lang="en-US" sz="2000" spc="-15" dirty="0">
                <a:effectLst/>
                <a:ea typeface="Calibri" panose="020F0502020204030204" pitchFamily="34" charset="0"/>
              </a:rPr>
              <a:t> </a:t>
            </a:r>
            <a:r>
              <a:rPr lang="en-US" sz="2000" dirty="0">
                <a:effectLst/>
                <a:ea typeface="Calibri" panose="020F0502020204030204" pitchFamily="34" charset="0"/>
              </a:rPr>
              <a:t>with</a:t>
            </a:r>
            <a:r>
              <a:rPr lang="en-US" sz="2000" spc="-20" dirty="0">
                <a:effectLst/>
                <a:ea typeface="Calibri" panose="020F0502020204030204" pitchFamily="34" charset="0"/>
              </a:rPr>
              <a:t> </a:t>
            </a:r>
            <a:r>
              <a:rPr lang="en-US" sz="2000" dirty="0">
                <a:effectLst/>
                <a:ea typeface="Calibri" panose="020F0502020204030204" pitchFamily="34" charset="0"/>
              </a:rPr>
              <a:t>interactive</a:t>
            </a:r>
            <a:r>
              <a:rPr lang="en-US" sz="2000" spc="-15" dirty="0">
                <a:effectLst/>
                <a:ea typeface="Calibri" panose="020F0502020204030204" pitchFamily="34" charset="0"/>
              </a:rPr>
              <a:t> </a:t>
            </a:r>
            <a:r>
              <a:rPr lang="en-US" sz="2000" dirty="0">
                <a:effectLst/>
                <a:ea typeface="Calibri" panose="020F0502020204030204" pitchFamily="34" charset="0"/>
              </a:rPr>
              <a:t>interfaces</a:t>
            </a:r>
            <a:r>
              <a:rPr lang="en-US" sz="2000" spc="-5" dirty="0">
                <a:effectLst/>
                <a:ea typeface="Calibri" panose="020F0502020204030204" pitchFamily="34" charset="0"/>
              </a:rPr>
              <a:t> </a:t>
            </a:r>
            <a:r>
              <a:rPr lang="en-US" sz="2000" dirty="0">
                <a:effectLst/>
                <a:ea typeface="Calibri" panose="020F0502020204030204" pitchFamily="34" charset="0"/>
              </a:rPr>
              <a:t>to</a:t>
            </a:r>
            <a:r>
              <a:rPr lang="en-US" sz="2000" spc="-20" dirty="0">
                <a:effectLst/>
                <a:ea typeface="Calibri" panose="020F0502020204030204" pitchFamily="34" charset="0"/>
              </a:rPr>
              <a:t> </a:t>
            </a:r>
            <a:r>
              <a:rPr lang="en-US" sz="2000" dirty="0">
                <a:effectLst/>
                <a:ea typeface="Calibri" panose="020F0502020204030204" pitchFamily="34" charset="0"/>
              </a:rPr>
              <a:t>formulate</a:t>
            </a:r>
            <a:r>
              <a:rPr lang="en-US" sz="2000" spc="-15" dirty="0">
                <a:effectLst/>
                <a:ea typeface="Calibri" panose="020F0502020204030204" pitchFamily="34" charset="0"/>
              </a:rPr>
              <a:t> </a:t>
            </a:r>
            <a:r>
              <a:rPr lang="en-US" sz="2000" dirty="0">
                <a:effectLst/>
                <a:ea typeface="Calibri" panose="020F0502020204030204" pitchFamily="34" charset="0"/>
              </a:rPr>
              <a:t>queries</a:t>
            </a:r>
          </a:p>
          <a:p>
            <a:pPr marL="342900" marR="0" lvl="0" indent="-342900" algn="just">
              <a:lnSpc>
                <a:spcPct val="150000"/>
              </a:lnSpc>
              <a:buFont typeface="Wingdings" panose="05000000000000000000" pitchFamily="2" charset="2"/>
              <a:buChar char=""/>
              <a:tabLst>
                <a:tab pos="624840" algn="l"/>
              </a:tabLst>
            </a:pPr>
            <a:r>
              <a:rPr lang="en-US" sz="2000" dirty="0">
                <a:effectLst/>
                <a:ea typeface="Calibri" panose="020F0502020204030204" pitchFamily="34" charset="0"/>
              </a:rPr>
              <a:t>application</a:t>
            </a:r>
            <a:r>
              <a:rPr lang="en-US" sz="2000" spc="-20" dirty="0">
                <a:effectLst/>
                <a:ea typeface="Calibri" panose="020F0502020204030204" pitchFamily="34" charset="0"/>
              </a:rPr>
              <a:t> </a:t>
            </a:r>
            <a:r>
              <a:rPr lang="en-US" sz="2000" dirty="0">
                <a:effectLst/>
                <a:ea typeface="Calibri" panose="020F0502020204030204" pitchFamily="34" charset="0"/>
              </a:rPr>
              <a:t>programmers</a:t>
            </a:r>
            <a:r>
              <a:rPr lang="en-US" sz="2000" spc="-15" dirty="0">
                <a:effectLst/>
                <a:ea typeface="Calibri" panose="020F0502020204030204" pitchFamily="34" charset="0"/>
              </a:rPr>
              <a:t> </a:t>
            </a:r>
            <a:r>
              <a:rPr lang="en-US" sz="2000" dirty="0">
                <a:effectLst/>
                <a:ea typeface="Calibri" panose="020F0502020204030204" pitchFamily="34" charset="0"/>
              </a:rPr>
              <a:t>who</a:t>
            </a:r>
            <a:r>
              <a:rPr lang="en-US" sz="2000" spc="-25" dirty="0">
                <a:effectLst/>
                <a:ea typeface="Calibri" panose="020F0502020204030204" pitchFamily="34" charset="0"/>
              </a:rPr>
              <a:t> </a:t>
            </a:r>
            <a:r>
              <a:rPr lang="en-US" sz="2000" dirty="0">
                <a:effectLst/>
                <a:ea typeface="Calibri" panose="020F0502020204030204" pitchFamily="34" charset="0"/>
              </a:rPr>
              <a:t>create</a:t>
            </a:r>
            <a:r>
              <a:rPr lang="en-US" sz="2000" spc="-10" dirty="0">
                <a:effectLst/>
                <a:ea typeface="Calibri" panose="020F0502020204030204" pitchFamily="34" charset="0"/>
              </a:rPr>
              <a:t> </a:t>
            </a:r>
            <a:r>
              <a:rPr lang="en-US" sz="2000" dirty="0">
                <a:effectLst/>
                <a:ea typeface="Calibri" panose="020F0502020204030204" pitchFamily="34" charset="0"/>
              </a:rPr>
              <a:t>programs</a:t>
            </a:r>
            <a:r>
              <a:rPr lang="en-US" sz="2000" spc="-15" dirty="0">
                <a:effectLst/>
                <a:ea typeface="Calibri" panose="020F0502020204030204" pitchFamily="34" charset="0"/>
              </a:rPr>
              <a:t> </a:t>
            </a:r>
            <a:r>
              <a:rPr lang="en-US" sz="2000" dirty="0">
                <a:effectLst/>
                <a:ea typeface="Calibri" panose="020F0502020204030204" pitchFamily="34" charset="0"/>
              </a:rPr>
              <a:t>using</a:t>
            </a:r>
            <a:r>
              <a:rPr lang="en-US" sz="2000" spc="-10" dirty="0">
                <a:effectLst/>
                <a:ea typeface="Calibri" panose="020F0502020204030204" pitchFamily="34" charset="0"/>
              </a:rPr>
              <a:t> </a:t>
            </a:r>
            <a:r>
              <a:rPr lang="en-US" sz="2000" dirty="0">
                <a:effectLst/>
                <a:ea typeface="Calibri" panose="020F0502020204030204" pitchFamily="34" charset="0"/>
              </a:rPr>
              <a:t>some</a:t>
            </a:r>
            <a:r>
              <a:rPr lang="en-US" sz="2000" spc="-15" dirty="0">
                <a:effectLst/>
                <a:ea typeface="Calibri" panose="020F0502020204030204" pitchFamily="34" charset="0"/>
              </a:rPr>
              <a:t> </a:t>
            </a:r>
            <a:r>
              <a:rPr lang="en-US" sz="2000" dirty="0">
                <a:effectLst/>
                <a:ea typeface="Calibri" panose="020F0502020204030204" pitchFamily="34" charset="0"/>
              </a:rPr>
              <a:t>host</a:t>
            </a:r>
            <a:r>
              <a:rPr lang="en-US" sz="2000" spc="-20" dirty="0">
                <a:effectLst/>
                <a:ea typeface="Calibri" panose="020F0502020204030204" pitchFamily="34" charset="0"/>
              </a:rPr>
              <a:t> </a:t>
            </a:r>
            <a:r>
              <a:rPr lang="en-US" sz="2000" dirty="0">
                <a:effectLst/>
                <a:ea typeface="Calibri" panose="020F0502020204030204" pitchFamily="34" charset="0"/>
              </a:rPr>
              <a:t>programming</a:t>
            </a:r>
            <a:r>
              <a:rPr lang="en-US" sz="2000" spc="-10" dirty="0">
                <a:effectLst/>
                <a:ea typeface="Calibri" panose="020F0502020204030204" pitchFamily="34" charset="0"/>
              </a:rPr>
              <a:t> </a:t>
            </a:r>
            <a:r>
              <a:rPr lang="en-US" sz="2000" dirty="0">
                <a:effectLst/>
                <a:ea typeface="Calibri" panose="020F0502020204030204" pitchFamily="34" charset="0"/>
              </a:rPr>
              <a:t>languages</a:t>
            </a:r>
          </a:p>
          <a:p>
            <a:pPr marL="342900" marR="0" lvl="0" indent="-342900" algn="just">
              <a:lnSpc>
                <a:spcPct val="150000"/>
              </a:lnSpc>
              <a:buFont typeface="Wingdings" panose="05000000000000000000" pitchFamily="2" charset="2"/>
              <a:buChar char=""/>
              <a:tabLst>
                <a:tab pos="624840" algn="l"/>
              </a:tabLst>
            </a:pPr>
            <a:r>
              <a:rPr lang="en-US" sz="2000" dirty="0">
                <a:effectLst/>
                <a:ea typeface="Calibri" panose="020F0502020204030204" pitchFamily="34" charset="0"/>
              </a:rPr>
              <a:t>parametric</a:t>
            </a:r>
            <a:r>
              <a:rPr lang="en-US" sz="2000" spc="-25" dirty="0">
                <a:effectLst/>
                <a:ea typeface="Calibri" panose="020F0502020204030204" pitchFamily="34" charset="0"/>
              </a:rPr>
              <a:t> </a:t>
            </a:r>
            <a:r>
              <a:rPr lang="en-US" sz="2000" dirty="0">
                <a:effectLst/>
                <a:ea typeface="Calibri" panose="020F0502020204030204" pitchFamily="34" charset="0"/>
              </a:rPr>
              <a:t>users</a:t>
            </a:r>
            <a:r>
              <a:rPr lang="en-US" sz="2000" spc="-10" dirty="0">
                <a:effectLst/>
                <a:ea typeface="Calibri" panose="020F0502020204030204" pitchFamily="34" charset="0"/>
              </a:rPr>
              <a:t> </a:t>
            </a:r>
            <a:r>
              <a:rPr lang="en-US" sz="2000" dirty="0">
                <a:effectLst/>
                <a:ea typeface="Calibri" panose="020F0502020204030204" pitchFamily="34" charset="0"/>
              </a:rPr>
              <a:t>who</a:t>
            </a:r>
            <a:r>
              <a:rPr lang="en-US" sz="2000" spc="-20" dirty="0">
                <a:effectLst/>
                <a:ea typeface="Calibri" panose="020F0502020204030204" pitchFamily="34" charset="0"/>
              </a:rPr>
              <a:t> </a:t>
            </a:r>
            <a:r>
              <a:rPr lang="en-US" sz="2000" dirty="0">
                <a:effectLst/>
                <a:ea typeface="Calibri" panose="020F0502020204030204" pitchFamily="34" charset="0"/>
              </a:rPr>
              <a:t>do</a:t>
            </a:r>
            <a:r>
              <a:rPr lang="en-US" sz="2000" spc="-20" dirty="0">
                <a:effectLst/>
                <a:ea typeface="Calibri" panose="020F0502020204030204" pitchFamily="34" charset="0"/>
              </a:rPr>
              <a:t> </a:t>
            </a:r>
            <a:r>
              <a:rPr lang="en-US" sz="2000" dirty="0">
                <a:effectLst/>
                <a:ea typeface="Calibri" panose="020F0502020204030204" pitchFamily="34" charset="0"/>
              </a:rPr>
              <a:t>data</a:t>
            </a:r>
            <a:r>
              <a:rPr lang="en-US" sz="2000" spc="10" dirty="0">
                <a:effectLst/>
                <a:ea typeface="Calibri" panose="020F0502020204030204" pitchFamily="34" charset="0"/>
              </a:rPr>
              <a:t> </a:t>
            </a:r>
            <a:r>
              <a:rPr lang="en-US" sz="2000" dirty="0">
                <a:effectLst/>
                <a:ea typeface="Calibri" panose="020F0502020204030204" pitchFamily="34" charset="0"/>
              </a:rPr>
              <a:t>entry</a:t>
            </a:r>
            <a:r>
              <a:rPr lang="en-US" sz="2000" spc="-5" dirty="0">
                <a:effectLst/>
                <a:ea typeface="Calibri" panose="020F0502020204030204" pitchFamily="34" charset="0"/>
              </a:rPr>
              <a:t> </a:t>
            </a:r>
            <a:r>
              <a:rPr lang="en-US" sz="2000" dirty="0">
                <a:effectLst/>
                <a:ea typeface="Calibri" panose="020F0502020204030204" pitchFamily="34" charset="0"/>
              </a:rPr>
              <a:t>work</a:t>
            </a:r>
            <a:r>
              <a:rPr lang="en-US" sz="2000" spc="-15" dirty="0">
                <a:effectLst/>
                <a:ea typeface="Calibri" panose="020F0502020204030204" pitchFamily="34" charset="0"/>
              </a:rPr>
              <a:t> </a:t>
            </a:r>
            <a:r>
              <a:rPr lang="en-US" sz="2000" dirty="0">
                <a:effectLst/>
                <a:ea typeface="Calibri" panose="020F0502020204030204" pitchFamily="34" charset="0"/>
              </a:rPr>
              <a:t>by</a:t>
            </a:r>
            <a:r>
              <a:rPr lang="en-US" sz="2000" spc="-10" dirty="0">
                <a:effectLst/>
                <a:ea typeface="Calibri" panose="020F0502020204030204" pitchFamily="34" charset="0"/>
              </a:rPr>
              <a:t> </a:t>
            </a:r>
            <a:r>
              <a:rPr lang="en-US" sz="2000" dirty="0">
                <a:effectLst/>
                <a:ea typeface="Calibri" panose="020F0502020204030204" pitchFamily="34" charset="0"/>
              </a:rPr>
              <a:t>supplying</a:t>
            </a:r>
            <a:r>
              <a:rPr lang="en-US" sz="2000" spc="-5" dirty="0">
                <a:effectLst/>
                <a:ea typeface="Calibri" panose="020F0502020204030204" pitchFamily="34" charset="0"/>
              </a:rPr>
              <a:t> </a:t>
            </a:r>
            <a:r>
              <a:rPr lang="en-US" sz="2000" dirty="0">
                <a:effectLst/>
                <a:ea typeface="Calibri" panose="020F0502020204030204" pitchFamily="34" charset="0"/>
              </a:rPr>
              <a:t>parameters</a:t>
            </a:r>
            <a:r>
              <a:rPr lang="en-US" sz="2000" spc="-15"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predefined</a:t>
            </a:r>
            <a:r>
              <a:rPr lang="en-US" sz="2000" spc="-10" dirty="0">
                <a:effectLst/>
                <a:ea typeface="Calibri" panose="020F0502020204030204" pitchFamily="34" charset="0"/>
              </a:rPr>
              <a:t> </a:t>
            </a:r>
            <a:r>
              <a:rPr lang="en-US" sz="2000" dirty="0">
                <a:effectLst/>
                <a:ea typeface="Calibri" panose="020F0502020204030204" pitchFamily="34" charset="0"/>
              </a:rPr>
              <a:t>transactions.</a:t>
            </a:r>
          </a:p>
          <a:p>
            <a:pPr marL="342900" marR="234315" lvl="0" indent="-342900" algn="just">
              <a:lnSpc>
                <a:spcPct val="150000"/>
              </a:lnSpc>
              <a:spcBef>
                <a:spcPts val="25"/>
              </a:spcBef>
              <a:buFont typeface="Wingdings" panose="05000000000000000000" pitchFamily="2" charset="2"/>
              <a:buChar char=""/>
              <a:tabLst>
                <a:tab pos="624840" algn="l"/>
              </a:tabLst>
            </a:pPr>
            <a:r>
              <a:rPr lang="en-US" sz="2000" dirty="0">
                <a:effectLst/>
                <a:ea typeface="Calibri" panose="020F0502020204030204" pitchFamily="34" charset="0"/>
              </a:rPr>
              <a:t>the</a:t>
            </a:r>
            <a:r>
              <a:rPr lang="en-US" sz="2000" spc="80" dirty="0">
                <a:effectLst/>
                <a:ea typeface="Calibri" panose="020F0502020204030204" pitchFamily="34" charset="0"/>
              </a:rPr>
              <a:t> </a:t>
            </a:r>
            <a:r>
              <a:rPr lang="en-US" sz="2000" dirty="0">
                <a:effectLst/>
                <a:ea typeface="Calibri" panose="020F0502020204030204" pitchFamily="34" charset="0"/>
              </a:rPr>
              <a:t>DBA</a:t>
            </a:r>
            <a:r>
              <a:rPr lang="en-US" sz="2000" spc="90" dirty="0">
                <a:effectLst/>
                <a:ea typeface="Calibri" panose="020F0502020204030204" pitchFamily="34" charset="0"/>
              </a:rPr>
              <a:t> </a:t>
            </a:r>
            <a:r>
              <a:rPr lang="en-US" sz="2000" dirty="0">
                <a:effectLst/>
                <a:ea typeface="Calibri" panose="020F0502020204030204" pitchFamily="34" charset="0"/>
              </a:rPr>
              <a:t>staff</a:t>
            </a:r>
            <a:r>
              <a:rPr lang="en-US" sz="2000" spc="80" dirty="0">
                <a:effectLst/>
                <a:ea typeface="Calibri" panose="020F0502020204030204" pitchFamily="34" charset="0"/>
              </a:rPr>
              <a:t> </a:t>
            </a:r>
            <a:r>
              <a:rPr lang="en-US" sz="2000" dirty="0">
                <a:effectLst/>
                <a:ea typeface="Calibri" panose="020F0502020204030204" pitchFamily="34" charset="0"/>
              </a:rPr>
              <a:t>works</a:t>
            </a:r>
            <a:r>
              <a:rPr lang="en-US" sz="2000" spc="110" dirty="0">
                <a:effectLst/>
                <a:ea typeface="Calibri" panose="020F0502020204030204" pitchFamily="34" charset="0"/>
              </a:rPr>
              <a:t> </a:t>
            </a:r>
            <a:r>
              <a:rPr lang="en-US" sz="2000" dirty="0">
                <a:effectLst/>
                <a:ea typeface="Calibri" panose="020F0502020204030204" pitchFamily="34" charset="0"/>
              </a:rPr>
              <a:t>on</a:t>
            </a:r>
            <a:r>
              <a:rPr lang="en-US" sz="2000" spc="80" dirty="0">
                <a:effectLst/>
                <a:ea typeface="Calibri" panose="020F0502020204030204" pitchFamily="34" charset="0"/>
              </a:rPr>
              <a:t> </a:t>
            </a:r>
            <a:r>
              <a:rPr lang="en-US" sz="2000" dirty="0">
                <a:effectLst/>
                <a:ea typeface="Calibri" panose="020F0502020204030204" pitchFamily="34" charset="0"/>
              </a:rPr>
              <a:t>defining</a:t>
            </a:r>
            <a:r>
              <a:rPr lang="en-US" sz="2000" spc="90" dirty="0">
                <a:effectLst/>
                <a:ea typeface="Calibri" panose="020F0502020204030204" pitchFamily="34" charset="0"/>
              </a:rPr>
              <a:t> </a:t>
            </a:r>
            <a:r>
              <a:rPr lang="en-US" sz="2000" dirty="0">
                <a:effectLst/>
                <a:ea typeface="Calibri" panose="020F0502020204030204" pitchFamily="34" charset="0"/>
              </a:rPr>
              <a:t>the</a:t>
            </a:r>
            <a:r>
              <a:rPr lang="en-US" sz="2000" spc="85" dirty="0">
                <a:effectLst/>
                <a:ea typeface="Calibri" panose="020F0502020204030204" pitchFamily="34" charset="0"/>
              </a:rPr>
              <a:t> </a:t>
            </a:r>
            <a:r>
              <a:rPr lang="en-US" sz="2000" dirty="0">
                <a:effectLst/>
                <a:ea typeface="Calibri" panose="020F0502020204030204" pitchFamily="34" charset="0"/>
              </a:rPr>
              <a:t>database</a:t>
            </a:r>
            <a:r>
              <a:rPr lang="en-US" sz="2000" spc="85" dirty="0">
                <a:effectLst/>
                <a:ea typeface="Calibri" panose="020F0502020204030204" pitchFamily="34" charset="0"/>
              </a:rPr>
              <a:t> </a:t>
            </a:r>
            <a:r>
              <a:rPr lang="en-US" sz="2000" dirty="0">
                <a:effectLst/>
                <a:ea typeface="Calibri" panose="020F0502020204030204" pitchFamily="34" charset="0"/>
              </a:rPr>
              <a:t>and</a:t>
            </a:r>
            <a:r>
              <a:rPr lang="en-US" sz="2000" spc="95" dirty="0">
                <a:effectLst/>
                <a:ea typeface="Calibri" panose="020F0502020204030204" pitchFamily="34" charset="0"/>
              </a:rPr>
              <a:t> </a:t>
            </a:r>
            <a:r>
              <a:rPr lang="en-US" sz="2000" dirty="0">
                <a:effectLst/>
                <a:ea typeface="Calibri" panose="020F0502020204030204" pitchFamily="34" charset="0"/>
              </a:rPr>
              <a:t>tuning</a:t>
            </a:r>
            <a:r>
              <a:rPr lang="en-US" sz="2000" spc="90" dirty="0">
                <a:effectLst/>
                <a:ea typeface="Calibri" panose="020F0502020204030204" pitchFamily="34" charset="0"/>
              </a:rPr>
              <a:t> </a:t>
            </a:r>
            <a:r>
              <a:rPr lang="en-US" sz="2000" dirty="0">
                <a:effectLst/>
                <a:ea typeface="Calibri" panose="020F0502020204030204" pitchFamily="34" charset="0"/>
              </a:rPr>
              <a:t>it</a:t>
            </a:r>
            <a:r>
              <a:rPr lang="en-US" sz="2000" spc="75" dirty="0">
                <a:effectLst/>
                <a:ea typeface="Calibri" panose="020F0502020204030204" pitchFamily="34" charset="0"/>
              </a:rPr>
              <a:t> </a:t>
            </a:r>
            <a:r>
              <a:rPr lang="en-US" sz="2000" dirty="0">
                <a:effectLst/>
                <a:ea typeface="Calibri" panose="020F0502020204030204" pitchFamily="34" charset="0"/>
              </a:rPr>
              <a:t>by</a:t>
            </a:r>
            <a:r>
              <a:rPr lang="en-US" sz="2000" spc="85" dirty="0">
                <a:effectLst/>
                <a:ea typeface="Calibri" panose="020F0502020204030204" pitchFamily="34" charset="0"/>
              </a:rPr>
              <a:t> </a:t>
            </a:r>
            <a:r>
              <a:rPr lang="en-US" sz="2000" dirty="0">
                <a:effectLst/>
                <a:ea typeface="Calibri" panose="020F0502020204030204" pitchFamily="34" charset="0"/>
              </a:rPr>
              <a:t>making</a:t>
            </a:r>
            <a:r>
              <a:rPr lang="en-US" sz="2000" spc="90" dirty="0">
                <a:effectLst/>
                <a:ea typeface="Calibri" panose="020F0502020204030204" pitchFamily="34" charset="0"/>
              </a:rPr>
              <a:t> </a:t>
            </a:r>
            <a:r>
              <a:rPr lang="en-US" sz="2000" dirty="0">
                <a:effectLst/>
                <a:ea typeface="Calibri" panose="020F0502020204030204" pitchFamily="34" charset="0"/>
              </a:rPr>
              <a:t>changes</a:t>
            </a:r>
            <a:r>
              <a:rPr lang="en-US" sz="2000" spc="90" dirty="0">
                <a:effectLst/>
                <a:ea typeface="Calibri" panose="020F0502020204030204" pitchFamily="34" charset="0"/>
              </a:rPr>
              <a:t> </a:t>
            </a:r>
            <a:r>
              <a:rPr lang="en-US" sz="2000" dirty="0">
                <a:effectLst/>
                <a:ea typeface="Calibri" panose="020F0502020204030204" pitchFamily="34" charset="0"/>
              </a:rPr>
              <a:t>to</a:t>
            </a:r>
            <a:r>
              <a:rPr lang="en-US" sz="2000" spc="75" dirty="0">
                <a:effectLst/>
                <a:ea typeface="Calibri" panose="020F0502020204030204" pitchFamily="34" charset="0"/>
              </a:rPr>
              <a:t> </a:t>
            </a:r>
            <a:r>
              <a:rPr lang="en-US" sz="2000" dirty="0">
                <a:effectLst/>
                <a:ea typeface="Calibri" panose="020F0502020204030204" pitchFamily="34" charset="0"/>
              </a:rPr>
              <a:t>its</a:t>
            </a:r>
            <a:r>
              <a:rPr lang="en-US" sz="2000" spc="85" dirty="0">
                <a:effectLst/>
                <a:ea typeface="Calibri" panose="020F0502020204030204" pitchFamily="34" charset="0"/>
              </a:rPr>
              <a:t> </a:t>
            </a:r>
            <a:r>
              <a:rPr lang="en-US" sz="2000" dirty="0">
                <a:effectLst/>
                <a:ea typeface="Calibri" panose="020F0502020204030204" pitchFamily="34" charset="0"/>
              </a:rPr>
              <a:t>definition</a:t>
            </a:r>
            <a:r>
              <a:rPr lang="en-US" sz="2000" spc="80" dirty="0">
                <a:effectLst/>
                <a:ea typeface="Calibri" panose="020F0502020204030204" pitchFamily="34" charset="0"/>
              </a:rPr>
              <a:t> </a:t>
            </a:r>
            <a:r>
              <a:rPr lang="en-US" sz="2000" dirty="0">
                <a:effectLst/>
                <a:ea typeface="Calibri" panose="020F0502020204030204" pitchFamily="34" charset="0"/>
              </a:rPr>
              <a:t>using</a:t>
            </a:r>
            <a:r>
              <a:rPr lang="en-US" sz="2000" spc="85" dirty="0">
                <a:effectLst/>
                <a:ea typeface="Calibri" panose="020F0502020204030204" pitchFamily="34" charset="0"/>
              </a:rPr>
              <a:t> </a:t>
            </a:r>
            <a:r>
              <a:rPr lang="en-US" sz="2000" dirty="0">
                <a:effectLst/>
                <a:ea typeface="Calibri" panose="020F0502020204030204" pitchFamily="34" charset="0"/>
              </a:rPr>
              <a:t>the</a:t>
            </a:r>
            <a:r>
              <a:rPr lang="en-US" sz="2000" spc="85" dirty="0">
                <a:effectLst/>
                <a:ea typeface="Calibri" panose="020F0502020204030204" pitchFamily="34" charset="0"/>
              </a:rPr>
              <a:t> </a:t>
            </a:r>
            <a:r>
              <a:rPr lang="en-US" sz="2000" dirty="0">
                <a:effectLst/>
                <a:ea typeface="Calibri" panose="020F0502020204030204" pitchFamily="34" charset="0"/>
              </a:rPr>
              <a:t>DDL</a:t>
            </a:r>
            <a:r>
              <a:rPr lang="en-US" sz="2000" spc="-230"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other</a:t>
            </a:r>
            <a:r>
              <a:rPr lang="en-US" sz="2000" spc="-10" dirty="0">
                <a:effectLst/>
                <a:ea typeface="Calibri" panose="020F0502020204030204" pitchFamily="34" charset="0"/>
              </a:rPr>
              <a:t> </a:t>
            </a:r>
            <a:r>
              <a:rPr lang="en-US" sz="2000" dirty="0">
                <a:effectLst/>
                <a:ea typeface="Calibri" panose="020F0502020204030204" pitchFamily="34" charset="0"/>
              </a:rPr>
              <a:t>privileged</a:t>
            </a:r>
            <a:r>
              <a:rPr lang="en-US" sz="2000" spc="-10" dirty="0">
                <a:effectLst/>
                <a:ea typeface="Calibri" panose="020F0502020204030204" pitchFamily="34" charset="0"/>
              </a:rPr>
              <a:t> </a:t>
            </a:r>
            <a:r>
              <a:rPr lang="en-US" sz="2000" dirty="0">
                <a:effectLst/>
                <a:ea typeface="Calibri" panose="020F0502020204030204" pitchFamily="34" charset="0"/>
              </a:rPr>
              <a:t>commands</a:t>
            </a:r>
          </a:p>
          <a:p>
            <a:pPr marL="342900" indent="-342900" algn="just">
              <a:buFont typeface="Arial" panose="020B0604020202020204" pitchFamily="34" charset="0"/>
              <a:buChar char="•"/>
            </a:pPr>
            <a:endParaRPr lang="en-US" sz="2000" dirty="0">
              <a:effectLst/>
              <a:ea typeface="Calibri" panose="020F0502020204030204" pitchFamily="34" charset="0"/>
            </a:endParaRPr>
          </a:p>
          <a:p>
            <a:pPr algn="just"/>
            <a:endParaRPr lang="en-US" dirty="0"/>
          </a:p>
        </p:txBody>
      </p:sp>
    </p:spTree>
    <p:extLst>
      <p:ext uri="{BB962C8B-B14F-4D97-AF65-F5344CB8AC3E}">
        <p14:creationId xmlns:p14="http://schemas.microsoft.com/office/powerpoint/2010/main" val="35036536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80E872-AE03-CD2C-9669-92646018CCEC}"/>
              </a:ext>
            </a:extLst>
          </p:cNvPr>
          <p:cNvSpPr txBox="1"/>
          <p:nvPr/>
        </p:nvSpPr>
        <p:spPr>
          <a:xfrm>
            <a:off x="232475" y="356461"/>
            <a:ext cx="11608230" cy="5663089"/>
          </a:xfrm>
          <a:prstGeom prst="rect">
            <a:avLst/>
          </a:prstGeom>
          <a:noFill/>
        </p:spPr>
        <p:txBody>
          <a:bodyPr wrap="square" rtlCol="0">
            <a:spAutoFit/>
          </a:bodyPr>
          <a:lstStyle/>
          <a:p>
            <a:pPr marL="139700" marR="0" algn="just">
              <a:spcBef>
                <a:spcPts val="10"/>
              </a:spcBef>
              <a:buNone/>
            </a:pPr>
            <a:r>
              <a:rPr lang="en-US" sz="2200" b="1" dirty="0">
                <a:effectLst/>
                <a:ea typeface="Calibri" panose="020F0502020204030204" pitchFamily="34" charset="0"/>
              </a:rPr>
              <a:t>DBA</a:t>
            </a:r>
            <a:r>
              <a:rPr lang="en-US" sz="2200" b="1" spc="-15" dirty="0">
                <a:effectLst/>
                <a:ea typeface="Calibri" panose="020F0502020204030204" pitchFamily="34" charset="0"/>
              </a:rPr>
              <a:t> </a:t>
            </a:r>
            <a:r>
              <a:rPr lang="en-US" sz="2200" b="1" dirty="0">
                <a:effectLst/>
                <a:ea typeface="Calibri" panose="020F0502020204030204" pitchFamily="34" charset="0"/>
              </a:rPr>
              <a:t>staff:</a:t>
            </a:r>
          </a:p>
          <a:p>
            <a:pPr marL="342900" marR="222250" lvl="0" indent="-342900" algn="just">
              <a:buFont typeface="Wingdings" panose="05000000000000000000" pitchFamily="2" charset="2"/>
              <a:buChar char=""/>
              <a:tabLst>
                <a:tab pos="597535" algn="l"/>
              </a:tabLst>
            </a:pPr>
            <a:r>
              <a:rPr lang="en-US" sz="2000" dirty="0">
                <a:effectLst/>
                <a:ea typeface="Calibri" panose="020F0502020204030204" pitchFamily="34" charset="0"/>
              </a:rPr>
              <a:t>The</a:t>
            </a:r>
            <a:r>
              <a:rPr lang="en-US" sz="2000" spc="120" dirty="0">
                <a:effectLst/>
                <a:ea typeface="Calibri" panose="020F0502020204030204" pitchFamily="34" charset="0"/>
              </a:rPr>
              <a:t> </a:t>
            </a:r>
            <a:r>
              <a:rPr lang="en-US" sz="2000" dirty="0">
                <a:effectLst/>
                <a:ea typeface="Calibri" panose="020F0502020204030204" pitchFamily="34" charset="0"/>
              </a:rPr>
              <a:t>DDL</a:t>
            </a:r>
            <a:r>
              <a:rPr lang="en-US" sz="2000" spc="115" dirty="0">
                <a:effectLst/>
                <a:ea typeface="Calibri" panose="020F0502020204030204" pitchFamily="34" charset="0"/>
              </a:rPr>
              <a:t> </a:t>
            </a:r>
            <a:r>
              <a:rPr lang="en-US" sz="2000" dirty="0">
                <a:effectLst/>
                <a:ea typeface="Calibri" panose="020F0502020204030204" pitchFamily="34" charset="0"/>
              </a:rPr>
              <a:t>compiler</a:t>
            </a:r>
            <a:r>
              <a:rPr lang="en-US" sz="2000" spc="120" dirty="0">
                <a:effectLst/>
                <a:ea typeface="Calibri" panose="020F0502020204030204" pitchFamily="34" charset="0"/>
              </a:rPr>
              <a:t> </a:t>
            </a:r>
            <a:r>
              <a:rPr lang="en-US" sz="2000" dirty="0">
                <a:effectLst/>
                <a:ea typeface="Calibri" panose="020F0502020204030204" pitchFamily="34" charset="0"/>
              </a:rPr>
              <a:t>processes</a:t>
            </a:r>
            <a:r>
              <a:rPr lang="en-US" sz="2000" spc="100" dirty="0">
                <a:effectLst/>
                <a:ea typeface="Calibri" panose="020F0502020204030204" pitchFamily="34" charset="0"/>
              </a:rPr>
              <a:t> </a:t>
            </a:r>
            <a:r>
              <a:rPr lang="en-US" sz="2000" dirty="0">
                <a:effectLst/>
                <a:ea typeface="Calibri" panose="020F0502020204030204" pitchFamily="34" charset="0"/>
              </a:rPr>
              <a:t>schema</a:t>
            </a:r>
            <a:r>
              <a:rPr lang="en-US" sz="2000" spc="100" dirty="0">
                <a:effectLst/>
                <a:ea typeface="Calibri" panose="020F0502020204030204" pitchFamily="34" charset="0"/>
              </a:rPr>
              <a:t> </a:t>
            </a:r>
            <a:r>
              <a:rPr lang="en-US" sz="2000" dirty="0">
                <a:effectLst/>
                <a:ea typeface="Calibri" panose="020F0502020204030204" pitchFamily="34" charset="0"/>
              </a:rPr>
              <a:t>definitions,</a:t>
            </a:r>
            <a:r>
              <a:rPr lang="en-US" sz="2000" spc="110" dirty="0">
                <a:effectLst/>
                <a:ea typeface="Calibri" panose="020F0502020204030204" pitchFamily="34" charset="0"/>
              </a:rPr>
              <a:t> </a:t>
            </a:r>
            <a:r>
              <a:rPr lang="en-US" sz="2000" dirty="0">
                <a:effectLst/>
                <a:ea typeface="Calibri" panose="020F0502020204030204" pitchFamily="34" charset="0"/>
              </a:rPr>
              <a:t>specified</a:t>
            </a:r>
            <a:r>
              <a:rPr lang="en-US" sz="2000" spc="95" dirty="0">
                <a:effectLst/>
                <a:ea typeface="Calibri" panose="020F0502020204030204" pitchFamily="34" charset="0"/>
              </a:rPr>
              <a:t> </a:t>
            </a:r>
            <a:r>
              <a:rPr lang="en-US" sz="2000" dirty="0">
                <a:effectLst/>
                <a:ea typeface="Calibri" panose="020F0502020204030204" pitchFamily="34" charset="0"/>
              </a:rPr>
              <a:t>in</a:t>
            </a:r>
            <a:r>
              <a:rPr lang="en-US" sz="2000" spc="115" dirty="0">
                <a:effectLst/>
                <a:ea typeface="Calibri" panose="020F0502020204030204" pitchFamily="34" charset="0"/>
              </a:rPr>
              <a:t> </a:t>
            </a:r>
            <a:r>
              <a:rPr lang="en-US" sz="2000" dirty="0">
                <a:effectLst/>
                <a:ea typeface="Calibri" panose="020F0502020204030204" pitchFamily="34" charset="0"/>
              </a:rPr>
              <a:t>the</a:t>
            </a:r>
            <a:r>
              <a:rPr lang="en-US" sz="2000" spc="100" dirty="0">
                <a:effectLst/>
                <a:ea typeface="Calibri" panose="020F0502020204030204" pitchFamily="34" charset="0"/>
              </a:rPr>
              <a:t> </a:t>
            </a:r>
            <a:r>
              <a:rPr lang="en-US" sz="2000" dirty="0">
                <a:effectLst/>
                <a:ea typeface="Calibri" panose="020F0502020204030204" pitchFamily="34" charset="0"/>
              </a:rPr>
              <a:t>DDL,</a:t>
            </a:r>
            <a:r>
              <a:rPr lang="en-US" sz="2000" spc="110" dirty="0">
                <a:effectLst/>
                <a:ea typeface="Calibri" panose="020F0502020204030204" pitchFamily="34" charset="0"/>
              </a:rPr>
              <a:t> </a:t>
            </a:r>
            <a:r>
              <a:rPr lang="en-US" sz="2000" dirty="0">
                <a:effectLst/>
                <a:ea typeface="Calibri" panose="020F0502020204030204" pitchFamily="34" charset="0"/>
              </a:rPr>
              <a:t>and</a:t>
            </a:r>
            <a:r>
              <a:rPr lang="en-US" sz="2000" spc="115" dirty="0">
                <a:effectLst/>
                <a:ea typeface="Calibri" panose="020F0502020204030204" pitchFamily="34" charset="0"/>
              </a:rPr>
              <a:t> </a:t>
            </a:r>
            <a:r>
              <a:rPr lang="en-US" sz="2000" dirty="0">
                <a:effectLst/>
                <a:ea typeface="Calibri" panose="020F0502020204030204" pitchFamily="34" charset="0"/>
              </a:rPr>
              <a:t>stores</a:t>
            </a:r>
            <a:r>
              <a:rPr lang="en-US" sz="2000" spc="155" dirty="0">
                <a:effectLst/>
                <a:ea typeface="Calibri" panose="020F0502020204030204" pitchFamily="34" charset="0"/>
              </a:rPr>
              <a:t> </a:t>
            </a:r>
            <a:r>
              <a:rPr lang="en-US" sz="2000" dirty="0">
                <a:effectLst/>
                <a:ea typeface="Calibri" panose="020F0502020204030204" pitchFamily="34" charset="0"/>
              </a:rPr>
              <a:t>descriptions</a:t>
            </a:r>
            <a:r>
              <a:rPr lang="en-US" sz="2000" spc="120" dirty="0">
                <a:effectLst/>
                <a:ea typeface="Calibri" panose="020F0502020204030204" pitchFamily="34" charset="0"/>
              </a:rPr>
              <a:t> </a:t>
            </a:r>
            <a:r>
              <a:rPr lang="en-US" sz="2000" dirty="0">
                <a:effectLst/>
                <a:ea typeface="Calibri" panose="020F0502020204030204" pitchFamily="34" charset="0"/>
              </a:rPr>
              <a:t>of</a:t>
            </a:r>
            <a:r>
              <a:rPr lang="en-US" sz="2000" spc="120" dirty="0">
                <a:effectLst/>
                <a:ea typeface="Calibri" panose="020F0502020204030204" pitchFamily="34" charset="0"/>
              </a:rPr>
              <a:t> </a:t>
            </a:r>
            <a:r>
              <a:rPr lang="en-US" sz="2000" dirty="0">
                <a:effectLst/>
                <a:ea typeface="Calibri" panose="020F0502020204030204" pitchFamily="34" charset="0"/>
              </a:rPr>
              <a:t>the</a:t>
            </a:r>
            <a:r>
              <a:rPr lang="en-US" sz="2000" spc="95" dirty="0">
                <a:effectLst/>
                <a:ea typeface="Calibri" panose="020F0502020204030204" pitchFamily="34" charset="0"/>
              </a:rPr>
              <a:t> </a:t>
            </a:r>
            <a:r>
              <a:rPr lang="en-US" sz="2000" dirty="0">
                <a:effectLst/>
                <a:ea typeface="Calibri" panose="020F0502020204030204" pitchFamily="34" charset="0"/>
              </a:rPr>
              <a:t>schemas</a:t>
            </a:r>
            <a:r>
              <a:rPr lang="en-US" sz="2000" spc="-230" dirty="0">
                <a:effectLst/>
                <a:ea typeface="Calibri" panose="020F0502020204030204" pitchFamily="34" charset="0"/>
              </a:rPr>
              <a:t> </a:t>
            </a:r>
            <a:r>
              <a:rPr lang="en-US" sz="2000" dirty="0">
                <a:effectLst/>
                <a:ea typeface="Calibri" panose="020F0502020204030204" pitchFamily="34" charset="0"/>
              </a:rPr>
              <a:t>(meta-data)</a:t>
            </a:r>
            <a:r>
              <a:rPr lang="en-US" sz="2000" spc="-15" dirty="0">
                <a:effectLst/>
                <a:ea typeface="Calibri" panose="020F0502020204030204" pitchFamily="34" charset="0"/>
              </a:rPr>
              <a:t> </a:t>
            </a:r>
            <a:r>
              <a:rPr lang="en-US" sz="2000" dirty="0">
                <a:effectLst/>
                <a:ea typeface="Calibri" panose="020F0502020204030204" pitchFamily="34" charset="0"/>
              </a:rPr>
              <a:t>in</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DBMS</a:t>
            </a:r>
            <a:r>
              <a:rPr lang="en-US" sz="2000" spc="10" dirty="0">
                <a:effectLst/>
                <a:ea typeface="Calibri" panose="020F0502020204030204" pitchFamily="34" charset="0"/>
              </a:rPr>
              <a:t> </a:t>
            </a:r>
            <a:r>
              <a:rPr lang="en-US" sz="2000" dirty="0">
                <a:effectLst/>
                <a:ea typeface="Calibri" panose="020F0502020204030204" pitchFamily="34" charset="0"/>
              </a:rPr>
              <a:t>catalog</a:t>
            </a:r>
          </a:p>
          <a:p>
            <a:pPr marL="342900" marR="228600" lvl="0" indent="-342900" algn="just">
              <a:spcBef>
                <a:spcPts val="10"/>
              </a:spcBef>
              <a:buFont typeface="Wingdings" panose="05000000000000000000" pitchFamily="2" charset="2"/>
              <a:buChar char=""/>
              <a:tabLst>
                <a:tab pos="597535" algn="l"/>
              </a:tabLst>
            </a:pPr>
            <a:r>
              <a:rPr lang="en-US" sz="2000" dirty="0">
                <a:effectLst/>
                <a:ea typeface="Calibri" panose="020F0502020204030204" pitchFamily="34" charset="0"/>
              </a:rPr>
              <a:t>The</a:t>
            </a:r>
            <a:r>
              <a:rPr lang="en-US" sz="2000" spc="150" dirty="0">
                <a:effectLst/>
                <a:ea typeface="Calibri" panose="020F0502020204030204" pitchFamily="34" charset="0"/>
              </a:rPr>
              <a:t> </a:t>
            </a:r>
            <a:r>
              <a:rPr lang="en-US" sz="2000" dirty="0">
                <a:effectLst/>
                <a:ea typeface="Calibri" panose="020F0502020204030204" pitchFamily="34" charset="0"/>
              </a:rPr>
              <a:t>catalog</a:t>
            </a:r>
            <a:r>
              <a:rPr lang="en-US" sz="2000" spc="160" dirty="0">
                <a:effectLst/>
                <a:ea typeface="Calibri" panose="020F0502020204030204" pitchFamily="34" charset="0"/>
              </a:rPr>
              <a:t> </a:t>
            </a:r>
            <a:r>
              <a:rPr lang="en-US" sz="2000" dirty="0">
                <a:effectLst/>
                <a:ea typeface="Calibri" panose="020F0502020204030204" pitchFamily="34" charset="0"/>
              </a:rPr>
              <a:t>includes</a:t>
            </a:r>
            <a:r>
              <a:rPr lang="en-US" sz="2000" spc="155" dirty="0">
                <a:effectLst/>
                <a:ea typeface="Calibri" panose="020F0502020204030204" pitchFamily="34" charset="0"/>
              </a:rPr>
              <a:t> </a:t>
            </a:r>
            <a:r>
              <a:rPr lang="en-US" sz="2000" dirty="0">
                <a:effectLst/>
                <a:ea typeface="Calibri" panose="020F0502020204030204" pitchFamily="34" charset="0"/>
              </a:rPr>
              <a:t>information</a:t>
            </a:r>
            <a:r>
              <a:rPr lang="en-US" sz="2000" spc="150" dirty="0">
                <a:effectLst/>
                <a:ea typeface="Calibri" panose="020F0502020204030204" pitchFamily="34" charset="0"/>
              </a:rPr>
              <a:t> </a:t>
            </a:r>
            <a:r>
              <a:rPr lang="en-US" sz="2000" dirty="0">
                <a:effectLst/>
                <a:ea typeface="Calibri" panose="020F0502020204030204" pitchFamily="34" charset="0"/>
              </a:rPr>
              <a:t>such</a:t>
            </a:r>
            <a:r>
              <a:rPr lang="en-US" sz="2000" spc="150" dirty="0">
                <a:effectLst/>
                <a:ea typeface="Calibri" panose="020F0502020204030204" pitchFamily="34" charset="0"/>
              </a:rPr>
              <a:t> </a:t>
            </a:r>
            <a:r>
              <a:rPr lang="en-US" sz="2000" dirty="0">
                <a:effectLst/>
                <a:ea typeface="Calibri" panose="020F0502020204030204" pitchFamily="34" charset="0"/>
              </a:rPr>
              <a:t>as</a:t>
            </a:r>
            <a:r>
              <a:rPr lang="en-US" sz="2000" spc="175" dirty="0">
                <a:effectLst/>
                <a:ea typeface="Calibri" panose="020F0502020204030204" pitchFamily="34" charset="0"/>
              </a:rPr>
              <a:t> </a:t>
            </a:r>
            <a:r>
              <a:rPr lang="en-US" sz="2000" dirty="0">
                <a:effectLst/>
                <a:ea typeface="Calibri" panose="020F0502020204030204" pitchFamily="34" charset="0"/>
              </a:rPr>
              <a:t>the</a:t>
            </a:r>
            <a:r>
              <a:rPr lang="en-US" sz="2000" spc="155" dirty="0">
                <a:effectLst/>
                <a:ea typeface="Calibri" panose="020F0502020204030204" pitchFamily="34" charset="0"/>
              </a:rPr>
              <a:t> </a:t>
            </a:r>
            <a:r>
              <a:rPr lang="en-US" sz="2000" dirty="0">
                <a:effectLst/>
                <a:ea typeface="Calibri" panose="020F0502020204030204" pitchFamily="34" charset="0"/>
              </a:rPr>
              <a:t>names</a:t>
            </a:r>
            <a:r>
              <a:rPr lang="en-US" sz="2000" spc="180" dirty="0">
                <a:effectLst/>
                <a:ea typeface="Calibri" panose="020F0502020204030204" pitchFamily="34" charset="0"/>
              </a:rPr>
              <a:t> </a:t>
            </a:r>
            <a:r>
              <a:rPr lang="en-US" sz="2000" dirty="0">
                <a:effectLst/>
                <a:ea typeface="Calibri" panose="020F0502020204030204" pitchFamily="34" charset="0"/>
              </a:rPr>
              <a:t>and</a:t>
            </a:r>
            <a:r>
              <a:rPr lang="en-US" sz="2000" spc="145" dirty="0">
                <a:effectLst/>
                <a:ea typeface="Calibri" panose="020F0502020204030204" pitchFamily="34" charset="0"/>
              </a:rPr>
              <a:t> </a:t>
            </a:r>
            <a:r>
              <a:rPr lang="en-US" sz="2000" dirty="0">
                <a:effectLst/>
                <a:ea typeface="Calibri" panose="020F0502020204030204" pitchFamily="34" charset="0"/>
              </a:rPr>
              <a:t>sizes</a:t>
            </a:r>
            <a:r>
              <a:rPr lang="en-US" sz="2000" spc="155" dirty="0">
                <a:effectLst/>
                <a:ea typeface="Calibri" panose="020F0502020204030204" pitchFamily="34" charset="0"/>
              </a:rPr>
              <a:t> </a:t>
            </a:r>
            <a:r>
              <a:rPr lang="en-US" sz="2000" dirty="0">
                <a:effectLst/>
                <a:ea typeface="Calibri" panose="020F0502020204030204" pitchFamily="34" charset="0"/>
              </a:rPr>
              <a:t>of</a:t>
            </a:r>
            <a:r>
              <a:rPr lang="en-US" sz="2000" spc="150" dirty="0">
                <a:effectLst/>
                <a:ea typeface="Calibri" panose="020F0502020204030204" pitchFamily="34" charset="0"/>
              </a:rPr>
              <a:t> </a:t>
            </a:r>
            <a:r>
              <a:rPr lang="en-US" sz="2000" dirty="0">
                <a:effectLst/>
                <a:ea typeface="Calibri" panose="020F0502020204030204" pitchFamily="34" charset="0"/>
              </a:rPr>
              <a:t>files,</a:t>
            </a:r>
            <a:r>
              <a:rPr lang="en-US" sz="2000" spc="145" dirty="0">
                <a:effectLst/>
                <a:ea typeface="Calibri" panose="020F0502020204030204" pitchFamily="34" charset="0"/>
              </a:rPr>
              <a:t> </a:t>
            </a:r>
            <a:r>
              <a:rPr lang="en-US" sz="2000" dirty="0">
                <a:effectLst/>
                <a:ea typeface="Calibri" panose="020F0502020204030204" pitchFamily="34" charset="0"/>
              </a:rPr>
              <a:t>names</a:t>
            </a:r>
            <a:r>
              <a:rPr lang="en-US" sz="2000" spc="155" dirty="0">
                <a:effectLst/>
                <a:ea typeface="Calibri" panose="020F0502020204030204" pitchFamily="34" charset="0"/>
              </a:rPr>
              <a:t> </a:t>
            </a:r>
            <a:r>
              <a:rPr lang="en-US" sz="2000" dirty="0">
                <a:effectLst/>
                <a:ea typeface="Calibri" panose="020F0502020204030204" pitchFamily="34" charset="0"/>
              </a:rPr>
              <a:t>and</a:t>
            </a:r>
            <a:r>
              <a:rPr lang="en-US" sz="2000" spc="150" dirty="0">
                <a:effectLst/>
                <a:ea typeface="Calibri" panose="020F0502020204030204" pitchFamily="34" charset="0"/>
              </a:rPr>
              <a:t> </a:t>
            </a:r>
            <a:r>
              <a:rPr lang="en-US" sz="2000" dirty="0">
                <a:effectLst/>
                <a:ea typeface="Calibri" panose="020F0502020204030204" pitchFamily="34" charset="0"/>
              </a:rPr>
              <a:t>data</a:t>
            </a:r>
            <a:r>
              <a:rPr lang="en-US" sz="2000" spc="175" dirty="0">
                <a:effectLst/>
                <a:ea typeface="Calibri" panose="020F0502020204030204" pitchFamily="34" charset="0"/>
              </a:rPr>
              <a:t> </a:t>
            </a:r>
            <a:r>
              <a:rPr lang="en-US" sz="2000" dirty="0">
                <a:effectLst/>
                <a:ea typeface="Calibri" panose="020F0502020204030204" pitchFamily="34" charset="0"/>
              </a:rPr>
              <a:t>types</a:t>
            </a:r>
            <a:r>
              <a:rPr lang="en-US" sz="2000" spc="155" dirty="0">
                <a:effectLst/>
                <a:ea typeface="Calibri" panose="020F0502020204030204" pitchFamily="34" charset="0"/>
              </a:rPr>
              <a:t> </a:t>
            </a:r>
            <a:r>
              <a:rPr lang="en-US" sz="2000" dirty="0">
                <a:effectLst/>
                <a:ea typeface="Calibri" panose="020F0502020204030204" pitchFamily="34" charset="0"/>
              </a:rPr>
              <a:t>of</a:t>
            </a:r>
            <a:r>
              <a:rPr lang="en-US" sz="2000" spc="175" dirty="0">
                <a:effectLst/>
                <a:ea typeface="Calibri" panose="020F0502020204030204" pitchFamily="34" charset="0"/>
              </a:rPr>
              <a:t> </a:t>
            </a:r>
            <a:r>
              <a:rPr lang="en-US" sz="2000" dirty="0">
                <a:effectLst/>
                <a:ea typeface="Calibri" panose="020F0502020204030204" pitchFamily="34" charset="0"/>
              </a:rPr>
              <a:t>data</a:t>
            </a:r>
            <a:r>
              <a:rPr lang="en-US" sz="2000" spc="145" dirty="0">
                <a:effectLst/>
                <a:ea typeface="Calibri" panose="020F0502020204030204" pitchFamily="34" charset="0"/>
              </a:rPr>
              <a:t> </a:t>
            </a:r>
            <a:r>
              <a:rPr lang="en-US" sz="2000" dirty="0">
                <a:effectLst/>
                <a:ea typeface="Calibri" panose="020F0502020204030204" pitchFamily="34" charset="0"/>
              </a:rPr>
              <a:t>items,</a:t>
            </a:r>
            <a:r>
              <a:rPr lang="en-US" sz="2000" spc="-230" dirty="0">
                <a:effectLst/>
                <a:ea typeface="Calibri" panose="020F0502020204030204" pitchFamily="34" charset="0"/>
              </a:rPr>
              <a:t> </a:t>
            </a:r>
            <a:r>
              <a:rPr lang="en-US" sz="2000" dirty="0">
                <a:effectLst/>
                <a:ea typeface="Calibri" panose="020F0502020204030204" pitchFamily="34" charset="0"/>
              </a:rPr>
              <a:t>storage</a:t>
            </a:r>
            <a:r>
              <a:rPr lang="en-US" sz="2000" spc="-15" dirty="0">
                <a:effectLst/>
                <a:ea typeface="Calibri" panose="020F0502020204030204" pitchFamily="34" charset="0"/>
              </a:rPr>
              <a:t> </a:t>
            </a:r>
            <a:r>
              <a:rPr lang="en-US" sz="2000" dirty="0">
                <a:effectLst/>
                <a:ea typeface="Calibri" panose="020F0502020204030204" pitchFamily="34" charset="0"/>
              </a:rPr>
              <a:t>details</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each</a:t>
            </a:r>
            <a:r>
              <a:rPr lang="en-US" sz="2000" spc="-15" dirty="0">
                <a:effectLst/>
                <a:ea typeface="Calibri" panose="020F0502020204030204" pitchFamily="34" charset="0"/>
              </a:rPr>
              <a:t> </a:t>
            </a:r>
            <a:r>
              <a:rPr lang="en-US" sz="2000" dirty="0">
                <a:effectLst/>
                <a:ea typeface="Calibri" panose="020F0502020204030204" pitchFamily="34" charset="0"/>
              </a:rPr>
              <a:t>file,</a:t>
            </a:r>
            <a:r>
              <a:rPr lang="en-US" sz="2000" spc="-20" dirty="0">
                <a:effectLst/>
                <a:ea typeface="Calibri" panose="020F0502020204030204" pitchFamily="34" charset="0"/>
              </a:rPr>
              <a:t> </a:t>
            </a:r>
            <a:r>
              <a:rPr lang="en-US" sz="2000" dirty="0">
                <a:effectLst/>
                <a:ea typeface="Calibri" panose="020F0502020204030204" pitchFamily="34" charset="0"/>
              </a:rPr>
              <a:t>mapping</a:t>
            </a:r>
            <a:r>
              <a:rPr lang="en-US" sz="2000" spc="-10" dirty="0">
                <a:effectLst/>
                <a:ea typeface="Calibri" panose="020F0502020204030204" pitchFamily="34" charset="0"/>
              </a:rPr>
              <a:t> </a:t>
            </a:r>
            <a:r>
              <a:rPr lang="en-US" sz="2000" dirty="0">
                <a:effectLst/>
                <a:ea typeface="Calibri" panose="020F0502020204030204" pitchFamily="34" charset="0"/>
              </a:rPr>
              <a:t>information</a:t>
            </a:r>
            <a:r>
              <a:rPr lang="en-US" sz="2000" spc="-15" dirty="0">
                <a:effectLst/>
                <a:ea typeface="Calibri" panose="020F0502020204030204" pitchFamily="34" charset="0"/>
              </a:rPr>
              <a:t> </a:t>
            </a:r>
            <a:r>
              <a:rPr lang="en-US" sz="2000" dirty="0">
                <a:effectLst/>
                <a:ea typeface="Calibri" panose="020F0502020204030204" pitchFamily="34" charset="0"/>
              </a:rPr>
              <a:t>among</a:t>
            </a:r>
            <a:r>
              <a:rPr lang="en-US" sz="2000" spc="-5" dirty="0">
                <a:effectLst/>
                <a:ea typeface="Calibri" panose="020F0502020204030204" pitchFamily="34" charset="0"/>
              </a:rPr>
              <a:t> </a:t>
            </a:r>
            <a:r>
              <a:rPr lang="en-US" sz="2000" dirty="0">
                <a:effectLst/>
                <a:ea typeface="Calibri" panose="020F0502020204030204" pitchFamily="34" charset="0"/>
              </a:rPr>
              <a:t>schemas,</a:t>
            </a:r>
            <a:r>
              <a:rPr lang="en-US" sz="2000" spc="-25"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constraints.</a:t>
            </a:r>
          </a:p>
          <a:p>
            <a:pPr marL="342900" marR="228600" lvl="0" indent="-342900" algn="just">
              <a:spcBef>
                <a:spcPts val="10"/>
              </a:spcBef>
              <a:buFont typeface="Wingdings" panose="05000000000000000000" pitchFamily="2" charset="2"/>
              <a:buChar char=""/>
              <a:tabLst>
                <a:tab pos="597535" algn="l"/>
              </a:tabLst>
            </a:pPr>
            <a:endParaRPr lang="en-US" sz="2000" dirty="0">
              <a:ea typeface="Calibri" panose="020F0502020204030204" pitchFamily="34" charset="0"/>
            </a:endParaRPr>
          </a:p>
          <a:p>
            <a:pPr marL="139700" marR="0" algn="just">
              <a:buNone/>
            </a:pPr>
            <a:r>
              <a:rPr lang="en-US" sz="2200" b="1" dirty="0">
                <a:effectLst/>
                <a:ea typeface="Calibri" panose="020F0502020204030204" pitchFamily="34" charset="0"/>
              </a:rPr>
              <a:t>Casual</a:t>
            </a:r>
            <a:r>
              <a:rPr lang="en-US" sz="2200" b="1" spc="-10" dirty="0">
                <a:effectLst/>
                <a:ea typeface="Calibri" panose="020F0502020204030204" pitchFamily="34" charset="0"/>
              </a:rPr>
              <a:t> </a:t>
            </a:r>
            <a:r>
              <a:rPr lang="en-US" sz="2200" b="1" dirty="0">
                <a:effectLst/>
                <a:ea typeface="Calibri" panose="020F0502020204030204" pitchFamily="34" charset="0"/>
              </a:rPr>
              <a:t>users:</a:t>
            </a:r>
          </a:p>
          <a:p>
            <a:pPr marL="342900" marR="0" lvl="0" indent="-342900" algn="just">
              <a:spcBef>
                <a:spcPts val="5"/>
              </a:spcBef>
              <a:buFont typeface="Wingdings" panose="05000000000000000000" pitchFamily="2" charset="2"/>
              <a:buChar char=""/>
              <a:tabLst>
                <a:tab pos="597535" algn="l"/>
              </a:tabLst>
            </a:pPr>
            <a:r>
              <a:rPr lang="en-US" sz="2000" dirty="0">
                <a:effectLst/>
                <a:ea typeface="Calibri" panose="020F0502020204030204" pitchFamily="34" charset="0"/>
              </a:rPr>
              <a:t>interact</a:t>
            </a:r>
            <a:r>
              <a:rPr lang="en-US" sz="2000" spc="-25" dirty="0">
                <a:effectLst/>
                <a:ea typeface="Calibri" panose="020F0502020204030204" pitchFamily="34" charset="0"/>
              </a:rPr>
              <a:t> </a:t>
            </a:r>
            <a:r>
              <a:rPr lang="en-US" sz="2000" dirty="0">
                <a:effectLst/>
                <a:ea typeface="Calibri" panose="020F0502020204030204" pitchFamily="34" charset="0"/>
              </a:rPr>
              <a:t>using</a:t>
            </a:r>
            <a:r>
              <a:rPr lang="en-US" sz="2000" spc="-10" dirty="0">
                <a:effectLst/>
                <a:ea typeface="Calibri" panose="020F0502020204030204" pitchFamily="34" charset="0"/>
              </a:rPr>
              <a:t> </a:t>
            </a:r>
            <a:r>
              <a:rPr lang="en-US" sz="2000" dirty="0">
                <a:effectLst/>
                <a:ea typeface="Calibri" panose="020F0502020204030204" pitchFamily="34" charset="0"/>
              </a:rPr>
              <a:t>some</a:t>
            </a:r>
            <a:r>
              <a:rPr lang="en-US" sz="2000" spc="-15" dirty="0">
                <a:effectLst/>
                <a:ea typeface="Calibri" panose="020F0502020204030204" pitchFamily="34" charset="0"/>
              </a:rPr>
              <a:t> </a:t>
            </a:r>
            <a:r>
              <a:rPr lang="en-US" sz="2000" dirty="0">
                <a:effectLst/>
                <a:ea typeface="Calibri" panose="020F0502020204030204" pitchFamily="34" charset="0"/>
              </a:rPr>
              <a:t>form</a:t>
            </a:r>
            <a:r>
              <a:rPr lang="en-US" sz="2000" spc="-15" dirty="0">
                <a:effectLst/>
                <a:ea typeface="Calibri" panose="020F0502020204030204" pitchFamily="34" charset="0"/>
              </a:rPr>
              <a:t> </a:t>
            </a:r>
            <a:r>
              <a:rPr lang="en-US" sz="2000" dirty="0">
                <a:effectLst/>
                <a:ea typeface="Calibri" panose="020F0502020204030204" pitchFamily="34" charset="0"/>
              </a:rPr>
              <a:t>of</a:t>
            </a:r>
            <a:r>
              <a:rPr lang="en-US" sz="2000" spc="-15" dirty="0">
                <a:effectLst/>
                <a:ea typeface="Calibri" panose="020F0502020204030204" pitchFamily="34" charset="0"/>
              </a:rPr>
              <a:t> </a:t>
            </a:r>
            <a:r>
              <a:rPr lang="en-US" sz="2000" dirty="0">
                <a:effectLst/>
                <a:ea typeface="Calibri" panose="020F0502020204030204" pitchFamily="34" charset="0"/>
              </a:rPr>
              <a:t>interface,</a:t>
            </a:r>
            <a:r>
              <a:rPr lang="en-US" sz="2000" spc="-20" dirty="0">
                <a:effectLst/>
                <a:ea typeface="Calibri" panose="020F0502020204030204" pitchFamily="34" charset="0"/>
              </a:rPr>
              <a:t> </a:t>
            </a:r>
            <a:r>
              <a:rPr lang="en-US" sz="2000" dirty="0">
                <a:effectLst/>
                <a:ea typeface="Calibri" panose="020F0502020204030204" pitchFamily="34" charset="0"/>
              </a:rPr>
              <a:t>which we</a:t>
            </a:r>
            <a:r>
              <a:rPr lang="en-US" sz="2000" spc="-15" dirty="0">
                <a:effectLst/>
                <a:ea typeface="Calibri" panose="020F0502020204030204" pitchFamily="34" charset="0"/>
              </a:rPr>
              <a:t> </a:t>
            </a:r>
            <a:r>
              <a:rPr lang="en-US" sz="2000" dirty="0">
                <a:effectLst/>
                <a:ea typeface="Calibri" panose="020F0502020204030204" pitchFamily="34" charset="0"/>
              </a:rPr>
              <a:t>call</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interactive</a:t>
            </a:r>
            <a:r>
              <a:rPr lang="en-US" sz="2000" spc="-15" dirty="0">
                <a:effectLst/>
                <a:ea typeface="Calibri" panose="020F0502020204030204" pitchFamily="34" charset="0"/>
              </a:rPr>
              <a:t> </a:t>
            </a:r>
            <a:r>
              <a:rPr lang="en-US" sz="2000" dirty="0">
                <a:effectLst/>
                <a:ea typeface="Calibri" panose="020F0502020204030204" pitchFamily="34" charset="0"/>
              </a:rPr>
              <a:t>query</a:t>
            </a:r>
            <a:r>
              <a:rPr lang="en-US" sz="2000" spc="-10" dirty="0">
                <a:effectLst/>
                <a:ea typeface="Calibri" panose="020F0502020204030204" pitchFamily="34" charset="0"/>
              </a:rPr>
              <a:t> </a:t>
            </a:r>
            <a:r>
              <a:rPr lang="en-US" sz="2000" dirty="0">
                <a:effectLst/>
                <a:ea typeface="Calibri" panose="020F0502020204030204" pitchFamily="34" charset="0"/>
              </a:rPr>
              <a:t>interface</a:t>
            </a:r>
          </a:p>
          <a:p>
            <a:pPr marL="342900" marR="227965" lvl="0" indent="-342900" algn="just">
              <a:buFont typeface="Wingdings" panose="05000000000000000000" pitchFamily="2" charset="2"/>
              <a:buChar char=""/>
              <a:tabLst>
                <a:tab pos="597535" algn="l"/>
              </a:tabLst>
            </a:pPr>
            <a:r>
              <a:rPr lang="en-US" sz="2000" dirty="0">
                <a:effectLst/>
                <a:ea typeface="Calibri" panose="020F0502020204030204" pitchFamily="34" charset="0"/>
              </a:rPr>
              <a:t>queries</a:t>
            </a:r>
            <a:r>
              <a:rPr lang="en-US" sz="2000" spc="55" dirty="0">
                <a:effectLst/>
                <a:ea typeface="Calibri" panose="020F0502020204030204" pitchFamily="34" charset="0"/>
              </a:rPr>
              <a:t> </a:t>
            </a:r>
            <a:r>
              <a:rPr lang="en-US" sz="2000" dirty="0">
                <a:effectLst/>
                <a:ea typeface="Calibri" panose="020F0502020204030204" pitchFamily="34" charset="0"/>
              </a:rPr>
              <a:t>are</a:t>
            </a:r>
            <a:r>
              <a:rPr lang="en-US" sz="2000" spc="25" dirty="0">
                <a:effectLst/>
                <a:ea typeface="Calibri" panose="020F0502020204030204" pitchFamily="34" charset="0"/>
              </a:rPr>
              <a:t> </a:t>
            </a:r>
            <a:r>
              <a:rPr lang="en-US" sz="2000" dirty="0">
                <a:effectLst/>
                <a:ea typeface="Calibri" panose="020F0502020204030204" pitchFamily="34" charset="0"/>
              </a:rPr>
              <a:t>parsed</a:t>
            </a:r>
            <a:r>
              <a:rPr lang="en-US" sz="2000" spc="45" dirty="0">
                <a:effectLst/>
                <a:ea typeface="Calibri" panose="020F0502020204030204" pitchFamily="34" charset="0"/>
              </a:rPr>
              <a:t> </a:t>
            </a:r>
            <a:r>
              <a:rPr lang="en-US" sz="2000" dirty="0">
                <a:effectLst/>
                <a:ea typeface="Calibri" panose="020F0502020204030204" pitchFamily="34" charset="0"/>
              </a:rPr>
              <a:t>and</a:t>
            </a:r>
            <a:r>
              <a:rPr lang="en-US" sz="2000" spc="25" dirty="0">
                <a:effectLst/>
                <a:ea typeface="Calibri" panose="020F0502020204030204" pitchFamily="34" charset="0"/>
              </a:rPr>
              <a:t> </a:t>
            </a:r>
            <a:r>
              <a:rPr lang="en-US" sz="2000" dirty="0">
                <a:effectLst/>
                <a:ea typeface="Calibri" panose="020F0502020204030204" pitchFamily="34" charset="0"/>
              </a:rPr>
              <a:t>validated</a:t>
            </a:r>
            <a:r>
              <a:rPr lang="en-US" sz="2000" spc="50" dirty="0">
                <a:effectLst/>
                <a:ea typeface="Calibri" panose="020F0502020204030204" pitchFamily="34" charset="0"/>
              </a:rPr>
              <a:t> </a:t>
            </a:r>
            <a:r>
              <a:rPr lang="en-US" sz="2000" dirty="0">
                <a:effectLst/>
                <a:ea typeface="Calibri" panose="020F0502020204030204" pitchFamily="34" charset="0"/>
              </a:rPr>
              <a:t>for</a:t>
            </a:r>
            <a:r>
              <a:rPr lang="en-US" sz="2000" spc="50" dirty="0">
                <a:effectLst/>
                <a:ea typeface="Calibri" panose="020F0502020204030204" pitchFamily="34" charset="0"/>
              </a:rPr>
              <a:t> </a:t>
            </a:r>
            <a:r>
              <a:rPr lang="en-US" sz="2000" dirty="0">
                <a:effectLst/>
                <a:ea typeface="Calibri" panose="020F0502020204030204" pitchFamily="34" charset="0"/>
              </a:rPr>
              <a:t>correctness</a:t>
            </a:r>
            <a:r>
              <a:rPr lang="en-US" sz="2000" spc="55" dirty="0">
                <a:effectLst/>
                <a:ea typeface="Calibri" panose="020F0502020204030204" pitchFamily="34" charset="0"/>
              </a:rPr>
              <a:t> </a:t>
            </a:r>
            <a:r>
              <a:rPr lang="en-US" sz="2000" dirty="0">
                <a:effectLst/>
                <a:ea typeface="Calibri" panose="020F0502020204030204" pitchFamily="34" charset="0"/>
              </a:rPr>
              <a:t>of</a:t>
            </a:r>
            <a:r>
              <a:rPr lang="en-US" sz="2000" spc="50" dirty="0">
                <a:effectLst/>
                <a:ea typeface="Calibri" panose="020F0502020204030204" pitchFamily="34" charset="0"/>
              </a:rPr>
              <a:t> </a:t>
            </a:r>
            <a:r>
              <a:rPr lang="en-US" sz="2000" dirty="0">
                <a:effectLst/>
                <a:ea typeface="Calibri" panose="020F0502020204030204" pitchFamily="34" charset="0"/>
              </a:rPr>
              <a:t>the</a:t>
            </a:r>
            <a:r>
              <a:rPr lang="en-US" sz="2000" spc="60" dirty="0">
                <a:effectLst/>
                <a:ea typeface="Calibri" panose="020F0502020204030204" pitchFamily="34" charset="0"/>
              </a:rPr>
              <a:t> </a:t>
            </a:r>
            <a:r>
              <a:rPr lang="en-US" sz="2000" dirty="0">
                <a:effectLst/>
                <a:ea typeface="Calibri" panose="020F0502020204030204" pitchFamily="34" charset="0"/>
              </a:rPr>
              <a:t>query</a:t>
            </a:r>
            <a:r>
              <a:rPr lang="en-US" sz="2000" spc="55" dirty="0">
                <a:effectLst/>
                <a:ea typeface="Calibri" panose="020F0502020204030204" pitchFamily="34" charset="0"/>
              </a:rPr>
              <a:t> </a:t>
            </a:r>
            <a:r>
              <a:rPr lang="en-US" sz="2000" dirty="0">
                <a:effectLst/>
                <a:ea typeface="Calibri" panose="020F0502020204030204" pitchFamily="34" charset="0"/>
              </a:rPr>
              <a:t>syntax,</a:t>
            </a:r>
            <a:r>
              <a:rPr lang="en-US" sz="2000" spc="40" dirty="0">
                <a:effectLst/>
                <a:ea typeface="Calibri" panose="020F0502020204030204" pitchFamily="34" charset="0"/>
              </a:rPr>
              <a:t> </a:t>
            </a:r>
            <a:r>
              <a:rPr lang="en-US" sz="2000" dirty="0">
                <a:effectLst/>
                <a:ea typeface="Calibri" panose="020F0502020204030204" pitchFamily="34" charset="0"/>
              </a:rPr>
              <a:t>the</a:t>
            </a:r>
            <a:r>
              <a:rPr lang="en-US" sz="2000" spc="55" dirty="0">
                <a:effectLst/>
                <a:ea typeface="Calibri" panose="020F0502020204030204" pitchFamily="34" charset="0"/>
              </a:rPr>
              <a:t> </a:t>
            </a:r>
            <a:r>
              <a:rPr lang="en-US" sz="2000" dirty="0">
                <a:effectLst/>
                <a:ea typeface="Calibri" panose="020F0502020204030204" pitchFamily="34" charset="0"/>
              </a:rPr>
              <a:t>names</a:t>
            </a:r>
            <a:r>
              <a:rPr lang="en-US" sz="2000" spc="55" dirty="0">
                <a:effectLst/>
                <a:ea typeface="Calibri" panose="020F0502020204030204" pitchFamily="34" charset="0"/>
              </a:rPr>
              <a:t> </a:t>
            </a:r>
            <a:r>
              <a:rPr lang="en-US" sz="2000" dirty="0">
                <a:effectLst/>
                <a:ea typeface="Calibri" panose="020F0502020204030204" pitchFamily="34" charset="0"/>
              </a:rPr>
              <a:t>of</a:t>
            </a:r>
            <a:r>
              <a:rPr lang="en-US" sz="2000" spc="55" dirty="0">
                <a:effectLst/>
                <a:ea typeface="Calibri" panose="020F0502020204030204" pitchFamily="34" charset="0"/>
              </a:rPr>
              <a:t> </a:t>
            </a:r>
            <a:r>
              <a:rPr lang="en-US" sz="2000" dirty="0">
                <a:effectLst/>
                <a:ea typeface="Calibri" panose="020F0502020204030204" pitchFamily="34" charset="0"/>
              </a:rPr>
              <a:t>files</a:t>
            </a:r>
            <a:r>
              <a:rPr lang="en-US" sz="2000" spc="55" dirty="0">
                <a:effectLst/>
                <a:ea typeface="Calibri" panose="020F0502020204030204" pitchFamily="34" charset="0"/>
              </a:rPr>
              <a:t> </a:t>
            </a:r>
            <a:r>
              <a:rPr lang="en-US" sz="2000" dirty="0">
                <a:effectLst/>
                <a:ea typeface="Calibri" panose="020F0502020204030204" pitchFamily="34" charset="0"/>
              </a:rPr>
              <a:t>and data</a:t>
            </a:r>
            <a:r>
              <a:rPr lang="en-US" sz="2000" spc="50" dirty="0">
                <a:effectLst/>
                <a:ea typeface="Calibri" panose="020F0502020204030204" pitchFamily="34" charset="0"/>
              </a:rPr>
              <a:t> </a:t>
            </a:r>
            <a:r>
              <a:rPr lang="en-US" sz="2000" dirty="0">
                <a:effectLst/>
                <a:ea typeface="Calibri" panose="020F0502020204030204" pitchFamily="34" charset="0"/>
              </a:rPr>
              <a:t>elements,</a:t>
            </a:r>
            <a:r>
              <a:rPr lang="en-US" sz="2000" spc="15" dirty="0">
                <a:effectLst/>
                <a:ea typeface="Calibri" panose="020F0502020204030204" pitchFamily="34" charset="0"/>
              </a:rPr>
              <a:t> </a:t>
            </a:r>
            <a:r>
              <a:rPr lang="en-US" sz="2000" dirty="0">
                <a:effectLst/>
                <a:ea typeface="Calibri" panose="020F0502020204030204" pitchFamily="34" charset="0"/>
              </a:rPr>
              <a:t>and </a:t>
            </a:r>
            <a:r>
              <a:rPr lang="en-US" sz="2000" spc="-230" dirty="0">
                <a:effectLst/>
                <a:ea typeface="Calibri" panose="020F0502020204030204" pitchFamily="34" charset="0"/>
              </a:rPr>
              <a:t> </a:t>
            </a:r>
            <a:r>
              <a:rPr lang="en-US" sz="2000" dirty="0">
                <a:effectLst/>
                <a:ea typeface="Calibri" panose="020F0502020204030204" pitchFamily="34" charset="0"/>
              </a:rPr>
              <a:t>so</a:t>
            </a:r>
            <a:r>
              <a:rPr lang="en-US" sz="2000" spc="-20" dirty="0">
                <a:effectLst/>
                <a:ea typeface="Calibri" panose="020F0502020204030204" pitchFamily="34" charset="0"/>
              </a:rPr>
              <a:t> </a:t>
            </a:r>
            <a:r>
              <a:rPr lang="en-US" sz="2000" dirty="0">
                <a:effectLst/>
                <a:ea typeface="Calibri" panose="020F0502020204030204" pitchFamily="34" charset="0"/>
              </a:rPr>
              <a:t>on</a:t>
            </a:r>
            <a:r>
              <a:rPr lang="en-US" sz="2000" spc="-15" dirty="0">
                <a:effectLst/>
                <a:ea typeface="Calibri" panose="020F0502020204030204" pitchFamily="34" charset="0"/>
              </a:rPr>
              <a:t> </a:t>
            </a:r>
            <a:r>
              <a:rPr lang="en-US" sz="2000" dirty="0">
                <a:effectLst/>
                <a:ea typeface="Calibri" panose="020F0502020204030204" pitchFamily="34" charset="0"/>
              </a:rPr>
              <a:t>by</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query</a:t>
            </a:r>
            <a:r>
              <a:rPr lang="en-US" sz="2000" spc="-10" dirty="0">
                <a:effectLst/>
                <a:ea typeface="Calibri" panose="020F0502020204030204" pitchFamily="34" charset="0"/>
              </a:rPr>
              <a:t> </a:t>
            </a:r>
            <a:r>
              <a:rPr lang="en-US" sz="2000" dirty="0">
                <a:effectLst/>
                <a:ea typeface="Calibri" panose="020F0502020204030204" pitchFamily="34" charset="0"/>
              </a:rPr>
              <a:t>compiler</a:t>
            </a:r>
            <a:r>
              <a:rPr lang="en-US" sz="2000" spc="-10" dirty="0">
                <a:effectLst/>
                <a:ea typeface="Calibri" panose="020F0502020204030204" pitchFamily="34" charset="0"/>
              </a:rPr>
              <a:t> </a:t>
            </a:r>
            <a:r>
              <a:rPr lang="en-US" sz="2000" dirty="0">
                <a:effectLst/>
                <a:ea typeface="Calibri" panose="020F0502020204030204" pitchFamily="34" charset="0"/>
              </a:rPr>
              <a:t>that</a:t>
            </a:r>
            <a:r>
              <a:rPr lang="en-US" sz="2000" spc="-25" dirty="0">
                <a:effectLst/>
                <a:ea typeface="Calibri" panose="020F0502020204030204" pitchFamily="34" charset="0"/>
              </a:rPr>
              <a:t> </a:t>
            </a:r>
            <a:r>
              <a:rPr lang="en-US" sz="2000" dirty="0">
                <a:effectLst/>
                <a:ea typeface="Calibri" panose="020F0502020204030204" pitchFamily="34" charset="0"/>
              </a:rPr>
              <a:t>compiles</a:t>
            </a:r>
            <a:r>
              <a:rPr lang="en-US" sz="2000" spc="-5" dirty="0">
                <a:effectLst/>
                <a:ea typeface="Calibri" panose="020F0502020204030204" pitchFamily="34" charset="0"/>
              </a:rPr>
              <a:t> </a:t>
            </a:r>
            <a:r>
              <a:rPr lang="en-US" sz="2000" dirty="0">
                <a:effectLst/>
                <a:ea typeface="Calibri" panose="020F0502020204030204" pitchFamily="34" charset="0"/>
              </a:rPr>
              <a:t>them</a:t>
            </a:r>
            <a:r>
              <a:rPr lang="en-US" sz="2000" spc="-5" dirty="0">
                <a:effectLst/>
                <a:ea typeface="Calibri" panose="020F0502020204030204" pitchFamily="34" charset="0"/>
              </a:rPr>
              <a:t> </a:t>
            </a:r>
            <a:r>
              <a:rPr lang="en-US" sz="2000" dirty="0">
                <a:effectLst/>
                <a:ea typeface="Calibri" panose="020F0502020204030204" pitchFamily="34" charset="0"/>
              </a:rPr>
              <a:t>into</a:t>
            </a:r>
            <a:r>
              <a:rPr lang="en-US" sz="2000" spc="-15" dirty="0">
                <a:effectLst/>
                <a:ea typeface="Calibri" panose="020F0502020204030204" pitchFamily="34" charset="0"/>
              </a:rPr>
              <a:t> </a:t>
            </a:r>
            <a:r>
              <a:rPr lang="en-US" sz="2000" dirty="0">
                <a:effectLst/>
                <a:ea typeface="Calibri" panose="020F0502020204030204" pitchFamily="34" charset="0"/>
              </a:rPr>
              <a:t>an</a:t>
            </a:r>
            <a:r>
              <a:rPr lang="en-US" sz="2000" spc="5" dirty="0">
                <a:effectLst/>
                <a:ea typeface="Calibri" panose="020F0502020204030204" pitchFamily="34" charset="0"/>
              </a:rPr>
              <a:t> </a:t>
            </a:r>
            <a:r>
              <a:rPr lang="en-US" sz="2000" dirty="0">
                <a:effectLst/>
                <a:ea typeface="Calibri" panose="020F0502020204030204" pitchFamily="34" charset="0"/>
              </a:rPr>
              <a:t>internal form</a:t>
            </a:r>
          </a:p>
          <a:p>
            <a:pPr marL="342900" marR="0" lvl="0" indent="-342900" algn="just">
              <a:spcBef>
                <a:spcPts val="5"/>
              </a:spcBef>
              <a:buFont typeface="Wingdings" panose="05000000000000000000" pitchFamily="2" charset="2"/>
              <a:buChar char=""/>
              <a:tabLst>
                <a:tab pos="597535" algn="l"/>
              </a:tabLst>
            </a:pPr>
            <a:r>
              <a:rPr lang="en-US" sz="2000" dirty="0">
                <a:effectLst/>
                <a:ea typeface="Calibri" panose="020F0502020204030204" pitchFamily="34" charset="0"/>
              </a:rPr>
              <a:t>This</a:t>
            </a:r>
            <a:r>
              <a:rPr lang="en-US" sz="2000" spc="-20" dirty="0">
                <a:effectLst/>
                <a:ea typeface="Calibri" panose="020F0502020204030204" pitchFamily="34" charset="0"/>
              </a:rPr>
              <a:t> </a:t>
            </a:r>
            <a:r>
              <a:rPr lang="en-US" sz="2000" dirty="0">
                <a:effectLst/>
                <a:ea typeface="Calibri" panose="020F0502020204030204" pitchFamily="34" charset="0"/>
              </a:rPr>
              <a:t>internal</a:t>
            </a:r>
            <a:r>
              <a:rPr lang="en-US" sz="2000" spc="-5" dirty="0">
                <a:effectLst/>
                <a:ea typeface="Calibri" panose="020F0502020204030204" pitchFamily="34" charset="0"/>
              </a:rPr>
              <a:t> </a:t>
            </a:r>
            <a:r>
              <a:rPr lang="en-US" sz="2000" dirty="0">
                <a:effectLst/>
                <a:ea typeface="Calibri" panose="020F0502020204030204" pitchFamily="34" charset="0"/>
              </a:rPr>
              <a:t>query</a:t>
            </a:r>
            <a:r>
              <a:rPr lang="en-US" sz="2000" spc="-15" dirty="0">
                <a:effectLst/>
                <a:ea typeface="Calibri" panose="020F0502020204030204" pitchFamily="34" charset="0"/>
              </a:rPr>
              <a:t> </a:t>
            </a:r>
            <a:r>
              <a:rPr lang="en-US" sz="2000" dirty="0">
                <a:effectLst/>
                <a:ea typeface="Calibri" panose="020F0502020204030204" pitchFamily="34" charset="0"/>
              </a:rPr>
              <a:t>is</a:t>
            </a:r>
            <a:r>
              <a:rPr lang="en-US" sz="2000" spc="-15" dirty="0">
                <a:effectLst/>
                <a:ea typeface="Calibri" panose="020F0502020204030204" pitchFamily="34" charset="0"/>
              </a:rPr>
              <a:t> </a:t>
            </a:r>
            <a:r>
              <a:rPr lang="en-US" sz="2000" dirty="0">
                <a:effectLst/>
                <a:ea typeface="Calibri" panose="020F0502020204030204" pitchFamily="34" charset="0"/>
              </a:rPr>
              <a:t>subjected</a:t>
            </a:r>
            <a:r>
              <a:rPr lang="en-US" sz="2000" spc="-15" dirty="0">
                <a:effectLst/>
                <a:ea typeface="Calibri" panose="020F0502020204030204" pitchFamily="34" charset="0"/>
              </a:rPr>
              <a:t> </a:t>
            </a:r>
            <a:r>
              <a:rPr lang="en-US" sz="2000" dirty="0">
                <a:effectLst/>
                <a:ea typeface="Calibri" panose="020F0502020204030204" pitchFamily="34" charset="0"/>
              </a:rPr>
              <a:t>to</a:t>
            </a:r>
            <a:r>
              <a:rPr lang="en-US" sz="2000" spc="-20" dirty="0">
                <a:effectLst/>
                <a:ea typeface="Calibri" panose="020F0502020204030204" pitchFamily="34" charset="0"/>
              </a:rPr>
              <a:t> </a:t>
            </a:r>
            <a:r>
              <a:rPr lang="en-US" sz="2000" dirty="0">
                <a:effectLst/>
                <a:ea typeface="Calibri" panose="020F0502020204030204" pitchFamily="34" charset="0"/>
              </a:rPr>
              <a:t>query</a:t>
            </a:r>
            <a:r>
              <a:rPr lang="en-US" sz="2000" spc="-15" dirty="0">
                <a:effectLst/>
                <a:ea typeface="Calibri" panose="020F0502020204030204" pitchFamily="34" charset="0"/>
              </a:rPr>
              <a:t> </a:t>
            </a:r>
            <a:r>
              <a:rPr lang="en-US" sz="2000" dirty="0">
                <a:effectLst/>
                <a:ea typeface="Calibri" panose="020F0502020204030204" pitchFamily="34" charset="0"/>
              </a:rPr>
              <a:t>optimization</a:t>
            </a:r>
          </a:p>
          <a:p>
            <a:pPr marL="342900" marR="228600" lvl="0" indent="-342900" algn="just">
              <a:buFont typeface="Wingdings" panose="05000000000000000000" pitchFamily="2" charset="2"/>
              <a:buChar char=""/>
              <a:tabLst>
                <a:tab pos="597535" algn="l"/>
              </a:tabLst>
            </a:pPr>
            <a:r>
              <a:rPr lang="en-US" sz="2000" b="1" dirty="0">
                <a:effectLst/>
                <a:ea typeface="Calibri" panose="020F0502020204030204" pitchFamily="34" charset="0"/>
              </a:rPr>
              <a:t>query</a:t>
            </a:r>
            <a:r>
              <a:rPr lang="en-US" sz="2000" b="1" spc="175" dirty="0">
                <a:effectLst/>
                <a:ea typeface="Calibri" panose="020F0502020204030204" pitchFamily="34" charset="0"/>
              </a:rPr>
              <a:t> </a:t>
            </a:r>
            <a:r>
              <a:rPr lang="en-US" sz="2000" b="1" dirty="0">
                <a:effectLst/>
                <a:ea typeface="Calibri" panose="020F0502020204030204" pitchFamily="34" charset="0"/>
              </a:rPr>
              <a:t>optimizer</a:t>
            </a:r>
            <a:r>
              <a:rPr lang="en-US" sz="2000" b="1" spc="175" dirty="0">
                <a:effectLst/>
                <a:ea typeface="Calibri" panose="020F0502020204030204" pitchFamily="34" charset="0"/>
              </a:rPr>
              <a:t> </a:t>
            </a:r>
            <a:r>
              <a:rPr lang="en-US" sz="2000" dirty="0">
                <a:effectLst/>
                <a:ea typeface="Calibri" panose="020F0502020204030204" pitchFamily="34" charset="0"/>
              </a:rPr>
              <a:t>is</a:t>
            </a:r>
            <a:r>
              <a:rPr lang="en-US" sz="2000" spc="170" dirty="0">
                <a:effectLst/>
                <a:ea typeface="Calibri" panose="020F0502020204030204" pitchFamily="34" charset="0"/>
              </a:rPr>
              <a:t> </a:t>
            </a:r>
            <a:r>
              <a:rPr lang="en-US" sz="2000" dirty="0">
                <a:effectLst/>
                <a:ea typeface="Calibri" panose="020F0502020204030204" pitchFamily="34" charset="0"/>
              </a:rPr>
              <a:t>concerned</a:t>
            </a:r>
            <a:r>
              <a:rPr lang="en-US" sz="2000" spc="165" dirty="0">
                <a:effectLst/>
                <a:ea typeface="Calibri" panose="020F0502020204030204" pitchFamily="34" charset="0"/>
              </a:rPr>
              <a:t> </a:t>
            </a:r>
            <a:r>
              <a:rPr lang="en-US" sz="2000" dirty="0">
                <a:effectLst/>
                <a:ea typeface="Calibri" panose="020F0502020204030204" pitchFamily="34" charset="0"/>
              </a:rPr>
              <a:t>with</a:t>
            </a:r>
            <a:r>
              <a:rPr lang="en-US" sz="2000" spc="165" dirty="0">
                <a:effectLst/>
                <a:ea typeface="Calibri" panose="020F0502020204030204" pitchFamily="34" charset="0"/>
              </a:rPr>
              <a:t> </a:t>
            </a:r>
            <a:r>
              <a:rPr lang="en-US" sz="2000" dirty="0">
                <a:effectLst/>
                <a:ea typeface="Calibri" panose="020F0502020204030204" pitchFamily="34" charset="0"/>
              </a:rPr>
              <a:t>the</a:t>
            </a:r>
            <a:r>
              <a:rPr lang="en-US" sz="2000" spc="175" dirty="0">
                <a:effectLst/>
                <a:ea typeface="Calibri" panose="020F0502020204030204" pitchFamily="34" charset="0"/>
              </a:rPr>
              <a:t> </a:t>
            </a:r>
            <a:r>
              <a:rPr lang="en-US" sz="2000" dirty="0">
                <a:effectLst/>
                <a:ea typeface="Calibri" panose="020F0502020204030204" pitchFamily="34" charset="0"/>
              </a:rPr>
              <a:t>rearrangement</a:t>
            </a:r>
            <a:r>
              <a:rPr lang="en-US" sz="2000" spc="165" dirty="0">
                <a:effectLst/>
                <a:ea typeface="Calibri" panose="020F0502020204030204" pitchFamily="34" charset="0"/>
              </a:rPr>
              <a:t> </a:t>
            </a:r>
            <a:r>
              <a:rPr lang="en-US" sz="2000" dirty="0">
                <a:effectLst/>
                <a:ea typeface="Calibri" panose="020F0502020204030204" pitchFamily="34" charset="0"/>
              </a:rPr>
              <a:t>and</a:t>
            </a:r>
            <a:r>
              <a:rPr lang="en-US" sz="2000" spc="165" dirty="0">
                <a:effectLst/>
                <a:ea typeface="Calibri" panose="020F0502020204030204" pitchFamily="34" charset="0"/>
              </a:rPr>
              <a:t> </a:t>
            </a:r>
            <a:r>
              <a:rPr lang="en-US" sz="2000" dirty="0">
                <a:effectLst/>
                <a:ea typeface="Calibri" panose="020F0502020204030204" pitchFamily="34" charset="0"/>
              </a:rPr>
              <a:t>possible</a:t>
            </a:r>
            <a:r>
              <a:rPr lang="en-US" sz="2000" spc="175" dirty="0">
                <a:effectLst/>
                <a:ea typeface="Calibri" panose="020F0502020204030204" pitchFamily="34" charset="0"/>
              </a:rPr>
              <a:t> </a:t>
            </a:r>
            <a:r>
              <a:rPr lang="en-US" sz="2000" dirty="0">
                <a:effectLst/>
                <a:ea typeface="Calibri" panose="020F0502020204030204" pitchFamily="34" charset="0"/>
              </a:rPr>
              <a:t>reordering</a:t>
            </a:r>
            <a:r>
              <a:rPr lang="en-US" sz="2000" spc="180" dirty="0">
                <a:effectLst/>
                <a:ea typeface="Calibri" panose="020F0502020204030204" pitchFamily="34" charset="0"/>
              </a:rPr>
              <a:t> </a:t>
            </a:r>
            <a:r>
              <a:rPr lang="en-US" sz="2000" dirty="0">
                <a:effectLst/>
                <a:ea typeface="Calibri" panose="020F0502020204030204" pitchFamily="34" charset="0"/>
              </a:rPr>
              <a:t>of</a:t>
            </a:r>
            <a:r>
              <a:rPr lang="en-US" sz="2000" spc="170" dirty="0">
                <a:effectLst/>
                <a:ea typeface="Calibri" panose="020F0502020204030204" pitchFamily="34" charset="0"/>
              </a:rPr>
              <a:t> </a:t>
            </a:r>
            <a:r>
              <a:rPr lang="en-US" sz="2000" dirty="0">
                <a:effectLst/>
                <a:ea typeface="Calibri" panose="020F0502020204030204" pitchFamily="34" charset="0"/>
              </a:rPr>
              <a:t>operations,</a:t>
            </a:r>
            <a:r>
              <a:rPr lang="en-US" sz="2000" spc="160" dirty="0">
                <a:effectLst/>
                <a:ea typeface="Calibri" panose="020F0502020204030204" pitchFamily="34" charset="0"/>
              </a:rPr>
              <a:t> </a:t>
            </a:r>
            <a:r>
              <a:rPr lang="en-US" sz="2000" dirty="0">
                <a:effectLst/>
                <a:ea typeface="Calibri" panose="020F0502020204030204" pitchFamily="34" charset="0"/>
              </a:rPr>
              <a:t>elimination</a:t>
            </a:r>
            <a:r>
              <a:rPr lang="en-US" sz="2000" spc="165" dirty="0">
                <a:effectLst/>
                <a:ea typeface="Calibri" panose="020F0502020204030204" pitchFamily="34" charset="0"/>
              </a:rPr>
              <a:t> </a:t>
            </a:r>
            <a:r>
              <a:rPr lang="en-US" sz="2000" dirty="0">
                <a:effectLst/>
                <a:ea typeface="Calibri" panose="020F0502020204030204" pitchFamily="34" charset="0"/>
              </a:rPr>
              <a:t>of</a:t>
            </a:r>
            <a:r>
              <a:rPr lang="en-US" sz="2000" spc="-230" dirty="0">
                <a:effectLst/>
                <a:ea typeface="Calibri" panose="020F0502020204030204" pitchFamily="34" charset="0"/>
              </a:rPr>
              <a:t> </a:t>
            </a:r>
            <a:r>
              <a:rPr lang="en-US" sz="2000" dirty="0">
                <a:effectLst/>
                <a:ea typeface="Calibri" panose="020F0502020204030204" pitchFamily="34" charset="0"/>
              </a:rPr>
              <a:t>redundancies,</a:t>
            </a:r>
            <a:r>
              <a:rPr lang="en-US" sz="2000" spc="-25"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use</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correct</a:t>
            </a:r>
            <a:r>
              <a:rPr lang="en-US" sz="2000" spc="-20" dirty="0">
                <a:effectLst/>
                <a:ea typeface="Calibri" panose="020F0502020204030204" pitchFamily="34" charset="0"/>
              </a:rPr>
              <a:t> </a:t>
            </a:r>
            <a:r>
              <a:rPr lang="en-US" sz="2000" dirty="0">
                <a:effectLst/>
                <a:ea typeface="Calibri" panose="020F0502020204030204" pitchFamily="34" charset="0"/>
              </a:rPr>
              <a:t>algorithms</a:t>
            </a:r>
            <a:r>
              <a:rPr lang="en-US" sz="2000" spc="-10"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indexes</a:t>
            </a:r>
            <a:r>
              <a:rPr lang="en-US" sz="2000" spc="-5" dirty="0">
                <a:effectLst/>
                <a:ea typeface="Calibri" panose="020F0502020204030204" pitchFamily="34" charset="0"/>
              </a:rPr>
              <a:t> </a:t>
            </a:r>
            <a:r>
              <a:rPr lang="en-US" sz="2000" dirty="0">
                <a:effectLst/>
                <a:ea typeface="Calibri" panose="020F0502020204030204" pitchFamily="34" charset="0"/>
              </a:rPr>
              <a:t>during</a:t>
            </a:r>
            <a:r>
              <a:rPr lang="en-US" sz="2000" spc="-5" dirty="0">
                <a:effectLst/>
                <a:ea typeface="Calibri" panose="020F0502020204030204" pitchFamily="34" charset="0"/>
              </a:rPr>
              <a:t> </a:t>
            </a:r>
            <a:r>
              <a:rPr lang="en-US" sz="2000" dirty="0">
                <a:effectLst/>
                <a:ea typeface="Calibri" panose="020F0502020204030204" pitchFamily="34" charset="0"/>
              </a:rPr>
              <a:t>execution.</a:t>
            </a:r>
          </a:p>
          <a:p>
            <a:pPr marL="342900" marR="234315" lvl="0" indent="-342900" algn="just">
              <a:spcBef>
                <a:spcPts val="5"/>
              </a:spcBef>
              <a:buFont typeface="Wingdings" panose="05000000000000000000" pitchFamily="2" charset="2"/>
              <a:buChar char=""/>
              <a:tabLst>
                <a:tab pos="627380" algn="l"/>
                <a:tab pos="628015" algn="l"/>
              </a:tabLst>
            </a:pPr>
            <a:r>
              <a:rPr lang="en-US" sz="2000" dirty="0">
                <a:effectLst/>
                <a:ea typeface="Calibri" panose="020F0502020204030204" pitchFamily="34" charset="0"/>
              </a:rPr>
              <a:t>	It consults the system catalog for statistical and other physical information about the stored data and generates</a:t>
            </a:r>
            <a:r>
              <a:rPr lang="en-US" sz="2000" spc="-235" dirty="0">
                <a:effectLst/>
                <a:ea typeface="Calibri" panose="020F0502020204030204" pitchFamily="34" charset="0"/>
              </a:rPr>
              <a:t> </a:t>
            </a:r>
            <a:r>
              <a:rPr lang="en-US" sz="2000" dirty="0">
                <a:effectLst/>
                <a:ea typeface="Calibri" panose="020F0502020204030204" pitchFamily="34" charset="0"/>
              </a:rPr>
              <a:t>executable</a:t>
            </a:r>
            <a:r>
              <a:rPr lang="en-US" sz="2000" spc="-15" dirty="0">
                <a:effectLst/>
                <a:ea typeface="Calibri" panose="020F0502020204030204" pitchFamily="34" charset="0"/>
              </a:rPr>
              <a:t> </a:t>
            </a:r>
            <a:r>
              <a:rPr lang="en-US" sz="2000" dirty="0">
                <a:effectLst/>
                <a:ea typeface="Calibri" panose="020F0502020204030204" pitchFamily="34" charset="0"/>
              </a:rPr>
              <a:t>code</a:t>
            </a:r>
            <a:r>
              <a:rPr lang="en-US" sz="2000" spc="-15" dirty="0">
                <a:effectLst/>
                <a:ea typeface="Calibri" panose="020F0502020204030204" pitchFamily="34" charset="0"/>
              </a:rPr>
              <a:t> </a:t>
            </a:r>
            <a:r>
              <a:rPr lang="en-US" sz="2000" dirty="0">
                <a:effectLst/>
                <a:ea typeface="Calibri" panose="020F0502020204030204" pitchFamily="34" charset="0"/>
              </a:rPr>
              <a:t>that performs</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necessary</a:t>
            </a:r>
            <a:r>
              <a:rPr lang="en-US" sz="2000" spc="-10" dirty="0">
                <a:effectLst/>
                <a:ea typeface="Calibri" panose="020F0502020204030204" pitchFamily="34" charset="0"/>
              </a:rPr>
              <a:t> </a:t>
            </a:r>
            <a:r>
              <a:rPr lang="en-US" sz="2000" dirty="0">
                <a:effectLst/>
                <a:ea typeface="Calibri" panose="020F0502020204030204" pitchFamily="34" charset="0"/>
              </a:rPr>
              <a:t>operations</a:t>
            </a:r>
            <a:r>
              <a:rPr lang="en-US" sz="2000" spc="-15" dirty="0">
                <a:effectLst/>
                <a:ea typeface="Calibri" panose="020F0502020204030204" pitchFamily="34" charset="0"/>
              </a:rPr>
              <a:t> </a:t>
            </a:r>
            <a:r>
              <a:rPr lang="en-US" sz="2000" dirty="0">
                <a:effectLst/>
                <a:ea typeface="Calibri" panose="020F0502020204030204" pitchFamily="34" charset="0"/>
              </a:rPr>
              <a:t>for</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query</a:t>
            </a:r>
            <a:r>
              <a:rPr lang="en-US" sz="2000" spc="-15" dirty="0">
                <a:effectLst/>
                <a:ea typeface="Calibri" panose="020F0502020204030204" pitchFamily="34" charset="0"/>
              </a:rPr>
              <a:t> </a:t>
            </a:r>
            <a:r>
              <a:rPr lang="en-US" sz="2000" dirty="0">
                <a:effectLst/>
                <a:ea typeface="Calibri" panose="020F0502020204030204" pitchFamily="34" charset="0"/>
              </a:rPr>
              <a:t>and</a:t>
            </a:r>
            <a:r>
              <a:rPr lang="en-US" sz="2000" spc="-20" dirty="0">
                <a:effectLst/>
                <a:ea typeface="Calibri" panose="020F0502020204030204" pitchFamily="34" charset="0"/>
              </a:rPr>
              <a:t> </a:t>
            </a:r>
            <a:r>
              <a:rPr lang="en-US" sz="2000" dirty="0">
                <a:effectLst/>
                <a:ea typeface="Calibri" panose="020F0502020204030204" pitchFamily="34" charset="0"/>
              </a:rPr>
              <a:t>makes</a:t>
            </a:r>
            <a:r>
              <a:rPr lang="en-US" sz="2000" spc="-10" dirty="0">
                <a:effectLst/>
                <a:ea typeface="Calibri" panose="020F0502020204030204" pitchFamily="34" charset="0"/>
              </a:rPr>
              <a:t> </a:t>
            </a:r>
            <a:r>
              <a:rPr lang="en-US" sz="2000" dirty="0">
                <a:effectLst/>
                <a:ea typeface="Calibri" panose="020F0502020204030204" pitchFamily="34" charset="0"/>
              </a:rPr>
              <a:t>calls</a:t>
            </a:r>
            <a:r>
              <a:rPr lang="en-US" sz="2000" spc="-15" dirty="0">
                <a:effectLst/>
                <a:ea typeface="Calibri" panose="020F0502020204030204" pitchFamily="34" charset="0"/>
              </a:rPr>
              <a:t> </a:t>
            </a:r>
            <a:r>
              <a:rPr lang="en-US" sz="2000" dirty="0">
                <a:effectLst/>
                <a:ea typeface="Calibri" panose="020F0502020204030204" pitchFamily="34" charset="0"/>
              </a:rPr>
              <a:t>on</a:t>
            </a:r>
            <a:r>
              <a:rPr lang="en-US" sz="2000" spc="-2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runtime</a:t>
            </a:r>
            <a:r>
              <a:rPr lang="en-US" sz="2000" spc="-15" dirty="0">
                <a:effectLst/>
                <a:ea typeface="Calibri" panose="020F0502020204030204" pitchFamily="34" charset="0"/>
              </a:rPr>
              <a:t> </a:t>
            </a:r>
            <a:r>
              <a:rPr lang="en-US" sz="2000" dirty="0">
                <a:effectLst/>
                <a:ea typeface="Calibri" panose="020F0502020204030204" pitchFamily="34" charset="0"/>
              </a:rPr>
              <a:t>processor</a:t>
            </a:r>
          </a:p>
          <a:p>
            <a:pPr marR="228600" lvl="0" algn="just">
              <a:spcBef>
                <a:spcPts val="10"/>
              </a:spcBef>
              <a:tabLst>
                <a:tab pos="597535" algn="l"/>
              </a:tabLst>
            </a:pPr>
            <a:endParaRPr lang="en-US" sz="2000" dirty="0">
              <a:effectLst/>
              <a:ea typeface="Calibri" panose="020F0502020204030204" pitchFamily="34" charset="0"/>
            </a:endParaRPr>
          </a:p>
          <a:p>
            <a:endParaRPr lang="en-US" dirty="0"/>
          </a:p>
        </p:txBody>
      </p:sp>
    </p:spTree>
    <p:extLst>
      <p:ext uri="{BB962C8B-B14F-4D97-AF65-F5344CB8AC3E}">
        <p14:creationId xmlns:p14="http://schemas.microsoft.com/office/powerpoint/2010/main" val="3869994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263799-B4F7-136D-14DE-56F386C97F60}"/>
              </a:ext>
            </a:extLst>
          </p:cNvPr>
          <p:cNvSpPr txBox="1"/>
          <p:nvPr/>
        </p:nvSpPr>
        <p:spPr>
          <a:xfrm>
            <a:off x="247973" y="309966"/>
            <a:ext cx="11716719" cy="5011628"/>
          </a:xfrm>
          <a:prstGeom prst="rect">
            <a:avLst/>
          </a:prstGeom>
          <a:noFill/>
        </p:spPr>
        <p:txBody>
          <a:bodyPr wrap="square" rtlCol="0">
            <a:spAutoFit/>
          </a:bodyPr>
          <a:lstStyle/>
          <a:p>
            <a:pPr marL="139700" marR="0" algn="just">
              <a:lnSpc>
                <a:spcPts val="1335"/>
              </a:lnSpc>
              <a:spcBef>
                <a:spcPts val="5"/>
              </a:spcBef>
              <a:buNone/>
            </a:pPr>
            <a:r>
              <a:rPr lang="en-US" sz="2200" b="1" dirty="0">
                <a:effectLst/>
                <a:ea typeface="Calibri" panose="020F0502020204030204" pitchFamily="34" charset="0"/>
              </a:rPr>
              <a:t>Application</a:t>
            </a:r>
            <a:r>
              <a:rPr lang="en-US" sz="2200" b="1" spc="-25" dirty="0">
                <a:effectLst/>
                <a:ea typeface="Calibri" panose="020F0502020204030204" pitchFamily="34" charset="0"/>
              </a:rPr>
              <a:t> </a:t>
            </a:r>
            <a:r>
              <a:rPr lang="en-US" sz="2200" b="1" dirty="0">
                <a:effectLst/>
                <a:ea typeface="Calibri" panose="020F0502020204030204" pitchFamily="34" charset="0"/>
              </a:rPr>
              <a:t>programmers</a:t>
            </a:r>
          </a:p>
          <a:p>
            <a:pPr marL="139700" marR="0" algn="just">
              <a:lnSpc>
                <a:spcPts val="1335"/>
              </a:lnSpc>
              <a:spcBef>
                <a:spcPts val="5"/>
              </a:spcBef>
              <a:buNone/>
            </a:pPr>
            <a:endParaRPr lang="en-US" sz="2200" dirty="0">
              <a:effectLst/>
              <a:ea typeface="Calibri" panose="020F0502020204030204" pitchFamily="34" charset="0"/>
            </a:endParaRPr>
          </a:p>
          <a:p>
            <a:pPr marL="342900" marR="0" lvl="0" indent="-342900" algn="just">
              <a:lnSpc>
                <a:spcPct val="150000"/>
              </a:lnSpc>
              <a:buFont typeface="Wingdings" panose="05000000000000000000" pitchFamily="2" charset="2"/>
              <a:buChar char=""/>
              <a:tabLst>
                <a:tab pos="597535" algn="l"/>
              </a:tabLst>
            </a:pPr>
            <a:r>
              <a:rPr lang="en-US" sz="2000" dirty="0">
                <a:effectLst/>
                <a:ea typeface="Calibri" panose="020F0502020204030204" pitchFamily="34" charset="0"/>
              </a:rPr>
              <a:t>write</a:t>
            </a:r>
            <a:r>
              <a:rPr lang="en-US" sz="2000" spc="-10" dirty="0">
                <a:effectLst/>
                <a:ea typeface="Calibri" panose="020F0502020204030204" pitchFamily="34" charset="0"/>
              </a:rPr>
              <a:t> </a:t>
            </a:r>
            <a:r>
              <a:rPr lang="en-US" sz="2000" dirty="0">
                <a:effectLst/>
                <a:ea typeface="Calibri" panose="020F0502020204030204" pitchFamily="34" charset="0"/>
              </a:rPr>
              <a:t>programs</a:t>
            </a:r>
            <a:r>
              <a:rPr lang="en-US" sz="2000" spc="-10" dirty="0">
                <a:effectLst/>
                <a:ea typeface="Calibri" panose="020F0502020204030204" pitchFamily="34" charset="0"/>
              </a:rPr>
              <a:t> </a:t>
            </a:r>
            <a:r>
              <a:rPr lang="en-US" sz="2000" dirty="0">
                <a:effectLst/>
                <a:ea typeface="Calibri" panose="020F0502020204030204" pitchFamily="34" charset="0"/>
              </a:rPr>
              <a:t>in</a:t>
            </a:r>
            <a:r>
              <a:rPr lang="en-US" sz="2000" spc="-15" dirty="0">
                <a:effectLst/>
                <a:ea typeface="Calibri" panose="020F0502020204030204" pitchFamily="34" charset="0"/>
              </a:rPr>
              <a:t> </a:t>
            </a:r>
            <a:r>
              <a:rPr lang="en-US" sz="2000" dirty="0">
                <a:effectLst/>
                <a:ea typeface="Calibri" panose="020F0502020204030204" pitchFamily="34" charset="0"/>
              </a:rPr>
              <a:t>host</a:t>
            </a:r>
            <a:r>
              <a:rPr lang="en-US" sz="2000" spc="-20" dirty="0">
                <a:effectLst/>
                <a:ea typeface="Calibri" panose="020F0502020204030204" pitchFamily="34" charset="0"/>
              </a:rPr>
              <a:t> </a:t>
            </a:r>
            <a:r>
              <a:rPr lang="en-US" sz="2000" dirty="0">
                <a:effectLst/>
                <a:ea typeface="Calibri" panose="020F0502020204030204" pitchFamily="34" charset="0"/>
              </a:rPr>
              <a:t>languages</a:t>
            </a:r>
            <a:r>
              <a:rPr lang="en-US" sz="2000" spc="-5" dirty="0">
                <a:effectLst/>
                <a:ea typeface="Calibri" panose="020F0502020204030204" pitchFamily="34" charset="0"/>
              </a:rPr>
              <a:t> </a:t>
            </a:r>
            <a:r>
              <a:rPr lang="en-US" sz="2000" dirty="0">
                <a:effectLst/>
                <a:ea typeface="Calibri" panose="020F0502020204030204" pitchFamily="34" charset="0"/>
              </a:rPr>
              <a:t>such</a:t>
            </a:r>
            <a:r>
              <a:rPr lang="en-US" sz="2000" spc="-15" dirty="0">
                <a:effectLst/>
                <a:ea typeface="Calibri" panose="020F0502020204030204" pitchFamily="34" charset="0"/>
              </a:rPr>
              <a:t> </a:t>
            </a:r>
            <a:r>
              <a:rPr lang="en-US" sz="2000" dirty="0">
                <a:effectLst/>
                <a:ea typeface="Calibri" panose="020F0502020204030204" pitchFamily="34" charset="0"/>
              </a:rPr>
              <a:t>as</a:t>
            </a:r>
            <a:r>
              <a:rPr lang="en-US" sz="2000" spc="-10" dirty="0">
                <a:effectLst/>
                <a:ea typeface="Calibri" panose="020F0502020204030204" pitchFamily="34" charset="0"/>
              </a:rPr>
              <a:t> </a:t>
            </a:r>
            <a:r>
              <a:rPr lang="en-US" sz="2000" dirty="0">
                <a:effectLst/>
                <a:ea typeface="Calibri" panose="020F0502020204030204" pitchFamily="34" charset="0"/>
              </a:rPr>
              <a:t>Java,</a:t>
            </a:r>
            <a:r>
              <a:rPr lang="en-US" sz="2000" spc="-20" dirty="0">
                <a:effectLst/>
                <a:ea typeface="Calibri" panose="020F0502020204030204" pitchFamily="34" charset="0"/>
              </a:rPr>
              <a:t> </a:t>
            </a:r>
            <a:r>
              <a:rPr lang="en-US" sz="2000" dirty="0">
                <a:effectLst/>
                <a:ea typeface="Calibri" panose="020F0502020204030204" pitchFamily="34" charset="0"/>
              </a:rPr>
              <a:t>C,</a:t>
            </a:r>
            <a:r>
              <a:rPr lang="en-US" sz="2000" spc="-25" dirty="0">
                <a:effectLst/>
                <a:ea typeface="Calibri" panose="020F0502020204030204" pitchFamily="34" charset="0"/>
              </a:rPr>
              <a:t> </a:t>
            </a:r>
            <a:r>
              <a:rPr lang="en-US" sz="2000" dirty="0">
                <a:effectLst/>
                <a:ea typeface="Calibri" panose="020F0502020204030204" pitchFamily="34" charset="0"/>
              </a:rPr>
              <a:t>or</a:t>
            </a:r>
            <a:r>
              <a:rPr lang="en-US" sz="2000" spc="-10" dirty="0">
                <a:effectLst/>
                <a:ea typeface="Calibri" panose="020F0502020204030204" pitchFamily="34" charset="0"/>
              </a:rPr>
              <a:t> </a:t>
            </a:r>
            <a:r>
              <a:rPr lang="en-US" sz="2000" dirty="0">
                <a:effectLst/>
                <a:ea typeface="Calibri" panose="020F0502020204030204" pitchFamily="34" charset="0"/>
              </a:rPr>
              <a:t>C++</a:t>
            </a:r>
            <a:r>
              <a:rPr lang="en-US" sz="2000" spc="-10" dirty="0">
                <a:effectLst/>
                <a:ea typeface="Calibri" panose="020F0502020204030204" pitchFamily="34" charset="0"/>
              </a:rPr>
              <a:t> </a:t>
            </a:r>
            <a:r>
              <a:rPr lang="en-US" sz="2000" dirty="0">
                <a:effectLst/>
                <a:ea typeface="Calibri" panose="020F0502020204030204" pitchFamily="34" charset="0"/>
              </a:rPr>
              <a:t>that are</a:t>
            </a:r>
            <a:r>
              <a:rPr lang="en-US" sz="2000" spc="-10" dirty="0">
                <a:effectLst/>
                <a:ea typeface="Calibri" panose="020F0502020204030204" pitchFamily="34" charset="0"/>
              </a:rPr>
              <a:t> </a:t>
            </a:r>
            <a:r>
              <a:rPr lang="en-US" sz="2000" dirty="0">
                <a:effectLst/>
                <a:ea typeface="Calibri" panose="020F0502020204030204" pitchFamily="34" charset="0"/>
              </a:rPr>
              <a:t>submitted</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err="1">
                <a:effectLst/>
                <a:ea typeface="Calibri" panose="020F0502020204030204" pitchFamily="34" charset="0"/>
              </a:rPr>
              <a:t>precompiler</a:t>
            </a:r>
            <a:r>
              <a:rPr lang="en-US" sz="2000" dirty="0">
                <a:effectLst/>
                <a:ea typeface="Calibri" panose="020F0502020204030204" pitchFamily="34" charset="0"/>
              </a:rPr>
              <a:t>.</a:t>
            </a:r>
          </a:p>
          <a:p>
            <a:pPr marL="342900" marR="0" lvl="0" indent="-342900" algn="just">
              <a:lnSpc>
                <a:spcPct val="150000"/>
              </a:lnSpc>
              <a:spcBef>
                <a:spcPts val="5"/>
              </a:spcBef>
              <a:buFont typeface="Wingdings" panose="05000000000000000000" pitchFamily="2" charset="2"/>
              <a:buChar char=""/>
              <a:tabLst>
                <a:tab pos="597535" algn="l"/>
              </a:tabLst>
            </a:pPr>
            <a:r>
              <a:rPr lang="en-US" sz="2000" dirty="0" err="1">
                <a:effectLst/>
                <a:ea typeface="Calibri" panose="020F0502020204030204" pitchFamily="34" charset="0"/>
              </a:rPr>
              <a:t>precompiler</a:t>
            </a:r>
            <a:r>
              <a:rPr lang="en-US" sz="2000" spc="-20" dirty="0">
                <a:effectLst/>
                <a:ea typeface="Calibri" panose="020F0502020204030204" pitchFamily="34" charset="0"/>
              </a:rPr>
              <a:t> </a:t>
            </a:r>
            <a:r>
              <a:rPr lang="en-US" sz="2000" dirty="0">
                <a:effectLst/>
                <a:ea typeface="Calibri" panose="020F0502020204030204" pitchFamily="34" charset="0"/>
              </a:rPr>
              <a:t>extracts</a:t>
            </a:r>
            <a:r>
              <a:rPr lang="en-US" sz="2000" spc="-15" dirty="0">
                <a:effectLst/>
                <a:ea typeface="Calibri" panose="020F0502020204030204" pitchFamily="34" charset="0"/>
              </a:rPr>
              <a:t> </a:t>
            </a:r>
            <a:r>
              <a:rPr lang="en-US" sz="2000" dirty="0">
                <a:effectLst/>
                <a:ea typeface="Calibri" panose="020F0502020204030204" pitchFamily="34" charset="0"/>
              </a:rPr>
              <a:t>DML commands</a:t>
            </a:r>
            <a:r>
              <a:rPr lang="en-US" sz="2000" spc="-15" dirty="0">
                <a:effectLst/>
                <a:ea typeface="Calibri" panose="020F0502020204030204" pitchFamily="34" charset="0"/>
              </a:rPr>
              <a:t> </a:t>
            </a:r>
            <a:r>
              <a:rPr lang="en-US" sz="2000" dirty="0">
                <a:effectLst/>
                <a:ea typeface="Calibri" panose="020F0502020204030204" pitchFamily="34" charset="0"/>
              </a:rPr>
              <a:t>from</a:t>
            </a:r>
            <a:r>
              <a:rPr lang="en-US" sz="2000" spc="-10" dirty="0">
                <a:effectLst/>
                <a:ea typeface="Calibri" panose="020F0502020204030204" pitchFamily="34" charset="0"/>
              </a:rPr>
              <a:t> </a:t>
            </a:r>
            <a:r>
              <a:rPr lang="en-US" sz="2000" dirty="0">
                <a:effectLst/>
                <a:ea typeface="Calibri" panose="020F0502020204030204" pitchFamily="34" charset="0"/>
              </a:rPr>
              <a:t>an</a:t>
            </a:r>
            <a:r>
              <a:rPr lang="en-US" sz="2000" spc="-20" dirty="0">
                <a:effectLst/>
                <a:ea typeface="Calibri" panose="020F0502020204030204" pitchFamily="34" charset="0"/>
              </a:rPr>
              <a:t> </a:t>
            </a:r>
            <a:r>
              <a:rPr lang="en-US" sz="2000" dirty="0">
                <a:effectLst/>
                <a:ea typeface="Calibri" panose="020F0502020204030204" pitchFamily="34" charset="0"/>
              </a:rPr>
              <a:t>application</a:t>
            </a:r>
            <a:r>
              <a:rPr lang="en-US" sz="2000" spc="-20" dirty="0">
                <a:effectLst/>
                <a:ea typeface="Calibri" panose="020F0502020204030204" pitchFamily="34" charset="0"/>
              </a:rPr>
              <a:t> </a:t>
            </a:r>
            <a:r>
              <a:rPr lang="en-US" sz="2000" dirty="0">
                <a:effectLst/>
                <a:ea typeface="Calibri" panose="020F0502020204030204" pitchFamily="34" charset="0"/>
              </a:rPr>
              <a:t>program.</a:t>
            </a:r>
          </a:p>
          <a:p>
            <a:pPr marL="342900" marR="0" lvl="0" indent="-342900" algn="just">
              <a:lnSpc>
                <a:spcPct val="150000"/>
              </a:lnSpc>
              <a:spcBef>
                <a:spcPts val="5"/>
              </a:spcBef>
              <a:buFont typeface="Wingdings" panose="05000000000000000000" pitchFamily="2" charset="2"/>
              <a:buChar char=""/>
              <a:tabLst>
                <a:tab pos="597535" algn="l"/>
              </a:tabLst>
            </a:pPr>
            <a:r>
              <a:rPr lang="en-US" sz="2000" dirty="0">
                <a:effectLst/>
                <a:ea typeface="Calibri" panose="020F0502020204030204" pitchFamily="34" charset="0"/>
              </a:rPr>
              <a:t>commands</a:t>
            </a:r>
            <a:r>
              <a:rPr lang="en-US" sz="2000" spc="-20" dirty="0">
                <a:effectLst/>
                <a:ea typeface="Calibri" panose="020F0502020204030204" pitchFamily="34" charset="0"/>
              </a:rPr>
              <a:t> </a:t>
            </a:r>
            <a:r>
              <a:rPr lang="en-US" sz="2000" dirty="0">
                <a:effectLst/>
                <a:ea typeface="Calibri" panose="020F0502020204030204" pitchFamily="34" charset="0"/>
              </a:rPr>
              <a:t>are</a:t>
            </a:r>
            <a:r>
              <a:rPr lang="en-US" sz="2000" spc="-20" dirty="0">
                <a:effectLst/>
                <a:ea typeface="Calibri" panose="020F0502020204030204" pitchFamily="34" charset="0"/>
              </a:rPr>
              <a:t> </a:t>
            </a:r>
            <a:r>
              <a:rPr lang="en-US" sz="2000" dirty="0">
                <a:effectLst/>
                <a:ea typeface="Calibri" panose="020F0502020204030204" pitchFamily="34" charset="0"/>
              </a:rPr>
              <a:t>sent</a:t>
            </a:r>
            <a:r>
              <a:rPr lang="en-US" sz="2000" spc="-35" dirty="0">
                <a:effectLst/>
                <a:ea typeface="Calibri" panose="020F0502020204030204" pitchFamily="34" charset="0"/>
              </a:rPr>
              <a:t> </a:t>
            </a:r>
            <a:r>
              <a:rPr lang="en-US" sz="2000" dirty="0">
                <a:effectLst/>
                <a:ea typeface="Calibri" panose="020F0502020204030204" pitchFamily="34" charset="0"/>
              </a:rPr>
              <a:t>to</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dirty="0">
                <a:effectLst/>
                <a:ea typeface="Calibri" panose="020F0502020204030204" pitchFamily="34" charset="0"/>
              </a:rPr>
              <a:t>DML</a:t>
            </a:r>
            <a:r>
              <a:rPr lang="en-US" sz="2000" spc="-10" dirty="0">
                <a:effectLst/>
                <a:ea typeface="Calibri" panose="020F0502020204030204" pitchFamily="34" charset="0"/>
              </a:rPr>
              <a:t> </a:t>
            </a:r>
            <a:r>
              <a:rPr lang="en-US" sz="2000" dirty="0">
                <a:effectLst/>
                <a:ea typeface="Calibri" panose="020F0502020204030204" pitchFamily="34" charset="0"/>
              </a:rPr>
              <a:t>compiler</a:t>
            </a:r>
            <a:r>
              <a:rPr lang="en-US" sz="2000" spc="-15" dirty="0">
                <a:effectLst/>
                <a:ea typeface="Calibri" panose="020F0502020204030204" pitchFamily="34" charset="0"/>
              </a:rPr>
              <a:t> </a:t>
            </a:r>
            <a:r>
              <a:rPr lang="en-US" sz="2000" dirty="0">
                <a:effectLst/>
                <a:ea typeface="Calibri" panose="020F0502020204030204" pitchFamily="34" charset="0"/>
              </a:rPr>
              <a:t>for</a:t>
            </a:r>
            <a:r>
              <a:rPr lang="en-US" sz="2000" spc="-20" dirty="0">
                <a:effectLst/>
                <a:ea typeface="Calibri" panose="020F0502020204030204" pitchFamily="34" charset="0"/>
              </a:rPr>
              <a:t> </a:t>
            </a:r>
            <a:r>
              <a:rPr lang="en-US" sz="2000" dirty="0">
                <a:effectLst/>
                <a:ea typeface="Calibri" panose="020F0502020204030204" pitchFamily="34" charset="0"/>
              </a:rPr>
              <a:t>compilation.</a:t>
            </a:r>
          </a:p>
          <a:p>
            <a:pPr marL="342900" marR="0" lvl="0" indent="-342900" algn="just">
              <a:lnSpc>
                <a:spcPct val="150000"/>
              </a:lnSpc>
              <a:spcBef>
                <a:spcPts val="5"/>
              </a:spcBef>
              <a:buFont typeface="Wingdings" panose="05000000000000000000" pitchFamily="2" charset="2"/>
              <a:buChar char=""/>
              <a:tabLst>
                <a:tab pos="597535" algn="l"/>
              </a:tabLst>
            </a:pPr>
            <a:r>
              <a:rPr lang="en-US" sz="2000" dirty="0">
                <a:effectLst/>
                <a:ea typeface="Calibri" panose="020F0502020204030204" pitchFamily="34" charset="0"/>
              </a:rPr>
              <a:t>rest</a:t>
            </a:r>
            <a:r>
              <a:rPr lang="en-US" sz="2000" spc="-25" dirty="0">
                <a:effectLst/>
                <a:ea typeface="Calibri" panose="020F0502020204030204" pitchFamily="34" charset="0"/>
              </a:rPr>
              <a:t> </a:t>
            </a:r>
            <a:r>
              <a:rPr lang="en-US" sz="2000" dirty="0">
                <a:effectLst/>
                <a:ea typeface="Calibri" panose="020F0502020204030204" pitchFamily="34" charset="0"/>
              </a:rPr>
              <a:t>of</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program</a:t>
            </a:r>
            <a:r>
              <a:rPr lang="en-US" sz="2000" spc="-15" dirty="0">
                <a:effectLst/>
                <a:ea typeface="Calibri" panose="020F0502020204030204" pitchFamily="34" charset="0"/>
              </a:rPr>
              <a:t> </a:t>
            </a:r>
            <a:r>
              <a:rPr lang="en-US" sz="2000" dirty="0">
                <a:effectLst/>
                <a:ea typeface="Calibri" panose="020F0502020204030204" pitchFamily="34" charset="0"/>
              </a:rPr>
              <a:t>is</a:t>
            </a:r>
            <a:r>
              <a:rPr lang="en-US" sz="2000" spc="-15" dirty="0">
                <a:effectLst/>
                <a:ea typeface="Calibri" panose="020F0502020204030204" pitchFamily="34" charset="0"/>
              </a:rPr>
              <a:t> </a:t>
            </a:r>
            <a:r>
              <a:rPr lang="en-US" sz="2000" dirty="0">
                <a:effectLst/>
                <a:ea typeface="Calibri" panose="020F0502020204030204" pitchFamily="34" charset="0"/>
              </a:rPr>
              <a:t>sent</a:t>
            </a:r>
            <a:r>
              <a:rPr lang="en-US" sz="2000" spc="-15" dirty="0">
                <a:effectLst/>
                <a:ea typeface="Calibri" panose="020F0502020204030204" pitchFamily="34" charset="0"/>
              </a:rPr>
              <a:t> </a:t>
            </a:r>
            <a:r>
              <a:rPr lang="en-US" sz="2000" dirty="0">
                <a:effectLst/>
                <a:ea typeface="Calibri" panose="020F0502020204030204" pitchFamily="34" charset="0"/>
              </a:rPr>
              <a:t>to the</a:t>
            </a:r>
            <a:r>
              <a:rPr lang="en-US" sz="2000" spc="-15" dirty="0">
                <a:effectLst/>
                <a:ea typeface="Calibri" panose="020F0502020204030204" pitchFamily="34" charset="0"/>
              </a:rPr>
              <a:t> </a:t>
            </a:r>
            <a:r>
              <a:rPr lang="en-US" sz="2000" dirty="0">
                <a:effectLst/>
                <a:ea typeface="Calibri" panose="020F0502020204030204" pitchFamily="34" charset="0"/>
              </a:rPr>
              <a:t>host</a:t>
            </a:r>
            <a:r>
              <a:rPr lang="en-US" sz="2000" spc="-5" dirty="0">
                <a:effectLst/>
                <a:ea typeface="Calibri" panose="020F0502020204030204" pitchFamily="34" charset="0"/>
              </a:rPr>
              <a:t> </a:t>
            </a:r>
            <a:r>
              <a:rPr lang="en-US" sz="2000" dirty="0">
                <a:effectLst/>
                <a:ea typeface="Calibri" panose="020F0502020204030204" pitchFamily="34" charset="0"/>
              </a:rPr>
              <a:t>language</a:t>
            </a:r>
            <a:r>
              <a:rPr lang="en-US" sz="2000" spc="-15" dirty="0">
                <a:effectLst/>
                <a:ea typeface="Calibri" panose="020F0502020204030204" pitchFamily="34" charset="0"/>
              </a:rPr>
              <a:t> </a:t>
            </a:r>
            <a:r>
              <a:rPr lang="en-US" sz="2000" dirty="0">
                <a:effectLst/>
                <a:ea typeface="Calibri" panose="020F0502020204030204" pitchFamily="34" charset="0"/>
              </a:rPr>
              <a:t>compiler.</a:t>
            </a:r>
          </a:p>
          <a:p>
            <a:pPr marL="342900" marR="0" lvl="0" indent="-342900" algn="just">
              <a:lnSpc>
                <a:spcPct val="150000"/>
              </a:lnSpc>
              <a:buFont typeface="Wingdings" panose="05000000000000000000" pitchFamily="2" charset="2"/>
              <a:buChar char=""/>
              <a:tabLst>
                <a:tab pos="597535" algn="l"/>
              </a:tabLst>
            </a:pP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dirty="0">
                <a:effectLst/>
                <a:ea typeface="Calibri" panose="020F0502020204030204" pitchFamily="34" charset="0"/>
              </a:rPr>
              <a:t>object</a:t>
            </a:r>
            <a:r>
              <a:rPr lang="en-US" sz="2000" spc="-5" dirty="0">
                <a:effectLst/>
                <a:ea typeface="Calibri" panose="020F0502020204030204" pitchFamily="34" charset="0"/>
              </a:rPr>
              <a:t> </a:t>
            </a:r>
            <a:r>
              <a:rPr lang="en-US" sz="2000" dirty="0">
                <a:effectLst/>
                <a:ea typeface="Calibri" panose="020F0502020204030204" pitchFamily="34" charset="0"/>
              </a:rPr>
              <a:t>codes</a:t>
            </a:r>
            <a:r>
              <a:rPr lang="en-US" sz="2000" spc="-10" dirty="0">
                <a:effectLst/>
                <a:ea typeface="Calibri" panose="020F0502020204030204" pitchFamily="34" charset="0"/>
              </a:rPr>
              <a:t> </a:t>
            </a:r>
            <a:r>
              <a:rPr lang="en-US" sz="2000" dirty="0">
                <a:effectLst/>
                <a:ea typeface="Calibri" panose="020F0502020204030204" pitchFamily="34" charset="0"/>
              </a:rPr>
              <a:t>for</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DML commands</a:t>
            </a:r>
            <a:r>
              <a:rPr lang="en-US" sz="2000" spc="-15" dirty="0">
                <a:effectLst/>
                <a:ea typeface="Calibri" panose="020F0502020204030204" pitchFamily="34" charset="0"/>
              </a:rPr>
              <a:t> </a:t>
            </a:r>
            <a:r>
              <a:rPr lang="en-US" sz="2000" dirty="0">
                <a:effectLst/>
                <a:ea typeface="Calibri" panose="020F0502020204030204" pitchFamily="34" charset="0"/>
              </a:rPr>
              <a:t>and</a:t>
            </a:r>
            <a:r>
              <a:rPr lang="en-US" sz="2000" spc="-20" dirty="0">
                <a:effectLst/>
                <a:ea typeface="Calibri" panose="020F0502020204030204" pitchFamily="34" charset="0"/>
              </a:rPr>
              <a:t> </a:t>
            </a:r>
            <a:r>
              <a:rPr lang="en-US" sz="2000" dirty="0">
                <a:effectLst/>
                <a:ea typeface="Calibri" panose="020F0502020204030204" pitchFamily="34" charset="0"/>
              </a:rPr>
              <a:t>the</a:t>
            </a:r>
            <a:r>
              <a:rPr lang="en-US" sz="2000" spc="5" dirty="0">
                <a:effectLst/>
                <a:ea typeface="Calibri" panose="020F0502020204030204" pitchFamily="34" charset="0"/>
              </a:rPr>
              <a:t> </a:t>
            </a:r>
            <a:r>
              <a:rPr lang="en-US" sz="2000" dirty="0">
                <a:effectLst/>
                <a:ea typeface="Calibri" panose="020F0502020204030204" pitchFamily="34" charset="0"/>
              </a:rPr>
              <a:t>rest of</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program</a:t>
            </a:r>
            <a:r>
              <a:rPr lang="en-US" sz="2000" spc="-15" dirty="0">
                <a:effectLst/>
                <a:ea typeface="Calibri" panose="020F0502020204030204" pitchFamily="34" charset="0"/>
              </a:rPr>
              <a:t> </a:t>
            </a:r>
            <a:r>
              <a:rPr lang="en-US" sz="2000" dirty="0">
                <a:effectLst/>
                <a:ea typeface="Calibri" panose="020F0502020204030204" pitchFamily="34" charset="0"/>
              </a:rPr>
              <a:t>are</a:t>
            </a:r>
            <a:r>
              <a:rPr lang="en-US" sz="2000" spc="-15" dirty="0">
                <a:effectLst/>
                <a:ea typeface="Calibri" panose="020F0502020204030204" pitchFamily="34" charset="0"/>
              </a:rPr>
              <a:t> </a:t>
            </a:r>
            <a:r>
              <a:rPr lang="en-US" sz="2000" dirty="0">
                <a:effectLst/>
                <a:ea typeface="Calibri" panose="020F0502020204030204" pitchFamily="34" charset="0"/>
              </a:rPr>
              <a:t>linked,</a:t>
            </a:r>
            <a:r>
              <a:rPr lang="en-US" sz="2000" spc="-30" dirty="0">
                <a:effectLst/>
                <a:ea typeface="Calibri" panose="020F0502020204030204" pitchFamily="34" charset="0"/>
              </a:rPr>
              <a:t> </a:t>
            </a:r>
            <a:r>
              <a:rPr lang="en-US" sz="2000" dirty="0">
                <a:effectLst/>
                <a:ea typeface="Calibri" panose="020F0502020204030204" pitchFamily="34" charset="0"/>
              </a:rPr>
              <a:t>forming</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a:effectLst/>
                <a:ea typeface="Calibri" panose="020F0502020204030204" pitchFamily="34" charset="0"/>
              </a:rPr>
              <a:t>canned</a:t>
            </a:r>
            <a:r>
              <a:rPr lang="en-US" sz="2000" spc="-15" dirty="0">
                <a:effectLst/>
                <a:ea typeface="Calibri" panose="020F0502020204030204" pitchFamily="34" charset="0"/>
              </a:rPr>
              <a:t> </a:t>
            </a:r>
            <a:r>
              <a:rPr lang="en-US" sz="2000" dirty="0">
                <a:effectLst/>
                <a:ea typeface="Calibri" panose="020F0502020204030204" pitchFamily="34" charset="0"/>
              </a:rPr>
              <a:t>transaction.</a:t>
            </a:r>
          </a:p>
          <a:p>
            <a:pPr marL="342900" marR="225425" lvl="0" indent="-342900" algn="just">
              <a:lnSpc>
                <a:spcPct val="150000"/>
              </a:lnSpc>
              <a:spcBef>
                <a:spcPts val="10"/>
              </a:spcBef>
              <a:buFont typeface="Wingdings" panose="05000000000000000000" pitchFamily="2" charset="2"/>
              <a:buChar char=""/>
              <a:tabLst>
                <a:tab pos="597535" algn="l"/>
              </a:tabLst>
            </a:pPr>
            <a:r>
              <a:rPr lang="en-US" sz="2000" dirty="0">
                <a:effectLst/>
                <a:ea typeface="Calibri" panose="020F0502020204030204" pitchFamily="34" charset="0"/>
              </a:rPr>
              <a:t>An</a:t>
            </a:r>
            <a:r>
              <a:rPr lang="en-US" sz="2000" spc="95" dirty="0">
                <a:effectLst/>
                <a:ea typeface="Calibri" panose="020F0502020204030204" pitchFamily="34" charset="0"/>
              </a:rPr>
              <a:t> </a:t>
            </a:r>
            <a:r>
              <a:rPr lang="en-US" sz="2000" dirty="0">
                <a:effectLst/>
                <a:ea typeface="Calibri" panose="020F0502020204030204" pitchFamily="34" charset="0"/>
              </a:rPr>
              <a:t>example</a:t>
            </a:r>
            <a:r>
              <a:rPr lang="en-US" sz="2000" spc="80" dirty="0">
                <a:effectLst/>
                <a:ea typeface="Calibri" panose="020F0502020204030204" pitchFamily="34" charset="0"/>
              </a:rPr>
              <a:t> </a:t>
            </a:r>
            <a:r>
              <a:rPr lang="en-US" sz="2000" dirty="0">
                <a:effectLst/>
                <a:ea typeface="Calibri" panose="020F0502020204030204" pitchFamily="34" charset="0"/>
              </a:rPr>
              <a:t>is</a:t>
            </a:r>
            <a:r>
              <a:rPr lang="en-US" sz="2000" spc="95" dirty="0">
                <a:effectLst/>
                <a:ea typeface="Calibri" panose="020F0502020204030204" pitchFamily="34" charset="0"/>
              </a:rPr>
              <a:t> </a:t>
            </a:r>
            <a:r>
              <a:rPr lang="en-US" sz="2000" dirty="0">
                <a:effectLst/>
                <a:ea typeface="Calibri" panose="020F0502020204030204" pitchFamily="34" charset="0"/>
              </a:rPr>
              <a:t>a</a:t>
            </a:r>
            <a:r>
              <a:rPr lang="en-US" sz="2000" spc="80" dirty="0">
                <a:effectLst/>
                <a:ea typeface="Calibri" panose="020F0502020204030204" pitchFamily="34" charset="0"/>
              </a:rPr>
              <a:t> </a:t>
            </a:r>
            <a:r>
              <a:rPr lang="en-US" sz="2000" dirty="0">
                <a:effectLst/>
                <a:ea typeface="Calibri" panose="020F0502020204030204" pitchFamily="34" charset="0"/>
              </a:rPr>
              <a:t>bank</a:t>
            </a:r>
            <a:r>
              <a:rPr lang="en-US" sz="2000" spc="105" dirty="0">
                <a:effectLst/>
                <a:ea typeface="Calibri" panose="020F0502020204030204" pitchFamily="34" charset="0"/>
              </a:rPr>
              <a:t> </a:t>
            </a:r>
            <a:r>
              <a:rPr lang="en-US" sz="2000" dirty="0">
                <a:effectLst/>
                <a:ea typeface="Calibri" panose="020F0502020204030204" pitchFamily="34" charset="0"/>
              </a:rPr>
              <a:t>withdrawal</a:t>
            </a:r>
            <a:r>
              <a:rPr lang="en-US" sz="2000" spc="85" dirty="0">
                <a:effectLst/>
                <a:ea typeface="Calibri" panose="020F0502020204030204" pitchFamily="34" charset="0"/>
              </a:rPr>
              <a:t> </a:t>
            </a:r>
            <a:r>
              <a:rPr lang="en-US" sz="2000" dirty="0">
                <a:effectLst/>
                <a:ea typeface="Calibri" panose="020F0502020204030204" pitchFamily="34" charset="0"/>
              </a:rPr>
              <a:t>transaction</a:t>
            </a:r>
            <a:r>
              <a:rPr lang="en-US" sz="2000" spc="100" dirty="0">
                <a:effectLst/>
                <a:ea typeface="Calibri" panose="020F0502020204030204" pitchFamily="34" charset="0"/>
              </a:rPr>
              <a:t> </a:t>
            </a:r>
            <a:r>
              <a:rPr lang="en-US" sz="2000" dirty="0">
                <a:effectLst/>
                <a:ea typeface="Calibri" panose="020F0502020204030204" pitchFamily="34" charset="0"/>
              </a:rPr>
              <a:t>where</a:t>
            </a:r>
            <a:r>
              <a:rPr lang="en-US" sz="2000" spc="100" dirty="0">
                <a:effectLst/>
                <a:ea typeface="Calibri" panose="020F0502020204030204" pitchFamily="34" charset="0"/>
              </a:rPr>
              <a:t> </a:t>
            </a:r>
            <a:r>
              <a:rPr lang="en-US" sz="2000" dirty="0">
                <a:effectLst/>
                <a:ea typeface="Calibri" panose="020F0502020204030204" pitchFamily="34" charset="0"/>
              </a:rPr>
              <a:t>the</a:t>
            </a:r>
            <a:r>
              <a:rPr lang="en-US" sz="2000" spc="105" dirty="0">
                <a:effectLst/>
                <a:ea typeface="Calibri" panose="020F0502020204030204" pitchFamily="34" charset="0"/>
              </a:rPr>
              <a:t> </a:t>
            </a:r>
            <a:r>
              <a:rPr lang="en-US" sz="2000" dirty="0">
                <a:effectLst/>
                <a:ea typeface="Calibri" panose="020F0502020204030204" pitchFamily="34" charset="0"/>
              </a:rPr>
              <a:t>account</a:t>
            </a:r>
            <a:r>
              <a:rPr lang="en-US" sz="2000" spc="90" dirty="0">
                <a:effectLst/>
                <a:ea typeface="Calibri" panose="020F0502020204030204" pitchFamily="34" charset="0"/>
              </a:rPr>
              <a:t> </a:t>
            </a:r>
            <a:r>
              <a:rPr lang="en-US" sz="2000" dirty="0">
                <a:effectLst/>
                <a:ea typeface="Calibri" panose="020F0502020204030204" pitchFamily="34" charset="0"/>
              </a:rPr>
              <a:t>number</a:t>
            </a:r>
            <a:r>
              <a:rPr lang="en-US" sz="2000" spc="105" dirty="0">
                <a:effectLst/>
                <a:ea typeface="Calibri" panose="020F0502020204030204" pitchFamily="34" charset="0"/>
              </a:rPr>
              <a:t> </a:t>
            </a:r>
            <a:r>
              <a:rPr lang="en-US" sz="2000" dirty="0">
                <a:effectLst/>
                <a:ea typeface="Calibri" panose="020F0502020204030204" pitchFamily="34" charset="0"/>
              </a:rPr>
              <a:t>and</a:t>
            </a:r>
            <a:r>
              <a:rPr lang="en-US" sz="2000" spc="100" dirty="0">
                <a:effectLst/>
                <a:ea typeface="Calibri" panose="020F0502020204030204" pitchFamily="34" charset="0"/>
              </a:rPr>
              <a:t> </a:t>
            </a:r>
            <a:r>
              <a:rPr lang="en-US" sz="2000" dirty="0">
                <a:effectLst/>
                <a:ea typeface="Calibri" panose="020F0502020204030204" pitchFamily="34" charset="0"/>
              </a:rPr>
              <a:t>the</a:t>
            </a:r>
            <a:r>
              <a:rPr lang="en-US" sz="2000" spc="100" dirty="0">
                <a:effectLst/>
                <a:ea typeface="Calibri" panose="020F0502020204030204" pitchFamily="34" charset="0"/>
              </a:rPr>
              <a:t> </a:t>
            </a:r>
            <a:r>
              <a:rPr lang="en-US" sz="2000" dirty="0">
                <a:effectLst/>
                <a:ea typeface="Calibri" panose="020F0502020204030204" pitchFamily="34" charset="0"/>
              </a:rPr>
              <a:t>amount</a:t>
            </a:r>
            <a:r>
              <a:rPr lang="en-US" sz="2000" spc="95" dirty="0">
                <a:effectLst/>
                <a:ea typeface="Calibri" panose="020F0502020204030204" pitchFamily="34" charset="0"/>
              </a:rPr>
              <a:t> </a:t>
            </a:r>
            <a:r>
              <a:rPr lang="en-US" sz="2000" dirty="0">
                <a:effectLst/>
                <a:ea typeface="Calibri" panose="020F0502020204030204" pitchFamily="34" charset="0"/>
              </a:rPr>
              <a:t>may</a:t>
            </a:r>
            <a:r>
              <a:rPr lang="en-US" sz="2000" spc="75" dirty="0">
                <a:effectLst/>
                <a:ea typeface="Calibri" panose="020F0502020204030204" pitchFamily="34" charset="0"/>
              </a:rPr>
              <a:t> </a:t>
            </a:r>
            <a:r>
              <a:rPr lang="en-US" sz="2000" dirty="0">
                <a:effectLst/>
                <a:ea typeface="Calibri" panose="020F0502020204030204" pitchFamily="34" charset="0"/>
              </a:rPr>
              <a:t>be</a:t>
            </a:r>
            <a:r>
              <a:rPr lang="en-US" sz="2000" spc="105" dirty="0">
                <a:effectLst/>
                <a:ea typeface="Calibri" panose="020F0502020204030204" pitchFamily="34" charset="0"/>
              </a:rPr>
              <a:t> </a:t>
            </a:r>
            <a:r>
              <a:rPr lang="en-US" sz="2000" dirty="0">
                <a:effectLst/>
                <a:ea typeface="Calibri" panose="020F0502020204030204" pitchFamily="34" charset="0"/>
              </a:rPr>
              <a:t>supplied</a:t>
            </a:r>
            <a:r>
              <a:rPr lang="en-US" sz="2000" spc="80" dirty="0">
                <a:effectLst/>
                <a:ea typeface="Calibri" panose="020F0502020204030204" pitchFamily="34" charset="0"/>
              </a:rPr>
              <a:t> </a:t>
            </a:r>
            <a:r>
              <a:rPr lang="en-US" sz="2000" dirty="0">
                <a:effectLst/>
                <a:ea typeface="Calibri" panose="020F0502020204030204" pitchFamily="34" charset="0"/>
              </a:rPr>
              <a:t>as</a:t>
            </a:r>
            <a:r>
              <a:rPr lang="en-US" sz="2000" spc="-235" dirty="0">
                <a:effectLst/>
                <a:ea typeface="Calibri" panose="020F0502020204030204" pitchFamily="34" charset="0"/>
              </a:rPr>
              <a:t> </a:t>
            </a:r>
            <a:r>
              <a:rPr lang="en-US" sz="2000" dirty="0">
                <a:effectLst/>
                <a:ea typeface="Calibri" panose="020F0502020204030204" pitchFamily="34" charset="0"/>
              </a:rPr>
              <a:t>parameters.</a:t>
            </a:r>
          </a:p>
          <a:p>
            <a:pPr marL="342900" marR="225425" lvl="0" indent="-342900" algn="just">
              <a:spcBef>
                <a:spcPts val="10"/>
              </a:spcBef>
              <a:buFont typeface="Wingdings" panose="05000000000000000000" pitchFamily="2" charset="2"/>
              <a:buChar char=""/>
              <a:tabLst>
                <a:tab pos="597535" algn="l"/>
              </a:tabLst>
            </a:pPr>
            <a:endParaRPr lang="en-US" sz="2000" dirty="0">
              <a:ea typeface="Calibri" panose="020F0502020204030204" pitchFamily="34" charset="0"/>
            </a:endParaRPr>
          </a:p>
          <a:p>
            <a:pPr marL="342900" marR="225425" lvl="0" indent="-342900" algn="just">
              <a:spcBef>
                <a:spcPts val="10"/>
              </a:spcBef>
              <a:buFont typeface="Wingdings" panose="05000000000000000000" pitchFamily="2" charset="2"/>
              <a:buChar char=""/>
              <a:tabLst>
                <a:tab pos="597535" algn="l"/>
              </a:tabLst>
            </a:pPr>
            <a:endParaRPr lang="en-US" sz="2000" dirty="0">
              <a:effectLst/>
              <a:ea typeface="Calibri" panose="020F0502020204030204" pitchFamily="34" charset="0"/>
            </a:endParaRPr>
          </a:p>
          <a:p>
            <a:endParaRPr lang="en-US" dirty="0"/>
          </a:p>
        </p:txBody>
      </p:sp>
    </p:spTree>
    <p:extLst>
      <p:ext uri="{BB962C8B-B14F-4D97-AF65-F5344CB8AC3E}">
        <p14:creationId xmlns:p14="http://schemas.microsoft.com/office/powerpoint/2010/main" val="3082968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9F0A7A-B7EA-3FCD-FA56-010D8925F8C9}"/>
              </a:ext>
            </a:extLst>
          </p:cNvPr>
          <p:cNvSpPr txBox="1"/>
          <p:nvPr/>
        </p:nvSpPr>
        <p:spPr>
          <a:xfrm>
            <a:off x="247973" y="356461"/>
            <a:ext cx="11639227" cy="6641690"/>
          </a:xfrm>
          <a:prstGeom prst="rect">
            <a:avLst/>
          </a:prstGeom>
          <a:noFill/>
        </p:spPr>
        <p:txBody>
          <a:bodyPr wrap="square" rtlCol="0">
            <a:spAutoFit/>
          </a:bodyPr>
          <a:lstStyle/>
          <a:p>
            <a:pPr marL="139700" marR="0" algn="just">
              <a:lnSpc>
                <a:spcPct val="150000"/>
              </a:lnSpc>
              <a:buNone/>
            </a:pPr>
            <a:r>
              <a:rPr lang="en-US" sz="2200" dirty="0">
                <a:effectLst/>
                <a:ea typeface="Calibri" panose="020F0502020204030204" pitchFamily="34" charset="0"/>
              </a:rPr>
              <a:t>In</a:t>
            </a:r>
            <a:r>
              <a:rPr lang="en-US" sz="2200" spc="-15" dirty="0">
                <a:effectLst/>
                <a:ea typeface="Calibri" panose="020F0502020204030204" pitchFamily="34" charset="0"/>
              </a:rPr>
              <a:t> </a:t>
            </a:r>
            <a:r>
              <a:rPr lang="en-US" sz="2200" dirty="0">
                <a:effectLst/>
                <a:ea typeface="Calibri" panose="020F0502020204030204" pitchFamily="34" charset="0"/>
              </a:rPr>
              <a:t>the</a:t>
            </a:r>
            <a:r>
              <a:rPr lang="en-US" sz="2200" spc="-10" dirty="0">
                <a:effectLst/>
                <a:ea typeface="Calibri" panose="020F0502020204030204" pitchFamily="34" charset="0"/>
              </a:rPr>
              <a:t> </a:t>
            </a:r>
            <a:r>
              <a:rPr lang="en-US" sz="2200" dirty="0">
                <a:effectLst/>
                <a:ea typeface="Calibri" panose="020F0502020204030204" pitchFamily="34" charset="0"/>
              </a:rPr>
              <a:t>lower</a:t>
            </a:r>
            <a:r>
              <a:rPr lang="en-US" sz="2200" spc="-10" dirty="0">
                <a:effectLst/>
                <a:ea typeface="Calibri" panose="020F0502020204030204" pitchFamily="34" charset="0"/>
              </a:rPr>
              <a:t> </a:t>
            </a:r>
            <a:r>
              <a:rPr lang="en-US" sz="2200" dirty="0">
                <a:effectLst/>
                <a:ea typeface="Calibri" panose="020F0502020204030204" pitchFamily="34" charset="0"/>
              </a:rPr>
              <a:t>part</a:t>
            </a:r>
            <a:r>
              <a:rPr lang="en-US" sz="2200" spc="-20" dirty="0">
                <a:effectLst/>
                <a:ea typeface="Calibri" panose="020F0502020204030204" pitchFamily="34" charset="0"/>
              </a:rPr>
              <a:t> </a:t>
            </a:r>
            <a:r>
              <a:rPr lang="en-US" sz="2200" dirty="0">
                <a:effectLst/>
                <a:ea typeface="Calibri" panose="020F0502020204030204" pitchFamily="34" charset="0"/>
              </a:rPr>
              <a:t>of</a:t>
            </a:r>
            <a:r>
              <a:rPr lang="en-US" sz="2200" spc="-10" dirty="0">
                <a:effectLst/>
                <a:ea typeface="Calibri" panose="020F0502020204030204" pitchFamily="34" charset="0"/>
              </a:rPr>
              <a:t> </a:t>
            </a:r>
            <a:r>
              <a:rPr lang="en-US" sz="2200" dirty="0">
                <a:effectLst/>
                <a:ea typeface="Calibri" panose="020F0502020204030204" pitchFamily="34" charset="0"/>
              </a:rPr>
              <a:t>Figure,</a:t>
            </a:r>
          </a:p>
          <a:p>
            <a:pPr marL="342900" marR="0" lvl="0" indent="-342900" algn="just">
              <a:lnSpc>
                <a:spcPct val="150000"/>
              </a:lnSpc>
              <a:spcBef>
                <a:spcPts val="5"/>
              </a:spcBef>
              <a:buFont typeface="Wingdings" panose="05000000000000000000" pitchFamily="2" charset="2"/>
              <a:buChar char=""/>
              <a:tabLst>
                <a:tab pos="624840" algn="l"/>
              </a:tabLst>
            </a:pPr>
            <a:r>
              <a:rPr lang="en-US" sz="2200" dirty="0">
                <a:effectLst/>
                <a:ea typeface="Calibri" panose="020F0502020204030204" pitchFamily="34" charset="0"/>
              </a:rPr>
              <a:t>the</a:t>
            </a:r>
            <a:r>
              <a:rPr lang="en-US" sz="2200" spc="-20" dirty="0">
                <a:effectLst/>
                <a:ea typeface="Calibri" panose="020F0502020204030204" pitchFamily="34" charset="0"/>
              </a:rPr>
              <a:t> </a:t>
            </a:r>
            <a:r>
              <a:rPr lang="en-US" sz="2200" dirty="0">
                <a:effectLst/>
                <a:ea typeface="Calibri" panose="020F0502020204030204" pitchFamily="34" charset="0"/>
              </a:rPr>
              <a:t>runtime</a:t>
            </a:r>
            <a:r>
              <a:rPr lang="en-US" sz="2200" spc="-20" dirty="0">
                <a:effectLst/>
                <a:ea typeface="Calibri" panose="020F0502020204030204" pitchFamily="34" charset="0"/>
              </a:rPr>
              <a:t> </a:t>
            </a:r>
            <a:r>
              <a:rPr lang="en-US" sz="2200" dirty="0">
                <a:effectLst/>
                <a:ea typeface="Calibri" panose="020F0502020204030204" pitchFamily="34" charset="0"/>
              </a:rPr>
              <a:t>database</a:t>
            </a:r>
            <a:r>
              <a:rPr lang="en-US" sz="2200" spc="-15" dirty="0">
                <a:effectLst/>
                <a:ea typeface="Calibri" panose="020F0502020204030204" pitchFamily="34" charset="0"/>
              </a:rPr>
              <a:t> </a:t>
            </a:r>
            <a:r>
              <a:rPr lang="en-US" sz="2200" dirty="0">
                <a:effectLst/>
                <a:ea typeface="Calibri" panose="020F0502020204030204" pitchFamily="34" charset="0"/>
              </a:rPr>
              <a:t>processor executes</a:t>
            </a:r>
          </a:p>
          <a:p>
            <a:pPr marL="1143000" marR="0" lvl="2" indent="-228600" algn="just">
              <a:lnSpc>
                <a:spcPct val="150000"/>
              </a:lnSpc>
              <a:buSzPts val="1100"/>
              <a:buFont typeface="Calibri" panose="020F0502020204030204" pitchFamily="34" charset="0"/>
              <a:buAutoNum type="arabicParenBoth"/>
              <a:tabLst>
                <a:tab pos="829310" algn="l"/>
              </a:tabLst>
            </a:pPr>
            <a:r>
              <a:rPr lang="en-US" sz="2200" spc="-10" dirty="0">
                <a:effectLst/>
                <a:ea typeface="Calibri" panose="020F0502020204030204" pitchFamily="34" charset="0"/>
              </a:rPr>
              <a:t>the</a:t>
            </a:r>
            <a:r>
              <a:rPr lang="en-US" sz="2200" spc="-15" dirty="0">
                <a:effectLst/>
                <a:ea typeface="Calibri" panose="020F0502020204030204" pitchFamily="34" charset="0"/>
              </a:rPr>
              <a:t> </a:t>
            </a:r>
            <a:r>
              <a:rPr lang="en-US" sz="2200" spc="-10" dirty="0">
                <a:effectLst/>
                <a:ea typeface="Calibri" panose="020F0502020204030204" pitchFamily="34" charset="0"/>
              </a:rPr>
              <a:t>privileged commands</a:t>
            </a:r>
          </a:p>
          <a:p>
            <a:pPr marL="1143000" marR="0" lvl="2" indent="-228600" algn="just">
              <a:lnSpc>
                <a:spcPct val="150000"/>
              </a:lnSpc>
              <a:spcBef>
                <a:spcPts val="5"/>
              </a:spcBef>
              <a:buSzPts val="1100"/>
              <a:buFont typeface="Calibri" panose="020F0502020204030204" pitchFamily="34" charset="0"/>
              <a:buAutoNum type="arabicParenBoth"/>
              <a:tabLst>
                <a:tab pos="829310" algn="l"/>
              </a:tabLst>
            </a:pPr>
            <a:r>
              <a:rPr lang="en-US" sz="2200" spc="-10" dirty="0">
                <a:effectLst/>
                <a:ea typeface="Calibri" panose="020F0502020204030204" pitchFamily="34" charset="0"/>
              </a:rPr>
              <a:t>the executable query plans,</a:t>
            </a:r>
            <a:r>
              <a:rPr lang="en-US" sz="2200" spc="-25" dirty="0">
                <a:effectLst/>
                <a:ea typeface="Calibri" panose="020F0502020204030204" pitchFamily="34" charset="0"/>
              </a:rPr>
              <a:t> </a:t>
            </a:r>
            <a:r>
              <a:rPr lang="en-US" sz="2200" spc="-10" dirty="0">
                <a:effectLst/>
                <a:ea typeface="Calibri" panose="020F0502020204030204" pitchFamily="34" charset="0"/>
              </a:rPr>
              <a:t>and</a:t>
            </a:r>
          </a:p>
          <a:p>
            <a:pPr marL="1143000" marR="0" lvl="2" indent="-228600" algn="just">
              <a:lnSpc>
                <a:spcPct val="150000"/>
              </a:lnSpc>
              <a:buSzPts val="1100"/>
              <a:buFont typeface="Calibri" panose="020F0502020204030204" pitchFamily="34" charset="0"/>
              <a:buAutoNum type="arabicParenBoth"/>
              <a:tabLst>
                <a:tab pos="829310" algn="l"/>
              </a:tabLst>
            </a:pPr>
            <a:r>
              <a:rPr lang="en-US" sz="2200" spc="-10" dirty="0">
                <a:effectLst/>
                <a:ea typeface="Calibri" panose="020F0502020204030204" pitchFamily="34" charset="0"/>
              </a:rPr>
              <a:t>the</a:t>
            </a:r>
            <a:r>
              <a:rPr lang="en-US" sz="2200" spc="-20" dirty="0">
                <a:effectLst/>
                <a:ea typeface="Calibri" panose="020F0502020204030204" pitchFamily="34" charset="0"/>
              </a:rPr>
              <a:t> </a:t>
            </a:r>
            <a:r>
              <a:rPr lang="en-US" sz="2200" spc="-10" dirty="0">
                <a:effectLst/>
                <a:ea typeface="Calibri" panose="020F0502020204030204" pitchFamily="34" charset="0"/>
              </a:rPr>
              <a:t>canned</a:t>
            </a:r>
            <a:r>
              <a:rPr lang="en-US" sz="2200" spc="5" dirty="0">
                <a:effectLst/>
                <a:ea typeface="Calibri" panose="020F0502020204030204" pitchFamily="34" charset="0"/>
              </a:rPr>
              <a:t> </a:t>
            </a:r>
            <a:r>
              <a:rPr lang="en-US" sz="2200" spc="-10" dirty="0">
                <a:effectLst/>
                <a:ea typeface="Calibri" panose="020F0502020204030204" pitchFamily="34" charset="0"/>
              </a:rPr>
              <a:t>transactions</a:t>
            </a:r>
            <a:r>
              <a:rPr lang="en-US" sz="2200" spc="-15" dirty="0">
                <a:effectLst/>
                <a:ea typeface="Calibri" panose="020F0502020204030204" pitchFamily="34" charset="0"/>
              </a:rPr>
              <a:t> </a:t>
            </a:r>
            <a:r>
              <a:rPr lang="en-US" sz="2200" spc="-10" dirty="0">
                <a:effectLst/>
                <a:ea typeface="Calibri" panose="020F0502020204030204" pitchFamily="34" charset="0"/>
              </a:rPr>
              <a:t>with runtime</a:t>
            </a:r>
            <a:r>
              <a:rPr lang="en-US" sz="2200" spc="-15" dirty="0">
                <a:effectLst/>
                <a:ea typeface="Calibri" panose="020F0502020204030204" pitchFamily="34" charset="0"/>
              </a:rPr>
              <a:t> </a:t>
            </a:r>
            <a:r>
              <a:rPr lang="en-US" sz="2200" spc="-10" dirty="0">
                <a:effectLst/>
                <a:ea typeface="Calibri" panose="020F0502020204030204" pitchFamily="34" charset="0"/>
              </a:rPr>
              <a:t>parameters.</a:t>
            </a:r>
          </a:p>
          <a:p>
            <a:pPr marL="342900" marR="0" lvl="0" indent="-342900" algn="just">
              <a:lnSpc>
                <a:spcPct val="150000"/>
              </a:lnSpc>
              <a:spcBef>
                <a:spcPts val="5"/>
              </a:spcBef>
              <a:buFont typeface="Wingdings" panose="05000000000000000000" pitchFamily="2" charset="2"/>
              <a:buChar char=""/>
              <a:tabLst>
                <a:tab pos="624840" algn="l"/>
              </a:tabLst>
            </a:pPr>
            <a:r>
              <a:rPr lang="en-US" sz="2200" dirty="0">
                <a:effectLst/>
                <a:ea typeface="Calibri" panose="020F0502020204030204" pitchFamily="34" charset="0"/>
              </a:rPr>
              <a:t>It</a:t>
            </a:r>
            <a:r>
              <a:rPr lang="en-US" sz="2200" spc="-25" dirty="0">
                <a:effectLst/>
                <a:ea typeface="Calibri" panose="020F0502020204030204" pitchFamily="34" charset="0"/>
              </a:rPr>
              <a:t> </a:t>
            </a:r>
            <a:r>
              <a:rPr lang="en-US" sz="2200" dirty="0">
                <a:effectLst/>
                <a:ea typeface="Calibri" panose="020F0502020204030204" pitchFamily="34" charset="0"/>
              </a:rPr>
              <a:t>works</a:t>
            </a:r>
            <a:r>
              <a:rPr lang="en-US" sz="2200" spc="-10" dirty="0">
                <a:effectLst/>
                <a:ea typeface="Calibri" panose="020F0502020204030204" pitchFamily="34" charset="0"/>
              </a:rPr>
              <a:t> </a:t>
            </a:r>
            <a:r>
              <a:rPr lang="en-US" sz="2200" dirty="0">
                <a:effectLst/>
                <a:ea typeface="Calibri" panose="020F0502020204030204" pitchFamily="34" charset="0"/>
              </a:rPr>
              <a:t>with</a:t>
            </a:r>
            <a:r>
              <a:rPr lang="en-US" sz="2200" spc="-20" dirty="0">
                <a:effectLst/>
                <a:ea typeface="Calibri" panose="020F0502020204030204" pitchFamily="34" charset="0"/>
              </a:rPr>
              <a:t> </a:t>
            </a:r>
            <a:r>
              <a:rPr lang="en-US" sz="2200" dirty="0">
                <a:effectLst/>
                <a:ea typeface="Calibri" panose="020F0502020204030204" pitchFamily="34" charset="0"/>
              </a:rPr>
              <a:t>the</a:t>
            </a:r>
            <a:r>
              <a:rPr lang="en-US" sz="2200" spc="-10" dirty="0">
                <a:effectLst/>
                <a:ea typeface="Calibri" panose="020F0502020204030204" pitchFamily="34" charset="0"/>
              </a:rPr>
              <a:t> </a:t>
            </a:r>
            <a:r>
              <a:rPr lang="en-US" sz="2200" dirty="0">
                <a:effectLst/>
                <a:ea typeface="Calibri" panose="020F0502020204030204" pitchFamily="34" charset="0"/>
              </a:rPr>
              <a:t>system</a:t>
            </a:r>
            <a:r>
              <a:rPr lang="en-US" sz="2200" spc="-5" dirty="0">
                <a:effectLst/>
                <a:ea typeface="Calibri" panose="020F0502020204030204" pitchFamily="34" charset="0"/>
              </a:rPr>
              <a:t> </a:t>
            </a:r>
            <a:r>
              <a:rPr lang="en-US" sz="2200" dirty="0">
                <a:effectLst/>
                <a:ea typeface="Calibri" panose="020F0502020204030204" pitchFamily="34" charset="0"/>
              </a:rPr>
              <a:t>catalog</a:t>
            </a:r>
            <a:r>
              <a:rPr lang="en-US" sz="2200" spc="-10" dirty="0">
                <a:effectLst/>
                <a:ea typeface="Calibri" panose="020F0502020204030204" pitchFamily="34" charset="0"/>
              </a:rPr>
              <a:t> </a:t>
            </a:r>
            <a:r>
              <a:rPr lang="en-US" sz="2200" dirty="0">
                <a:effectLst/>
                <a:ea typeface="Calibri" panose="020F0502020204030204" pitchFamily="34" charset="0"/>
              </a:rPr>
              <a:t>and</a:t>
            </a:r>
            <a:r>
              <a:rPr lang="en-US" sz="2200" spc="-15" dirty="0">
                <a:effectLst/>
                <a:ea typeface="Calibri" panose="020F0502020204030204" pitchFamily="34" charset="0"/>
              </a:rPr>
              <a:t> </a:t>
            </a:r>
            <a:r>
              <a:rPr lang="en-US" sz="2200" dirty="0">
                <a:effectLst/>
                <a:ea typeface="Calibri" panose="020F0502020204030204" pitchFamily="34" charset="0"/>
              </a:rPr>
              <a:t>may</a:t>
            </a:r>
            <a:r>
              <a:rPr lang="en-US" sz="2200" spc="-15" dirty="0">
                <a:effectLst/>
                <a:ea typeface="Calibri" panose="020F0502020204030204" pitchFamily="34" charset="0"/>
              </a:rPr>
              <a:t> </a:t>
            </a:r>
            <a:r>
              <a:rPr lang="en-US" sz="2200" dirty="0">
                <a:effectLst/>
                <a:ea typeface="Calibri" panose="020F0502020204030204" pitchFamily="34" charset="0"/>
              </a:rPr>
              <a:t>update</a:t>
            </a:r>
            <a:r>
              <a:rPr lang="en-US" sz="2200" spc="-10" dirty="0">
                <a:effectLst/>
                <a:ea typeface="Calibri" panose="020F0502020204030204" pitchFamily="34" charset="0"/>
              </a:rPr>
              <a:t> </a:t>
            </a:r>
            <a:r>
              <a:rPr lang="en-US" sz="2200" dirty="0">
                <a:effectLst/>
                <a:ea typeface="Calibri" panose="020F0502020204030204" pitchFamily="34" charset="0"/>
              </a:rPr>
              <a:t>it with</a:t>
            </a:r>
            <a:r>
              <a:rPr lang="en-US" sz="2200" spc="-20" dirty="0">
                <a:effectLst/>
                <a:ea typeface="Calibri" panose="020F0502020204030204" pitchFamily="34" charset="0"/>
              </a:rPr>
              <a:t> </a:t>
            </a:r>
            <a:r>
              <a:rPr lang="en-US" sz="2200" dirty="0">
                <a:effectLst/>
                <a:ea typeface="Calibri" panose="020F0502020204030204" pitchFamily="34" charset="0"/>
              </a:rPr>
              <a:t>statistics.</a:t>
            </a:r>
          </a:p>
          <a:p>
            <a:pPr marL="342900" marR="233045" lvl="0" indent="-342900" algn="just">
              <a:lnSpc>
                <a:spcPct val="150000"/>
              </a:lnSpc>
              <a:buFont typeface="Wingdings" panose="05000000000000000000" pitchFamily="2" charset="2"/>
              <a:buChar char=""/>
              <a:tabLst>
                <a:tab pos="624840" algn="l"/>
              </a:tabLst>
            </a:pPr>
            <a:r>
              <a:rPr lang="en-US" sz="2200" dirty="0">
                <a:effectLst/>
                <a:ea typeface="Calibri" panose="020F0502020204030204" pitchFamily="34" charset="0"/>
              </a:rPr>
              <a:t>It</a:t>
            </a:r>
            <a:r>
              <a:rPr lang="en-US" sz="2200" spc="20" dirty="0">
                <a:effectLst/>
                <a:ea typeface="Calibri" panose="020F0502020204030204" pitchFamily="34" charset="0"/>
              </a:rPr>
              <a:t> </a:t>
            </a:r>
            <a:r>
              <a:rPr lang="en-US" sz="2200" dirty="0">
                <a:effectLst/>
                <a:ea typeface="Calibri" panose="020F0502020204030204" pitchFamily="34" charset="0"/>
              </a:rPr>
              <a:t>also</a:t>
            </a:r>
            <a:r>
              <a:rPr lang="en-US" sz="2200" spc="30" dirty="0">
                <a:effectLst/>
                <a:ea typeface="Calibri" panose="020F0502020204030204" pitchFamily="34" charset="0"/>
              </a:rPr>
              <a:t> </a:t>
            </a:r>
            <a:r>
              <a:rPr lang="en-US" sz="2200" dirty="0">
                <a:effectLst/>
                <a:ea typeface="Calibri" panose="020F0502020204030204" pitchFamily="34" charset="0"/>
              </a:rPr>
              <a:t>works</a:t>
            </a:r>
            <a:r>
              <a:rPr lang="en-US" sz="2200" spc="35" dirty="0">
                <a:effectLst/>
                <a:ea typeface="Calibri" panose="020F0502020204030204" pitchFamily="34" charset="0"/>
              </a:rPr>
              <a:t> </a:t>
            </a:r>
            <a:r>
              <a:rPr lang="en-US" sz="2200" dirty="0">
                <a:effectLst/>
                <a:ea typeface="Calibri" panose="020F0502020204030204" pitchFamily="34" charset="0"/>
              </a:rPr>
              <a:t>with</a:t>
            </a:r>
            <a:r>
              <a:rPr lang="en-US" sz="2200" spc="30" dirty="0">
                <a:effectLst/>
                <a:ea typeface="Calibri" panose="020F0502020204030204" pitchFamily="34" charset="0"/>
              </a:rPr>
              <a:t> </a:t>
            </a:r>
            <a:r>
              <a:rPr lang="en-US" sz="2200" dirty="0">
                <a:effectLst/>
                <a:ea typeface="Calibri" panose="020F0502020204030204" pitchFamily="34" charset="0"/>
              </a:rPr>
              <a:t>the</a:t>
            </a:r>
            <a:r>
              <a:rPr lang="en-US" sz="2200" spc="40" dirty="0">
                <a:effectLst/>
                <a:ea typeface="Calibri" panose="020F0502020204030204" pitchFamily="34" charset="0"/>
              </a:rPr>
              <a:t> </a:t>
            </a:r>
            <a:r>
              <a:rPr lang="en-US" sz="2200" dirty="0">
                <a:effectLst/>
                <a:ea typeface="Calibri" panose="020F0502020204030204" pitchFamily="34" charset="0"/>
              </a:rPr>
              <a:t>stored</a:t>
            </a:r>
            <a:r>
              <a:rPr lang="en-US" sz="2200" spc="50" dirty="0">
                <a:effectLst/>
                <a:ea typeface="Calibri" panose="020F0502020204030204" pitchFamily="34" charset="0"/>
              </a:rPr>
              <a:t> </a:t>
            </a:r>
            <a:r>
              <a:rPr lang="en-US" sz="2200" dirty="0">
                <a:effectLst/>
                <a:ea typeface="Calibri" panose="020F0502020204030204" pitchFamily="34" charset="0"/>
              </a:rPr>
              <a:t>data</a:t>
            </a:r>
            <a:r>
              <a:rPr lang="en-US" sz="2200" spc="35" dirty="0">
                <a:effectLst/>
                <a:ea typeface="Calibri" panose="020F0502020204030204" pitchFamily="34" charset="0"/>
              </a:rPr>
              <a:t> </a:t>
            </a:r>
            <a:r>
              <a:rPr lang="en-US" sz="2200" dirty="0">
                <a:effectLst/>
                <a:ea typeface="Calibri" panose="020F0502020204030204" pitchFamily="34" charset="0"/>
              </a:rPr>
              <a:t>manager,</a:t>
            </a:r>
            <a:r>
              <a:rPr lang="en-US" sz="2200" spc="20" dirty="0">
                <a:effectLst/>
                <a:ea typeface="Calibri" panose="020F0502020204030204" pitchFamily="34" charset="0"/>
              </a:rPr>
              <a:t> </a:t>
            </a:r>
            <a:r>
              <a:rPr lang="en-US" sz="2200" dirty="0">
                <a:effectLst/>
                <a:ea typeface="Calibri" panose="020F0502020204030204" pitchFamily="34" charset="0"/>
              </a:rPr>
              <a:t>which</a:t>
            </a:r>
            <a:r>
              <a:rPr lang="en-US" sz="2200" spc="30" dirty="0">
                <a:effectLst/>
                <a:ea typeface="Calibri" panose="020F0502020204030204" pitchFamily="34" charset="0"/>
              </a:rPr>
              <a:t> </a:t>
            </a:r>
            <a:r>
              <a:rPr lang="en-US" sz="2200" dirty="0">
                <a:effectLst/>
                <a:ea typeface="Calibri" panose="020F0502020204030204" pitchFamily="34" charset="0"/>
              </a:rPr>
              <a:t>in</a:t>
            </a:r>
            <a:r>
              <a:rPr lang="en-US" sz="2200" spc="55" dirty="0">
                <a:effectLst/>
                <a:ea typeface="Calibri" panose="020F0502020204030204" pitchFamily="34" charset="0"/>
              </a:rPr>
              <a:t> </a:t>
            </a:r>
            <a:r>
              <a:rPr lang="en-US" sz="2200" dirty="0">
                <a:effectLst/>
                <a:ea typeface="Calibri" panose="020F0502020204030204" pitchFamily="34" charset="0"/>
              </a:rPr>
              <a:t>turn</a:t>
            </a:r>
            <a:r>
              <a:rPr lang="en-US" sz="2200" spc="25" dirty="0">
                <a:effectLst/>
                <a:ea typeface="Calibri" panose="020F0502020204030204" pitchFamily="34" charset="0"/>
              </a:rPr>
              <a:t> </a:t>
            </a:r>
            <a:r>
              <a:rPr lang="en-US" sz="2200" dirty="0">
                <a:effectLst/>
                <a:ea typeface="Calibri" panose="020F0502020204030204" pitchFamily="34" charset="0"/>
              </a:rPr>
              <a:t>uses</a:t>
            </a:r>
            <a:r>
              <a:rPr lang="en-US" sz="2200" spc="40" dirty="0">
                <a:effectLst/>
                <a:ea typeface="Calibri" panose="020F0502020204030204" pitchFamily="34" charset="0"/>
              </a:rPr>
              <a:t> </a:t>
            </a:r>
            <a:r>
              <a:rPr lang="en-US" sz="2200" dirty="0">
                <a:effectLst/>
                <a:ea typeface="Calibri" panose="020F0502020204030204" pitchFamily="34" charset="0"/>
              </a:rPr>
              <a:t>basic</a:t>
            </a:r>
            <a:r>
              <a:rPr lang="en-US" sz="2200" spc="20" dirty="0">
                <a:effectLst/>
                <a:ea typeface="Calibri" panose="020F0502020204030204" pitchFamily="34" charset="0"/>
              </a:rPr>
              <a:t> </a:t>
            </a:r>
            <a:r>
              <a:rPr lang="en-US" sz="2200" dirty="0">
                <a:effectLst/>
                <a:ea typeface="Calibri" panose="020F0502020204030204" pitchFamily="34" charset="0"/>
              </a:rPr>
              <a:t>operating</a:t>
            </a:r>
            <a:r>
              <a:rPr lang="en-US" sz="2200" spc="45" dirty="0">
                <a:effectLst/>
                <a:ea typeface="Calibri" panose="020F0502020204030204" pitchFamily="34" charset="0"/>
              </a:rPr>
              <a:t> </a:t>
            </a:r>
            <a:r>
              <a:rPr lang="en-US" sz="2200" dirty="0">
                <a:effectLst/>
                <a:ea typeface="Calibri" panose="020F0502020204030204" pitchFamily="34" charset="0"/>
              </a:rPr>
              <a:t>system</a:t>
            </a:r>
            <a:r>
              <a:rPr lang="en-US" sz="2200" spc="45" dirty="0">
                <a:effectLst/>
                <a:ea typeface="Calibri" panose="020F0502020204030204" pitchFamily="34" charset="0"/>
              </a:rPr>
              <a:t> </a:t>
            </a:r>
            <a:r>
              <a:rPr lang="en-US" sz="2200" dirty="0">
                <a:effectLst/>
                <a:ea typeface="Calibri" panose="020F0502020204030204" pitchFamily="34" charset="0"/>
              </a:rPr>
              <a:t>services</a:t>
            </a:r>
            <a:r>
              <a:rPr lang="en-US" sz="2200" spc="35" dirty="0">
                <a:effectLst/>
                <a:ea typeface="Calibri" panose="020F0502020204030204" pitchFamily="34" charset="0"/>
              </a:rPr>
              <a:t> </a:t>
            </a:r>
            <a:r>
              <a:rPr lang="en-US" sz="2200" dirty="0">
                <a:effectLst/>
                <a:ea typeface="Calibri" panose="020F0502020204030204" pitchFamily="34" charset="0"/>
              </a:rPr>
              <a:t>for</a:t>
            </a:r>
            <a:r>
              <a:rPr lang="en-US" sz="2200" spc="35" dirty="0">
                <a:effectLst/>
                <a:ea typeface="Calibri" panose="020F0502020204030204" pitchFamily="34" charset="0"/>
              </a:rPr>
              <a:t> </a:t>
            </a:r>
            <a:r>
              <a:rPr lang="en-US" sz="2200" dirty="0">
                <a:effectLst/>
                <a:ea typeface="Calibri" panose="020F0502020204030204" pitchFamily="34" charset="0"/>
              </a:rPr>
              <a:t>carrying</a:t>
            </a:r>
            <a:r>
              <a:rPr lang="en-US" sz="2200" spc="40" dirty="0">
                <a:effectLst/>
                <a:ea typeface="Calibri" panose="020F0502020204030204" pitchFamily="34" charset="0"/>
              </a:rPr>
              <a:t> </a:t>
            </a:r>
            <a:r>
              <a:rPr lang="en-US" sz="2200" dirty="0">
                <a:effectLst/>
                <a:ea typeface="Calibri" panose="020F0502020204030204" pitchFamily="34" charset="0"/>
              </a:rPr>
              <a:t>out</a:t>
            </a:r>
            <a:r>
              <a:rPr lang="en-US" sz="2200" spc="-230" dirty="0">
                <a:effectLst/>
                <a:ea typeface="Calibri" panose="020F0502020204030204" pitchFamily="34" charset="0"/>
              </a:rPr>
              <a:t> </a:t>
            </a:r>
            <a:r>
              <a:rPr lang="en-US" sz="2200" dirty="0">
                <a:effectLst/>
                <a:ea typeface="Calibri" panose="020F0502020204030204" pitchFamily="34" charset="0"/>
              </a:rPr>
              <a:t>low-level</a:t>
            </a:r>
            <a:r>
              <a:rPr lang="en-US" sz="2200" spc="-5" dirty="0">
                <a:effectLst/>
                <a:ea typeface="Calibri" panose="020F0502020204030204" pitchFamily="34" charset="0"/>
              </a:rPr>
              <a:t> </a:t>
            </a:r>
            <a:r>
              <a:rPr lang="en-US" sz="2200" dirty="0">
                <a:effectLst/>
                <a:ea typeface="Calibri" panose="020F0502020204030204" pitchFamily="34" charset="0"/>
              </a:rPr>
              <a:t>input/output</a:t>
            </a:r>
            <a:r>
              <a:rPr lang="en-US" sz="2200" spc="-20" dirty="0">
                <a:effectLst/>
                <a:ea typeface="Calibri" panose="020F0502020204030204" pitchFamily="34" charset="0"/>
              </a:rPr>
              <a:t> </a:t>
            </a:r>
            <a:r>
              <a:rPr lang="en-US" sz="2200" dirty="0">
                <a:effectLst/>
                <a:ea typeface="Calibri" panose="020F0502020204030204" pitchFamily="34" charset="0"/>
              </a:rPr>
              <a:t>(read/write)</a:t>
            </a:r>
            <a:r>
              <a:rPr lang="en-US" sz="2200" spc="-10" dirty="0">
                <a:effectLst/>
                <a:ea typeface="Calibri" panose="020F0502020204030204" pitchFamily="34" charset="0"/>
              </a:rPr>
              <a:t> </a:t>
            </a:r>
            <a:r>
              <a:rPr lang="en-US" sz="2200" dirty="0">
                <a:effectLst/>
                <a:ea typeface="Calibri" panose="020F0502020204030204" pitchFamily="34" charset="0"/>
              </a:rPr>
              <a:t>operations</a:t>
            </a:r>
            <a:r>
              <a:rPr lang="en-US" sz="2200" spc="-15" dirty="0">
                <a:effectLst/>
                <a:ea typeface="Calibri" panose="020F0502020204030204" pitchFamily="34" charset="0"/>
              </a:rPr>
              <a:t> </a:t>
            </a:r>
            <a:r>
              <a:rPr lang="en-US" sz="2200" dirty="0">
                <a:effectLst/>
                <a:ea typeface="Calibri" panose="020F0502020204030204" pitchFamily="34" charset="0"/>
              </a:rPr>
              <a:t>between</a:t>
            </a:r>
            <a:r>
              <a:rPr lang="en-US" sz="2200" spc="-15" dirty="0">
                <a:effectLst/>
                <a:ea typeface="Calibri" panose="020F0502020204030204" pitchFamily="34" charset="0"/>
              </a:rPr>
              <a:t> </a:t>
            </a:r>
            <a:r>
              <a:rPr lang="en-US" sz="2200" dirty="0">
                <a:effectLst/>
                <a:ea typeface="Calibri" panose="020F0502020204030204" pitchFamily="34" charset="0"/>
              </a:rPr>
              <a:t>the</a:t>
            </a:r>
            <a:r>
              <a:rPr lang="en-US" sz="2200" spc="-10" dirty="0">
                <a:effectLst/>
                <a:ea typeface="Calibri" panose="020F0502020204030204" pitchFamily="34" charset="0"/>
              </a:rPr>
              <a:t> </a:t>
            </a:r>
            <a:r>
              <a:rPr lang="en-US" sz="2200" dirty="0">
                <a:effectLst/>
                <a:ea typeface="Calibri" panose="020F0502020204030204" pitchFamily="34" charset="0"/>
              </a:rPr>
              <a:t>disk</a:t>
            </a:r>
            <a:r>
              <a:rPr lang="en-US" sz="2200" spc="-10" dirty="0">
                <a:effectLst/>
                <a:ea typeface="Calibri" panose="020F0502020204030204" pitchFamily="34" charset="0"/>
              </a:rPr>
              <a:t> </a:t>
            </a:r>
            <a:r>
              <a:rPr lang="en-US" sz="2200" dirty="0">
                <a:effectLst/>
                <a:ea typeface="Calibri" panose="020F0502020204030204" pitchFamily="34" charset="0"/>
              </a:rPr>
              <a:t>and</a:t>
            </a:r>
            <a:r>
              <a:rPr lang="en-US" sz="2200" spc="-20" dirty="0">
                <a:effectLst/>
                <a:ea typeface="Calibri" panose="020F0502020204030204" pitchFamily="34" charset="0"/>
              </a:rPr>
              <a:t> </a:t>
            </a:r>
            <a:r>
              <a:rPr lang="en-US" sz="2200" dirty="0">
                <a:effectLst/>
                <a:ea typeface="Calibri" panose="020F0502020204030204" pitchFamily="34" charset="0"/>
              </a:rPr>
              <a:t>main</a:t>
            </a:r>
            <a:r>
              <a:rPr lang="en-US" sz="2200" spc="-15" dirty="0">
                <a:effectLst/>
                <a:ea typeface="Calibri" panose="020F0502020204030204" pitchFamily="34" charset="0"/>
              </a:rPr>
              <a:t> </a:t>
            </a:r>
            <a:r>
              <a:rPr lang="en-US" sz="2200" dirty="0">
                <a:effectLst/>
                <a:ea typeface="Calibri" panose="020F0502020204030204" pitchFamily="34" charset="0"/>
              </a:rPr>
              <a:t>memory.</a:t>
            </a:r>
          </a:p>
          <a:p>
            <a:pPr marL="342900" marR="226695" lvl="0" indent="-342900" algn="just">
              <a:lnSpc>
                <a:spcPct val="150000"/>
              </a:lnSpc>
              <a:buFont typeface="Wingdings" panose="05000000000000000000" pitchFamily="2" charset="2"/>
              <a:buChar char=""/>
              <a:tabLst>
                <a:tab pos="655320" algn="l"/>
              </a:tabLst>
            </a:pPr>
            <a:r>
              <a:rPr lang="en-US" sz="2200" dirty="0">
                <a:effectLst/>
                <a:ea typeface="Calibri" panose="020F0502020204030204" pitchFamily="34" charset="0"/>
              </a:rPr>
              <a:t>The runtime database processor handles other aspects of data transfer, such as management of buffers</a:t>
            </a:r>
            <a:r>
              <a:rPr lang="en-US" sz="2200" spc="5" dirty="0">
                <a:effectLst/>
                <a:ea typeface="Calibri" panose="020F0502020204030204" pitchFamily="34" charset="0"/>
              </a:rPr>
              <a:t> </a:t>
            </a:r>
            <a:r>
              <a:rPr lang="en-US" sz="2200" dirty="0">
                <a:effectLst/>
                <a:ea typeface="Calibri" panose="020F0502020204030204" pitchFamily="34" charset="0"/>
              </a:rPr>
              <a:t>concurrency</a:t>
            </a:r>
            <a:r>
              <a:rPr lang="en-US" sz="2200" spc="115" dirty="0">
                <a:effectLst/>
                <a:ea typeface="Calibri" panose="020F0502020204030204" pitchFamily="34" charset="0"/>
              </a:rPr>
              <a:t> </a:t>
            </a:r>
            <a:r>
              <a:rPr lang="en-US" sz="2200" dirty="0">
                <a:effectLst/>
                <a:ea typeface="Calibri" panose="020F0502020204030204" pitchFamily="34" charset="0"/>
              </a:rPr>
              <a:t>control</a:t>
            </a:r>
            <a:r>
              <a:rPr lang="en-US" sz="2200" spc="130" dirty="0">
                <a:effectLst/>
                <a:ea typeface="Calibri" panose="020F0502020204030204" pitchFamily="34" charset="0"/>
              </a:rPr>
              <a:t> </a:t>
            </a:r>
            <a:r>
              <a:rPr lang="en-US" sz="2200" dirty="0">
                <a:effectLst/>
                <a:ea typeface="Calibri" panose="020F0502020204030204" pitchFamily="34" charset="0"/>
              </a:rPr>
              <a:t>and</a:t>
            </a:r>
            <a:r>
              <a:rPr lang="en-US" sz="2200" spc="115" dirty="0">
                <a:effectLst/>
                <a:ea typeface="Calibri" panose="020F0502020204030204" pitchFamily="34" charset="0"/>
              </a:rPr>
              <a:t> </a:t>
            </a:r>
            <a:r>
              <a:rPr lang="en-US" sz="2200" dirty="0">
                <a:effectLst/>
                <a:ea typeface="Calibri" panose="020F0502020204030204" pitchFamily="34" charset="0"/>
              </a:rPr>
              <a:t>backup</a:t>
            </a:r>
            <a:r>
              <a:rPr lang="en-US" sz="2200" spc="115" dirty="0">
                <a:effectLst/>
                <a:ea typeface="Calibri" panose="020F0502020204030204" pitchFamily="34" charset="0"/>
              </a:rPr>
              <a:t> </a:t>
            </a:r>
            <a:r>
              <a:rPr lang="en-US" sz="2200" dirty="0">
                <a:effectLst/>
                <a:ea typeface="Calibri" panose="020F0502020204030204" pitchFamily="34" charset="0"/>
              </a:rPr>
              <a:t>and</a:t>
            </a:r>
            <a:r>
              <a:rPr lang="en-US" sz="2200" spc="115" dirty="0">
                <a:effectLst/>
                <a:ea typeface="Calibri" panose="020F0502020204030204" pitchFamily="34" charset="0"/>
              </a:rPr>
              <a:t> </a:t>
            </a:r>
            <a:r>
              <a:rPr lang="en-US" sz="2200" dirty="0">
                <a:effectLst/>
                <a:ea typeface="Calibri" panose="020F0502020204030204" pitchFamily="34" charset="0"/>
              </a:rPr>
              <a:t>recovery</a:t>
            </a:r>
            <a:r>
              <a:rPr lang="en-US" sz="2200" spc="120" dirty="0">
                <a:effectLst/>
                <a:ea typeface="Calibri" panose="020F0502020204030204" pitchFamily="34" charset="0"/>
              </a:rPr>
              <a:t> </a:t>
            </a:r>
            <a:r>
              <a:rPr lang="en-US" sz="2200" dirty="0">
                <a:effectLst/>
                <a:ea typeface="Calibri" panose="020F0502020204030204" pitchFamily="34" charset="0"/>
              </a:rPr>
              <a:t>systems,</a:t>
            </a:r>
            <a:r>
              <a:rPr lang="en-US" sz="2200" spc="105" dirty="0">
                <a:effectLst/>
                <a:ea typeface="Calibri" panose="020F0502020204030204" pitchFamily="34" charset="0"/>
              </a:rPr>
              <a:t> </a:t>
            </a:r>
            <a:r>
              <a:rPr lang="en-US" sz="2200" dirty="0">
                <a:effectLst/>
                <a:ea typeface="Calibri" panose="020F0502020204030204" pitchFamily="34" charset="0"/>
              </a:rPr>
              <a:t>integrated</a:t>
            </a:r>
            <a:r>
              <a:rPr lang="en-US" sz="2200" spc="100" dirty="0">
                <a:effectLst/>
                <a:ea typeface="Calibri" panose="020F0502020204030204" pitchFamily="34" charset="0"/>
              </a:rPr>
              <a:t> </a:t>
            </a:r>
            <a:r>
              <a:rPr lang="en-US" sz="2200" dirty="0">
                <a:effectLst/>
                <a:ea typeface="Calibri" panose="020F0502020204030204" pitchFamily="34" charset="0"/>
              </a:rPr>
              <a:t>into</a:t>
            </a:r>
            <a:r>
              <a:rPr lang="en-US" sz="2200" spc="110" dirty="0">
                <a:effectLst/>
                <a:ea typeface="Calibri" panose="020F0502020204030204" pitchFamily="34" charset="0"/>
              </a:rPr>
              <a:t> </a:t>
            </a:r>
            <a:r>
              <a:rPr lang="en-US" sz="2200" dirty="0">
                <a:effectLst/>
                <a:ea typeface="Calibri" panose="020F0502020204030204" pitchFamily="34" charset="0"/>
              </a:rPr>
              <a:t>the</a:t>
            </a:r>
            <a:r>
              <a:rPr lang="en-US" sz="2200" spc="115" dirty="0">
                <a:effectLst/>
                <a:ea typeface="Calibri" panose="020F0502020204030204" pitchFamily="34" charset="0"/>
              </a:rPr>
              <a:t> </a:t>
            </a:r>
            <a:r>
              <a:rPr lang="en-US" sz="2200" dirty="0">
                <a:effectLst/>
                <a:ea typeface="Calibri" panose="020F0502020204030204" pitchFamily="34" charset="0"/>
              </a:rPr>
              <a:t>working</a:t>
            </a:r>
            <a:r>
              <a:rPr lang="en-US" sz="2200" spc="125" dirty="0">
                <a:effectLst/>
                <a:ea typeface="Calibri" panose="020F0502020204030204" pitchFamily="34" charset="0"/>
              </a:rPr>
              <a:t> </a:t>
            </a:r>
            <a:r>
              <a:rPr lang="en-US" sz="2200" dirty="0">
                <a:effectLst/>
                <a:ea typeface="Calibri" panose="020F0502020204030204" pitchFamily="34" charset="0"/>
              </a:rPr>
              <a:t>of</a:t>
            </a:r>
            <a:r>
              <a:rPr lang="en-US" sz="2200" spc="115" dirty="0">
                <a:effectLst/>
                <a:ea typeface="Calibri" panose="020F0502020204030204" pitchFamily="34" charset="0"/>
              </a:rPr>
              <a:t> </a:t>
            </a:r>
            <a:r>
              <a:rPr lang="en-US" sz="2200" dirty="0">
                <a:effectLst/>
                <a:ea typeface="Calibri" panose="020F0502020204030204" pitchFamily="34" charset="0"/>
              </a:rPr>
              <a:t>the</a:t>
            </a:r>
            <a:r>
              <a:rPr lang="en-US" sz="2200" spc="100" dirty="0">
                <a:effectLst/>
                <a:ea typeface="Calibri" panose="020F0502020204030204" pitchFamily="34" charset="0"/>
              </a:rPr>
              <a:t> </a:t>
            </a:r>
            <a:r>
              <a:rPr lang="en-US" sz="2200" dirty="0">
                <a:effectLst/>
                <a:ea typeface="Calibri" panose="020F0502020204030204" pitchFamily="34" charset="0"/>
              </a:rPr>
              <a:t>runtime</a:t>
            </a:r>
            <a:r>
              <a:rPr lang="en-US" sz="2200" spc="120" dirty="0">
                <a:effectLst/>
                <a:ea typeface="Calibri" panose="020F0502020204030204" pitchFamily="34" charset="0"/>
              </a:rPr>
              <a:t> </a:t>
            </a:r>
            <a:r>
              <a:rPr lang="en-US" sz="2200" dirty="0">
                <a:effectLst/>
                <a:ea typeface="Calibri" panose="020F0502020204030204" pitchFamily="34" charset="0"/>
              </a:rPr>
              <a:t>database</a:t>
            </a:r>
            <a:r>
              <a:rPr lang="en-US" sz="2200" spc="-235" dirty="0">
                <a:effectLst/>
                <a:ea typeface="Calibri" panose="020F0502020204030204" pitchFamily="34" charset="0"/>
              </a:rPr>
              <a:t> </a:t>
            </a:r>
            <a:r>
              <a:rPr lang="en-US" sz="2200" dirty="0">
                <a:effectLst/>
                <a:ea typeface="Calibri" panose="020F0502020204030204" pitchFamily="34" charset="0"/>
              </a:rPr>
              <a:t>processor</a:t>
            </a:r>
            <a:r>
              <a:rPr lang="en-US" sz="2200" spc="-20" dirty="0">
                <a:effectLst/>
                <a:ea typeface="Calibri" panose="020F0502020204030204" pitchFamily="34" charset="0"/>
              </a:rPr>
              <a:t> </a:t>
            </a:r>
            <a:r>
              <a:rPr lang="en-US" sz="2200" dirty="0">
                <a:effectLst/>
                <a:ea typeface="Calibri" panose="020F0502020204030204" pitchFamily="34" charset="0"/>
              </a:rPr>
              <a:t>for</a:t>
            </a:r>
            <a:r>
              <a:rPr lang="en-US" sz="2200" spc="-10" dirty="0">
                <a:effectLst/>
                <a:ea typeface="Calibri" panose="020F0502020204030204" pitchFamily="34" charset="0"/>
              </a:rPr>
              <a:t> </a:t>
            </a:r>
            <a:r>
              <a:rPr lang="en-US" sz="2200" dirty="0">
                <a:effectLst/>
                <a:ea typeface="Calibri" panose="020F0502020204030204" pitchFamily="34" charset="0"/>
              </a:rPr>
              <a:t>purposes</a:t>
            </a:r>
            <a:r>
              <a:rPr lang="en-US" sz="2200" spc="-10" dirty="0">
                <a:effectLst/>
                <a:ea typeface="Calibri" panose="020F0502020204030204" pitchFamily="34" charset="0"/>
              </a:rPr>
              <a:t> </a:t>
            </a:r>
            <a:r>
              <a:rPr lang="en-US" sz="2200" dirty="0">
                <a:effectLst/>
                <a:ea typeface="Calibri" panose="020F0502020204030204" pitchFamily="34" charset="0"/>
              </a:rPr>
              <a:t>of</a:t>
            </a:r>
            <a:r>
              <a:rPr lang="en-US" sz="2200" spc="-10" dirty="0">
                <a:effectLst/>
                <a:ea typeface="Calibri" panose="020F0502020204030204" pitchFamily="34" charset="0"/>
              </a:rPr>
              <a:t> </a:t>
            </a:r>
            <a:r>
              <a:rPr lang="en-US" sz="2200" dirty="0">
                <a:effectLst/>
                <a:ea typeface="Calibri" panose="020F0502020204030204" pitchFamily="34" charset="0"/>
              </a:rPr>
              <a:t>transaction</a:t>
            </a:r>
            <a:r>
              <a:rPr lang="en-US" sz="2200" spc="-15" dirty="0">
                <a:effectLst/>
                <a:ea typeface="Calibri" panose="020F0502020204030204" pitchFamily="34" charset="0"/>
              </a:rPr>
              <a:t> </a:t>
            </a:r>
            <a:r>
              <a:rPr lang="en-US" sz="2200" dirty="0">
                <a:effectLst/>
                <a:ea typeface="Calibri" panose="020F0502020204030204" pitchFamily="34" charset="0"/>
              </a:rPr>
              <a:t>management.</a:t>
            </a:r>
          </a:p>
          <a:p>
            <a:pPr>
              <a:lnSpc>
                <a:spcPct val="150000"/>
              </a:lnSpc>
            </a:pPr>
            <a:endParaRPr lang="en-US" sz="2200" dirty="0"/>
          </a:p>
        </p:txBody>
      </p:sp>
    </p:spTree>
    <p:extLst>
      <p:ext uri="{BB962C8B-B14F-4D97-AF65-F5344CB8AC3E}">
        <p14:creationId xmlns:p14="http://schemas.microsoft.com/office/powerpoint/2010/main" val="4049465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65F36503-5E46-5BC5-14E7-9E37C95186EE}"/>
              </a:ext>
            </a:extLst>
          </p:cNvPr>
          <p:cNvGraphicFramePr/>
          <p:nvPr>
            <p:extLst>
              <p:ext uri="{D42A27DB-BD31-4B8C-83A1-F6EECF244321}">
                <p14:modId xmlns:p14="http://schemas.microsoft.com/office/powerpoint/2010/main" val="2931704737"/>
              </p:ext>
            </p:extLst>
          </p:nvPr>
        </p:nvGraphicFramePr>
        <p:xfrm>
          <a:off x="247973" y="325464"/>
          <a:ext cx="11778712" cy="5424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6338288C-4E78-8B35-E0A7-4F9D9C379C5F}"/>
              </a:ext>
            </a:extLst>
          </p:cNvPr>
          <p:cNvSpPr txBox="1"/>
          <p:nvPr/>
        </p:nvSpPr>
        <p:spPr>
          <a:xfrm>
            <a:off x="387458" y="1100380"/>
            <a:ext cx="11515240" cy="4926990"/>
          </a:xfrm>
          <a:prstGeom prst="rect">
            <a:avLst/>
          </a:prstGeom>
          <a:noFill/>
        </p:spPr>
        <p:txBody>
          <a:bodyPr wrap="square" rtlCol="0">
            <a:spAutoFit/>
          </a:bodyPr>
          <a:lstStyle/>
          <a:p>
            <a:pPr marL="139700" marR="2127250" algn="just">
              <a:buNone/>
            </a:pPr>
            <a:r>
              <a:rPr lang="en-US" sz="2000" dirty="0">
                <a:effectLst/>
                <a:ea typeface="Calibri" panose="020F0502020204030204" pitchFamily="34" charset="0"/>
              </a:rPr>
              <a:t>DBMSs</a:t>
            </a:r>
            <a:r>
              <a:rPr lang="en-US" sz="2000" spc="-20" dirty="0">
                <a:effectLst/>
                <a:ea typeface="Calibri" panose="020F0502020204030204" pitchFamily="34" charset="0"/>
              </a:rPr>
              <a:t> </a:t>
            </a:r>
            <a:r>
              <a:rPr lang="en-US" sz="2000" dirty="0">
                <a:effectLst/>
                <a:ea typeface="Calibri" panose="020F0502020204030204" pitchFamily="34" charset="0"/>
              </a:rPr>
              <a:t>have</a:t>
            </a:r>
            <a:r>
              <a:rPr lang="en-US" sz="2000" spc="-15" dirty="0">
                <a:effectLst/>
                <a:ea typeface="Calibri" panose="020F0502020204030204" pitchFamily="34" charset="0"/>
              </a:rPr>
              <a:t> </a:t>
            </a:r>
            <a:r>
              <a:rPr lang="en-US" sz="2000" dirty="0">
                <a:effectLst/>
                <a:ea typeface="Calibri" panose="020F0502020204030204" pitchFamily="34" charset="0"/>
              </a:rPr>
              <a:t>database</a:t>
            </a:r>
            <a:r>
              <a:rPr lang="en-US" sz="2000" spc="-15" dirty="0">
                <a:effectLst/>
                <a:ea typeface="Calibri" panose="020F0502020204030204" pitchFamily="34" charset="0"/>
              </a:rPr>
              <a:t> </a:t>
            </a:r>
            <a:r>
              <a:rPr lang="en-US" sz="2000" dirty="0">
                <a:effectLst/>
                <a:ea typeface="Calibri" panose="020F0502020204030204" pitchFamily="34" charset="0"/>
              </a:rPr>
              <a:t>utilities</a:t>
            </a:r>
            <a:r>
              <a:rPr lang="en-US" sz="2000" spc="-5" dirty="0">
                <a:effectLst/>
                <a:ea typeface="Calibri" panose="020F0502020204030204" pitchFamily="34" charset="0"/>
              </a:rPr>
              <a:t> </a:t>
            </a:r>
            <a:r>
              <a:rPr lang="en-US" sz="2000" dirty="0">
                <a:effectLst/>
                <a:ea typeface="Calibri" panose="020F0502020204030204" pitchFamily="34" charset="0"/>
              </a:rPr>
              <a:t>that</a:t>
            </a:r>
            <a:r>
              <a:rPr lang="en-US" sz="2000" spc="-30" dirty="0">
                <a:effectLst/>
                <a:ea typeface="Calibri" panose="020F0502020204030204" pitchFamily="34" charset="0"/>
              </a:rPr>
              <a:t> </a:t>
            </a:r>
            <a:r>
              <a:rPr lang="en-US" sz="2000" dirty="0">
                <a:effectLst/>
                <a:ea typeface="Calibri" panose="020F0502020204030204" pitchFamily="34" charset="0"/>
              </a:rPr>
              <a:t>help</a:t>
            </a:r>
            <a:r>
              <a:rPr lang="en-US" sz="2000" spc="-2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DBA</a:t>
            </a:r>
            <a:r>
              <a:rPr lang="en-US" sz="2000" spc="-5" dirty="0">
                <a:effectLst/>
                <a:ea typeface="Calibri" panose="020F0502020204030204" pitchFamily="34" charset="0"/>
              </a:rPr>
              <a:t> </a:t>
            </a:r>
            <a:r>
              <a:rPr lang="en-US" sz="2000" dirty="0">
                <a:effectLst/>
                <a:ea typeface="Calibri" panose="020F0502020204030204" pitchFamily="34" charset="0"/>
              </a:rPr>
              <a:t>manage</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database</a:t>
            </a:r>
            <a:r>
              <a:rPr lang="en-US" sz="2000" spc="-10" dirty="0">
                <a:effectLst/>
                <a:ea typeface="Calibri" panose="020F0502020204030204" pitchFamily="34" charset="0"/>
              </a:rPr>
              <a:t> </a:t>
            </a:r>
            <a:r>
              <a:rPr lang="en-US" sz="2000" dirty="0">
                <a:effectLst/>
                <a:ea typeface="Calibri" panose="020F0502020204030204" pitchFamily="34" charset="0"/>
              </a:rPr>
              <a:t>system.</a:t>
            </a:r>
            <a:r>
              <a:rPr lang="en-US" sz="2000" spc="-235" dirty="0">
                <a:effectLst/>
                <a:ea typeface="Calibri" panose="020F0502020204030204" pitchFamily="34" charset="0"/>
              </a:rPr>
              <a:t> </a:t>
            </a:r>
            <a:r>
              <a:rPr lang="en-US" sz="2000" dirty="0">
                <a:effectLst/>
                <a:ea typeface="Calibri" panose="020F0502020204030204" pitchFamily="34" charset="0"/>
              </a:rPr>
              <a:t>Common</a:t>
            </a:r>
            <a:r>
              <a:rPr lang="en-US" sz="2000" spc="-20" dirty="0">
                <a:ea typeface="Calibri" panose="020F0502020204030204" pitchFamily="34" charset="0"/>
              </a:rPr>
              <a:t> </a:t>
            </a:r>
            <a:r>
              <a:rPr lang="en-US" sz="2000" dirty="0">
                <a:effectLst/>
                <a:ea typeface="Calibri" panose="020F0502020204030204" pitchFamily="34" charset="0"/>
              </a:rPr>
              <a:t>utilities</a:t>
            </a:r>
            <a:r>
              <a:rPr lang="en-US" sz="2000" spc="-5" dirty="0">
                <a:effectLst/>
                <a:ea typeface="Calibri" panose="020F0502020204030204" pitchFamily="34" charset="0"/>
              </a:rPr>
              <a:t> </a:t>
            </a:r>
            <a:r>
              <a:rPr lang="en-US" sz="2000" dirty="0">
                <a:effectLst/>
                <a:ea typeface="Calibri" panose="020F0502020204030204" pitchFamily="34" charset="0"/>
              </a:rPr>
              <a:t>have</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following</a:t>
            </a:r>
            <a:r>
              <a:rPr lang="en-US" sz="2000" spc="-5" dirty="0">
                <a:effectLst/>
                <a:ea typeface="Calibri" panose="020F0502020204030204" pitchFamily="34" charset="0"/>
              </a:rPr>
              <a:t> </a:t>
            </a:r>
            <a:r>
              <a:rPr lang="en-US" sz="2000" dirty="0">
                <a:effectLst/>
                <a:ea typeface="Calibri" panose="020F0502020204030204" pitchFamily="34" charset="0"/>
              </a:rPr>
              <a:t>types</a:t>
            </a:r>
            <a:r>
              <a:rPr lang="en-US" sz="2000" spc="-5"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functions:</a:t>
            </a:r>
          </a:p>
          <a:p>
            <a:pPr marL="342900" marR="0" lvl="0" indent="-342900" algn="just">
              <a:spcBef>
                <a:spcPts val="10"/>
              </a:spcBef>
              <a:buFont typeface="Wingdings" panose="05000000000000000000" pitchFamily="2" charset="2"/>
              <a:buChar char=""/>
              <a:tabLst>
                <a:tab pos="597535" algn="l"/>
              </a:tabLst>
            </a:pPr>
            <a:r>
              <a:rPr lang="en-US" sz="2000" dirty="0">
                <a:effectLst/>
                <a:ea typeface="Calibri" panose="020F0502020204030204" pitchFamily="34" charset="0"/>
              </a:rPr>
              <a:t>Loading</a:t>
            </a:r>
          </a:p>
          <a:p>
            <a:pPr marL="742950" marR="0" lvl="1" indent="-285750" algn="just">
              <a:spcBef>
                <a:spcPts val="5"/>
              </a:spcBef>
              <a:buSzPts val="1100"/>
              <a:buFont typeface="Calibri" panose="020F0502020204030204" pitchFamily="34" charset="0"/>
              <a:buChar char="-"/>
              <a:tabLst>
                <a:tab pos="825500" algn="l"/>
                <a:tab pos="826135" algn="l"/>
              </a:tabLst>
            </a:pPr>
            <a:r>
              <a:rPr lang="en-US" sz="2000" dirty="0">
                <a:effectLst/>
                <a:ea typeface="Calibri" panose="020F0502020204030204" pitchFamily="34" charset="0"/>
              </a:rPr>
              <a:t>used</a:t>
            </a:r>
            <a:r>
              <a:rPr lang="en-US" sz="2000" spc="-20" dirty="0">
                <a:effectLst/>
                <a:ea typeface="Calibri" panose="020F0502020204030204" pitchFamily="34" charset="0"/>
              </a:rPr>
              <a:t> </a:t>
            </a:r>
            <a:r>
              <a:rPr lang="en-US" sz="2000" dirty="0">
                <a:effectLst/>
                <a:ea typeface="Calibri" panose="020F0502020204030204" pitchFamily="34" charset="0"/>
              </a:rPr>
              <a:t>to</a:t>
            </a:r>
            <a:r>
              <a:rPr lang="en-US" sz="2000" spc="-20" dirty="0">
                <a:effectLst/>
                <a:ea typeface="Calibri" panose="020F0502020204030204" pitchFamily="34" charset="0"/>
              </a:rPr>
              <a:t> </a:t>
            </a:r>
            <a:r>
              <a:rPr lang="en-US" sz="2000" dirty="0">
                <a:effectLst/>
                <a:ea typeface="Calibri" panose="020F0502020204030204" pitchFamily="34" charset="0"/>
              </a:rPr>
              <a:t>load</a:t>
            </a:r>
            <a:r>
              <a:rPr lang="en-US" sz="2000" spc="-20" dirty="0">
                <a:effectLst/>
                <a:ea typeface="Calibri" panose="020F0502020204030204" pitchFamily="34" charset="0"/>
              </a:rPr>
              <a:t> </a:t>
            </a:r>
            <a:r>
              <a:rPr lang="en-US" sz="2000" dirty="0">
                <a:effectLst/>
                <a:ea typeface="Calibri" panose="020F0502020204030204" pitchFamily="34" charset="0"/>
              </a:rPr>
              <a:t>existing</a:t>
            </a:r>
            <a:r>
              <a:rPr lang="en-US" sz="2000" spc="-10" dirty="0">
                <a:effectLst/>
                <a:ea typeface="Calibri" panose="020F0502020204030204" pitchFamily="34" charset="0"/>
              </a:rPr>
              <a:t> </a:t>
            </a:r>
            <a:r>
              <a:rPr lang="en-US" sz="2000" dirty="0">
                <a:effectLst/>
                <a:ea typeface="Calibri" panose="020F0502020204030204" pitchFamily="34" charset="0"/>
              </a:rPr>
              <a:t>data</a:t>
            </a:r>
            <a:r>
              <a:rPr lang="en-US" sz="2000" spc="-10" dirty="0">
                <a:effectLst/>
                <a:ea typeface="Calibri" panose="020F0502020204030204" pitchFamily="34" charset="0"/>
              </a:rPr>
              <a:t> </a:t>
            </a:r>
            <a:r>
              <a:rPr lang="en-US" sz="2000" dirty="0">
                <a:effectLst/>
                <a:ea typeface="Calibri" panose="020F0502020204030204" pitchFamily="34" charset="0"/>
              </a:rPr>
              <a:t>files—such</a:t>
            </a:r>
            <a:r>
              <a:rPr lang="en-US" sz="2000" spc="-20" dirty="0">
                <a:effectLst/>
                <a:ea typeface="Calibri" panose="020F0502020204030204" pitchFamily="34" charset="0"/>
              </a:rPr>
              <a:t> </a:t>
            </a:r>
            <a:r>
              <a:rPr lang="en-US" sz="2000" dirty="0">
                <a:effectLst/>
                <a:ea typeface="Calibri" panose="020F0502020204030204" pitchFamily="34" charset="0"/>
              </a:rPr>
              <a:t>as</a:t>
            </a:r>
            <a:r>
              <a:rPr lang="en-US" sz="2000" spc="-15" dirty="0">
                <a:effectLst/>
                <a:ea typeface="Calibri" panose="020F0502020204030204" pitchFamily="34" charset="0"/>
              </a:rPr>
              <a:t> </a:t>
            </a:r>
            <a:r>
              <a:rPr lang="en-US" sz="2000" dirty="0">
                <a:effectLst/>
                <a:ea typeface="Calibri" panose="020F0502020204030204" pitchFamily="34" charset="0"/>
              </a:rPr>
              <a:t>text</a:t>
            </a:r>
            <a:r>
              <a:rPr lang="en-US" sz="2000" spc="-25" dirty="0">
                <a:effectLst/>
                <a:ea typeface="Calibri" panose="020F0502020204030204" pitchFamily="34" charset="0"/>
              </a:rPr>
              <a:t> </a:t>
            </a:r>
            <a:r>
              <a:rPr lang="en-US" sz="2000" dirty="0">
                <a:effectLst/>
                <a:ea typeface="Calibri" panose="020F0502020204030204" pitchFamily="34" charset="0"/>
              </a:rPr>
              <a:t>files</a:t>
            </a:r>
            <a:r>
              <a:rPr lang="en-US" sz="2000" spc="-5" dirty="0">
                <a:effectLst/>
                <a:ea typeface="Calibri" panose="020F0502020204030204" pitchFamily="34" charset="0"/>
              </a:rPr>
              <a:t> </a:t>
            </a:r>
            <a:r>
              <a:rPr lang="en-US" sz="2000" dirty="0">
                <a:effectLst/>
                <a:ea typeface="Calibri" panose="020F0502020204030204" pitchFamily="34" charset="0"/>
              </a:rPr>
              <a:t>or</a:t>
            </a:r>
            <a:r>
              <a:rPr lang="en-US" sz="2000" spc="-15" dirty="0">
                <a:effectLst/>
                <a:ea typeface="Calibri" panose="020F0502020204030204" pitchFamily="34" charset="0"/>
              </a:rPr>
              <a:t> </a:t>
            </a:r>
            <a:r>
              <a:rPr lang="en-US" sz="2000" dirty="0">
                <a:effectLst/>
                <a:ea typeface="Calibri" panose="020F0502020204030204" pitchFamily="34" charset="0"/>
              </a:rPr>
              <a:t>sequential</a:t>
            </a:r>
            <a:r>
              <a:rPr lang="en-US" sz="2000" spc="-10" dirty="0">
                <a:effectLst/>
                <a:ea typeface="Calibri" panose="020F0502020204030204" pitchFamily="34" charset="0"/>
              </a:rPr>
              <a:t> </a:t>
            </a:r>
            <a:r>
              <a:rPr lang="en-US" sz="2000" dirty="0">
                <a:effectLst/>
                <a:ea typeface="Calibri" panose="020F0502020204030204" pitchFamily="34" charset="0"/>
              </a:rPr>
              <a:t>files—into</a:t>
            </a:r>
            <a:r>
              <a:rPr lang="en-US" sz="2000" spc="-2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database</a:t>
            </a:r>
          </a:p>
          <a:p>
            <a:pPr marL="742950" marR="0" lvl="1" indent="-285750" algn="just">
              <a:buSzPts val="1100"/>
              <a:buFont typeface="Calibri" panose="020F0502020204030204" pitchFamily="34" charset="0"/>
              <a:buChar char="-"/>
              <a:tabLst>
                <a:tab pos="825500" algn="l"/>
                <a:tab pos="826135" algn="l"/>
              </a:tabLst>
            </a:pPr>
            <a:r>
              <a:rPr lang="en-US" sz="2000" dirty="0">
                <a:effectLst/>
                <a:ea typeface="Calibri" panose="020F0502020204030204" pitchFamily="34" charset="0"/>
              </a:rPr>
              <a:t>automatically</a:t>
            </a:r>
            <a:r>
              <a:rPr lang="en-US" sz="2000" spc="-15" dirty="0">
                <a:effectLst/>
                <a:ea typeface="Calibri" panose="020F0502020204030204" pitchFamily="34" charset="0"/>
              </a:rPr>
              <a:t> </a:t>
            </a:r>
            <a:r>
              <a:rPr lang="en-US" sz="2000" dirty="0">
                <a:effectLst/>
                <a:ea typeface="Calibri" panose="020F0502020204030204" pitchFamily="34" charset="0"/>
              </a:rPr>
              <a:t>reformats</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data</a:t>
            </a:r>
            <a:r>
              <a:rPr lang="en-US" sz="2000" spc="-10" dirty="0">
                <a:effectLst/>
                <a:ea typeface="Calibri" panose="020F0502020204030204" pitchFamily="34" charset="0"/>
              </a:rPr>
              <a:t> </a:t>
            </a:r>
            <a:r>
              <a:rPr lang="en-US" sz="2000" dirty="0">
                <a:effectLst/>
                <a:ea typeface="Calibri" panose="020F0502020204030204" pitchFamily="34" charset="0"/>
              </a:rPr>
              <a:t>and</a:t>
            </a:r>
            <a:r>
              <a:rPr lang="en-US" sz="2000" spc="-5" dirty="0">
                <a:effectLst/>
                <a:ea typeface="Calibri" panose="020F0502020204030204" pitchFamily="34" charset="0"/>
              </a:rPr>
              <a:t> </a:t>
            </a:r>
            <a:r>
              <a:rPr lang="en-US" sz="2000" dirty="0">
                <a:effectLst/>
                <a:ea typeface="Calibri" panose="020F0502020204030204" pitchFamily="34" charset="0"/>
              </a:rPr>
              <a:t>stores</a:t>
            </a:r>
            <a:r>
              <a:rPr lang="en-US" sz="2000" spc="-10" dirty="0">
                <a:effectLst/>
                <a:ea typeface="Calibri" panose="020F0502020204030204" pitchFamily="34" charset="0"/>
              </a:rPr>
              <a:t> </a:t>
            </a:r>
            <a:r>
              <a:rPr lang="en-US" sz="2000" dirty="0">
                <a:effectLst/>
                <a:ea typeface="Calibri" panose="020F0502020204030204" pitchFamily="34" charset="0"/>
              </a:rPr>
              <a:t>it</a:t>
            </a:r>
            <a:r>
              <a:rPr lang="en-US" sz="2000" spc="-20" dirty="0">
                <a:effectLst/>
                <a:ea typeface="Calibri" panose="020F0502020204030204" pitchFamily="34" charset="0"/>
              </a:rPr>
              <a:t> </a:t>
            </a:r>
            <a:r>
              <a:rPr lang="en-US" sz="2000" dirty="0">
                <a:effectLst/>
                <a:ea typeface="Calibri" panose="020F0502020204030204" pitchFamily="34" charset="0"/>
              </a:rPr>
              <a:t>in</a:t>
            </a:r>
            <a:r>
              <a:rPr lang="en-US" sz="2000" spc="-2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database</a:t>
            </a:r>
          </a:p>
          <a:p>
            <a:pPr marL="742950" marR="227330" lvl="1" indent="-285750" algn="just">
              <a:buSzPts val="1100"/>
              <a:buFont typeface="Calibri" panose="020F0502020204030204" pitchFamily="34" charset="0"/>
              <a:buChar char="-"/>
              <a:tabLst>
                <a:tab pos="825500" algn="l"/>
                <a:tab pos="826135" algn="l"/>
              </a:tabLst>
            </a:pPr>
            <a:r>
              <a:rPr lang="en-US" sz="2000" dirty="0">
                <a:effectLst/>
                <a:ea typeface="Calibri" panose="020F0502020204030204" pitchFamily="34" charset="0"/>
              </a:rPr>
              <a:t>for</a:t>
            </a:r>
            <a:r>
              <a:rPr lang="en-US" sz="2000" spc="20" dirty="0">
                <a:effectLst/>
                <a:ea typeface="Calibri" panose="020F0502020204030204" pitchFamily="34" charset="0"/>
              </a:rPr>
              <a:t> </a:t>
            </a:r>
            <a:r>
              <a:rPr lang="en-US" sz="2000" dirty="0">
                <a:effectLst/>
                <a:ea typeface="Calibri" panose="020F0502020204030204" pitchFamily="34" charset="0"/>
              </a:rPr>
              <a:t>loading</a:t>
            </a:r>
            <a:r>
              <a:rPr lang="en-US" sz="2000" spc="5" dirty="0">
                <a:effectLst/>
                <a:ea typeface="Calibri" panose="020F0502020204030204" pitchFamily="34" charset="0"/>
              </a:rPr>
              <a:t> </a:t>
            </a:r>
            <a:r>
              <a:rPr lang="en-US" sz="2000" dirty="0">
                <a:effectLst/>
                <a:ea typeface="Calibri" panose="020F0502020204030204" pitchFamily="34" charset="0"/>
              </a:rPr>
              <a:t>programs,</a:t>
            </a:r>
            <a:r>
              <a:rPr lang="en-US" sz="2000" spc="10" dirty="0">
                <a:effectLst/>
                <a:ea typeface="Calibri" panose="020F0502020204030204" pitchFamily="34" charset="0"/>
              </a:rPr>
              <a:t> </a:t>
            </a:r>
            <a:r>
              <a:rPr lang="en-US" sz="2000" dirty="0">
                <a:effectLst/>
                <a:ea typeface="Calibri" panose="020F0502020204030204" pitchFamily="34" charset="0"/>
              </a:rPr>
              <a:t>conversion</a:t>
            </a:r>
            <a:r>
              <a:rPr lang="en-US" sz="2000" spc="15" dirty="0">
                <a:effectLst/>
                <a:ea typeface="Calibri" panose="020F0502020204030204" pitchFamily="34" charset="0"/>
              </a:rPr>
              <a:t> </a:t>
            </a:r>
            <a:r>
              <a:rPr lang="en-US" sz="2000" dirty="0">
                <a:effectLst/>
                <a:ea typeface="Calibri" panose="020F0502020204030204" pitchFamily="34" charset="0"/>
              </a:rPr>
              <a:t>tools</a:t>
            </a:r>
            <a:r>
              <a:rPr lang="en-US" sz="2000" spc="20" dirty="0">
                <a:effectLst/>
                <a:ea typeface="Calibri" panose="020F0502020204030204" pitchFamily="34" charset="0"/>
              </a:rPr>
              <a:t> </a:t>
            </a:r>
            <a:r>
              <a:rPr lang="en-US" sz="2000" dirty="0">
                <a:effectLst/>
                <a:ea typeface="Calibri" panose="020F0502020204030204" pitchFamily="34" charset="0"/>
              </a:rPr>
              <a:t>are</a:t>
            </a:r>
            <a:r>
              <a:rPr lang="en-US" sz="2000" spc="25" dirty="0">
                <a:effectLst/>
                <a:ea typeface="Calibri" panose="020F0502020204030204" pitchFamily="34" charset="0"/>
              </a:rPr>
              <a:t> </a:t>
            </a:r>
            <a:r>
              <a:rPr lang="en-US" sz="2000" dirty="0">
                <a:effectLst/>
                <a:ea typeface="Calibri" panose="020F0502020204030204" pitchFamily="34" charset="0"/>
              </a:rPr>
              <a:t>available</a:t>
            </a:r>
            <a:r>
              <a:rPr lang="en-US" sz="2000" spc="5" dirty="0">
                <a:effectLst/>
                <a:ea typeface="Calibri" panose="020F0502020204030204" pitchFamily="34" charset="0"/>
              </a:rPr>
              <a:t> </a:t>
            </a:r>
            <a:r>
              <a:rPr lang="en-US" sz="2000" dirty="0">
                <a:effectLst/>
                <a:ea typeface="Calibri" panose="020F0502020204030204" pitchFamily="34" charset="0"/>
              </a:rPr>
              <a:t>like</a:t>
            </a:r>
            <a:r>
              <a:rPr lang="en-US" sz="2000" spc="35" dirty="0">
                <a:effectLst/>
                <a:ea typeface="Calibri" panose="020F0502020204030204" pitchFamily="34" charset="0"/>
              </a:rPr>
              <a:t> </a:t>
            </a:r>
            <a:r>
              <a:rPr lang="en-US" sz="2000" dirty="0">
                <a:effectLst/>
                <a:ea typeface="Calibri" panose="020F0502020204030204" pitchFamily="34" charset="0"/>
              </a:rPr>
              <a:t>IDMS</a:t>
            </a:r>
            <a:r>
              <a:rPr lang="en-US" sz="2000" spc="15" dirty="0">
                <a:effectLst/>
                <a:ea typeface="Calibri" panose="020F0502020204030204" pitchFamily="34" charset="0"/>
              </a:rPr>
              <a:t> </a:t>
            </a:r>
            <a:r>
              <a:rPr lang="en-US" sz="2000" dirty="0">
                <a:effectLst/>
                <a:ea typeface="Calibri" panose="020F0502020204030204" pitchFamily="34" charset="0"/>
              </a:rPr>
              <a:t>(Computer Associates),</a:t>
            </a:r>
            <a:r>
              <a:rPr lang="en-US" sz="2000" spc="10" dirty="0">
                <a:effectLst/>
                <a:ea typeface="Calibri" panose="020F0502020204030204" pitchFamily="34" charset="0"/>
              </a:rPr>
              <a:t> </a:t>
            </a:r>
            <a:r>
              <a:rPr lang="en-US" sz="2000" dirty="0">
                <a:effectLst/>
                <a:ea typeface="Calibri" panose="020F0502020204030204" pitchFamily="34" charset="0"/>
              </a:rPr>
              <a:t>SUPRA</a:t>
            </a:r>
            <a:r>
              <a:rPr lang="en-US" sz="2000" spc="30" dirty="0">
                <a:effectLst/>
                <a:ea typeface="Calibri" panose="020F0502020204030204" pitchFamily="34" charset="0"/>
              </a:rPr>
              <a:t> </a:t>
            </a:r>
            <a:r>
              <a:rPr lang="en-US" sz="2000" dirty="0">
                <a:effectLst/>
                <a:ea typeface="Calibri" panose="020F0502020204030204" pitchFamily="34" charset="0"/>
              </a:rPr>
              <a:t>(</a:t>
            </a:r>
            <a:r>
              <a:rPr lang="en-US" sz="2000" dirty="0" err="1">
                <a:effectLst/>
                <a:ea typeface="Calibri" panose="020F0502020204030204" pitchFamily="34" charset="0"/>
              </a:rPr>
              <a:t>Cincom</a:t>
            </a:r>
            <a:r>
              <a:rPr lang="en-US" sz="2000" dirty="0">
                <a:effectLst/>
                <a:ea typeface="Calibri" panose="020F0502020204030204" pitchFamily="34" charset="0"/>
              </a:rPr>
              <a:t>),</a:t>
            </a:r>
            <a:r>
              <a:rPr lang="en-US" sz="2000" spc="10" dirty="0">
                <a:effectLst/>
                <a:ea typeface="Calibri" panose="020F0502020204030204" pitchFamily="34" charset="0"/>
              </a:rPr>
              <a:t> </a:t>
            </a:r>
            <a:r>
              <a:rPr lang="en-US" sz="2000" dirty="0">
                <a:effectLst/>
                <a:ea typeface="Calibri" panose="020F0502020204030204" pitchFamily="34" charset="0"/>
              </a:rPr>
              <a:t>and</a:t>
            </a:r>
            <a:r>
              <a:rPr lang="en-US" sz="2000" spc="-235" dirty="0">
                <a:effectLst/>
                <a:ea typeface="Calibri" panose="020F0502020204030204" pitchFamily="34" charset="0"/>
              </a:rPr>
              <a:t> </a:t>
            </a:r>
            <a:r>
              <a:rPr lang="en-US" sz="2000" dirty="0">
                <a:effectLst/>
                <a:ea typeface="Calibri" panose="020F0502020204030204" pitchFamily="34" charset="0"/>
              </a:rPr>
              <a:t>IMAGE</a:t>
            </a:r>
            <a:r>
              <a:rPr lang="en-US" sz="2000" spc="-20" dirty="0">
                <a:effectLst/>
                <a:ea typeface="Calibri" panose="020F0502020204030204" pitchFamily="34" charset="0"/>
              </a:rPr>
              <a:t> </a:t>
            </a:r>
            <a:r>
              <a:rPr lang="en-US" sz="2000" dirty="0">
                <a:effectLst/>
                <a:ea typeface="Calibri" panose="020F0502020204030204" pitchFamily="34" charset="0"/>
              </a:rPr>
              <a:t>(HP)</a:t>
            </a:r>
          </a:p>
          <a:p>
            <a:pPr marL="342900" marR="0" lvl="0" indent="-342900" algn="just">
              <a:lnSpc>
                <a:spcPts val="1545"/>
              </a:lnSpc>
              <a:spcBef>
                <a:spcPts val="10"/>
              </a:spcBef>
              <a:buFont typeface="Wingdings" panose="05000000000000000000" pitchFamily="2" charset="2"/>
              <a:buChar char=""/>
              <a:tabLst>
                <a:tab pos="597535" algn="l"/>
              </a:tabLst>
            </a:pPr>
            <a:r>
              <a:rPr lang="en-US" sz="2000" dirty="0">
                <a:effectLst/>
                <a:ea typeface="Calibri" panose="020F0502020204030204" pitchFamily="34" charset="0"/>
              </a:rPr>
              <a:t>Backup</a:t>
            </a:r>
          </a:p>
          <a:p>
            <a:pPr marL="742950" marR="0" lvl="1" indent="-285750" algn="just">
              <a:lnSpc>
                <a:spcPts val="1330"/>
              </a:lnSpc>
              <a:buSzPts val="1100"/>
              <a:buFont typeface="Calibri" panose="020F0502020204030204" pitchFamily="34" charset="0"/>
              <a:buChar char="-"/>
              <a:tabLst>
                <a:tab pos="825500" algn="l"/>
                <a:tab pos="826135" algn="l"/>
              </a:tabLst>
            </a:pPr>
            <a:r>
              <a:rPr lang="en-US" sz="2000" dirty="0">
                <a:effectLst/>
                <a:ea typeface="Calibri" panose="020F0502020204030204" pitchFamily="34" charset="0"/>
              </a:rPr>
              <a:t>creates</a:t>
            </a:r>
            <a:r>
              <a:rPr lang="en-US" sz="2000" spc="-15" dirty="0">
                <a:effectLst/>
                <a:ea typeface="Calibri" panose="020F0502020204030204" pitchFamily="34" charset="0"/>
              </a:rPr>
              <a:t> </a:t>
            </a:r>
            <a:r>
              <a:rPr lang="en-US" sz="2000" dirty="0">
                <a:effectLst/>
                <a:ea typeface="Calibri" panose="020F0502020204030204" pitchFamily="34" charset="0"/>
              </a:rPr>
              <a:t>a</a:t>
            </a:r>
            <a:r>
              <a:rPr lang="en-US" sz="2000" spc="-20" dirty="0">
                <a:effectLst/>
                <a:ea typeface="Calibri" panose="020F0502020204030204" pitchFamily="34" charset="0"/>
              </a:rPr>
              <a:t> </a:t>
            </a:r>
            <a:r>
              <a:rPr lang="en-US" sz="2000" dirty="0">
                <a:effectLst/>
                <a:ea typeface="Calibri" panose="020F0502020204030204" pitchFamily="34" charset="0"/>
              </a:rPr>
              <a:t>backup copy</a:t>
            </a:r>
            <a:r>
              <a:rPr lang="en-US" sz="2000" spc="-20" dirty="0">
                <a:effectLst/>
                <a:ea typeface="Calibri" panose="020F0502020204030204" pitchFamily="34" charset="0"/>
              </a:rPr>
              <a:t> </a:t>
            </a:r>
            <a:r>
              <a:rPr lang="en-US" sz="2000" dirty="0">
                <a:effectLst/>
                <a:ea typeface="Calibri" panose="020F0502020204030204" pitchFamily="34" charset="0"/>
              </a:rPr>
              <a:t>of</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5" dirty="0">
                <a:effectLst/>
                <a:ea typeface="Calibri" panose="020F0502020204030204" pitchFamily="34" charset="0"/>
              </a:rPr>
              <a:t> </a:t>
            </a:r>
            <a:r>
              <a:rPr lang="en-US" sz="2000" dirty="0">
                <a:effectLst/>
                <a:ea typeface="Calibri" panose="020F0502020204030204" pitchFamily="34" charset="0"/>
              </a:rPr>
              <a:t>database,</a:t>
            </a:r>
            <a:r>
              <a:rPr lang="en-US" sz="2000" spc="-25" dirty="0">
                <a:effectLst/>
                <a:ea typeface="Calibri" panose="020F0502020204030204" pitchFamily="34" charset="0"/>
              </a:rPr>
              <a:t> </a:t>
            </a:r>
            <a:r>
              <a:rPr lang="en-US" sz="2000" dirty="0">
                <a:effectLst/>
                <a:ea typeface="Calibri" panose="020F0502020204030204" pitchFamily="34" charset="0"/>
              </a:rPr>
              <a:t>by</a:t>
            </a:r>
            <a:r>
              <a:rPr lang="en-US" sz="2000" spc="5" dirty="0">
                <a:effectLst/>
                <a:ea typeface="Calibri" panose="020F0502020204030204" pitchFamily="34" charset="0"/>
              </a:rPr>
              <a:t> </a:t>
            </a:r>
            <a:r>
              <a:rPr lang="en-US" sz="2000" dirty="0">
                <a:effectLst/>
                <a:ea typeface="Calibri" panose="020F0502020204030204" pitchFamily="34" charset="0"/>
              </a:rPr>
              <a:t>dumping</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entire</a:t>
            </a:r>
            <a:r>
              <a:rPr lang="en-US" sz="2000" spc="-20" dirty="0">
                <a:effectLst/>
                <a:ea typeface="Calibri" panose="020F0502020204030204" pitchFamily="34" charset="0"/>
              </a:rPr>
              <a:t> </a:t>
            </a:r>
            <a:r>
              <a:rPr lang="en-US" sz="2000" dirty="0">
                <a:effectLst/>
                <a:ea typeface="Calibri" panose="020F0502020204030204" pitchFamily="34" charset="0"/>
              </a:rPr>
              <a:t>database</a:t>
            </a:r>
            <a:r>
              <a:rPr lang="en-US" sz="2000" spc="-15" dirty="0">
                <a:effectLst/>
                <a:ea typeface="Calibri" panose="020F0502020204030204" pitchFamily="34" charset="0"/>
              </a:rPr>
              <a:t> </a:t>
            </a:r>
            <a:r>
              <a:rPr lang="en-US" sz="2000" dirty="0">
                <a:effectLst/>
                <a:ea typeface="Calibri" panose="020F0502020204030204" pitchFamily="34" charset="0"/>
              </a:rPr>
              <a:t>onto</a:t>
            </a:r>
            <a:r>
              <a:rPr lang="en-US" sz="2000" spc="-5" dirty="0">
                <a:effectLst/>
                <a:ea typeface="Calibri" panose="020F0502020204030204" pitchFamily="34" charset="0"/>
              </a:rPr>
              <a:t> </a:t>
            </a:r>
            <a:r>
              <a:rPr lang="en-US" sz="2000" dirty="0">
                <a:effectLst/>
                <a:ea typeface="Calibri" panose="020F0502020204030204" pitchFamily="34" charset="0"/>
              </a:rPr>
              <a:t>tape</a:t>
            </a:r>
          </a:p>
          <a:p>
            <a:pPr marL="742950" marR="0" lvl="1" indent="-285750" algn="just">
              <a:buSzPts val="1100"/>
              <a:buFont typeface="Calibri" panose="020F0502020204030204" pitchFamily="34" charset="0"/>
              <a:buChar char="-"/>
              <a:tabLst>
                <a:tab pos="825500" algn="l"/>
                <a:tab pos="826135" algn="l"/>
              </a:tabLst>
            </a:pPr>
            <a:r>
              <a:rPr lang="en-US" sz="2000" dirty="0">
                <a:effectLst/>
                <a:ea typeface="Calibri" panose="020F0502020204030204" pitchFamily="34" charset="0"/>
              </a:rPr>
              <a:t>used</a:t>
            </a:r>
            <a:r>
              <a:rPr lang="en-US" sz="2000" spc="-20" dirty="0">
                <a:effectLst/>
                <a:ea typeface="Calibri" panose="020F0502020204030204" pitchFamily="34" charset="0"/>
              </a:rPr>
              <a:t> </a:t>
            </a:r>
            <a:r>
              <a:rPr lang="en-US" sz="2000" dirty="0">
                <a:effectLst/>
                <a:ea typeface="Calibri" panose="020F0502020204030204" pitchFamily="34" charset="0"/>
              </a:rPr>
              <a:t>to</a:t>
            </a:r>
            <a:r>
              <a:rPr lang="en-US" sz="2000" spc="-20" dirty="0">
                <a:effectLst/>
                <a:ea typeface="Calibri" panose="020F0502020204030204" pitchFamily="34" charset="0"/>
              </a:rPr>
              <a:t> </a:t>
            </a:r>
            <a:r>
              <a:rPr lang="en-US" sz="2000" dirty="0">
                <a:effectLst/>
                <a:ea typeface="Calibri" panose="020F0502020204030204" pitchFamily="34" charset="0"/>
              </a:rPr>
              <a:t>restore</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database</a:t>
            </a:r>
            <a:r>
              <a:rPr lang="en-US" sz="2000" spc="-15" dirty="0">
                <a:effectLst/>
                <a:ea typeface="Calibri" panose="020F0502020204030204" pitchFamily="34" charset="0"/>
              </a:rPr>
              <a:t> </a:t>
            </a:r>
            <a:r>
              <a:rPr lang="en-US" sz="2000" dirty="0">
                <a:effectLst/>
                <a:ea typeface="Calibri" panose="020F0502020204030204" pitchFamily="34" charset="0"/>
              </a:rPr>
              <a:t>in</a:t>
            </a:r>
            <a:r>
              <a:rPr lang="en-US" sz="2000" spc="5" dirty="0">
                <a:effectLst/>
                <a:ea typeface="Calibri" panose="020F0502020204030204" pitchFamily="34" charset="0"/>
              </a:rPr>
              <a:t> </a:t>
            </a:r>
            <a:r>
              <a:rPr lang="en-US" sz="2000" dirty="0">
                <a:effectLst/>
                <a:ea typeface="Calibri" panose="020F0502020204030204" pitchFamily="34" charset="0"/>
              </a:rPr>
              <a:t>case</a:t>
            </a:r>
            <a:r>
              <a:rPr lang="en-US" sz="2000" spc="-15" dirty="0">
                <a:effectLst/>
                <a:ea typeface="Calibri" panose="020F0502020204030204" pitchFamily="34" charset="0"/>
              </a:rPr>
              <a:t> </a:t>
            </a:r>
            <a:r>
              <a:rPr lang="en-US" sz="2000" dirty="0">
                <a:effectLst/>
                <a:ea typeface="Calibri" panose="020F0502020204030204" pitchFamily="34" charset="0"/>
              </a:rPr>
              <a:t>of</a:t>
            </a:r>
            <a:r>
              <a:rPr lang="en-US" sz="2000" spc="5" dirty="0">
                <a:effectLst/>
                <a:ea typeface="Calibri" panose="020F0502020204030204" pitchFamily="34" charset="0"/>
              </a:rPr>
              <a:t> </a:t>
            </a:r>
            <a:r>
              <a:rPr lang="en-US" sz="2000" dirty="0">
                <a:effectLst/>
                <a:ea typeface="Calibri" panose="020F0502020204030204" pitchFamily="34" charset="0"/>
              </a:rPr>
              <a:t>catastrophic</a:t>
            </a:r>
            <a:r>
              <a:rPr lang="en-US" sz="2000" spc="-25" dirty="0">
                <a:effectLst/>
                <a:ea typeface="Calibri" panose="020F0502020204030204" pitchFamily="34" charset="0"/>
              </a:rPr>
              <a:t> </a:t>
            </a:r>
            <a:r>
              <a:rPr lang="en-US" sz="2000" dirty="0">
                <a:effectLst/>
                <a:ea typeface="Calibri" panose="020F0502020204030204" pitchFamily="34" charset="0"/>
              </a:rPr>
              <a:t>disk</a:t>
            </a:r>
            <a:r>
              <a:rPr lang="en-US" sz="2000" spc="-15" dirty="0">
                <a:effectLst/>
                <a:ea typeface="Calibri" panose="020F0502020204030204" pitchFamily="34" charset="0"/>
              </a:rPr>
              <a:t> </a:t>
            </a:r>
            <a:r>
              <a:rPr lang="en-US" sz="2000" dirty="0">
                <a:effectLst/>
                <a:ea typeface="Calibri" panose="020F0502020204030204" pitchFamily="34" charset="0"/>
              </a:rPr>
              <a:t>failure</a:t>
            </a:r>
          </a:p>
          <a:p>
            <a:pPr marL="742950" marR="0" lvl="1" indent="-285750" algn="just">
              <a:buSzPts val="1100"/>
              <a:buFont typeface="Calibri" panose="020F0502020204030204" pitchFamily="34" charset="0"/>
              <a:buChar char="-"/>
              <a:tabLst>
                <a:tab pos="825500" algn="l"/>
                <a:tab pos="826135" algn="l"/>
              </a:tabLst>
            </a:pPr>
            <a:r>
              <a:rPr lang="en-US" sz="2000" dirty="0">
                <a:effectLst/>
                <a:ea typeface="Calibri" panose="020F0502020204030204" pitchFamily="34" charset="0"/>
              </a:rPr>
              <a:t>Incremental</a:t>
            </a:r>
            <a:r>
              <a:rPr lang="en-US" sz="2000" spc="-15" dirty="0">
                <a:effectLst/>
                <a:ea typeface="Calibri" panose="020F0502020204030204" pitchFamily="34" charset="0"/>
              </a:rPr>
              <a:t> </a:t>
            </a:r>
            <a:r>
              <a:rPr lang="en-US" sz="2000" dirty="0">
                <a:effectLst/>
                <a:ea typeface="Calibri" panose="020F0502020204030204" pitchFamily="34" charset="0"/>
              </a:rPr>
              <a:t>backups</a:t>
            </a:r>
            <a:r>
              <a:rPr lang="en-US" sz="2000" spc="-15" dirty="0">
                <a:effectLst/>
                <a:ea typeface="Calibri" panose="020F0502020204030204" pitchFamily="34" charset="0"/>
              </a:rPr>
              <a:t> </a:t>
            </a:r>
            <a:r>
              <a:rPr lang="en-US" sz="2000" dirty="0">
                <a:effectLst/>
                <a:ea typeface="Calibri" panose="020F0502020204030204" pitchFamily="34" charset="0"/>
              </a:rPr>
              <a:t>are</a:t>
            </a:r>
            <a:r>
              <a:rPr lang="en-US" sz="2000" spc="-15" dirty="0">
                <a:effectLst/>
                <a:ea typeface="Calibri" panose="020F0502020204030204" pitchFamily="34" charset="0"/>
              </a:rPr>
              <a:t> </a:t>
            </a:r>
            <a:r>
              <a:rPr lang="en-US" sz="2000" dirty="0">
                <a:effectLst/>
                <a:ea typeface="Calibri" panose="020F0502020204030204" pitchFamily="34" charset="0"/>
              </a:rPr>
              <a:t>also</a:t>
            </a:r>
            <a:r>
              <a:rPr lang="en-US" sz="2000" spc="-15" dirty="0">
                <a:effectLst/>
                <a:ea typeface="Calibri" panose="020F0502020204030204" pitchFamily="34" charset="0"/>
              </a:rPr>
              <a:t> </a:t>
            </a:r>
            <a:r>
              <a:rPr lang="en-US" sz="2000" dirty="0">
                <a:effectLst/>
                <a:ea typeface="Calibri" panose="020F0502020204030204" pitchFamily="34" charset="0"/>
              </a:rPr>
              <a:t>often</a:t>
            </a:r>
            <a:r>
              <a:rPr lang="en-US" sz="2000" spc="-15" dirty="0">
                <a:effectLst/>
                <a:ea typeface="Calibri" panose="020F0502020204030204" pitchFamily="34" charset="0"/>
              </a:rPr>
              <a:t> </a:t>
            </a:r>
            <a:r>
              <a:rPr lang="en-US" sz="2000" dirty="0">
                <a:effectLst/>
                <a:ea typeface="Calibri" panose="020F0502020204030204" pitchFamily="34" charset="0"/>
              </a:rPr>
              <a:t>used,</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save</a:t>
            </a:r>
            <a:r>
              <a:rPr lang="en-US" sz="2000" spc="-15" dirty="0">
                <a:effectLst/>
                <a:ea typeface="Calibri" panose="020F0502020204030204" pitchFamily="34" charset="0"/>
              </a:rPr>
              <a:t> </a:t>
            </a:r>
            <a:r>
              <a:rPr lang="en-US" sz="2000" dirty="0">
                <a:effectLst/>
                <a:ea typeface="Calibri" panose="020F0502020204030204" pitchFamily="34" charset="0"/>
              </a:rPr>
              <a:t>space</a:t>
            </a:r>
          </a:p>
          <a:p>
            <a:pPr marL="342900" marR="0" lvl="0" indent="-342900" algn="just">
              <a:spcBef>
                <a:spcPts val="10"/>
              </a:spcBef>
              <a:buFont typeface="Wingdings" panose="05000000000000000000" pitchFamily="2" charset="2"/>
              <a:buChar char=""/>
              <a:tabLst>
                <a:tab pos="597535" algn="l"/>
              </a:tabLst>
            </a:pPr>
            <a:r>
              <a:rPr lang="en-US" sz="2000" dirty="0">
                <a:effectLst/>
                <a:ea typeface="Calibri" panose="020F0502020204030204" pitchFamily="34" charset="0"/>
              </a:rPr>
              <a:t>Database</a:t>
            </a:r>
            <a:r>
              <a:rPr lang="en-US" sz="2000" spc="-20" dirty="0">
                <a:effectLst/>
                <a:ea typeface="Calibri" panose="020F0502020204030204" pitchFamily="34" charset="0"/>
              </a:rPr>
              <a:t> </a:t>
            </a:r>
            <a:r>
              <a:rPr lang="en-US" sz="2000" dirty="0">
                <a:effectLst/>
                <a:ea typeface="Calibri" panose="020F0502020204030204" pitchFamily="34" charset="0"/>
              </a:rPr>
              <a:t>storage</a:t>
            </a:r>
            <a:r>
              <a:rPr lang="en-US" sz="2000" spc="-20" dirty="0">
                <a:effectLst/>
                <a:ea typeface="Calibri" panose="020F0502020204030204" pitchFamily="34" charset="0"/>
              </a:rPr>
              <a:t> </a:t>
            </a:r>
            <a:r>
              <a:rPr lang="en-US" sz="2000" dirty="0">
                <a:effectLst/>
                <a:ea typeface="Calibri" panose="020F0502020204030204" pitchFamily="34" charset="0"/>
              </a:rPr>
              <a:t>reorganization</a:t>
            </a:r>
          </a:p>
          <a:p>
            <a:pPr marL="742950" marR="0" lvl="1" indent="-285750" algn="just">
              <a:buSzPts val="1100"/>
              <a:buFont typeface="Calibri" panose="020F0502020204030204" pitchFamily="34" charset="0"/>
              <a:buChar char="-"/>
              <a:tabLst>
                <a:tab pos="825500" algn="l"/>
                <a:tab pos="826135" algn="l"/>
              </a:tabLst>
            </a:pPr>
            <a:r>
              <a:rPr lang="en-US" sz="2000" dirty="0">
                <a:effectLst/>
                <a:ea typeface="Calibri" panose="020F0502020204030204" pitchFamily="34" charset="0"/>
              </a:rPr>
              <a:t>used</a:t>
            </a:r>
            <a:r>
              <a:rPr lang="en-US" sz="2000" spc="-20" dirty="0">
                <a:effectLst/>
                <a:ea typeface="Calibri" panose="020F0502020204030204" pitchFamily="34" charset="0"/>
              </a:rPr>
              <a:t> </a:t>
            </a:r>
            <a:r>
              <a:rPr lang="en-US" sz="2000" dirty="0">
                <a:effectLst/>
                <a:ea typeface="Calibri" panose="020F0502020204030204" pitchFamily="34" charset="0"/>
              </a:rPr>
              <a:t>to</a:t>
            </a:r>
            <a:r>
              <a:rPr lang="en-US" sz="2000" spc="-20" dirty="0">
                <a:effectLst/>
                <a:ea typeface="Calibri" panose="020F0502020204030204" pitchFamily="34" charset="0"/>
              </a:rPr>
              <a:t> </a:t>
            </a:r>
            <a:r>
              <a:rPr lang="en-US" sz="2000" dirty="0">
                <a:effectLst/>
                <a:ea typeface="Calibri" panose="020F0502020204030204" pitchFamily="34" charset="0"/>
              </a:rPr>
              <a:t>reorganize</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a:effectLst/>
                <a:ea typeface="Calibri" panose="020F0502020204030204" pitchFamily="34" charset="0"/>
              </a:rPr>
              <a:t>set</a:t>
            </a:r>
            <a:r>
              <a:rPr lang="en-US" sz="2000" spc="-20" dirty="0">
                <a:effectLst/>
                <a:ea typeface="Calibri" panose="020F0502020204030204" pitchFamily="34" charset="0"/>
              </a:rPr>
              <a:t> </a:t>
            </a:r>
            <a:r>
              <a:rPr lang="en-US" sz="2000" dirty="0">
                <a:effectLst/>
                <a:ea typeface="Calibri" panose="020F0502020204030204" pitchFamily="34" charset="0"/>
              </a:rPr>
              <a:t>of</a:t>
            </a:r>
            <a:r>
              <a:rPr lang="en-US" sz="2000" spc="5" dirty="0">
                <a:effectLst/>
                <a:ea typeface="Calibri" panose="020F0502020204030204" pitchFamily="34" charset="0"/>
              </a:rPr>
              <a:t> </a:t>
            </a:r>
            <a:r>
              <a:rPr lang="en-US" sz="2000" dirty="0">
                <a:effectLst/>
                <a:ea typeface="Calibri" panose="020F0502020204030204" pitchFamily="34" charset="0"/>
              </a:rPr>
              <a:t>database</a:t>
            </a:r>
            <a:r>
              <a:rPr lang="en-US" sz="2000" spc="-10" dirty="0">
                <a:effectLst/>
                <a:ea typeface="Calibri" panose="020F0502020204030204" pitchFamily="34" charset="0"/>
              </a:rPr>
              <a:t> </a:t>
            </a:r>
            <a:r>
              <a:rPr lang="en-US" sz="2000" dirty="0">
                <a:effectLst/>
                <a:ea typeface="Calibri" panose="020F0502020204030204" pitchFamily="34" charset="0"/>
              </a:rPr>
              <a:t>files</a:t>
            </a:r>
            <a:r>
              <a:rPr lang="en-US" sz="2000" spc="-10" dirty="0">
                <a:effectLst/>
                <a:ea typeface="Calibri" panose="020F0502020204030204" pitchFamily="34" charset="0"/>
              </a:rPr>
              <a:t> </a:t>
            </a:r>
            <a:r>
              <a:rPr lang="en-US" sz="2000" dirty="0">
                <a:effectLst/>
                <a:ea typeface="Calibri" panose="020F0502020204030204" pitchFamily="34" charset="0"/>
              </a:rPr>
              <a:t>into</a:t>
            </a:r>
            <a:r>
              <a:rPr lang="en-US" sz="2000" spc="-20" dirty="0">
                <a:effectLst/>
                <a:ea typeface="Calibri" panose="020F0502020204030204" pitchFamily="34" charset="0"/>
              </a:rPr>
              <a:t> </a:t>
            </a:r>
            <a:r>
              <a:rPr lang="en-US" sz="2000" dirty="0">
                <a:effectLst/>
                <a:ea typeface="Calibri" panose="020F0502020204030204" pitchFamily="34" charset="0"/>
              </a:rPr>
              <a:t>different</a:t>
            </a:r>
            <a:r>
              <a:rPr lang="en-US" sz="2000" spc="-25" dirty="0">
                <a:effectLst/>
                <a:ea typeface="Calibri" panose="020F0502020204030204" pitchFamily="34" charset="0"/>
              </a:rPr>
              <a:t> </a:t>
            </a:r>
            <a:r>
              <a:rPr lang="en-US" sz="2000" dirty="0">
                <a:effectLst/>
                <a:ea typeface="Calibri" panose="020F0502020204030204" pitchFamily="34" charset="0"/>
              </a:rPr>
              <a:t>file</a:t>
            </a:r>
            <a:r>
              <a:rPr lang="en-US" sz="2000" spc="-15" dirty="0">
                <a:effectLst/>
                <a:ea typeface="Calibri" panose="020F0502020204030204" pitchFamily="34" charset="0"/>
              </a:rPr>
              <a:t> </a:t>
            </a:r>
            <a:r>
              <a:rPr lang="en-US" sz="2000" dirty="0">
                <a:effectLst/>
                <a:ea typeface="Calibri" panose="020F0502020204030204" pitchFamily="34" charset="0"/>
              </a:rPr>
              <a:t>organizations</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20" dirty="0">
                <a:effectLst/>
                <a:ea typeface="Calibri" panose="020F0502020204030204" pitchFamily="34" charset="0"/>
              </a:rPr>
              <a:t> </a:t>
            </a:r>
            <a:r>
              <a:rPr lang="en-US" sz="2000" dirty="0">
                <a:effectLst/>
                <a:ea typeface="Calibri" panose="020F0502020204030204" pitchFamily="34" charset="0"/>
              </a:rPr>
              <a:t>improve</a:t>
            </a:r>
            <a:r>
              <a:rPr lang="en-US" sz="2000" spc="-10" dirty="0">
                <a:effectLst/>
                <a:ea typeface="Calibri" panose="020F0502020204030204" pitchFamily="34" charset="0"/>
              </a:rPr>
              <a:t> </a:t>
            </a:r>
            <a:r>
              <a:rPr lang="en-US" sz="2000" dirty="0">
                <a:effectLst/>
                <a:ea typeface="Calibri" panose="020F0502020204030204" pitchFamily="34" charset="0"/>
              </a:rPr>
              <a:t>performance</a:t>
            </a:r>
          </a:p>
          <a:p>
            <a:pPr marL="342900" marR="0" lvl="0" indent="-342900" algn="just">
              <a:spcBef>
                <a:spcPts val="5"/>
              </a:spcBef>
              <a:buFont typeface="Wingdings" panose="05000000000000000000" pitchFamily="2" charset="2"/>
              <a:buChar char=""/>
              <a:tabLst>
                <a:tab pos="597535" algn="l"/>
              </a:tabLst>
            </a:pPr>
            <a:r>
              <a:rPr lang="en-US" sz="2000" dirty="0">
                <a:effectLst/>
                <a:ea typeface="Calibri" panose="020F0502020204030204" pitchFamily="34" charset="0"/>
              </a:rPr>
              <a:t>Performance</a:t>
            </a:r>
            <a:r>
              <a:rPr lang="en-US" sz="2000" spc="-20" dirty="0">
                <a:effectLst/>
                <a:ea typeface="Calibri" panose="020F0502020204030204" pitchFamily="34" charset="0"/>
              </a:rPr>
              <a:t> </a:t>
            </a:r>
            <a:r>
              <a:rPr lang="en-US" sz="2000" dirty="0">
                <a:effectLst/>
                <a:ea typeface="Calibri" panose="020F0502020204030204" pitchFamily="34" charset="0"/>
              </a:rPr>
              <a:t>monitoring</a:t>
            </a:r>
          </a:p>
          <a:p>
            <a:pPr marL="742950" marR="0" lvl="1" indent="-285750" algn="just">
              <a:buSzPts val="1100"/>
              <a:buFont typeface="Calibri" panose="020F0502020204030204" pitchFamily="34" charset="0"/>
              <a:buChar char="-"/>
              <a:tabLst>
                <a:tab pos="825500" algn="l"/>
                <a:tab pos="826135" algn="l"/>
              </a:tabLst>
            </a:pPr>
            <a:r>
              <a:rPr lang="en-US" sz="2000" dirty="0">
                <a:effectLst/>
                <a:ea typeface="Calibri" panose="020F0502020204030204" pitchFamily="34" charset="0"/>
              </a:rPr>
              <a:t>monitors</a:t>
            </a:r>
            <a:r>
              <a:rPr lang="en-US" sz="2000" spc="-20" dirty="0">
                <a:effectLst/>
                <a:ea typeface="Calibri" panose="020F0502020204030204" pitchFamily="34" charset="0"/>
              </a:rPr>
              <a:t> </a:t>
            </a:r>
            <a:r>
              <a:rPr lang="en-US" sz="2000" dirty="0">
                <a:effectLst/>
                <a:ea typeface="Calibri" panose="020F0502020204030204" pitchFamily="34" charset="0"/>
              </a:rPr>
              <a:t>database</a:t>
            </a:r>
            <a:r>
              <a:rPr lang="en-US" sz="2000" spc="-20" dirty="0">
                <a:effectLst/>
                <a:ea typeface="Calibri" panose="020F0502020204030204" pitchFamily="34" charset="0"/>
              </a:rPr>
              <a:t> </a:t>
            </a:r>
            <a:r>
              <a:rPr lang="en-US" sz="2000" dirty="0">
                <a:effectLst/>
                <a:ea typeface="Calibri" panose="020F0502020204030204" pitchFamily="34" charset="0"/>
              </a:rPr>
              <a:t>usage</a:t>
            </a:r>
            <a:r>
              <a:rPr lang="en-US" sz="2000" spc="-15" dirty="0">
                <a:effectLst/>
                <a:ea typeface="Calibri" panose="020F0502020204030204" pitchFamily="34" charset="0"/>
              </a:rPr>
              <a:t> </a:t>
            </a:r>
            <a:r>
              <a:rPr lang="en-US" sz="2000" dirty="0">
                <a:effectLst/>
                <a:ea typeface="Calibri" panose="020F0502020204030204" pitchFamily="34" charset="0"/>
              </a:rPr>
              <a:t>and</a:t>
            </a:r>
            <a:r>
              <a:rPr lang="en-US" sz="2000" spc="-25" dirty="0">
                <a:effectLst/>
                <a:ea typeface="Calibri" panose="020F0502020204030204" pitchFamily="34" charset="0"/>
              </a:rPr>
              <a:t> </a:t>
            </a:r>
            <a:r>
              <a:rPr lang="en-US" sz="2000" dirty="0">
                <a:effectLst/>
                <a:ea typeface="Calibri" panose="020F0502020204030204" pitchFamily="34" charset="0"/>
              </a:rPr>
              <a:t>provides</a:t>
            </a:r>
            <a:r>
              <a:rPr lang="en-US" sz="2000" spc="-15" dirty="0">
                <a:effectLst/>
                <a:ea typeface="Calibri" panose="020F0502020204030204" pitchFamily="34" charset="0"/>
              </a:rPr>
              <a:t> </a:t>
            </a:r>
            <a:r>
              <a:rPr lang="en-US" sz="2000" dirty="0">
                <a:effectLst/>
                <a:ea typeface="Calibri" panose="020F0502020204030204" pitchFamily="34" charset="0"/>
              </a:rPr>
              <a:t>statistics</a:t>
            </a:r>
            <a:r>
              <a:rPr lang="en-US" sz="2000" spc="-15" dirty="0">
                <a:effectLst/>
                <a:ea typeface="Calibri" panose="020F0502020204030204" pitchFamily="34" charset="0"/>
              </a:rPr>
              <a:t> </a:t>
            </a:r>
            <a:r>
              <a:rPr lang="en-US" sz="2000" dirty="0">
                <a:effectLst/>
                <a:ea typeface="Calibri" panose="020F0502020204030204" pitchFamily="34" charset="0"/>
              </a:rPr>
              <a:t>to</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5" dirty="0">
                <a:effectLst/>
                <a:ea typeface="Calibri" panose="020F0502020204030204" pitchFamily="34" charset="0"/>
              </a:rPr>
              <a:t> </a:t>
            </a:r>
            <a:r>
              <a:rPr lang="en-US" sz="2000" dirty="0">
                <a:effectLst/>
                <a:ea typeface="Calibri" panose="020F0502020204030204" pitchFamily="34" charset="0"/>
              </a:rPr>
              <a:t>DBA.</a:t>
            </a:r>
          </a:p>
          <a:p>
            <a:pPr marL="742950" marR="0" lvl="1" indent="-285750" algn="just">
              <a:lnSpc>
                <a:spcPts val="1330"/>
              </a:lnSpc>
              <a:spcBef>
                <a:spcPts val="5"/>
              </a:spcBef>
              <a:buSzPts val="1100"/>
              <a:buFont typeface="Calibri" panose="020F0502020204030204" pitchFamily="34" charset="0"/>
              <a:buChar char="-"/>
              <a:tabLst>
                <a:tab pos="825500" algn="l"/>
                <a:tab pos="826135" algn="l"/>
              </a:tabLst>
            </a:pPr>
            <a:r>
              <a:rPr lang="en-US" sz="2000" dirty="0">
                <a:effectLst/>
                <a:ea typeface="Calibri" panose="020F0502020204030204" pitchFamily="34" charset="0"/>
              </a:rPr>
              <a:t>Statistics</a:t>
            </a:r>
            <a:r>
              <a:rPr lang="en-US" sz="2000" spc="-25" dirty="0">
                <a:effectLst/>
                <a:ea typeface="Calibri" panose="020F0502020204030204" pitchFamily="34" charset="0"/>
              </a:rPr>
              <a:t> </a:t>
            </a:r>
            <a:r>
              <a:rPr lang="en-US" sz="2000" dirty="0">
                <a:effectLst/>
                <a:ea typeface="Calibri" panose="020F0502020204030204" pitchFamily="34" charset="0"/>
              </a:rPr>
              <a:t>used</a:t>
            </a:r>
            <a:r>
              <a:rPr lang="en-US" sz="2000" spc="-25" dirty="0">
                <a:effectLst/>
                <a:ea typeface="Calibri" panose="020F0502020204030204" pitchFamily="34" charset="0"/>
              </a:rPr>
              <a:t> </a:t>
            </a:r>
            <a:r>
              <a:rPr lang="en-US" sz="2000" dirty="0">
                <a:effectLst/>
                <a:ea typeface="Calibri" panose="020F0502020204030204" pitchFamily="34" charset="0"/>
              </a:rPr>
              <a:t>for</a:t>
            </a:r>
            <a:r>
              <a:rPr lang="en-US" sz="2000" spc="-20" dirty="0">
                <a:effectLst/>
                <a:ea typeface="Calibri" panose="020F0502020204030204" pitchFamily="34" charset="0"/>
              </a:rPr>
              <a:t> </a:t>
            </a:r>
            <a:r>
              <a:rPr lang="en-US" sz="2000" dirty="0">
                <a:effectLst/>
                <a:ea typeface="Calibri" panose="020F0502020204030204" pitchFamily="34" charset="0"/>
              </a:rPr>
              <a:t>making</a:t>
            </a:r>
            <a:r>
              <a:rPr lang="en-US" sz="2000" spc="-15" dirty="0">
                <a:effectLst/>
                <a:ea typeface="Calibri" panose="020F0502020204030204" pitchFamily="34" charset="0"/>
              </a:rPr>
              <a:t> </a:t>
            </a:r>
            <a:r>
              <a:rPr lang="en-US" sz="2000" dirty="0">
                <a:effectLst/>
                <a:ea typeface="Calibri" panose="020F0502020204030204" pitchFamily="34" charset="0"/>
              </a:rPr>
              <a:t>decisions</a:t>
            </a:r>
          </a:p>
          <a:p>
            <a:endParaRPr lang="en-US" sz="2000" dirty="0"/>
          </a:p>
        </p:txBody>
      </p:sp>
    </p:spTree>
    <p:extLst>
      <p:ext uri="{BB962C8B-B14F-4D97-AF65-F5344CB8AC3E}">
        <p14:creationId xmlns:p14="http://schemas.microsoft.com/office/powerpoint/2010/main" val="12757346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A35AFF80-12C3-932D-82EB-0D6235333AF8}"/>
              </a:ext>
            </a:extLst>
          </p:cNvPr>
          <p:cNvGraphicFramePr/>
          <p:nvPr>
            <p:extLst>
              <p:ext uri="{D42A27DB-BD31-4B8C-83A1-F6EECF244321}">
                <p14:modId xmlns:p14="http://schemas.microsoft.com/office/powerpoint/2010/main" val="2889507157"/>
              </p:ext>
            </p:extLst>
          </p:nvPr>
        </p:nvGraphicFramePr>
        <p:xfrm>
          <a:off x="201478" y="263471"/>
          <a:ext cx="11732217" cy="40549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13199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03CFFAB9-E4D7-D815-22EC-98C3D03B00B1}"/>
              </a:ext>
            </a:extLst>
          </p:cNvPr>
          <p:cNvGraphicFramePr/>
          <p:nvPr>
            <p:extLst>
              <p:ext uri="{D42A27DB-BD31-4B8C-83A1-F6EECF244321}">
                <p14:modId xmlns:p14="http://schemas.microsoft.com/office/powerpoint/2010/main" val="2082383082"/>
              </p:ext>
            </p:extLst>
          </p:nvPr>
        </p:nvGraphicFramePr>
        <p:xfrm>
          <a:off x="278968" y="247973"/>
          <a:ext cx="11685723" cy="2031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1DC85687-88EE-CB1B-84CC-84169DA10677}"/>
              </a:ext>
            </a:extLst>
          </p:cNvPr>
          <p:cNvSpPr txBox="1"/>
          <p:nvPr/>
        </p:nvSpPr>
        <p:spPr>
          <a:xfrm>
            <a:off x="402956" y="2279298"/>
            <a:ext cx="11510076" cy="4431983"/>
          </a:xfrm>
          <a:prstGeom prst="rect">
            <a:avLst/>
          </a:prstGeom>
          <a:noFill/>
        </p:spPr>
        <p:txBody>
          <a:bodyPr wrap="square" rtlCol="0">
            <a:spAutoFit/>
          </a:bodyPr>
          <a:lstStyle/>
          <a:p>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ER</a:t>
            </a:r>
            <a:r>
              <a:rPr lang="en-US" sz="2000" spc="-15" dirty="0">
                <a:effectLst/>
                <a:ea typeface="Calibri" panose="020F0502020204030204" pitchFamily="34" charset="0"/>
              </a:rPr>
              <a:t> </a:t>
            </a:r>
            <a:r>
              <a:rPr lang="en-US" sz="2000" dirty="0">
                <a:effectLst/>
                <a:ea typeface="Calibri" panose="020F0502020204030204" pitchFamily="34" charset="0"/>
              </a:rPr>
              <a:t>model</a:t>
            </a:r>
            <a:r>
              <a:rPr lang="en-US" sz="2000" spc="-5" dirty="0">
                <a:effectLst/>
                <a:ea typeface="Calibri" panose="020F0502020204030204" pitchFamily="34" charset="0"/>
              </a:rPr>
              <a:t> </a:t>
            </a:r>
            <a:r>
              <a:rPr lang="en-US" sz="2000" dirty="0">
                <a:effectLst/>
                <a:ea typeface="Calibri" panose="020F0502020204030204" pitchFamily="34" charset="0"/>
              </a:rPr>
              <a:t>describes</a:t>
            </a:r>
            <a:r>
              <a:rPr lang="en-US" sz="2000" spc="-10" dirty="0">
                <a:effectLst/>
                <a:ea typeface="Calibri" panose="020F0502020204030204" pitchFamily="34" charset="0"/>
              </a:rPr>
              <a:t> </a:t>
            </a:r>
            <a:r>
              <a:rPr lang="en-US" sz="2000" dirty="0">
                <a:effectLst/>
                <a:ea typeface="Calibri" panose="020F0502020204030204" pitchFamily="34" charset="0"/>
              </a:rPr>
              <a:t>data</a:t>
            </a:r>
            <a:r>
              <a:rPr lang="en-US" sz="2000" spc="-15" dirty="0">
                <a:effectLst/>
                <a:ea typeface="Calibri" panose="020F0502020204030204" pitchFamily="34" charset="0"/>
              </a:rPr>
              <a:t> </a:t>
            </a:r>
            <a:r>
              <a:rPr lang="en-US" sz="2000" dirty="0">
                <a:effectLst/>
                <a:ea typeface="Calibri" panose="020F0502020204030204" pitchFamily="34" charset="0"/>
              </a:rPr>
              <a:t>as</a:t>
            </a:r>
            <a:r>
              <a:rPr lang="en-US" sz="2000" spc="-15" dirty="0">
                <a:effectLst/>
                <a:ea typeface="Calibri" panose="020F0502020204030204" pitchFamily="34" charset="0"/>
              </a:rPr>
              <a:t> </a:t>
            </a:r>
            <a:r>
              <a:rPr lang="en-US" sz="2000" dirty="0">
                <a:effectLst/>
                <a:ea typeface="Calibri" panose="020F0502020204030204" pitchFamily="34" charset="0"/>
              </a:rPr>
              <a:t>entities,</a:t>
            </a:r>
            <a:r>
              <a:rPr lang="en-US" sz="2000" spc="-25" dirty="0">
                <a:effectLst/>
                <a:ea typeface="Calibri" panose="020F0502020204030204" pitchFamily="34" charset="0"/>
              </a:rPr>
              <a:t> </a:t>
            </a:r>
            <a:r>
              <a:rPr lang="en-US" sz="2000" dirty="0">
                <a:effectLst/>
                <a:ea typeface="Calibri" panose="020F0502020204030204" pitchFamily="34" charset="0"/>
              </a:rPr>
              <a:t>relationships,</a:t>
            </a:r>
            <a:r>
              <a:rPr lang="en-US" sz="2000" spc="-25" dirty="0">
                <a:effectLst/>
                <a:ea typeface="Calibri" panose="020F0502020204030204" pitchFamily="34" charset="0"/>
              </a:rPr>
              <a:t> </a:t>
            </a:r>
            <a:r>
              <a:rPr lang="en-US" sz="2000" dirty="0">
                <a:effectLst/>
                <a:ea typeface="Calibri" panose="020F0502020204030204" pitchFamily="34" charset="0"/>
              </a:rPr>
              <a:t>and</a:t>
            </a:r>
            <a:r>
              <a:rPr lang="en-US" sz="2000" spc="-20" dirty="0">
                <a:effectLst/>
                <a:ea typeface="Calibri" panose="020F0502020204030204" pitchFamily="34" charset="0"/>
              </a:rPr>
              <a:t> </a:t>
            </a:r>
            <a:r>
              <a:rPr lang="en-US" sz="2000" dirty="0">
                <a:effectLst/>
                <a:ea typeface="Calibri" panose="020F0502020204030204" pitchFamily="34" charset="0"/>
              </a:rPr>
              <a:t>attributes.</a:t>
            </a:r>
          </a:p>
          <a:p>
            <a:endParaRPr lang="en-US" sz="2000" dirty="0">
              <a:ea typeface="Calibri" panose="020F0502020204030204" pitchFamily="34" charset="0"/>
            </a:endParaRPr>
          </a:p>
          <a:p>
            <a:r>
              <a:rPr lang="en-US" sz="2200" b="1" dirty="0">
                <a:effectLst/>
                <a:ea typeface="Calibri" panose="020F0502020204030204" pitchFamily="34" charset="0"/>
              </a:rPr>
              <a:t>Entities</a:t>
            </a:r>
            <a:r>
              <a:rPr lang="en-US" sz="2200" b="1" spc="-20" dirty="0">
                <a:effectLst/>
                <a:ea typeface="Calibri" panose="020F0502020204030204" pitchFamily="34" charset="0"/>
              </a:rPr>
              <a:t> </a:t>
            </a:r>
            <a:r>
              <a:rPr lang="en-US" sz="2200" b="1" dirty="0">
                <a:effectLst/>
                <a:ea typeface="Calibri" panose="020F0502020204030204" pitchFamily="34" charset="0"/>
              </a:rPr>
              <a:t>and</a:t>
            </a:r>
            <a:r>
              <a:rPr lang="en-US" sz="2200" b="1" spc="-5" dirty="0">
                <a:effectLst/>
                <a:ea typeface="Calibri" panose="020F0502020204030204" pitchFamily="34" charset="0"/>
              </a:rPr>
              <a:t> </a:t>
            </a:r>
            <a:r>
              <a:rPr lang="en-US" sz="2200" b="1" dirty="0">
                <a:effectLst/>
                <a:ea typeface="Calibri" panose="020F0502020204030204" pitchFamily="34" charset="0"/>
              </a:rPr>
              <a:t>Attributes</a:t>
            </a:r>
          </a:p>
          <a:p>
            <a:endParaRPr lang="en-US" sz="2200" b="1" dirty="0">
              <a:ea typeface="Calibri" panose="020F0502020204030204" pitchFamily="34" charset="0"/>
            </a:endParaRPr>
          </a:p>
          <a:p>
            <a:pPr marL="342900" marR="0" lvl="0" indent="-342900" algn="just">
              <a:buFont typeface="Wingdings" panose="05000000000000000000" pitchFamily="2" charset="2"/>
              <a:buChar char=""/>
              <a:tabLst>
                <a:tab pos="883920" algn="l"/>
              </a:tabLst>
            </a:pPr>
            <a:r>
              <a:rPr lang="en-US" sz="2000" b="1" dirty="0">
                <a:effectLst/>
                <a:ea typeface="Calibri" panose="020F0502020204030204" pitchFamily="34" charset="0"/>
              </a:rPr>
              <a:t>Entity</a:t>
            </a:r>
            <a:r>
              <a:rPr lang="en-US" sz="2000" dirty="0">
                <a:effectLst/>
                <a:ea typeface="Calibri" panose="020F0502020204030204" pitchFamily="34" charset="0"/>
              </a:rPr>
              <a:t>,</a:t>
            </a:r>
            <a:r>
              <a:rPr lang="en-US" sz="2000" spc="-25" dirty="0">
                <a:effectLst/>
                <a:ea typeface="Calibri" panose="020F0502020204030204" pitchFamily="34" charset="0"/>
              </a:rPr>
              <a:t> </a:t>
            </a:r>
            <a:r>
              <a:rPr lang="en-US" sz="2000" dirty="0">
                <a:effectLst/>
                <a:ea typeface="Calibri" panose="020F0502020204030204" pitchFamily="34" charset="0"/>
              </a:rPr>
              <a:t>which</a:t>
            </a:r>
            <a:r>
              <a:rPr lang="en-US" sz="2000" spc="-15"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5" dirty="0">
                <a:effectLst/>
                <a:ea typeface="Calibri" panose="020F0502020204030204" pitchFamily="34" charset="0"/>
              </a:rPr>
              <a:t> </a:t>
            </a:r>
            <a:r>
              <a:rPr lang="en-US" sz="2000" b="1" dirty="0">
                <a:effectLst/>
                <a:ea typeface="Calibri" panose="020F0502020204030204" pitchFamily="34" charset="0"/>
              </a:rPr>
              <a:t>thing</a:t>
            </a:r>
            <a:r>
              <a:rPr lang="en-US" sz="2000" b="1" spc="-10" dirty="0">
                <a:effectLst/>
                <a:ea typeface="Calibri" panose="020F0502020204030204" pitchFamily="34" charset="0"/>
              </a:rPr>
              <a:t> </a:t>
            </a:r>
            <a:r>
              <a:rPr lang="en-US" sz="2000" b="1" dirty="0">
                <a:effectLst/>
                <a:ea typeface="Calibri" panose="020F0502020204030204" pitchFamily="34" charset="0"/>
              </a:rPr>
              <a:t>or</a:t>
            </a:r>
            <a:r>
              <a:rPr lang="en-US" sz="2000" b="1" spc="-20" dirty="0">
                <a:effectLst/>
                <a:ea typeface="Calibri" panose="020F0502020204030204" pitchFamily="34" charset="0"/>
              </a:rPr>
              <a:t> </a:t>
            </a:r>
            <a:r>
              <a:rPr lang="en-US" sz="2000" b="1" dirty="0">
                <a:effectLst/>
                <a:ea typeface="Calibri" panose="020F0502020204030204" pitchFamily="34" charset="0"/>
              </a:rPr>
              <a:t>object</a:t>
            </a:r>
            <a:r>
              <a:rPr lang="en-US" sz="2000" b="1" spc="-10" dirty="0">
                <a:effectLst/>
                <a:ea typeface="Calibri" panose="020F0502020204030204" pitchFamily="34" charset="0"/>
              </a:rPr>
              <a:t> </a:t>
            </a:r>
            <a:r>
              <a:rPr lang="en-US" sz="2000" b="1" dirty="0">
                <a:effectLst/>
                <a:ea typeface="Calibri" panose="020F0502020204030204" pitchFamily="34" charset="0"/>
              </a:rPr>
              <a:t>in the</a:t>
            </a:r>
            <a:r>
              <a:rPr lang="en-US" sz="2000" b="1" spc="-15" dirty="0">
                <a:effectLst/>
                <a:ea typeface="Calibri" panose="020F0502020204030204" pitchFamily="34" charset="0"/>
              </a:rPr>
              <a:t> </a:t>
            </a:r>
            <a:r>
              <a:rPr lang="en-US" sz="2000" b="1" dirty="0">
                <a:effectLst/>
                <a:ea typeface="Calibri" panose="020F0502020204030204" pitchFamily="34" charset="0"/>
              </a:rPr>
              <a:t>real</a:t>
            </a:r>
            <a:r>
              <a:rPr lang="en-US" sz="2000" b="1" spc="-20" dirty="0">
                <a:effectLst/>
                <a:ea typeface="Calibri" panose="020F0502020204030204" pitchFamily="34" charset="0"/>
              </a:rPr>
              <a:t> </a:t>
            </a:r>
            <a:r>
              <a:rPr lang="en-US" sz="2000" b="1" dirty="0">
                <a:effectLst/>
                <a:ea typeface="Calibri" panose="020F0502020204030204" pitchFamily="34" charset="0"/>
              </a:rPr>
              <a:t>world</a:t>
            </a:r>
            <a:r>
              <a:rPr lang="en-US" sz="2000" b="1" spc="20" dirty="0">
                <a:effectLst/>
                <a:ea typeface="Calibri" panose="020F0502020204030204" pitchFamily="34" charset="0"/>
              </a:rPr>
              <a:t> </a:t>
            </a:r>
            <a:r>
              <a:rPr lang="en-US" sz="2000" dirty="0">
                <a:effectLst/>
                <a:ea typeface="Calibri" panose="020F0502020204030204" pitchFamily="34" charset="0"/>
              </a:rPr>
              <a:t>with</a:t>
            </a:r>
            <a:r>
              <a:rPr lang="en-US" sz="2000" spc="5" dirty="0">
                <a:effectLst/>
                <a:ea typeface="Calibri" panose="020F0502020204030204" pitchFamily="34" charset="0"/>
              </a:rPr>
              <a:t> </a:t>
            </a:r>
            <a:r>
              <a:rPr lang="en-US" sz="2000" dirty="0">
                <a:effectLst/>
                <a:ea typeface="Calibri" panose="020F0502020204030204" pitchFamily="34" charset="0"/>
              </a:rPr>
              <a:t>an</a:t>
            </a:r>
            <a:r>
              <a:rPr lang="en-US" sz="2000" spc="-15" dirty="0">
                <a:effectLst/>
                <a:ea typeface="Calibri" panose="020F0502020204030204" pitchFamily="34" charset="0"/>
              </a:rPr>
              <a:t> </a:t>
            </a:r>
            <a:r>
              <a:rPr lang="en-US" sz="2000" dirty="0">
                <a:effectLst/>
                <a:ea typeface="Calibri" panose="020F0502020204030204" pitchFamily="34" charset="0"/>
              </a:rPr>
              <a:t>independent</a:t>
            </a:r>
            <a:r>
              <a:rPr lang="en-US" sz="2000" spc="-20" dirty="0">
                <a:effectLst/>
                <a:ea typeface="Calibri" panose="020F0502020204030204" pitchFamily="34" charset="0"/>
              </a:rPr>
              <a:t> </a:t>
            </a:r>
            <a:r>
              <a:rPr lang="en-US" sz="2000" dirty="0">
                <a:effectLst/>
                <a:ea typeface="Calibri" panose="020F0502020204030204" pitchFamily="34" charset="0"/>
              </a:rPr>
              <a:t>existence.</a:t>
            </a:r>
          </a:p>
          <a:p>
            <a:pPr marL="342900" marR="0" lvl="0" indent="-342900" algn="just">
              <a:buFont typeface="Wingdings" panose="05000000000000000000" pitchFamily="2" charset="2"/>
              <a:buChar char=""/>
              <a:tabLst>
                <a:tab pos="883920" algn="l"/>
              </a:tabLst>
            </a:pPr>
            <a:r>
              <a:rPr lang="en-US" sz="2000" dirty="0">
                <a:effectLst/>
                <a:ea typeface="Calibri" panose="020F0502020204030204" pitchFamily="34" charset="0"/>
              </a:rPr>
              <a:t>An</a:t>
            </a:r>
            <a:r>
              <a:rPr lang="en-US" sz="2000" spc="-15"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may</a:t>
            </a:r>
            <a:r>
              <a:rPr lang="en-US" sz="2000" spc="-10" dirty="0">
                <a:effectLst/>
                <a:ea typeface="Calibri" panose="020F0502020204030204" pitchFamily="34" charset="0"/>
              </a:rPr>
              <a:t> </a:t>
            </a:r>
            <a:r>
              <a:rPr lang="en-US" sz="2000" dirty="0">
                <a:effectLst/>
                <a:ea typeface="Calibri" panose="020F0502020204030204" pitchFamily="34" charset="0"/>
              </a:rPr>
              <a:t>be</a:t>
            </a:r>
            <a:r>
              <a:rPr lang="en-US" sz="2000" spc="-5" dirty="0">
                <a:effectLst/>
                <a:ea typeface="Calibri" panose="020F0502020204030204" pitchFamily="34" charset="0"/>
              </a:rPr>
              <a:t> </a:t>
            </a:r>
            <a:r>
              <a:rPr lang="en-US" sz="2000" dirty="0">
                <a:effectLst/>
                <a:ea typeface="Calibri" panose="020F0502020204030204" pitchFamily="34" charset="0"/>
              </a:rPr>
              <a:t>an</a:t>
            </a:r>
          </a:p>
          <a:p>
            <a:pPr marL="742950" marR="986790" lvl="1" indent="-285750" algn="just">
              <a:buSzPts val="1100"/>
              <a:buFont typeface="Calibri" panose="020F0502020204030204" pitchFamily="34" charset="0"/>
              <a:buChar char="-"/>
              <a:tabLst>
                <a:tab pos="1054735" algn="l"/>
              </a:tabLst>
            </a:pPr>
            <a:r>
              <a:rPr lang="en-US" sz="2000" dirty="0">
                <a:effectLst/>
                <a:ea typeface="Calibri" panose="020F0502020204030204" pitchFamily="34" charset="0"/>
              </a:rPr>
              <a:t>object</a:t>
            </a:r>
            <a:r>
              <a:rPr lang="en-US" sz="2000" spc="-25" dirty="0">
                <a:effectLst/>
                <a:ea typeface="Calibri" panose="020F0502020204030204" pitchFamily="34" charset="0"/>
              </a:rPr>
              <a:t> </a:t>
            </a:r>
            <a:r>
              <a:rPr lang="en-US" sz="2000" dirty="0">
                <a:effectLst/>
                <a:ea typeface="Calibri" panose="020F0502020204030204" pitchFamily="34" charset="0"/>
              </a:rPr>
              <a:t>with</a:t>
            </a:r>
            <a:r>
              <a:rPr lang="en-US" sz="2000" spc="-20" dirty="0">
                <a:effectLst/>
                <a:ea typeface="Calibri" panose="020F0502020204030204" pitchFamily="34" charset="0"/>
              </a:rPr>
              <a:t> </a:t>
            </a:r>
            <a:r>
              <a:rPr lang="en-US" sz="2000" dirty="0">
                <a:effectLst/>
                <a:ea typeface="Calibri" panose="020F0502020204030204" pitchFamily="34" charset="0"/>
              </a:rPr>
              <a:t>a</a:t>
            </a:r>
            <a:r>
              <a:rPr lang="en-US" sz="2000" spc="-5" dirty="0">
                <a:effectLst/>
                <a:ea typeface="Calibri" panose="020F0502020204030204" pitchFamily="34" charset="0"/>
              </a:rPr>
              <a:t> </a:t>
            </a:r>
            <a:r>
              <a:rPr lang="en-US" sz="2000" b="1" dirty="0">
                <a:effectLst/>
                <a:ea typeface="Calibri" panose="020F0502020204030204" pitchFamily="34" charset="0"/>
              </a:rPr>
              <a:t>physical</a:t>
            </a:r>
            <a:r>
              <a:rPr lang="en-US" sz="2000" b="1" spc="-25" dirty="0">
                <a:effectLst/>
                <a:ea typeface="Calibri" panose="020F0502020204030204" pitchFamily="34" charset="0"/>
              </a:rPr>
              <a:t> </a:t>
            </a:r>
            <a:r>
              <a:rPr lang="en-US" sz="2000" b="1" dirty="0">
                <a:effectLst/>
                <a:ea typeface="Calibri" panose="020F0502020204030204" pitchFamily="34" charset="0"/>
              </a:rPr>
              <a:t>existence</a:t>
            </a:r>
            <a:r>
              <a:rPr lang="en-US" sz="2000" b="1" spc="-20" dirty="0">
                <a:effectLst/>
                <a:ea typeface="Calibri" panose="020F0502020204030204" pitchFamily="34" charset="0"/>
              </a:rPr>
              <a:t> </a:t>
            </a:r>
            <a:r>
              <a:rPr lang="en-US" sz="2000" dirty="0">
                <a:effectLst/>
                <a:ea typeface="Calibri" panose="020F0502020204030204" pitchFamily="34" charset="0"/>
              </a:rPr>
              <a:t>(for</a:t>
            </a:r>
            <a:r>
              <a:rPr lang="en-US" sz="2000" spc="10" dirty="0">
                <a:effectLst/>
                <a:ea typeface="Calibri" panose="020F0502020204030204" pitchFamily="34" charset="0"/>
              </a:rPr>
              <a:t> </a:t>
            </a:r>
            <a:r>
              <a:rPr lang="en-US" sz="2000" dirty="0">
                <a:effectLst/>
                <a:ea typeface="Calibri" panose="020F0502020204030204" pitchFamily="34" charset="0"/>
              </a:rPr>
              <a:t>example,</a:t>
            </a:r>
            <a:r>
              <a:rPr lang="en-US" sz="2000" spc="-25"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particular</a:t>
            </a:r>
            <a:r>
              <a:rPr lang="en-US" sz="2000" spc="-20" dirty="0">
                <a:effectLst/>
                <a:ea typeface="Calibri" panose="020F0502020204030204" pitchFamily="34" charset="0"/>
              </a:rPr>
              <a:t> </a:t>
            </a:r>
            <a:r>
              <a:rPr lang="en-US" sz="2000" dirty="0">
                <a:effectLst/>
                <a:ea typeface="Calibri" panose="020F0502020204030204" pitchFamily="34" charset="0"/>
              </a:rPr>
              <a:t>person,</a:t>
            </a:r>
            <a:r>
              <a:rPr lang="en-US" sz="2000" spc="-30" dirty="0">
                <a:effectLst/>
                <a:ea typeface="Calibri" panose="020F0502020204030204" pitchFamily="34" charset="0"/>
              </a:rPr>
              <a:t> </a:t>
            </a:r>
            <a:r>
              <a:rPr lang="en-US" sz="2000" dirty="0">
                <a:effectLst/>
                <a:ea typeface="Calibri" panose="020F0502020204030204" pitchFamily="34" charset="0"/>
              </a:rPr>
              <a:t>car,</a:t>
            </a:r>
            <a:r>
              <a:rPr lang="en-US" sz="2000" spc="-5" dirty="0">
                <a:effectLst/>
                <a:ea typeface="Calibri" panose="020F0502020204030204" pitchFamily="34" charset="0"/>
              </a:rPr>
              <a:t> </a:t>
            </a:r>
            <a:r>
              <a:rPr lang="en-US" sz="2000" dirty="0">
                <a:effectLst/>
                <a:ea typeface="Calibri" panose="020F0502020204030204" pitchFamily="34" charset="0"/>
              </a:rPr>
              <a:t>house,</a:t>
            </a:r>
            <a:r>
              <a:rPr lang="en-US" sz="2000" spc="-5" dirty="0">
                <a:effectLst/>
                <a:ea typeface="Calibri" panose="020F0502020204030204" pitchFamily="34" charset="0"/>
              </a:rPr>
              <a:t> </a:t>
            </a:r>
            <a:r>
              <a:rPr lang="en-US" sz="2000" dirty="0">
                <a:effectLst/>
                <a:ea typeface="Calibri" panose="020F0502020204030204" pitchFamily="34" charset="0"/>
              </a:rPr>
              <a:t>or</a:t>
            </a:r>
            <a:r>
              <a:rPr lang="en-US" sz="2000" spc="-15" dirty="0">
                <a:effectLst/>
                <a:ea typeface="Calibri" panose="020F0502020204030204" pitchFamily="34" charset="0"/>
              </a:rPr>
              <a:t> </a:t>
            </a:r>
            <a:r>
              <a:rPr lang="en-US" sz="2000" dirty="0">
                <a:effectLst/>
                <a:ea typeface="Calibri" panose="020F0502020204030204" pitchFamily="34" charset="0"/>
              </a:rPr>
              <a:t>employee)</a:t>
            </a:r>
            <a:r>
              <a:rPr lang="en-US" sz="2000" spc="-230" dirty="0">
                <a:effectLst/>
                <a:ea typeface="Calibri" panose="020F0502020204030204" pitchFamily="34" charset="0"/>
              </a:rPr>
              <a:t> </a:t>
            </a:r>
            <a:r>
              <a:rPr lang="en-US" sz="2000" dirty="0">
                <a:effectLst/>
                <a:ea typeface="Calibri" panose="020F0502020204030204" pitchFamily="34" charset="0"/>
              </a:rPr>
              <a:t>or</a:t>
            </a:r>
          </a:p>
          <a:p>
            <a:pPr marL="742950" marR="0" lvl="1" indent="-285750" algn="just">
              <a:spcBef>
                <a:spcPts val="5"/>
              </a:spcBef>
              <a:buSzPts val="1100"/>
              <a:buFont typeface="Calibri" panose="020F0502020204030204" pitchFamily="34" charset="0"/>
              <a:buChar char="-"/>
              <a:tabLst>
                <a:tab pos="1054735" algn="l"/>
              </a:tabLst>
            </a:pPr>
            <a:r>
              <a:rPr lang="en-US" sz="2000" dirty="0">
                <a:effectLst/>
                <a:ea typeface="Calibri" panose="020F0502020204030204" pitchFamily="34" charset="0"/>
              </a:rPr>
              <a:t>object</a:t>
            </a:r>
            <a:r>
              <a:rPr lang="en-US" sz="2000" spc="-25" dirty="0">
                <a:effectLst/>
                <a:ea typeface="Calibri" panose="020F0502020204030204" pitchFamily="34" charset="0"/>
              </a:rPr>
              <a:t> </a:t>
            </a:r>
            <a:r>
              <a:rPr lang="en-US" sz="2000" dirty="0">
                <a:effectLst/>
                <a:ea typeface="Calibri" panose="020F0502020204030204" pitchFamily="34" charset="0"/>
              </a:rPr>
              <a:t>with</a:t>
            </a:r>
            <a:r>
              <a:rPr lang="en-US" sz="2000" spc="-2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b="1" dirty="0">
                <a:effectLst/>
                <a:ea typeface="Calibri" panose="020F0502020204030204" pitchFamily="34" charset="0"/>
              </a:rPr>
              <a:t>conceptual</a:t>
            </a:r>
            <a:r>
              <a:rPr lang="en-US" sz="2000" b="1" spc="-25" dirty="0">
                <a:effectLst/>
                <a:ea typeface="Calibri" panose="020F0502020204030204" pitchFamily="34" charset="0"/>
              </a:rPr>
              <a:t> </a:t>
            </a:r>
            <a:r>
              <a:rPr lang="en-US" sz="2000" b="1" dirty="0">
                <a:effectLst/>
                <a:ea typeface="Calibri" panose="020F0502020204030204" pitchFamily="34" charset="0"/>
              </a:rPr>
              <a:t>existence</a:t>
            </a:r>
            <a:r>
              <a:rPr lang="en-US" sz="2000" b="1" spc="-5" dirty="0">
                <a:effectLst/>
                <a:ea typeface="Calibri" panose="020F0502020204030204" pitchFamily="34" charset="0"/>
              </a:rPr>
              <a:t> </a:t>
            </a:r>
            <a:r>
              <a:rPr lang="en-US" sz="2000" dirty="0">
                <a:effectLst/>
                <a:ea typeface="Calibri" panose="020F0502020204030204" pitchFamily="34" charset="0"/>
              </a:rPr>
              <a:t>(for</a:t>
            </a:r>
            <a:r>
              <a:rPr lang="en-US" sz="2000" spc="-15" dirty="0">
                <a:effectLst/>
                <a:ea typeface="Calibri" panose="020F0502020204030204" pitchFamily="34" charset="0"/>
              </a:rPr>
              <a:t> </a:t>
            </a:r>
            <a:r>
              <a:rPr lang="en-US" sz="2000" dirty="0">
                <a:effectLst/>
                <a:ea typeface="Calibri" panose="020F0502020204030204" pitchFamily="34" charset="0"/>
              </a:rPr>
              <a:t>instance,</a:t>
            </a:r>
            <a:r>
              <a:rPr lang="en-US" sz="2000" spc="-20" dirty="0">
                <a:effectLst/>
                <a:ea typeface="Calibri" panose="020F0502020204030204" pitchFamily="34" charset="0"/>
              </a:rPr>
              <a:t> </a:t>
            </a:r>
            <a:r>
              <a:rPr lang="en-US" sz="2000" dirty="0">
                <a:effectLst/>
                <a:ea typeface="Calibri" panose="020F0502020204030204" pitchFamily="34" charset="0"/>
              </a:rPr>
              <a:t>a</a:t>
            </a:r>
            <a:r>
              <a:rPr lang="en-US" sz="2000" spc="5" dirty="0">
                <a:effectLst/>
                <a:ea typeface="Calibri" panose="020F0502020204030204" pitchFamily="34" charset="0"/>
              </a:rPr>
              <a:t> </a:t>
            </a:r>
            <a:r>
              <a:rPr lang="en-US" sz="2000" dirty="0">
                <a:effectLst/>
                <a:ea typeface="Calibri" panose="020F0502020204030204" pitchFamily="34" charset="0"/>
              </a:rPr>
              <a:t>company,</a:t>
            </a:r>
            <a:r>
              <a:rPr lang="en-US" sz="2000" spc="-30"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a:effectLst/>
                <a:ea typeface="Calibri" panose="020F0502020204030204" pitchFamily="34" charset="0"/>
              </a:rPr>
              <a:t>job,</a:t>
            </a:r>
            <a:r>
              <a:rPr lang="en-US" sz="2000" spc="-5" dirty="0">
                <a:effectLst/>
                <a:ea typeface="Calibri" panose="020F0502020204030204" pitchFamily="34" charset="0"/>
              </a:rPr>
              <a:t> </a:t>
            </a:r>
            <a:r>
              <a:rPr lang="en-US" sz="2000" dirty="0">
                <a:effectLst/>
                <a:ea typeface="Calibri" panose="020F0502020204030204" pitchFamily="34" charset="0"/>
              </a:rPr>
              <a:t>or</a:t>
            </a:r>
            <a:r>
              <a:rPr lang="en-US" sz="2000" spc="-15"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a:effectLst/>
                <a:ea typeface="Calibri" panose="020F0502020204030204" pitchFamily="34" charset="0"/>
              </a:rPr>
              <a:t>university</a:t>
            </a:r>
            <a:r>
              <a:rPr lang="en-US" sz="2000" spc="-15" dirty="0">
                <a:effectLst/>
                <a:ea typeface="Calibri" panose="020F0502020204030204" pitchFamily="34" charset="0"/>
              </a:rPr>
              <a:t> </a:t>
            </a:r>
            <a:r>
              <a:rPr lang="en-US" sz="2000" dirty="0">
                <a:effectLst/>
                <a:ea typeface="Calibri" panose="020F0502020204030204" pitchFamily="34" charset="0"/>
              </a:rPr>
              <a:t>course)</a:t>
            </a:r>
          </a:p>
          <a:p>
            <a:pPr marL="342900" marR="457200" lvl="0" indent="-342900" algn="just">
              <a:buFont typeface="Wingdings" panose="05000000000000000000" pitchFamily="2" charset="2"/>
              <a:buChar char=""/>
              <a:tabLst>
                <a:tab pos="883920" algn="l"/>
              </a:tabLst>
            </a:pPr>
            <a:r>
              <a:rPr lang="en-US" sz="2000" dirty="0">
                <a:effectLst/>
                <a:ea typeface="Calibri" panose="020F0502020204030204" pitchFamily="34" charset="0"/>
              </a:rPr>
              <a:t>Each</a:t>
            </a:r>
            <a:r>
              <a:rPr lang="en-US" sz="2000" spc="-25" dirty="0">
                <a:effectLst/>
                <a:ea typeface="Calibri" panose="020F0502020204030204" pitchFamily="34" charset="0"/>
              </a:rPr>
              <a:t> </a:t>
            </a:r>
            <a:r>
              <a:rPr lang="en-US" sz="2000" dirty="0">
                <a:effectLst/>
                <a:ea typeface="Calibri" panose="020F0502020204030204" pitchFamily="34" charset="0"/>
              </a:rPr>
              <a:t>entity</a:t>
            </a:r>
            <a:r>
              <a:rPr lang="en-US" sz="2000" spc="-15" dirty="0">
                <a:effectLst/>
                <a:ea typeface="Calibri" panose="020F0502020204030204" pitchFamily="34" charset="0"/>
              </a:rPr>
              <a:t> </a:t>
            </a:r>
            <a:r>
              <a:rPr lang="en-US" sz="2000" dirty="0">
                <a:effectLst/>
                <a:ea typeface="Calibri" panose="020F0502020204030204" pitchFamily="34" charset="0"/>
              </a:rPr>
              <a:t>has</a:t>
            </a:r>
            <a:r>
              <a:rPr lang="en-US" sz="2000" spc="15" dirty="0">
                <a:effectLst/>
                <a:ea typeface="Calibri" panose="020F0502020204030204" pitchFamily="34" charset="0"/>
              </a:rPr>
              <a:t> </a:t>
            </a:r>
            <a:r>
              <a:rPr lang="en-US" sz="2000" b="1" dirty="0">
                <a:effectLst/>
                <a:ea typeface="Calibri" panose="020F0502020204030204" pitchFamily="34" charset="0"/>
              </a:rPr>
              <a:t>attributes</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particular</a:t>
            </a:r>
            <a:r>
              <a:rPr lang="en-US" sz="2000" spc="-10" dirty="0">
                <a:effectLst/>
                <a:ea typeface="Calibri" panose="020F0502020204030204" pitchFamily="34" charset="0"/>
              </a:rPr>
              <a:t> </a:t>
            </a:r>
            <a:r>
              <a:rPr lang="en-US" sz="2000" b="1" dirty="0">
                <a:effectLst/>
                <a:ea typeface="Calibri" panose="020F0502020204030204" pitchFamily="34" charset="0"/>
              </a:rPr>
              <a:t>properties</a:t>
            </a:r>
            <a:r>
              <a:rPr lang="en-US" sz="2000" b="1" spc="-25" dirty="0">
                <a:effectLst/>
                <a:ea typeface="Calibri" panose="020F0502020204030204" pitchFamily="34" charset="0"/>
              </a:rPr>
              <a:t> </a:t>
            </a:r>
            <a:r>
              <a:rPr lang="en-US" sz="2000" b="1" dirty="0">
                <a:effectLst/>
                <a:ea typeface="Calibri" panose="020F0502020204030204" pitchFamily="34" charset="0"/>
              </a:rPr>
              <a:t>that</a:t>
            </a:r>
            <a:r>
              <a:rPr lang="en-US" sz="2000" b="1" spc="-15" dirty="0">
                <a:effectLst/>
                <a:ea typeface="Calibri" panose="020F0502020204030204" pitchFamily="34" charset="0"/>
              </a:rPr>
              <a:t> </a:t>
            </a:r>
            <a:r>
              <a:rPr lang="en-US" sz="2000" b="1" dirty="0">
                <a:effectLst/>
                <a:ea typeface="Calibri" panose="020F0502020204030204" pitchFamily="34" charset="0"/>
              </a:rPr>
              <a:t>describe</a:t>
            </a:r>
            <a:r>
              <a:rPr lang="en-US" sz="2000" b="1" spc="-25" dirty="0">
                <a:effectLst/>
                <a:ea typeface="Calibri" panose="020F0502020204030204" pitchFamily="34" charset="0"/>
              </a:rPr>
              <a:t> </a:t>
            </a:r>
            <a:r>
              <a:rPr lang="en-US" sz="2000" b="1" dirty="0">
                <a:effectLst/>
                <a:ea typeface="Calibri" panose="020F0502020204030204" pitchFamily="34" charset="0"/>
              </a:rPr>
              <a:t>it</a:t>
            </a:r>
            <a:r>
              <a:rPr lang="en-US" sz="2000" dirty="0">
                <a:effectLst/>
                <a:ea typeface="Calibri" panose="020F0502020204030204" pitchFamily="34" charset="0"/>
              </a:rPr>
              <a:t>.</a:t>
            </a:r>
            <a:r>
              <a:rPr lang="en-US" sz="2000" spc="-10" dirty="0">
                <a:effectLst/>
                <a:ea typeface="Calibri" panose="020F0502020204030204" pitchFamily="34" charset="0"/>
              </a:rPr>
              <a:t> </a:t>
            </a:r>
            <a:r>
              <a:rPr lang="en-US" sz="2000" dirty="0">
                <a:effectLst/>
                <a:ea typeface="Calibri" panose="020F0502020204030204" pitchFamily="34" charset="0"/>
              </a:rPr>
              <a:t>For</a:t>
            </a:r>
            <a:r>
              <a:rPr lang="en-US" sz="2000" spc="-15" dirty="0">
                <a:effectLst/>
                <a:ea typeface="Calibri" panose="020F0502020204030204" pitchFamily="34" charset="0"/>
              </a:rPr>
              <a:t> </a:t>
            </a:r>
            <a:r>
              <a:rPr lang="en-US" sz="2000" dirty="0">
                <a:effectLst/>
                <a:ea typeface="Calibri" panose="020F0502020204030204" pitchFamily="34" charset="0"/>
              </a:rPr>
              <a:t>example,</a:t>
            </a:r>
            <a:r>
              <a:rPr lang="en-US" sz="2000" spc="-25" dirty="0">
                <a:effectLst/>
                <a:ea typeface="Calibri" panose="020F0502020204030204" pitchFamily="34" charset="0"/>
              </a:rPr>
              <a:t> </a:t>
            </a:r>
            <a:r>
              <a:rPr lang="en-US" sz="2000" dirty="0">
                <a:effectLst/>
                <a:ea typeface="Calibri" panose="020F0502020204030204" pitchFamily="34" charset="0"/>
              </a:rPr>
              <a:t>an</a:t>
            </a:r>
            <a:r>
              <a:rPr lang="en-US" sz="2000" spc="-20" dirty="0">
                <a:effectLst/>
                <a:ea typeface="Calibri" panose="020F0502020204030204" pitchFamily="34" charset="0"/>
              </a:rPr>
              <a:t> </a:t>
            </a:r>
            <a:r>
              <a:rPr lang="en-US" sz="2000" dirty="0">
                <a:effectLst/>
                <a:ea typeface="Calibri" panose="020F0502020204030204" pitchFamily="34" charset="0"/>
              </a:rPr>
              <a:t>EMPLOYEE</a:t>
            </a:r>
            <a:r>
              <a:rPr lang="en-US" sz="2000" spc="-5" dirty="0">
                <a:effectLst/>
                <a:ea typeface="Calibri" panose="020F0502020204030204" pitchFamily="34" charset="0"/>
              </a:rPr>
              <a:t> </a:t>
            </a:r>
            <a:r>
              <a:rPr lang="en-US" sz="2000" dirty="0">
                <a:effectLst/>
                <a:ea typeface="Calibri" panose="020F0502020204030204" pitchFamily="34" charset="0"/>
              </a:rPr>
              <a:t>entity</a:t>
            </a:r>
            <a:r>
              <a:rPr lang="en-US" sz="2000" spc="-235" dirty="0">
                <a:effectLst/>
                <a:ea typeface="Calibri" panose="020F0502020204030204" pitchFamily="34" charset="0"/>
              </a:rPr>
              <a:t> </a:t>
            </a:r>
            <a:r>
              <a:rPr lang="en-US" sz="2000" dirty="0">
                <a:effectLst/>
                <a:ea typeface="Calibri" panose="020F0502020204030204" pitchFamily="34" charset="0"/>
              </a:rPr>
              <a:t>may</a:t>
            </a:r>
            <a:r>
              <a:rPr lang="en-US" sz="2000" spc="-10" dirty="0">
                <a:effectLst/>
                <a:ea typeface="Calibri" panose="020F0502020204030204" pitchFamily="34" charset="0"/>
              </a:rPr>
              <a:t> </a:t>
            </a:r>
            <a:r>
              <a:rPr lang="en-US" sz="2000" dirty="0">
                <a:effectLst/>
                <a:ea typeface="Calibri" panose="020F0502020204030204" pitchFamily="34" charset="0"/>
              </a:rPr>
              <a:t>be</a:t>
            </a:r>
            <a:r>
              <a:rPr lang="en-US" sz="2000" spc="-10" dirty="0">
                <a:effectLst/>
                <a:ea typeface="Calibri" panose="020F0502020204030204" pitchFamily="34" charset="0"/>
              </a:rPr>
              <a:t> </a:t>
            </a:r>
            <a:r>
              <a:rPr lang="en-US" sz="2000" dirty="0">
                <a:effectLst/>
                <a:ea typeface="Calibri" panose="020F0502020204030204" pitchFamily="34" charset="0"/>
              </a:rPr>
              <a:t>described</a:t>
            </a:r>
            <a:r>
              <a:rPr lang="en-US" sz="2000" spc="-10" dirty="0">
                <a:effectLst/>
                <a:ea typeface="Calibri" panose="020F0502020204030204" pitchFamily="34" charset="0"/>
              </a:rPr>
              <a:t> </a:t>
            </a:r>
            <a:r>
              <a:rPr lang="en-US" sz="2000" dirty="0">
                <a:effectLst/>
                <a:ea typeface="Calibri" panose="020F0502020204030204" pitchFamily="34" charset="0"/>
              </a:rPr>
              <a:t>by</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employee’s</a:t>
            </a:r>
            <a:r>
              <a:rPr lang="en-US" sz="2000" spc="-10" dirty="0">
                <a:effectLst/>
                <a:ea typeface="Calibri" panose="020F0502020204030204" pitchFamily="34" charset="0"/>
              </a:rPr>
              <a:t> </a:t>
            </a:r>
            <a:r>
              <a:rPr lang="en-US" sz="2000" dirty="0">
                <a:effectLst/>
                <a:ea typeface="Calibri" panose="020F0502020204030204" pitchFamily="34" charset="0"/>
              </a:rPr>
              <a:t>name,</a:t>
            </a:r>
            <a:r>
              <a:rPr lang="en-US" sz="2000" spc="-20" dirty="0">
                <a:effectLst/>
                <a:ea typeface="Calibri" panose="020F0502020204030204" pitchFamily="34" charset="0"/>
              </a:rPr>
              <a:t> </a:t>
            </a:r>
            <a:r>
              <a:rPr lang="en-US" sz="2000" dirty="0">
                <a:effectLst/>
                <a:ea typeface="Calibri" panose="020F0502020204030204" pitchFamily="34" charset="0"/>
              </a:rPr>
              <a:t>age,</a:t>
            </a:r>
            <a:r>
              <a:rPr lang="en-US" sz="2000" spc="-20" dirty="0">
                <a:effectLst/>
                <a:ea typeface="Calibri" panose="020F0502020204030204" pitchFamily="34" charset="0"/>
              </a:rPr>
              <a:t> </a:t>
            </a:r>
            <a:r>
              <a:rPr lang="en-US" sz="2000" dirty="0">
                <a:effectLst/>
                <a:ea typeface="Calibri" panose="020F0502020204030204" pitchFamily="34" charset="0"/>
              </a:rPr>
              <a:t>address,</a:t>
            </a:r>
            <a:r>
              <a:rPr lang="en-US" sz="2000" spc="-20" dirty="0">
                <a:effectLst/>
                <a:ea typeface="Calibri" panose="020F0502020204030204" pitchFamily="34" charset="0"/>
              </a:rPr>
              <a:t> </a:t>
            </a:r>
            <a:r>
              <a:rPr lang="en-US" sz="2000" dirty="0">
                <a:effectLst/>
                <a:ea typeface="Calibri" panose="020F0502020204030204" pitchFamily="34" charset="0"/>
              </a:rPr>
              <a:t>salary,</a:t>
            </a:r>
            <a:r>
              <a:rPr lang="en-US" sz="2000" spc="-20"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job.</a:t>
            </a:r>
          </a:p>
          <a:p>
            <a:endParaRPr lang="en-US" sz="2200" b="1" dirty="0">
              <a:effectLst/>
              <a:ea typeface="Calibri" panose="020F0502020204030204" pitchFamily="34" charset="0"/>
            </a:endParaRPr>
          </a:p>
          <a:p>
            <a:endParaRPr lang="en-US" sz="1800" dirty="0">
              <a:effectLst/>
              <a:latin typeface="Calibri" panose="020F0502020204030204" pitchFamily="34" charset="0"/>
              <a:ea typeface="Calibri" panose="020F0502020204030204" pitchFamily="34" charset="0"/>
            </a:endParaRPr>
          </a:p>
          <a:p>
            <a:endParaRPr lang="en-US" dirty="0"/>
          </a:p>
        </p:txBody>
      </p:sp>
    </p:spTree>
    <p:extLst>
      <p:ext uri="{BB962C8B-B14F-4D97-AF65-F5344CB8AC3E}">
        <p14:creationId xmlns:p14="http://schemas.microsoft.com/office/powerpoint/2010/main" val="9650685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671D33-243E-C2F2-F747-4B847E1DB5F2}"/>
              </a:ext>
            </a:extLst>
          </p:cNvPr>
          <p:cNvPicPr>
            <a:picLocks noChangeAspect="1"/>
          </p:cNvPicPr>
          <p:nvPr/>
        </p:nvPicPr>
        <p:blipFill>
          <a:blip r:embed="rId2"/>
          <a:stretch>
            <a:fillRect/>
          </a:stretch>
        </p:blipFill>
        <p:spPr>
          <a:xfrm>
            <a:off x="1872756" y="303266"/>
            <a:ext cx="8446488" cy="2625914"/>
          </a:xfrm>
          <a:prstGeom prst="rect">
            <a:avLst/>
          </a:prstGeom>
        </p:spPr>
      </p:pic>
      <p:sp>
        <p:nvSpPr>
          <p:cNvPr id="5" name="TextBox 4">
            <a:extLst>
              <a:ext uri="{FF2B5EF4-FFF2-40B4-BE49-F238E27FC236}">
                <a16:creationId xmlns:a16="http://schemas.microsoft.com/office/drawing/2014/main" id="{7704E0EB-6953-328C-3093-475AA45217A6}"/>
              </a:ext>
            </a:extLst>
          </p:cNvPr>
          <p:cNvSpPr txBox="1"/>
          <p:nvPr/>
        </p:nvSpPr>
        <p:spPr>
          <a:xfrm>
            <a:off x="588935" y="3429000"/>
            <a:ext cx="11391254" cy="1631216"/>
          </a:xfrm>
          <a:prstGeom prst="rect">
            <a:avLst/>
          </a:prstGeom>
          <a:noFill/>
        </p:spPr>
        <p:txBody>
          <a:bodyPr wrap="square" rtlCol="0">
            <a:spAutoFit/>
          </a:bodyPr>
          <a:lstStyle/>
          <a:p>
            <a:pPr marL="342900" marR="0" lvl="0" indent="-342900" algn="just">
              <a:buFont typeface="Wingdings" panose="05000000000000000000" pitchFamily="2" charset="2"/>
              <a:buChar char=""/>
              <a:tabLst>
                <a:tab pos="883920" algn="l"/>
              </a:tabLst>
            </a:pP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above</a:t>
            </a:r>
            <a:r>
              <a:rPr lang="en-US" sz="2000" spc="-15" dirty="0">
                <a:effectLst/>
                <a:ea typeface="Calibri" panose="020F0502020204030204" pitchFamily="34" charset="0"/>
              </a:rPr>
              <a:t> </a:t>
            </a:r>
            <a:r>
              <a:rPr lang="en-US" sz="2000" dirty="0">
                <a:effectLst/>
                <a:ea typeface="Calibri" panose="020F0502020204030204" pitchFamily="34" charset="0"/>
              </a:rPr>
              <a:t>fig</a:t>
            </a:r>
            <a:r>
              <a:rPr lang="en-US" sz="2000" spc="230" dirty="0">
                <a:effectLst/>
                <a:ea typeface="Calibri" panose="020F0502020204030204" pitchFamily="34" charset="0"/>
              </a:rPr>
              <a:t> </a:t>
            </a:r>
            <a:r>
              <a:rPr lang="en-US" sz="2000" dirty="0">
                <a:effectLst/>
                <a:ea typeface="Calibri" panose="020F0502020204030204" pitchFamily="34" charset="0"/>
              </a:rPr>
              <a:t>shows</a:t>
            </a:r>
            <a:r>
              <a:rPr lang="en-US" sz="2000" spc="-10" dirty="0">
                <a:effectLst/>
                <a:ea typeface="Calibri" panose="020F0502020204030204" pitchFamily="34" charset="0"/>
              </a:rPr>
              <a:t> </a:t>
            </a:r>
            <a:r>
              <a:rPr lang="en-US" sz="2000" dirty="0">
                <a:effectLst/>
                <a:ea typeface="Calibri" panose="020F0502020204030204" pitchFamily="34" charset="0"/>
              </a:rPr>
              <a:t>two</a:t>
            </a:r>
            <a:r>
              <a:rPr lang="en-US" sz="2000" spc="-20" dirty="0">
                <a:effectLst/>
                <a:ea typeface="Calibri" panose="020F0502020204030204" pitchFamily="34" charset="0"/>
              </a:rPr>
              <a:t> </a:t>
            </a:r>
            <a:r>
              <a:rPr lang="en-US" sz="2000" dirty="0">
                <a:effectLst/>
                <a:ea typeface="Calibri" panose="020F0502020204030204" pitchFamily="34" charset="0"/>
              </a:rPr>
              <a:t>entities</a:t>
            </a:r>
            <a:r>
              <a:rPr lang="en-US" sz="2000" spc="-5" dirty="0">
                <a:effectLst/>
                <a:ea typeface="Calibri" panose="020F0502020204030204" pitchFamily="34" charset="0"/>
              </a:rPr>
              <a:t> </a:t>
            </a:r>
            <a:r>
              <a:rPr lang="en-US" sz="2000" dirty="0">
                <a:effectLst/>
                <a:ea typeface="Calibri" panose="020F0502020204030204" pitchFamily="34" charset="0"/>
              </a:rPr>
              <a:t>and</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values</a:t>
            </a:r>
            <a:r>
              <a:rPr lang="en-US" sz="2000" spc="-5" dirty="0">
                <a:effectLst/>
                <a:ea typeface="Calibri" panose="020F0502020204030204" pitchFamily="34" charset="0"/>
              </a:rPr>
              <a:t> </a:t>
            </a:r>
            <a:r>
              <a:rPr lang="en-US" sz="2000" dirty="0">
                <a:effectLst/>
                <a:ea typeface="Calibri" panose="020F0502020204030204" pitchFamily="34" charset="0"/>
              </a:rPr>
              <a:t>of</a:t>
            </a:r>
            <a:r>
              <a:rPr lang="en-US" sz="2000" spc="-15" dirty="0">
                <a:effectLst/>
                <a:ea typeface="Calibri" panose="020F0502020204030204" pitchFamily="34" charset="0"/>
              </a:rPr>
              <a:t> </a:t>
            </a:r>
            <a:r>
              <a:rPr lang="en-US" sz="2000" dirty="0">
                <a:effectLst/>
                <a:ea typeface="Calibri" panose="020F0502020204030204" pitchFamily="34" charset="0"/>
              </a:rPr>
              <a:t>their</a:t>
            </a:r>
            <a:r>
              <a:rPr lang="en-US" sz="2000" spc="-10" dirty="0">
                <a:effectLst/>
                <a:ea typeface="Calibri" panose="020F0502020204030204" pitchFamily="34" charset="0"/>
              </a:rPr>
              <a:t> </a:t>
            </a:r>
            <a:r>
              <a:rPr lang="en-US" sz="2000" dirty="0">
                <a:effectLst/>
                <a:ea typeface="Calibri" panose="020F0502020204030204" pitchFamily="34" charset="0"/>
              </a:rPr>
              <a:t>attributes.</a:t>
            </a:r>
          </a:p>
          <a:p>
            <a:pPr marL="342900" marR="240030" lvl="0" indent="-342900" algn="just">
              <a:buFont typeface="Wingdings" panose="05000000000000000000" pitchFamily="2" charset="2"/>
              <a:buChar char=""/>
              <a:tabLst>
                <a:tab pos="883920" algn="l"/>
              </a:tabLst>
            </a:pPr>
            <a:r>
              <a:rPr lang="en-US" sz="2000" dirty="0">
                <a:effectLst/>
                <a:ea typeface="Calibri" panose="020F0502020204030204" pitchFamily="34" charset="0"/>
              </a:rPr>
              <a:t>The EMPLOYEE entity e1 has four attributes: </a:t>
            </a:r>
            <a:r>
              <a:rPr lang="en-US" sz="2000" b="1" dirty="0">
                <a:effectLst/>
                <a:ea typeface="Calibri" panose="020F0502020204030204" pitchFamily="34" charset="0"/>
              </a:rPr>
              <a:t>Name, Address, Age, and </a:t>
            </a:r>
            <a:r>
              <a:rPr lang="en-US" sz="2000" b="1" dirty="0" err="1">
                <a:effectLst/>
                <a:ea typeface="Calibri" panose="020F0502020204030204" pitchFamily="34" charset="0"/>
              </a:rPr>
              <a:t>Home_phone</a:t>
            </a:r>
            <a:r>
              <a:rPr lang="en-US" sz="2000" dirty="0">
                <a:effectLst/>
                <a:ea typeface="Calibri" panose="020F0502020204030204" pitchFamily="34" charset="0"/>
              </a:rPr>
              <a:t>; their values are ‘John</a:t>
            </a:r>
            <a:r>
              <a:rPr lang="en-US" sz="2000" spc="-235" dirty="0">
                <a:effectLst/>
                <a:ea typeface="Calibri" panose="020F0502020204030204" pitchFamily="34" charset="0"/>
              </a:rPr>
              <a:t> </a:t>
            </a:r>
            <a:r>
              <a:rPr lang="en-US" sz="2000" dirty="0">
                <a:effectLst/>
                <a:ea typeface="Calibri" panose="020F0502020204030204" pitchFamily="34" charset="0"/>
              </a:rPr>
              <a:t>Smith,’</a:t>
            </a:r>
            <a:r>
              <a:rPr lang="en-US" sz="2000" spc="-30" dirty="0">
                <a:effectLst/>
                <a:ea typeface="Calibri" panose="020F0502020204030204" pitchFamily="34" charset="0"/>
              </a:rPr>
              <a:t> </a:t>
            </a:r>
            <a:r>
              <a:rPr lang="en-US" sz="2000" dirty="0">
                <a:effectLst/>
                <a:ea typeface="Calibri" panose="020F0502020204030204" pitchFamily="34" charset="0"/>
              </a:rPr>
              <a:t>‘2311</a:t>
            </a:r>
            <a:r>
              <a:rPr lang="en-US" sz="2000" spc="5" dirty="0">
                <a:effectLst/>
                <a:ea typeface="Calibri" panose="020F0502020204030204" pitchFamily="34" charset="0"/>
              </a:rPr>
              <a:t> </a:t>
            </a:r>
            <a:r>
              <a:rPr lang="en-US" sz="2000" dirty="0">
                <a:effectLst/>
                <a:ea typeface="Calibri" panose="020F0502020204030204" pitchFamily="34" charset="0"/>
              </a:rPr>
              <a:t>Kirby,</a:t>
            </a:r>
            <a:r>
              <a:rPr lang="en-US" sz="2000" spc="-25" dirty="0">
                <a:effectLst/>
                <a:ea typeface="Calibri" panose="020F0502020204030204" pitchFamily="34" charset="0"/>
              </a:rPr>
              <a:t> </a:t>
            </a:r>
            <a:r>
              <a:rPr lang="en-US" sz="2000" dirty="0">
                <a:effectLst/>
                <a:ea typeface="Calibri" panose="020F0502020204030204" pitchFamily="34" charset="0"/>
              </a:rPr>
              <a:t>Houston, Texas</a:t>
            </a:r>
            <a:r>
              <a:rPr lang="en-US" sz="2000" spc="-15" dirty="0">
                <a:effectLst/>
                <a:ea typeface="Calibri" panose="020F0502020204030204" pitchFamily="34" charset="0"/>
              </a:rPr>
              <a:t> </a:t>
            </a:r>
            <a:r>
              <a:rPr lang="en-US" sz="2000" dirty="0">
                <a:effectLst/>
                <a:ea typeface="Calibri" panose="020F0502020204030204" pitchFamily="34" charset="0"/>
              </a:rPr>
              <a:t>77001’, ‘55’,</a:t>
            </a:r>
            <a:r>
              <a:rPr lang="en-US" sz="2000" spc="-25" dirty="0">
                <a:effectLst/>
                <a:ea typeface="Calibri" panose="020F0502020204030204" pitchFamily="34" charset="0"/>
              </a:rPr>
              <a:t> </a:t>
            </a:r>
            <a:r>
              <a:rPr lang="en-US" sz="2000" dirty="0">
                <a:effectLst/>
                <a:ea typeface="Calibri" panose="020F0502020204030204" pitchFamily="34" charset="0"/>
              </a:rPr>
              <a:t>and</a:t>
            </a:r>
            <a:r>
              <a:rPr lang="en-US" sz="2000" spc="5" dirty="0">
                <a:effectLst/>
                <a:ea typeface="Calibri" panose="020F0502020204030204" pitchFamily="34" charset="0"/>
              </a:rPr>
              <a:t> </a:t>
            </a:r>
            <a:r>
              <a:rPr lang="en-US" sz="2000" dirty="0">
                <a:effectLst/>
                <a:ea typeface="Calibri" panose="020F0502020204030204" pitchFamily="34" charset="0"/>
              </a:rPr>
              <a:t>‘713-749-2630’,</a:t>
            </a:r>
            <a:r>
              <a:rPr lang="en-US" sz="2000" spc="-30" dirty="0">
                <a:effectLst/>
                <a:ea typeface="Calibri" panose="020F0502020204030204" pitchFamily="34" charset="0"/>
              </a:rPr>
              <a:t> </a:t>
            </a:r>
            <a:r>
              <a:rPr lang="en-US" sz="2000" dirty="0">
                <a:effectLst/>
                <a:ea typeface="Calibri" panose="020F0502020204030204" pitchFamily="34" charset="0"/>
              </a:rPr>
              <a:t>respectively.</a:t>
            </a:r>
          </a:p>
          <a:p>
            <a:pPr marL="342900" indent="-342900">
              <a:buFont typeface="Wingdings" panose="05000000000000000000" pitchFamily="2" charset="2"/>
              <a:buChar char="ü"/>
            </a:pP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COMPANY</a:t>
            </a:r>
            <a:r>
              <a:rPr lang="en-US" sz="2000" spc="-25" dirty="0">
                <a:effectLst/>
                <a:ea typeface="Calibri" panose="020F0502020204030204" pitchFamily="34" charset="0"/>
              </a:rPr>
              <a:t> </a:t>
            </a:r>
            <a:r>
              <a:rPr lang="en-US" sz="2000" dirty="0">
                <a:effectLst/>
                <a:ea typeface="Calibri" panose="020F0502020204030204" pitchFamily="34" charset="0"/>
              </a:rPr>
              <a:t>entity</a:t>
            </a:r>
            <a:r>
              <a:rPr lang="en-US" sz="2000" spc="-15" dirty="0">
                <a:effectLst/>
                <a:ea typeface="Calibri" panose="020F0502020204030204" pitchFamily="34" charset="0"/>
              </a:rPr>
              <a:t> </a:t>
            </a:r>
            <a:r>
              <a:rPr lang="en-US" sz="2000" dirty="0">
                <a:effectLst/>
                <a:ea typeface="Calibri" panose="020F0502020204030204" pitchFamily="34" charset="0"/>
              </a:rPr>
              <a:t>c1</a:t>
            </a:r>
            <a:r>
              <a:rPr lang="en-US" sz="2000" spc="-25" dirty="0">
                <a:effectLst/>
                <a:ea typeface="Calibri" panose="020F0502020204030204" pitchFamily="34" charset="0"/>
              </a:rPr>
              <a:t> </a:t>
            </a:r>
            <a:r>
              <a:rPr lang="en-US" sz="2000" dirty="0">
                <a:effectLst/>
                <a:ea typeface="Calibri" panose="020F0502020204030204" pitchFamily="34" charset="0"/>
              </a:rPr>
              <a:t>has three</a:t>
            </a:r>
            <a:r>
              <a:rPr lang="en-US" sz="2000" spc="-10" dirty="0">
                <a:effectLst/>
                <a:ea typeface="Calibri" panose="020F0502020204030204" pitchFamily="34" charset="0"/>
              </a:rPr>
              <a:t> </a:t>
            </a:r>
            <a:r>
              <a:rPr lang="en-US" sz="2000" dirty="0">
                <a:effectLst/>
                <a:ea typeface="Calibri" panose="020F0502020204030204" pitchFamily="34" charset="0"/>
              </a:rPr>
              <a:t>attributes:</a:t>
            </a:r>
            <a:r>
              <a:rPr lang="en-US" sz="2000" spc="20" dirty="0">
                <a:effectLst/>
                <a:ea typeface="Calibri" panose="020F0502020204030204" pitchFamily="34" charset="0"/>
              </a:rPr>
              <a:t> </a:t>
            </a:r>
            <a:r>
              <a:rPr lang="en-US" sz="2000" b="1" dirty="0">
                <a:effectLst/>
                <a:ea typeface="Calibri" panose="020F0502020204030204" pitchFamily="34" charset="0"/>
              </a:rPr>
              <a:t>Name,</a:t>
            </a:r>
            <a:r>
              <a:rPr lang="en-US" sz="2000" b="1" spc="-15" dirty="0">
                <a:effectLst/>
                <a:ea typeface="Calibri" panose="020F0502020204030204" pitchFamily="34" charset="0"/>
              </a:rPr>
              <a:t> </a:t>
            </a:r>
            <a:r>
              <a:rPr lang="en-US" sz="2000" b="1" dirty="0">
                <a:effectLst/>
                <a:ea typeface="Calibri" panose="020F0502020204030204" pitchFamily="34" charset="0"/>
              </a:rPr>
              <a:t>Headquarters,</a:t>
            </a:r>
            <a:r>
              <a:rPr lang="en-US" sz="2000" b="1" spc="-15" dirty="0">
                <a:effectLst/>
                <a:ea typeface="Calibri" panose="020F0502020204030204" pitchFamily="34" charset="0"/>
              </a:rPr>
              <a:t> </a:t>
            </a:r>
            <a:r>
              <a:rPr lang="en-US" sz="2000" b="1" dirty="0">
                <a:effectLst/>
                <a:ea typeface="Calibri" panose="020F0502020204030204" pitchFamily="34" charset="0"/>
              </a:rPr>
              <a:t>and</a:t>
            </a:r>
            <a:r>
              <a:rPr lang="en-US" sz="2000" b="1" spc="-10" dirty="0">
                <a:effectLst/>
                <a:ea typeface="Calibri" panose="020F0502020204030204" pitchFamily="34" charset="0"/>
              </a:rPr>
              <a:t> </a:t>
            </a:r>
            <a:r>
              <a:rPr lang="en-US" sz="2000" b="1" dirty="0">
                <a:effectLst/>
                <a:ea typeface="Calibri" panose="020F0502020204030204" pitchFamily="34" charset="0"/>
              </a:rPr>
              <a:t>President</a:t>
            </a:r>
            <a:r>
              <a:rPr lang="en-US" sz="2000" dirty="0">
                <a:effectLst/>
                <a:ea typeface="Calibri" panose="020F0502020204030204" pitchFamily="34" charset="0"/>
              </a:rPr>
              <a:t>;</a:t>
            </a:r>
            <a:r>
              <a:rPr lang="en-US" sz="2000" spc="-25" dirty="0">
                <a:effectLst/>
                <a:ea typeface="Calibri" panose="020F0502020204030204" pitchFamily="34" charset="0"/>
              </a:rPr>
              <a:t> </a:t>
            </a:r>
            <a:r>
              <a:rPr lang="en-US" sz="2000" dirty="0">
                <a:effectLst/>
                <a:ea typeface="Calibri" panose="020F0502020204030204" pitchFamily="34" charset="0"/>
              </a:rPr>
              <a:t>their</a:t>
            </a:r>
            <a:r>
              <a:rPr lang="en-US" sz="2000" spc="-15" dirty="0">
                <a:effectLst/>
                <a:ea typeface="Calibri" panose="020F0502020204030204" pitchFamily="34" charset="0"/>
              </a:rPr>
              <a:t> </a:t>
            </a:r>
            <a:r>
              <a:rPr lang="en-US" sz="2000" dirty="0">
                <a:effectLst/>
                <a:ea typeface="Calibri" panose="020F0502020204030204" pitchFamily="34" charset="0"/>
              </a:rPr>
              <a:t>values</a:t>
            </a:r>
            <a:r>
              <a:rPr lang="en-US" sz="2000" spc="-10" dirty="0">
                <a:effectLst/>
                <a:ea typeface="Calibri" panose="020F0502020204030204" pitchFamily="34" charset="0"/>
              </a:rPr>
              <a:t> </a:t>
            </a:r>
            <a:r>
              <a:rPr lang="en-US" sz="2000" dirty="0">
                <a:effectLst/>
                <a:ea typeface="Calibri" panose="020F0502020204030204" pitchFamily="34" charset="0"/>
              </a:rPr>
              <a:t>are</a:t>
            </a:r>
            <a:r>
              <a:rPr lang="en-US" sz="2000" spc="-15" dirty="0">
                <a:effectLst/>
                <a:ea typeface="Calibri" panose="020F0502020204030204" pitchFamily="34" charset="0"/>
              </a:rPr>
              <a:t> </a:t>
            </a:r>
            <a:r>
              <a:rPr lang="en-US" sz="2000" dirty="0">
                <a:effectLst/>
                <a:ea typeface="Calibri" panose="020F0502020204030204" pitchFamily="34" charset="0"/>
              </a:rPr>
              <a:t>‘</a:t>
            </a:r>
            <a:r>
              <a:rPr lang="en-US" sz="2000" dirty="0" err="1">
                <a:effectLst/>
                <a:ea typeface="Calibri" panose="020F0502020204030204" pitchFamily="34" charset="0"/>
              </a:rPr>
              <a:t>Sunco</a:t>
            </a:r>
            <a:r>
              <a:rPr lang="en-US" sz="2000" spc="-230" dirty="0">
                <a:effectLst/>
                <a:ea typeface="Calibri" panose="020F0502020204030204" pitchFamily="34" charset="0"/>
              </a:rPr>
              <a:t> </a:t>
            </a:r>
            <a:r>
              <a:rPr lang="en-US" sz="2000" dirty="0">
                <a:effectLst/>
                <a:ea typeface="Calibri" panose="020F0502020204030204" pitchFamily="34" charset="0"/>
              </a:rPr>
              <a:t>Oil’,</a:t>
            </a:r>
            <a:r>
              <a:rPr lang="en-US" sz="2000" spc="-30" dirty="0">
                <a:effectLst/>
                <a:ea typeface="Calibri" panose="020F0502020204030204" pitchFamily="34" charset="0"/>
              </a:rPr>
              <a:t> </a:t>
            </a:r>
            <a:r>
              <a:rPr lang="en-US" sz="2000" dirty="0">
                <a:effectLst/>
                <a:ea typeface="Calibri" panose="020F0502020204030204" pitchFamily="34" charset="0"/>
              </a:rPr>
              <a:t>‘Houston’, and</a:t>
            </a:r>
            <a:r>
              <a:rPr lang="en-US" sz="2000" spc="-15" dirty="0">
                <a:effectLst/>
                <a:ea typeface="Calibri" panose="020F0502020204030204" pitchFamily="34" charset="0"/>
              </a:rPr>
              <a:t> </a:t>
            </a:r>
            <a:r>
              <a:rPr lang="en-US" sz="2000" dirty="0">
                <a:effectLst/>
                <a:ea typeface="Calibri" panose="020F0502020204030204" pitchFamily="34" charset="0"/>
              </a:rPr>
              <a:t>‘John</a:t>
            </a:r>
            <a:r>
              <a:rPr lang="en-US" sz="2000" spc="5" dirty="0">
                <a:effectLst/>
                <a:ea typeface="Calibri" panose="020F0502020204030204" pitchFamily="34" charset="0"/>
              </a:rPr>
              <a:t> </a:t>
            </a:r>
            <a:r>
              <a:rPr lang="en-US" sz="2000" dirty="0">
                <a:effectLst/>
                <a:ea typeface="Calibri" panose="020F0502020204030204" pitchFamily="34" charset="0"/>
              </a:rPr>
              <a:t>Smith’, respectively.</a:t>
            </a:r>
            <a:endParaRPr lang="en-US" sz="2000" dirty="0"/>
          </a:p>
        </p:txBody>
      </p:sp>
    </p:spTree>
    <p:extLst>
      <p:ext uri="{BB962C8B-B14F-4D97-AF65-F5344CB8AC3E}">
        <p14:creationId xmlns:p14="http://schemas.microsoft.com/office/powerpoint/2010/main" val="3448431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56771B-53BB-8491-103D-F5D4554E33AE}"/>
              </a:ext>
            </a:extLst>
          </p:cNvPr>
          <p:cNvSpPr txBox="1"/>
          <p:nvPr/>
        </p:nvSpPr>
        <p:spPr>
          <a:xfrm>
            <a:off x="387458" y="371959"/>
            <a:ext cx="11515240" cy="7478970"/>
          </a:xfrm>
          <a:prstGeom prst="rect">
            <a:avLst/>
          </a:prstGeom>
          <a:noFill/>
        </p:spPr>
        <p:txBody>
          <a:bodyPr wrap="square" rtlCol="0">
            <a:spAutoFit/>
          </a:bodyPr>
          <a:lstStyle/>
          <a:p>
            <a:pPr marL="654050" marR="0" indent="-592138" algn="just">
              <a:buNone/>
            </a:pPr>
            <a:r>
              <a:rPr lang="en-US" sz="2000" dirty="0">
                <a:effectLst/>
                <a:ea typeface="Calibri" panose="020F0502020204030204" pitchFamily="34" charset="0"/>
              </a:rPr>
              <a:t>Types</a:t>
            </a:r>
            <a:r>
              <a:rPr lang="en-US" sz="2000" spc="-20" dirty="0">
                <a:effectLst/>
                <a:ea typeface="Calibri" panose="020F0502020204030204" pitchFamily="34" charset="0"/>
              </a:rPr>
              <a:t> </a:t>
            </a:r>
            <a:r>
              <a:rPr lang="en-US" sz="2000" dirty="0">
                <a:effectLst/>
                <a:ea typeface="Calibri" panose="020F0502020204030204" pitchFamily="34" charset="0"/>
              </a:rPr>
              <a:t>of</a:t>
            </a:r>
            <a:r>
              <a:rPr lang="en-US" sz="2000" spc="-20" dirty="0">
                <a:effectLst/>
                <a:ea typeface="Calibri" panose="020F0502020204030204" pitchFamily="34" charset="0"/>
              </a:rPr>
              <a:t> </a:t>
            </a:r>
            <a:r>
              <a:rPr lang="en-US" sz="2000" dirty="0">
                <a:effectLst/>
                <a:ea typeface="Calibri" panose="020F0502020204030204" pitchFamily="34" charset="0"/>
              </a:rPr>
              <a:t>attributes</a:t>
            </a:r>
            <a:r>
              <a:rPr lang="en-US" sz="2000" spc="5" dirty="0">
                <a:effectLst/>
                <a:ea typeface="Calibri" panose="020F0502020204030204" pitchFamily="34" charset="0"/>
              </a:rPr>
              <a:t> </a:t>
            </a:r>
            <a:r>
              <a:rPr lang="en-US" sz="2000" dirty="0">
                <a:effectLst/>
                <a:ea typeface="Calibri" panose="020F0502020204030204" pitchFamily="34" charset="0"/>
              </a:rPr>
              <a:t>occur in</a:t>
            </a:r>
            <a:r>
              <a:rPr lang="en-US" sz="2000" spc="-30" dirty="0">
                <a:effectLst/>
                <a:ea typeface="Calibri" panose="020F0502020204030204" pitchFamily="34" charset="0"/>
              </a:rPr>
              <a:t> </a:t>
            </a:r>
            <a:r>
              <a:rPr lang="en-US" sz="2000" dirty="0">
                <a:effectLst/>
                <a:ea typeface="Calibri" panose="020F0502020204030204" pitchFamily="34" charset="0"/>
              </a:rPr>
              <a:t>the</a:t>
            </a:r>
            <a:r>
              <a:rPr lang="en-US" sz="2000" spc="5" dirty="0">
                <a:effectLst/>
                <a:ea typeface="Calibri" panose="020F0502020204030204" pitchFamily="34" charset="0"/>
              </a:rPr>
              <a:t> </a:t>
            </a:r>
            <a:r>
              <a:rPr lang="en-US" sz="2000" dirty="0">
                <a:effectLst/>
                <a:ea typeface="Calibri" panose="020F0502020204030204" pitchFamily="34" charset="0"/>
              </a:rPr>
              <a:t>ER</a:t>
            </a:r>
            <a:r>
              <a:rPr lang="en-US" sz="2000" spc="-20" dirty="0">
                <a:effectLst/>
                <a:ea typeface="Calibri" panose="020F0502020204030204" pitchFamily="34" charset="0"/>
              </a:rPr>
              <a:t> </a:t>
            </a:r>
            <a:r>
              <a:rPr lang="en-US" sz="2000" dirty="0">
                <a:effectLst/>
                <a:ea typeface="Calibri" panose="020F0502020204030204" pitchFamily="34" charset="0"/>
              </a:rPr>
              <a:t>model</a:t>
            </a:r>
          </a:p>
          <a:p>
            <a:pPr marL="342900" marR="0" lvl="0" indent="-342900" algn="just">
              <a:buSzPts val="1100"/>
              <a:buFont typeface="Wingdings" panose="05000000000000000000" pitchFamily="2" charset="2"/>
              <a:buChar char=""/>
              <a:tabLst>
                <a:tab pos="1435735" algn="l"/>
              </a:tabLst>
            </a:pPr>
            <a:r>
              <a:rPr lang="en-US" sz="2000" b="1" dirty="0">
                <a:effectLst/>
                <a:ea typeface="Wingdings" panose="05000000000000000000" pitchFamily="2" charset="2"/>
                <a:cs typeface="Wingdings" panose="05000000000000000000" pitchFamily="2" charset="2"/>
              </a:rPr>
              <a:t>simple</a:t>
            </a:r>
            <a:r>
              <a:rPr lang="en-US" sz="2000" b="1" spc="-2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versus</a:t>
            </a:r>
            <a:r>
              <a:rPr lang="en-US" sz="2000" spc="-25"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composite</a:t>
            </a:r>
            <a:endParaRPr lang="en-US" sz="2000" dirty="0">
              <a:effectLst/>
              <a:ea typeface="Wingdings" panose="05000000000000000000" pitchFamily="2" charset="2"/>
              <a:cs typeface="Wingdings" panose="05000000000000000000" pitchFamily="2" charset="2"/>
            </a:endParaRPr>
          </a:p>
          <a:p>
            <a:pPr marL="342900" marR="0" lvl="0" indent="-342900" algn="just">
              <a:spcBef>
                <a:spcPts val="5"/>
              </a:spcBef>
              <a:buSzPts val="1100"/>
              <a:buFont typeface="Wingdings" panose="05000000000000000000" pitchFamily="2" charset="2"/>
              <a:buChar char=""/>
              <a:tabLst>
                <a:tab pos="1435735" algn="l"/>
              </a:tabLst>
            </a:pPr>
            <a:r>
              <a:rPr lang="en-US" sz="2000" b="1" dirty="0">
                <a:effectLst/>
                <a:ea typeface="Wingdings" panose="05000000000000000000" pitchFamily="2" charset="2"/>
                <a:cs typeface="Wingdings" panose="05000000000000000000" pitchFamily="2" charset="2"/>
              </a:rPr>
              <a:t>single</a:t>
            </a:r>
            <a:r>
              <a:rPr lang="en-US" sz="2000" b="1" spc="-20"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valued </a:t>
            </a:r>
            <a:r>
              <a:rPr lang="en-US" sz="2000" dirty="0">
                <a:effectLst/>
                <a:ea typeface="Wingdings" panose="05000000000000000000" pitchFamily="2" charset="2"/>
                <a:cs typeface="Wingdings" panose="05000000000000000000" pitchFamily="2" charset="2"/>
              </a:rPr>
              <a:t>versus</a:t>
            </a:r>
            <a:r>
              <a:rPr lang="en-US" sz="2000" spc="-15"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multivalued</a:t>
            </a:r>
            <a:endParaRPr lang="en-US" sz="2000" dirty="0">
              <a:effectLst/>
              <a:ea typeface="Wingdings" panose="05000000000000000000" pitchFamily="2" charset="2"/>
              <a:cs typeface="Wingdings" panose="05000000000000000000" pitchFamily="2" charset="2"/>
            </a:endParaRPr>
          </a:p>
          <a:p>
            <a:pPr marL="342900" marR="0" lvl="0" indent="-342900" algn="just">
              <a:buSzPts val="1100"/>
              <a:buFont typeface="Wingdings" panose="05000000000000000000" pitchFamily="2" charset="2"/>
              <a:buChar char=""/>
              <a:tabLst>
                <a:tab pos="1435735" algn="l"/>
              </a:tabLst>
            </a:pPr>
            <a:r>
              <a:rPr lang="en-US" sz="2000" b="1" dirty="0">
                <a:effectLst/>
                <a:ea typeface="Wingdings" panose="05000000000000000000" pitchFamily="2" charset="2"/>
                <a:cs typeface="Wingdings" panose="05000000000000000000" pitchFamily="2" charset="2"/>
              </a:rPr>
              <a:t>stored</a:t>
            </a:r>
            <a:r>
              <a:rPr lang="en-US" sz="2000" b="1"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versus</a:t>
            </a:r>
            <a:r>
              <a:rPr lang="en-US" sz="2000" spc="-20"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derived</a:t>
            </a:r>
          </a:p>
          <a:p>
            <a:pPr marL="342900" marR="0" lvl="0" indent="-342900" algn="just">
              <a:buSzPts val="1100"/>
              <a:buFont typeface="Wingdings" panose="05000000000000000000" pitchFamily="2" charset="2"/>
              <a:buChar char=""/>
              <a:tabLst>
                <a:tab pos="1435735" algn="l"/>
              </a:tabLst>
            </a:pPr>
            <a:endParaRPr lang="en-US" sz="2000" b="1" dirty="0">
              <a:ea typeface="Wingdings" panose="05000000000000000000" pitchFamily="2" charset="2"/>
              <a:cs typeface="Wingdings" panose="05000000000000000000" pitchFamily="2" charset="2"/>
            </a:endParaRPr>
          </a:p>
          <a:p>
            <a:pPr marL="482600" marR="0" indent="-342900" algn="just">
              <a:buFont typeface="Wingdings" panose="05000000000000000000" pitchFamily="2" charset="2"/>
              <a:buChar char="q"/>
            </a:pPr>
            <a:r>
              <a:rPr lang="en-US" sz="2000" b="1" dirty="0">
                <a:effectLst/>
                <a:ea typeface="Calibri" panose="020F0502020204030204" pitchFamily="34" charset="0"/>
              </a:rPr>
              <a:t>Composite</a:t>
            </a:r>
            <a:r>
              <a:rPr lang="en-US" sz="2000" b="1" spc="-25" dirty="0">
                <a:effectLst/>
                <a:ea typeface="Calibri" panose="020F0502020204030204" pitchFamily="34" charset="0"/>
              </a:rPr>
              <a:t> </a:t>
            </a:r>
            <a:r>
              <a:rPr lang="en-US" sz="2000" b="1" dirty="0">
                <a:effectLst/>
                <a:ea typeface="Calibri" panose="020F0502020204030204" pitchFamily="34" charset="0"/>
              </a:rPr>
              <a:t>attributes </a:t>
            </a:r>
            <a:r>
              <a:rPr lang="en-US" sz="2000" dirty="0">
                <a:effectLst/>
                <a:ea typeface="Calibri" panose="020F0502020204030204" pitchFamily="34" charset="0"/>
              </a:rPr>
              <a:t>can</a:t>
            </a:r>
            <a:r>
              <a:rPr lang="en-US" sz="2000" spc="-20" dirty="0">
                <a:effectLst/>
                <a:ea typeface="Calibri" panose="020F0502020204030204" pitchFamily="34" charset="0"/>
              </a:rPr>
              <a:t> </a:t>
            </a:r>
            <a:r>
              <a:rPr lang="en-US" sz="2000" dirty="0">
                <a:effectLst/>
                <a:ea typeface="Calibri" panose="020F0502020204030204" pitchFamily="34" charset="0"/>
              </a:rPr>
              <a:t>be</a:t>
            </a:r>
            <a:r>
              <a:rPr lang="en-US" sz="2000" spc="-20" dirty="0">
                <a:effectLst/>
                <a:ea typeface="Calibri" panose="020F0502020204030204" pitchFamily="34" charset="0"/>
              </a:rPr>
              <a:t> </a:t>
            </a:r>
            <a:r>
              <a:rPr lang="en-US" sz="2000" dirty="0">
                <a:effectLst/>
                <a:ea typeface="Calibri" panose="020F0502020204030204" pitchFamily="34" charset="0"/>
              </a:rPr>
              <a:t>divided</a:t>
            </a:r>
            <a:r>
              <a:rPr lang="en-US" sz="2000" spc="-15" dirty="0">
                <a:effectLst/>
                <a:ea typeface="Calibri" panose="020F0502020204030204" pitchFamily="34" charset="0"/>
              </a:rPr>
              <a:t> </a:t>
            </a:r>
            <a:r>
              <a:rPr lang="en-US" sz="2000" dirty="0">
                <a:effectLst/>
                <a:ea typeface="Calibri" panose="020F0502020204030204" pitchFamily="34" charset="0"/>
              </a:rPr>
              <a:t>into</a:t>
            </a:r>
            <a:r>
              <a:rPr lang="en-US" sz="2000" spc="-25" dirty="0">
                <a:effectLst/>
                <a:ea typeface="Calibri" panose="020F0502020204030204" pitchFamily="34" charset="0"/>
              </a:rPr>
              <a:t> </a:t>
            </a:r>
            <a:r>
              <a:rPr lang="en-US" sz="2000" dirty="0">
                <a:effectLst/>
                <a:ea typeface="Calibri" panose="020F0502020204030204" pitchFamily="34" charset="0"/>
              </a:rPr>
              <a:t>smaller</a:t>
            </a:r>
            <a:r>
              <a:rPr lang="en-US" sz="2000" spc="-15" dirty="0">
                <a:effectLst/>
                <a:ea typeface="Calibri" panose="020F0502020204030204" pitchFamily="34" charset="0"/>
              </a:rPr>
              <a:t> </a:t>
            </a:r>
            <a:r>
              <a:rPr lang="en-US" sz="2000" dirty="0">
                <a:effectLst/>
                <a:ea typeface="Calibri" panose="020F0502020204030204" pitchFamily="34" charset="0"/>
              </a:rPr>
              <a:t>subparts.</a:t>
            </a:r>
          </a:p>
          <a:p>
            <a:pPr marL="1463040" marR="1036955" indent="-536575" algn="just"/>
            <a:r>
              <a:rPr lang="en-US" sz="2000" dirty="0">
                <a:effectLst/>
                <a:ea typeface="Calibri" panose="020F0502020204030204" pitchFamily="34" charset="0"/>
              </a:rPr>
              <a:t>For </a:t>
            </a:r>
            <a:r>
              <a:rPr lang="en-US" sz="2000" dirty="0" err="1">
                <a:effectLst/>
                <a:ea typeface="Calibri" panose="020F0502020204030204" pitchFamily="34" charset="0"/>
              </a:rPr>
              <a:t>eg</a:t>
            </a:r>
            <a:r>
              <a:rPr lang="en-US" sz="2000" dirty="0">
                <a:effectLst/>
                <a:ea typeface="Calibri" panose="020F0502020204030204" pitchFamily="34" charset="0"/>
              </a:rPr>
              <a:t>: the Address attribute of the EMPLOYEE entity can be subdivided into </a:t>
            </a:r>
            <a:r>
              <a:rPr lang="en-US" sz="2000" dirty="0" err="1">
                <a:effectLst/>
                <a:ea typeface="Calibri" panose="020F0502020204030204" pitchFamily="34" charset="0"/>
              </a:rPr>
              <a:t>Street_address</a:t>
            </a:r>
            <a:r>
              <a:rPr lang="en-US" sz="2000" dirty="0">
                <a:effectLst/>
                <a:ea typeface="Calibri" panose="020F0502020204030204" pitchFamily="34" charset="0"/>
              </a:rPr>
              <a:t>,</a:t>
            </a:r>
            <a:r>
              <a:rPr lang="en-US" sz="2000" spc="-235" dirty="0">
                <a:effectLst/>
                <a:ea typeface="Calibri" panose="020F0502020204030204" pitchFamily="34" charset="0"/>
              </a:rPr>
              <a:t> </a:t>
            </a:r>
            <a:r>
              <a:rPr lang="en-US" sz="2000" dirty="0">
                <a:effectLst/>
                <a:ea typeface="Calibri" panose="020F0502020204030204" pitchFamily="34" charset="0"/>
              </a:rPr>
              <a:t>City,</a:t>
            </a:r>
            <a:r>
              <a:rPr lang="en-US" sz="2000" spc="-35" dirty="0">
                <a:effectLst/>
                <a:ea typeface="Calibri" panose="020F0502020204030204" pitchFamily="34" charset="0"/>
              </a:rPr>
              <a:t> </a:t>
            </a:r>
            <a:r>
              <a:rPr lang="en-US" sz="2000" dirty="0">
                <a:effectLst/>
                <a:ea typeface="Calibri" panose="020F0502020204030204" pitchFamily="34" charset="0"/>
              </a:rPr>
              <a:t>State,</a:t>
            </a:r>
            <a:r>
              <a:rPr lang="en-US" sz="2000" spc="-25" dirty="0">
                <a:effectLst/>
                <a:ea typeface="Calibri" panose="020F0502020204030204" pitchFamily="34" charset="0"/>
              </a:rPr>
              <a:t> </a:t>
            </a:r>
            <a:r>
              <a:rPr lang="en-US" sz="2000" dirty="0">
                <a:effectLst/>
                <a:ea typeface="Calibri" panose="020F0502020204030204" pitchFamily="34" charset="0"/>
              </a:rPr>
              <a:t>and Zip,</a:t>
            </a:r>
            <a:r>
              <a:rPr lang="en-US" sz="2000" spc="-30" dirty="0">
                <a:effectLst/>
                <a:ea typeface="Calibri" panose="020F0502020204030204" pitchFamily="34" charset="0"/>
              </a:rPr>
              <a:t> </a:t>
            </a:r>
            <a:r>
              <a:rPr lang="en-US" sz="2000" dirty="0">
                <a:effectLst/>
                <a:ea typeface="Calibri" panose="020F0502020204030204" pitchFamily="34" charset="0"/>
              </a:rPr>
              <a:t>3</a:t>
            </a:r>
            <a:r>
              <a:rPr lang="en-US" sz="2000" spc="-25" dirty="0">
                <a:effectLst/>
                <a:ea typeface="Calibri" panose="020F0502020204030204" pitchFamily="34" charset="0"/>
              </a:rPr>
              <a:t> </a:t>
            </a:r>
            <a:r>
              <a:rPr lang="en-US" sz="2000" dirty="0">
                <a:effectLst/>
                <a:ea typeface="Calibri" panose="020F0502020204030204" pitchFamily="34" charset="0"/>
              </a:rPr>
              <a:t>with the</a:t>
            </a:r>
            <a:r>
              <a:rPr lang="en-US" sz="2000" spc="10" dirty="0">
                <a:effectLst/>
                <a:ea typeface="Calibri" panose="020F0502020204030204" pitchFamily="34" charset="0"/>
              </a:rPr>
              <a:t> </a:t>
            </a:r>
            <a:r>
              <a:rPr lang="en-US" sz="2000" dirty="0">
                <a:effectLst/>
                <a:ea typeface="Calibri" panose="020F0502020204030204" pitchFamily="34" charset="0"/>
              </a:rPr>
              <a:t>values</a:t>
            </a:r>
            <a:r>
              <a:rPr lang="en-US" sz="2000" spc="-10" dirty="0">
                <a:effectLst/>
                <a:ea typeface="Calibri" panose="020F0502020204030204" pitchFamily="34" charset="0"/>
              </a:rPr>
              <a:t> </a:t>
            </a:r>
            <a:r>
              <a:rPr lang="en-US" sz="2000" dirty="0">
                <a:effectLst/>
                <a:ea typeface="Calibri" panose="020F0502020204030204" pitchFamily="34" charset="0"/>
              </a:rPr>
              <a:t>‘2311</a:t>
            </a:r>
            <a:r>
              <a:rPr lang="en-US" sz="2000" spc="-25" dirty="0">
                <a:effectLst/>
                <a:ea typeface="Calibri" panose="020F0502020204030204" pitchFamily="34" charset="0"/>
              </a:rPr>
              <a:t> </a:t>
            </a:r>
            <a:r>
              <a:rPr lang="en-US" sz="2000" dirty="0">
                <a:effectLst/>
                <a:ea typeface="Calibri" panose="020F0502020204030204" pitchFamily="34" charset="0"/>
              </a:rPr>
              <a:t>Kirby’,</a:t>
            </a:r>
            <a:r>
              <a:rPr lang="en-US" sz="2000" spc="-10" dirty="0">
                <a:effectLst/>
                <a:ea typeface="Calibri" panose="020F0502020204030204" pitchFamily="34" charset="0"/>
              </a:rPr>
              <a:t> </a:t>
            </a:r>
            <a:r>
              <a:rPr lang="en-US" sz="2000" dirty="0">
                <a:effectLst/>
                <a:ea typeface="Calibri" panose="020F0502020204030204" pitchFamily="34" charset="0"/>
              </a:rPr>
              <a:t>‘Houston’,</a:t>
            </a:r>
            <a:r>
              <a:rPr lang="en-US" sz="2000" spc="-5" dirty="0">
                <a:effectLst/>
                <a:ea typeface="Calibri" panose="020F0502020204030204" pitchFamily="34" charset="0"/>
              </a:rPr>
              <a:t> </a:t>
            </a:r>
            <a:r>
              <a:rPr lang="en-US" sz="2000" dirty="0">
                <a:effectLst/>
                <a:ea typeface="Calibri" panose="020F0502020204030204" pitchFamily="34" charset="0"/>
              </a:rPr>
              <a:t>‘Texas’,</a:t>
            </a:r>
            <a:r>
              <a:rPr lang="en-US" sz="2000" spc="-30" dirty="0">
                <a:effectLst/>
                <a:ea typeface="Calibri" panose="020F0502020204030204" pitchFamily="34" charset="0"/>
              </a:rPr>
              <a:t> </a:t>
            </a:r>
            <a:r>
              <a:rPr lang="en-US" sz="2000" dirty="0">
                <a:effectLst/>
                <a:ea typeface="Calibri" panose="020F0502020204030204" pitchFamily="34" charset="0"/>
              </a:rPr>
              <a:t>and</a:t>
            </a:r>
            <a:r>
              <a:rPr lang="en-US" sz="2000" spc="5" dirty="0">
                <a:effectLst/>
                <a:ea typeface="Calibri" panose="020F0502020204030204" pitchFamily="34" charset="0"/>
              </a:rPr>
              <a:t> </a:t>
            </a:r>
            <a:r>
              <a:rPr lang="en-US" sz="2000" dirty="0">
                <a:effectLst/>
                <a:ea typeface="Calibri" panose="020F0502020204030204" pitchFamily="34" charset="0"/>
              </a:rPr>
              <a:t>‘77001’.</a:t>
            </a:r>
          </a:p>
          <a:p>
            <a:pPr marL="1463040" marR="1036955" indent="-536575" algn="just"/>
            <a:endParaRPr lang="en-US" sz="2000" dirty="0">
              <a:ea typeface="Calibri" panose="020F0502020204030204" pitchFamily="34" charset="0"/>
            </a:endParaRPr>
          </a:p>
          <a:p>
            <a:pPr marL="1463040" marR="1036955" indent="-536575" algn="just"/>
            <a:endParaRPr lang="en-US" sz="2000" dirty="0">
              <a:effectLst/>
              <a:ea typeface="Calibri" panose="020F0502020204030204" pitchFamily="34" charset="0"/>
            </a:endParaRPr>
          </a:p>
          <a:p>
            <a:pPr marL="1463040" marR="1036955" indent="-536575" algn="just"/>
            <a:endParaRPr lang="en-US" sz="2000" dirty="0">
              <a:ea typeface="Calibri" panose="020F0502020204030204" pitchFamily="34" charset="0"/>
            </a:endParaRPr>
          </a:p>
          <a:p>
            <a:pPr marL="1463040" marR="1036955" indent="-536575" algn="just"/>
            <a:endParaRPr lang="en-US" sz="2000" dirty="0">
              <a:effectLst/>
              <a:ea typeface="Calibri" panose="020F0502020204030204" pitchFamily="34" charset="0"/>
            </a:endParaRPr>
          </a:p>
          <a:p>
            <a:pPr marL="1463040" marR="1036955" indent="-536575" algn="just"/>
            <a:endParaRPr lang="en-US" sz="2000" dirty="0">
              <a:ea typeface="Calibri" panose="020F0502020204030204" pitchFamily="34" charset="0"/>
            </a:endParaRPr>
          </a:p>
          <a:p>
            <a:pPr marL="1463040" marR="1036955" indent="-536575" algn="just"/>
            <a:endParaRPr lang="en-US" sz="2000" dirty="0">
              <a:effectLst/>
              <a:ea typeface="Calibri" panose="020F0502020204030204" pitchFamily="34" charset="0"/>
            </a:endParaRPr>
          </a:p>
          <a:p>
            <a:pPr marL="1463040" marR="1036955" indent="-536575" algn="just"/>
            <a:endParaRPr lang="en-US" sz="2000" dirty="0">
              <a:effectLst/>
              <a:ea typeface="Calibri" panose="020F0502020204030204" pitchFamily="34" charset="0"/>
            </a:endParaRPr>
          </a:p>
          <a:p>
            <a:pPr marL="342900" marR="0" lvl="0" indent="-342900" algn="just">
              <a:buSzPts val="1100"/>
              <a:buFont typeface="Wingdings" panose="05000000000000000000" pitchFamily="2" charset="2"/>
              <a:buChar char=""/>
              <a:tabLst>
                <a:tab pos="1435735" algn="l"/>
              </a:tabLst>
            </a:pPr>
            <a:endParaRPr lang="en-US" sz="2000" dirty="0">
              <a:effectLst/>
              <a:ea typeface="Wingdings" panose="05000000000000000000" pitchFamily="2" charset="2"/>
              <a:cs typeface="Wingdings" panose="05000000000000000000" pitchFamily="2" charset="2"/>
            </a:endParaRPr>
          </a:p>
          <a:p>
            <a:pPr marL="478790" marR="3115310" indent="-342900" algn="just">
              <a:buFont typeface="Wingdings" panose="05000000000000000000" pitchFamily="2" charset="2"/>
              <a:buChar char="q"/>
            </a:pPr>
            <a:r>
              <a:rPr lang="en-US" sz="2000" dirty="0">
                <a:effectLst/>
                <a:ea typeface="Calibri" panose="020F0502020204030204" pitchFamily="34" charset="0"/>
              </a:rPr>
              <a:t>Attributes</a:t>
            </a:r>
            <a:r>
              <a:rPr lang="en-US" sz="2000" spc="-10" dirty="0">
                <a:effectLst/>
                <a:ea typeface="Calibri" panose="020F0502020204030204" pitchFamily="34" charset="0"/>
              </a:rPr>
              <a:t> </a:t>
            </a:r>
            <a:r>
              <a:rPr lang="en-US" sz="2000" dirty="0">
                <a:effectLst/>
                <a:ea typeface="Calibri" panose="020F0502020204030204" pitchFamily="34" charset="0"/>
              </a:rPr>
              <a:t>that</a:t>
            </a:r>
            <a:r>
              <a:rPr lang="en-US" sz="2000" spc="-30" dirty="0">
                <a:effectLst/>
                <a:ea typeface="Calibri" panose="020F0502020204030204" pitchFamily="34" charset="0"/>
              </a:rPr>
              <a:t> </a:t>
            </a:r>
            <a:r>
              <a:rPr lang="en-US" sz="2000" dirty="0">
                <a:effectLst/>
                <a:ea typeface="Calibri" panose="020F0502020204030204" pitchFamily="34" charset="0"/>
              </a:rPr>
              <a:t>are</a:t>
            </a:r>
            <a:r>
              <a:rPr lang="en-US" sz="2000" spc="5" dirty="0">
                <a:effectLst/>
                <a:ea typeface="Calibri" panose="020F0502020204030204" pitchFamily="34" charset="0"/>
              </a:rPr>
              <a:t> </a:t>
            </a:r>
            <a:r>
              <a:rPr lang="en-US" sz="2000" dirty="0">
                <a:effectLst/>
                <a:ea typeface="Calibri" panose="020F0502020204030204" pitchFamily="34" charset="0"/>
              </a:rPr>
              <a:t>not</a:t>
            </a:r>
            <a:r>
              <a:rPr lang="en-US" sz="2000" spc="-5" dirty="0">
                <a:effectLst/>
                <a:ea typeface="Calibri" panose="020F0502020204030204" pitchFamily="34" charset="0"/>
              </a:rPr>
              <a:t> </a:t>
            </a:r>
            <a:r>
              <a:rPr lang="en-US" sz="2000" dirty="0">
                <a:effectLst/>
                <a:ea typeface="Calibri" panose="020F0502020204030204" pitchFamily="34" charset="0"/>
              </a:rPr>
              <a:t>divisible</a:t>
            </a:r>
            <a:r>
              <a:rPr lang="en-US" sz="2000" spc="-15" dirty="0">
                <a:effectLst/>
                <a:ea typeface="Calibri" panose="020F0502020204030204" pitchFamily="34" charset="0"/>
              </a:rPr>
              <a:t> </a:t>
            </a:r>
            <a:r>
              <a:rPr lang="en-US" sz="2000" dirty="0">
                <a:effectLst/>
                <a:ea typeface="Calibri" panose="020F0502020204030204" pitchFamily="34" charset="0"/>
              </a:rPr>
              <a:t>are</a:t>
            </a:r>
            <a:r>
              <a:rPr lang="en-US" sz="2000" spc="-15" dirty="0">
                <a:effectLst/>
                <a:ea typeface="Calibri" panose="020F0502020204030204" pitchFamily="34" charset="0"/>
              </a:rPr>
              <a:t> </a:t>
            </a:r>
            <a:r>
              <a:rPr lang="en-US" sz="2000" dirty="0">
                <a:effectLst/>
                <a:ea typeface="Calibri" panose="020F0502020204030204" pitchFamily="34" charset="0"/>
              </a:rPr>
              <a:t>called </a:t>
            </a:r>
            <a:r>
              <a:rPr lang="en-US" sz="2000" b="1" dirty="0">
                <a:effectLst/>
                <a:ea typeface="Calibri" panose="020F0502020204030204" pitchFamily="34" charset="0"/>
              </a:rPr>
              <a:t>simple</a:t>
            </a:r>
            <a:r>
              <a:rPr lang="en-US" sz="2000" b="1" spc="-20" dirty="0">
                <a:effectLst/>
                <a:ea typeface="Calibri" panose="020F0502020204030204" pitchFamily="34" charset="0"/>
              </a:rPr>
              <a:t> </a:t>
            </a:r>
            <a:r>
              <a:rPr lang="en-US" sz="2000" b="1" dirty="0">
                <a:effectLst/>
                <a:ea typeface="Calibri" panose="020F0502020204030204" pitchFamily="34" charset="0"/>
              </a:rPr>
              <a:t>or</a:t>
            </a:r>
            <a:r>
              <a:rPr lang="en-US" sz="2000" b="1" spc="-25" dirty="0">
                <a:effectLst/>
                <a:ea typeface="Calibri" panose="020F0502020204030204" pitchFamily="34" charset="0"/>
              </a:rPr>
              <a:t> </a:t>
            </a:r>
            <a:r>
              <a:rPr lang="en-US" sz="2000" b="1" dirty="0">
                <a:effectLst/>
                <a:ea typeface="Calibri" panose="020F0502020204030204" pitchFamily="34" charset="0"/>
              </a:rPr>
              <a:t>atomic</a:t>
            </a:r>
            <a:r>
              <a:rPr lang="en-US" sz="2000" b="1" spc="-25" dirty="0">
                <a:effectLst/>
                <a:ea typeface="Calibri" panose="020F0502020204030204" pitchFamily="34" charset="0"/>
              </a:rPr>
              <a:t> </a:t>
            </a:r>
            <a:r>
              <a:rPr lang="en-US" sz="2000" b="1" dirty="0">
                <a:effectLst/>
                <a:ea typeface="Calibri" panose="020F0502020204030204" pitchFamily="34" charset="0"/>
              </a:rPr>
              <a:t>attributes</a:t>
            </a:r>
            <a:r>
              <a:rPr lang="en-US" sz="2000" dirty="0">
                <a:effectLst/>
                <a:ea typeface="Calibri" panose="020F0502020204030204" pitchFamily="34" charset="0"/>
              </a:rPr>
              <a:t>.</a:t>
            </a:r>
          </a:p>
          <a:p>
            <a:pPr marL="135890" marR="3086735" algn="just">
              <a:spcBef>
                <a:spcPts val="5"/>
              </a:spcBef>
            </a:pPr>
            <a:r>
              <a:rPr lang="en-US" sz="2000" dirty="0">
                <a:effectLst/>
                <a:ea typeface="Calibri" panose="020F0502020204030204" pitchFamily="34" charset="0"/>
              </a:rPr>
              <a:t>For</a:t>
            </a:r>
            <a:r>
              <a:rPr lang="en-US" sz="2000" spc="5" dirty="0">
                <a:effectLst/>
                <a:ea typeface="Calibri" panose="020F0502020204030204" pitchFamily="34" charset="0"/>
              </a:rPr>
              <a:t> </a:t>
            </a:r>
            <a:r>
              <a:rPr lang="en-US" sz="2000" dirty="0" err="1">
                <a:effectLst/>
                <a:ea typeface="Calibri" panose="020F0502020204030204" pitchFamily="34" charset="0"/>
              </a:rPr>
              <a:t>eg</a:t>
            </a:r>
            <a:r>
              <a:rPr lang="en-US" sz="2000" dirty="0">
                <a:effectLst/>
                <a:ea typeface="Calibri" panose="020F0502020204030204" pitchFamily="34" charset="0"/>
              </a:rPr>
              <a:t>:</a:t>
            </a:r>
            <a:r>
              <a:rPr lang="en-US" sz="2000" spc="-25" dirty="0">
                <a:effectLst/>
                <a:ea typeface="Calibri" panose="020F0502020204030204" pitchFamily="34" charset="0"/>
              </a:rPr>
              <a:t> </a:t>
            </a:r>
            <a:r>
              <a:rPr lang="en-US" sz="2000" dirty="0">
                <a:effectLst/>
                <a:ea typeface="Calibri" panose="020F0502020204030204" pitchFamily="34" charset="0"/>
              </a:rPr>
              <a:t>attribute</a:t>
            </a:r>
            <a:r>
              <a:rPr lang="en-US" sz="2000" spc="-5" dirty="0">
                <a:effectLst/>
                <a:ea typeface="Calibri" panose="020F0502020204030204" pitchFamily="34" charset="0"/>
              </a:rPr>
              <a:t> </a:t>
            </a:r>
            <a:r>
              <a:rPr lang="en-US" sz="2000" b="1" dirty="0">
                <a:effectLst/>
                <a:ea typeface="Calibri" panose="020F0502020204030204" pitchFamily="34" charset="0"/>
              </a:rPr>
              <a:t>Age</a:t>
            </a:r>
            <a:r>
              <a:rPr lang="en-US" sz="2000" b="1" spc="10" dirty="0">
                <a:effectLst/>
                <a:ea typeface="Calibri" panose="020F0502020204030204" pitchFamily="34" charset="0"/>
              </a:rPr>
              <a:t> </a:t>
            </a:r>
            <a:r>
              <a:rPr lang="en-US" sz="2000" dirty="0">
                <a:effectLst/>
                <a:ea typeface="Calibri" panose="020F0502020204030204" pitchFamily="34" charset="0"/>
              </a:rPr>
              <a:t>cannot</a:t>
            </a:r>
            <a:r>
              <a:rPr lang="en-US" sz="2000" spc="-5" dirty="0">
                <a:effectLst/>
                <a:ea typeface="Calibri" panose="020F0502020204030204" pitchFamily="34" charset="0"/>
              </a:rPr>
              <a:t> </a:t>
            </a:r>
            <a:r>
              <a:rPr lang="en-US" sz="2000" dirty="0">
                <a:effectLst/>
                <a:ea typeface="Calibri" panose="020F0502020204030204" pitchFamily="34" charset="0"/>
              </a:rPr>
              <a:t>be</a:t>
            </a:r>
            <a:r>
              <a:rPr lang="en-US" sz="2000" spc="-15" dirty="0">
                <a:effectLst/>
                <a:ea typeface="Calibri" panose="020F0502020204030204" pitchFamily="34" charset="0"/>
              </a:rPr>
              <a:t> </a:t>
            </a:r>
            <a:r>
              <a:rPr lang="en-US" sz="2000" dirty="0">
                <a:effectLst/>
                <a:ea typeface="Calibri" panose="020F0502020204030204" pitchFamily="34" charset="0"/>
              </a:rPr>
              <a:t>divided</a:t>
            </a:r>
          </a:p>
          <a:p>
            <a:pPr marL="135890" marR="3086735" algn="just">
              <a:spcBef>
                <a:spcPts val="5"/>
              </a:spcBef>
            </a:pPr>
            <a:endParaRPr lang="en-US" sz="2000" dirty="0">
              <a:ea typeface="Calibri" panose="020F0502020204030204" pitchFamily="34" charset="0"/>
            </a:endParaRPr>
          </a:p>
          <a:p>
            <a:pPr marL="135890" marR="3086735" algn="just">
              <a:spcBef>
                <a:spcPts val="5"/>
              </a:spcBef>
            </a:pPr>
            <a:endParaRPr lang="en-US" sz="2000" dirty="0">
              <a:effectLst/>
              <a:ea typeface="Calibri" panose="020F0502020204030204" pitchFamily="34" charset="0"/>
            </a:endParaRPr>
          </a:p>
          <a:p>
            <a:pPr marL="342900" marR="0" lvl="0" indent="-342900" algn="just">
              <a:buSzPts val="1100"/>
              <a:buFont typeface="Wingdings" panose="05000000000000000000" pitchFamily="2" charset="2"/>
              <a:buChar char=""/>
              <a:tabLst>
                <a:tab pos="1435735" algn="l"/>
              </a:tabLst>
            </a:pPr>
            <a:endParaRPr lang="en-US" sz="2000" dirty="0">
              <a:effectLst/>
              <a:ea typeface="Wingdings" panose="05000000000000000000" pitchFamily="2" charset="2"/>
              <a:cs typeface="Wingdings" panose="05000000000000000000" pitchFamily="2" charset="2"/>
            </a:endParaRPr>
          </a:p>
          <a:p>
            <a:pPr marL="342900" marR="0" lvl="0" indent="-342900" algn="just">
              <a:buSzPts val="1100"/>
              <a:buFont typeface="Wingdings" panose="05000000000000000000" pitchFamily="2" charset="2"/>
              <a:buChar char=""/>
              <a:tabLst>
                <a:tab pos="1435735" algn="l"/>
              </a:tabLst>
            </a:pPr>
            <a:endParaRPr lang="en-US" sz="2000" b="1" dirty="0">
              <a:ea typeface="Wingdings" panose="05000000000000000000" pitchFamily="2" charset="2"/>
              <a:cs typeface="Wingdings" panose="05000000000000000000" pitchFamily="2" charset="2"/>
            </a:endParaRPr>
          </a:p>
          <a:p>
            <a:pPr marL="342900" marR="0" lvl="0" indent="-342900" algn="just">
              <a:buSzPts val="1100"/>
              <a:buFont typeface="Wingdings" panose="05000000000000000000" pitchFamily="2" charset="2"/>
              <a:buChar char=""/>
              <a:tabLst>
                <a:tab pos="1435735" algn="l"/>
              </a:tabLst>
            </a:pPr>
            <a:endParaRPr lang="en-US" sz="2000" dirty="0">
              <a:effectLst/>
              <a:ea typeface="Wingdings" panose="05000000000000000000" pitchFamily="2" charset="2"/>
              <a:cs typeface="Wingdings" panose="05000000000000000000" pitchFamily="2" charset="2"/>
            </a:endParaRPr>
          </a:p>
        </p:txBody>
      </p:sp>
      <p:pic>
        <p:nvPicPr>
          <p:cNvPr id="4" name="Picture 3">
            <a:extLst>
              <a:ext uri="{FF2B5EF4-FFF2-40B4-BE49-F238E27FC236}">
                <a16:creationId xmlns:a16="http://schemas.microsoft.com/office/drawing/2014/main" id="{FF3D4C4E-6738-8460-6ABC-E8BAC2A27FDD}"/>
              </a:ext>
            </a:extLst>
          </p:cNvPr>
          <p:cNvPicPr>
            <a:picLocks noChangeAspect="1"/>
          </p:cNvPicPr>
          <p:nvPr/>
        </p:nvPicPr>
        <p:blipFill>
          <a:blip r:embed="rId2"/>
          <a:stretch>
            <a:fillRect/>
          </a:stretch>
        </p:blipFill>
        <p:spPr>
          <a:xfrm>
            <a:off x="2089403" y="3261747"/>
            <a:ext cx="6536211" cy="2147161"/>
          </a:xfrm>
          <a:prstGeom prst="rect">
            <a:avLst/>
          </a:prstGeom>
        </p:spPr>
      </p:pic>
    </p:spTree>
    <p:extLst>
      <p:ext uri="{BB962C8B-B14F-4D97-AF65-F5344CB8AC3E}">
        <p14:creationId xmlns:p14="http://schemas.microsoft.com/office/powerpoint/2010/main" val="14304115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E0D198-1703-8C78-D3F0-17A628F29FA5}"/>
              </a:ext>
            </a:extLst>
          </p:cNvPr>
          <p:cNvSpPr txBox="1"/>
          <p:nvPr/>
        </p:nvSpPr>
        <p:spPr>
          <a:xfrm>
            <a:off x="356461" y="325464"/>
            <a:ext cx="11561736" cy="7030130"/>
          </a:xfrm>
          <a:prstGeom prst="rect">
            <a:avLst/>
          </a:prstGeom>
          <a:noFill/>
        </p:spPr>
        <p:txBody>
          <a:bodyPr wrap="square" rtlCol="0">
            <a:spAutoFit/>
          </a:bodyPr>
          <a:lstStyle/>
          <a:p>
            <a:pPr marL="482600" marR="0" indent="-342900" algn="just">
              <a:spcBef>
                <a:spcPts val="405"/>
              </a:spcBef>
              <a:buFont typeface="Wingdings" panose="05000000000000000000" pitchFamily="2" charset="2"/>
              <a:buChar char="q"/>
            </a:pPr>
            <a:r>
              <a:rPr lang="en-US" sz="2000" b="1" dirty="0">
                <a:ea typeface="Calibri" panose="020F0502020204030204" pitchFamily="34" charset="0"/>
              </a:rPr>
              <a:t>S</a:t>
            </a:r>
            <a:r>
              <a:rPr lang="en-US" sz="2000" b="1" dirty="0">
                <a:effectLst/>
                <a:ea typeface="Calibri" panose="020F0502020204030204" pitchFamily="34" charset="0"/>
              </a:rPr>
              <a:t>ingle-valued</a:t>
            </a:r>
          </a:p>
          <a:p>
            <a:pPr marL="231140" marR="0" algn="just">
              <a:buNone/>
            </a:pPr>
            <a:r>
              <a:rPr lang="en-US" sz="2000" dirty="0">
                <a:effectLst/>
                <a:ea typeface="Calibri" panose="020F0502020204030204" pitchFamily="34" charset="0"/>
              </a:rPr>
              <a:t>Most</a:t>
            </a:r>
            <a:r>
              <a:rPr lang="en-US" sz="2000" spc="-20" dirty="0">
                <a:effectLst/>
                <a:ea typeface="Calibri" panose="020F0502020204030204" pitchFamily="34" charset="0"/>
              </a:rPr>
              <a:t> </a:t>
            </a:r>
            <a:r>
              <a:rPr lang="en-US" sz="2000" dirty="0">
                <a:effectLst/>
                <a:ea typeface="Calibri" panose="020F0502020204030204" pitchFamily="34" charset="0"/>
              </a:rPr>
              <a:t>attributes</a:t>
            </a:r>
            <a:r>
              <a:rPr lang="en-US" sz="2000" spc="-5" dirty="0">
                <a:effectLst/>
                <a:ea typeface="Calibri" panose="020F0502020204030204" pitchFamily="34" charset="0"/>
              </a:rPr>
              <a:t> </a:t>
            </a:r>
            <a:r>
              <a:rPr lang="en-US" sz="2000" dirty="0">
                <a:effectLst/>
                <a:ea typeface="Calibri" panose="020F0502020204030204" pitchFamily="34" charset="0"/>
              </a:rPr>
              <a:t>have</a:t>
            </a:r>
            <a:r>
              <a:rPr lang="en-US" sz="2000" spc="-5"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single</a:t>
            </a:r>
            <a:r>
              <a:rPr lang="en-US" sz="2000" spc="-5" dirty="0">
                <a:effectLst/>
                <a:ea typeface="Calibri" panose="020F0502020204030204" pitchFamily="34" charset="0"/>
              </a:rPr>
              <a:t> </a:t>
            </a:r>
            <a:r>
              <a:rPr lang="en-US" sz="2000" dirty="0">
                <a:effectLst/>
                <a:ea typeface="Calibri" panose="020F0502020204030204" pitchFamily="34" charset="0"/>
              </a:rPr>
              <a:t>value</a:t>
            </a:r>
            <a:r>
              <a:rPr lang="en-US" sz="2000" spc="-10" dirty="0">
                <a:effectLst/>
                <a:ea typeface="Calibri" panose="020F0502020204030204" pitchFamily="34" charset="0"/>
              </a:rPr>
              <a:t> </a:t>
            </a:r>
            <a:r>
              <a:rPr lang="en-US" sz="2000" dirty="0">
                <a:effectLst/>
                <a:ea typeface="Calibri" panose="020F0502020204030204" pitchFamily="34" charset="0"/>
              </a:rPr>
              <a:t>for</a:t>
            </a:r>
            <a:r>
              <a:rPr lang="en-US" sz="2000" spc="-5"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particular</a:t>
            </a:r>
            <a:r>
              <a:rPr lang="en-US" sz="2000" spc="-10" dirty="0">
                <a:effectLst/>
                <a:ea typeface="Calibri" panose="020F0502020204030204" pitchFamily="34" charset="0"/>
              </a:rPr>
              <a:t> </a:t>
            </a:r>
            <a:r>
              <a:rPr lang="en-US" sz="2000" dirty="0">
                <a:effectLst/>
                <a:ea typeface="Calibri" panose="020F0502020204030204" pitchFamily="34" charset="0"/>
              </a:rPr>
              <a:t>entity.</a:t>
            </a:r>
          </a:p>
          <a:p>
            <a:pPr>
              <a:buNone/>
            </a:pPr>
            <a:r>
              <a:rPr lang="en-US" sz="2000" dirty="0">
                <a:effectLst/>
                <a:ea typeface="Calibri" panose="020F0502020204030204" pitchFamily="34" charset="0"/>
              </a:rPr>
              <a:t>	For</a:t>
            </a:r>
            <a:r>
              <a:rPr lang="en-US" sz="2000" spc="-10" dirty="0">
                <a:effectLst/>
                <a:ea typeface="Calibri" panose="020F0502020204030204" pitchFamily="34" charset="0"/>
              </a:rPr>
              <a:t> </a:t>
            </a:r>
            <a:r>
              <a:rPr lang="en-US" sz="2000" dirty="0" err="1">
                <a:effectLst/>
                <a:ea typeface="Calibri" panose="020F0502020204030204" pitchFamily="34" charset="0"/>
              </a:rPr>
              <a:t>eg</a:t>
            </a:r>
            <a:r>
              <a:rPr lang="en-US" sz="2000" dirty="0">
                <a:effectLst/>
                <a:ea typeface="Calibri" panose="020F0502020204030204" pitchFamily="34" charset="0"/>
              </a:rPr>
              <a:t>: </a:t>
            </a:r>
            <a:r>
              <a:rPr lang="en-US" sz="2000" b="1" dirty="0">
                <a:effectLst/>
                <a:ea typeface="Calibri" panose="020F0502020204030204" pitchFamily="34" charset="0"/>
              </a:rPr>
              <a:t>Age</a:t>
            </a:r>
            <a:r>
              <a:rPr lang="en-US" sz="2000" b="1" spc="-15"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5" dirty="0">
                <a:effectLst/>
                <a:ea typeface="Calibri" panose="020F0502020204030204" pitchFamily="34" charset="0"/>
              </a:rPr>
              <a:t> </a:t>
            </a:r>
            <a:r>
              <a:rPr lang="en-US" sz="2000" dirty="0">
                <a:effectLst/>
                <a:ea typeface="Calibri" panose="020F0502020204030204" pitchFamily="34" charset="0"/>
              </a:rPr>
              <a:t>single-valued</a:t>
            </a:r>
            <a:r>
              <a:rPr lang="en-US" sz="2000" spc="-10" dirty="0">
                <a:effectLst/>
                <a:ea typeface="Calibri" panose="020F0502020204030204" pitchFamily="34" charset="0"/>
              </a:rPr>
              <a:t> </a:t>
            </a:r>
            <a:r>
              <a:rPr lang="en-US" sz="2000" dirty="0">
                <a:effectLst/>
                <a:ea typeface="Calibri" panose="020F0502020204030204" pitchFamily="34" charset="0"/>
              </a:rPr>
              <a:t>attribute</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5" dirty="0">
                <a:effectLst/>
                <a:ea typeface="Calibri" panose="020F0502020204030204" pitchFamily="34" charset="0"/>
              </a:rPr>
              <a:t> </a:t>
            </a:r>
            <a:r>
              <a:rPr lang="en-US" sz="2000" dirty="0">
                <a:effectLst/>
                <a:ea typeface="Calibri" panose="020F0502020204030204" pitchFamily="34" charset="0"/>
              </a:rPr>
              <a:t>person.</a:t>
            </a:r>
          </a:p>
          <a:p>
            <a:pPr>
              <a:buNone/>
            </a:pPr>
            <a:endParaRPr lang="en-US" sz="2000" dirty="0"/>
          </a:p>
          <a:p>
            <a:pPr>
              <a:buNone/>
            </a:pPr>
            <a:endParaRPr lang="en-US" sz="2000" dirty="0"/>
          </a:p>
          <a:p>
            <a:pPr marL="482600" marR="0" indent="-342900" algn="just">
              <a:lnSpc>
                <a:spcPts val="1330"/>
              </a:lnSpc>
              <a:buFont typeface="Wingdings" panose="05000000000000000000" pitchFamily="2" charset="2"/>
              <a:buChar char="q"/>
            </a:pPr>
            <a:r>
              <a:rPr lang="en-US" sz="2000" b="1" dirty="0">
                <a:effectLst/>
                <a:ea typeface="Calibri" panose="020F0502020204030204" pitchFamily="34" charset="0"/>
              </a:rPr>
              <a:t>Multivalued</a:t>
            </a:r>
          </a:p>
          <a:p>
            <a:pPr marL="990600" marR="3819525" indent="-412115" algn="just"/>
            <a:r>
              <a:rPr lang="en-US" sz="2000" dirty="0">
                <a:effectLst/>
                <a:ea typeface="Calibri" panose="020F0502020204030204" pitchFamily="34" charset="0"/>
              </a:rPr>
              <a:t>An entity having multiple values for that attribute</a:t>
            </a:r>
            <a:r>
              <a:rPr lang="en-US" sz="2000" spc="-235" dirty="0">
                <a:effectLst/>
                <a:ea typeface="Calibri" panose="020F0502020204030204" pitchFamily="34" charset="0"/>
              </a:rPr>
              <a:t> .</a:t>
            </a:r>
          </a:p>
          <a:p>
            <a:pPr marL="990600" marR="3819525" indent="-412115" algn="just"/>
            <a:r>
              <a:rPr lang="en-US" sz="2000" dirty="0">
                <a:effectLst/>
                <a:ea typeface="Calibri" panose="020F0502020204030204" pitchFamily="34" charset="0"/>
              </a:rPr>
              <a:t>For</a:t>
            </a:r>
            <a:r>
              <a:rPr lang="en-US" sz="2000" spc="-20" dirty="0">
                <a:effectLst/>
                <a:ea typeface="Calibri" panose="020F0502020204030204" pitchFamily="34" charset="0"/>
              </a:rPr>
              <a:t> </a:t>
            </a:r>
            <a:r>
              <a:rPr lang="en-US" sz="2000" dirty="0" err="1">
                <a:effectLst/>
                <a:ea typeface="Calibri" panose="020F0502020204030204" pitchFamily="34" charset="0"/>
              </a:rPr>
              <a:t>eg</a:t>
            </a:r>
            <a:r>
              <a:rPr lang="en-US" sz="2000" dirty="0">
                <a:effectLst/>
                <a:ea typeface="Calibri" panose="020F0502020204030204" pitchFamily="34" charset="0"/>
              </a:rPr>
              <a:t>:  </a:t>
            </a:r>
            <a:r>
              <a:rPr lang="en-US" sz="2000" b="0" i="0" u="none" strike="noStrike" baseline="0" dirty="0"/>
              <a:t>Color  attribute for </a:t>
            </a:r>
            <a:r>
              <a:rPr lang="en-US" sz="2000" dirty="0"/>
              <a:t>a car </a:t>
            </a:r>
          </a:p>
          <a:p>
            <a:pPr marL="990600" marR="3819525" indent="-412115" algn="just"/>
            <a:r>
              <a:rPr lang="en-US" sz="2000" dirty="0">
                <a:effectLst/>
                <a:ea typeface="Calibri" panose="020F0502020204030204" pitchFamily="34" charset="0"/>
              </a:rPr>
              <a:t>     		color={</a:t>
            </a:r>
            <a:r>
              <a:rPr lang="en-US" sz="2000" dirty="0" err="1">
                <a:effectLst/>
                <a:ea typeface="Calibri" panose="020F0502020204030204" pitchFamily="34" charset="0"/>
              </a:rPr>
              <a:t>black,red</a:t>
            </a:r>
            <a:r>
              <a:rPr lang="en-US" sz="2000" dirty="0">
                <a:effectLst/>
                <a:ea typeface="Calibri" panose="020F0502020204030204" pitchFamily="34" charset="0"/>
              </a:rPr>
              <a:t>}</a:t>
            </a:r>
          </a:p>
          <a:p>
            <a:pPr marL="990600" marR="3819525" indent="-412115" algn="just"/>
            <a:r>
              <a:rPr lang="en-US" sz="2000" dirty="0">
                <a:effectLst/>
                <a:ea typeface="Calibri" panose="020F0502020204030204" pitchFamily="34" charset="0"/>
              </a:rPr>
              <a:t>		Person’s</a:t>
            </a:r>
            <a:r>
              <a:rPr lang="en-US" sz="2000" spc="-20" dirty="0">
                <a:effectLst/>
                <a:ea typeface="Calibri" panose="020F0502020204030204" pitchFamily="34" charset="0"/>
              </a:rPr>
              <a:t> </a:t>
            </a:r>
            <a:r>
              <a:rPr lang="en-US" sz="2000" dirty="0">
                <a:effectLst/>
                <a:ea typeface="Calibri" panose="020F0502020204030204" pitchFamily="34" charset="0"/>
              </a:rPr>
              <a:t>degree.     </a:t>
            </a:r>
            <a:r>
              <a:rPr lang="en-US" sz="2000" spc="-15" dirty="0">
                <a:effectLst/>
                <a:ea typeface="Calibri" panose="020F0502020204030204" pitchFamily="34" charset="0"/>
              </a:rPr>
              <a:t> </a:t>
            </a:r>
            <a:r>
              <a:rPr lang="en-US" sz="2000" dirty="0">
                <a:effectLst/>
                <a:ea typeface="Calibri" panose="020F0502020204030204" pitchFamily="34" charset="0"/>
              </a:rPr>
              <a:t>degree={BE,</a:t>
            </a:r>
            <a:r>
              <a:rPr lang="en-US" sz="2000" spc="-30" dirty="0">
                <a:effectLst/>
                <a:ea typeface="Calibri" panose="020F0502020204030204" pitchFamily="34" charset="0"/>
              </a:rPr>
              <a:t> </a:t>
            </a:r>
            <a:r>
              <a:rPr lang="en-US" sz="2000" dirty="0">
                <a:effectLst/>
                <a:ea typeface="Calibri" panose="020F0502020204030204" pitchFamily="34" charset="0"/>
              </a:rPr>
              <a:t>MTech,</a:t>
            </a:r>
            <a:r>
              <a:rPr lang="en-US" sz="2000" spc="-10" dirty="0">
                <a:effectLst/>
                <a:ea typeface="Calibri" panose="020F0502020204030204" pitchFamily="34" charset="0"/>
              </a:rPr>
              <a:t> </a:t>
            </a:r>
            <a:r>
              <a:rPr lang="en-US" sz="2000" dirty="0">
                <a:effectLst/>
                <a:ea typeface="Calibri" panose="020F0502020204030204" pitchFamily="34" charset="0"/>
              </a:rPr>
              <a:t>PhD}</a:t>
            </a:r>
          </a:p>
          <a:p>
            <a:pPr marL="990600" marR="3819525" indent="-412115" algn="just"/>
            <a:endParaRPr lang="en-US" sz="2000" dirty="0">
              <a:ea typeface="Calibri" panose="020F0502020204030204" pitchFamily="34" charset="0"/>
            </a:endParaRPr>
          </a:p>
          <a:p>
            <a:pPr marL="547688" marR="0" indent="-377825" algn="just">
              <a:buFont typeface="Wingdings" panose="05000000000000000000" pitchFamily="2" charset="2"/>
              <a:buChar char="q"/>
            </a:pPr>
            <a:r>
              <a:rPr lang="en-US" sz="2000" b="1" dirty="0">
                <a:effectLst/>
                <a:ea typeface="Calibri" panose="020F0502020204030204" pitchFamily="34" charset="0"/>
              </a:rPr>
              <a:t>Stored</a:t>
            </a:r>
            <a:r>
              <a:rPr lang="en-US" sz="2000" b="1" spc="-5" dirty="0">
                <a:effectLst/>
                <a:ea typeface="Calibri" panose="020F0502020204030204" pitchFamily="34" charset="0"/>
              </a:rPr>
              <a:t> </a:t>
            </a:r>
            <a:r>
              <a:rPr lang="en-US" sz="2000" b="1" dirty="0">
                <a:effectLst/>
                <a:ea typeface="Calibri" panose="020F0502020204030204" pitchFamily="34" charset="0"/>
              </a:rPr>
              <a:t>and</a:t>
            </a:r>
            <a:r>
              <a:rPr lang="en-US" sz="2000" b="1" spc="-5" dirty="0">
                <a:effectLst/>
                <a:ea typeface="Calibri" panose="020F0502020204030204" pitchFamily="34" charset="0"/>
              </a:rPr>
              <a:t> </a:t>
            </a:r>
            <a:r>
              <a:rPr lang="en-US" sz="2000" b="1" dirty="0">
                <a:effectLst/>
                <a:ea typeface="Calibri" panose="020F0502020204030204" pitchFamily="34" charset="0"/>
              </a:rPr>
              <a:t>Derived</a:t>
            </a:r>
            <a:r>
              <a:rPr lang="en-US" sz="2000" b="1" spc="-5" dirty="0">
                <a:effectLst/>
                <a:ea typeface="Calibri" panose="020F0502020204030204" pitchFamily="34" charset="0"/>
              </a:rPr>
              <a:t> </a:t>
            </a:r>
            <a:r>
              <a:rPr lang="en-US" sz="2000" b="1" dirty="0">
                <a:effectLst/>
                <a:ea typeface="Calibri" panose="020F0502020204030204" pitchFamily="34" charset="0"/>
              </a:rPr>
              <a:t>attribute</a:t>
            </a:r>
          </a:p>
          <a:p>
            <a:pPr marL="342900" marR="0" lvl="0" indent="-342900" algn="just">
              <a:buSzPts val="1100"/>
              <a:buFont typeface="Wingdings" panose="05000000000000000000" pitchFamily="2" charset="2"/>
              <a:buChar char=""/>
              <a:tabLst>
                <a:tab pos="1054735" algn="l"/>
              </a:tabLst>
            </a:pPr>
            <a:r>
              <a:rPr lang="en-US" sz="2000" dirty="0">
                <a:effectLst/>
                <a:ea typeface="Wingdings" panose="05000000000000000000" pitchFamily="2" charset="2"/>
                <a:cs typeface="Wingdings" panose="05000000000000000000" pitchFamily="2" charset="2"/>
              </a:rPr>
              <a:t>Two</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(or</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more)</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values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are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related—for</a:t>
            </a:r>
            <a:r>
              <a:rPr lang="en-US" sz="2000" spc="-15" dirty="0">
                <a:effectLst/>
                <a:ea typeface="Wingdings" panose="05000000000000000000" pitchFamily="2" charset="2"/>
                <a:cs typeface="Wingdings" panose="05000000000000000000" pitchFamily="2" charset="2"/>
              </a:rPr>
              <a:t> </a:t>
            </a:r>
            <a:r>
              <a:rPr lang="en-US" sz="2000" dirty="0" err="1">
                <a:effectLst/>
                <a:ea typeface="Wingdings" panose="05000000000000000000" pitchFamily="2" charset="2"/>
                <a:cs typeface="Wingdings" panose="05000000000000000000" pitchFamily="2" charset="2"/>
              </a:rPr>
              <a:t>eg</a:t>
            </a:r>
            <a:r>
              <a:rPr lang="en-US" sz="2000" dirty="0">
                <a:effectLst/>
                <a:ea typeface="Wingdings" panose="05000000000000000000" pitchFamily="2" charset="2"/>
                <a:cs typeface="Wingdings" panose="05000000000000000000" pitchFamily="2" charset="2"/>
              </a:rPr>
              <a:t>:</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Age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and</a:t>
            </a:r>
            <a:r>
              <a:rPr lang="en-US" sz="2000" spc="-15" dirty="0">
                <a:effectLst/>
                <a:ea typeface="Wingdings" panose="05000000000000000000" pitchFamily="2" charset="2"/>
                <a:cs typeface="Wingdings" panose="05000000000000000000" pitchFamily="2" charset="2"/>
              </a:rPr>
              <a:t> </a:t>
            </a:r>
            <a:r>
              <a:rPr lang="en-US" sz="2000" dirty="0" err="1">
                <a:effectLst/>
                <a:ea typeface="Wingdings" panose="05000000000000000000" pitchFamily="2" charset="2"/>
                <a:cs typeface="Wingdings" panose="05000000000000000000" pitchFamily="2" charset="2"/>
              </a:rPr>
              <a:t>Birth_date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attributes</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person</a:t>
            </a:r>
          </a:p>
          <a:p>
            <a:pPr marL="342900" marR="596900" lvl="0" indent="-342900" algn="just">
              <a:buSzPts val="1100"/>
              <a:buFont typeface="Wingdings" panose="05000000000000000000" pitchFamily="2" charset="2"/>
              <a:buChar char=""/>
              <a:tabLst>
                <a:tab pos="1054735" algn="l"/>
              </a:tabLst>
            </a:pPr>
            <a:r>
              <a:rPr lang="en-US" sz="2000" dirty="0">
                <a:effectLst/>
                <a:ea typeface="Wingdings" panose="05000000000000000000" pitchFamily="2" charset="2"/>
                <a:cs typeface="Wingdings" panose="05000000000000000000" pitchFamily="2" charset="2"/>
              </a:rPr>
              <a:t>The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value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Age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can</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be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determined</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from</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current (today’s)</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date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and</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value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that</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person’s</a:t>
            </a:r>
            <a:r>
              <a:rPr lang="en-US" sz="2000" spc="-235" dirty="0">
                <a:effectLst/>
                <a:ea typeface="Wingdings" panose="05000000000000000000" pitchFamily="2" charset="2"/>
                <a:cs typeface="Wingdings" panose="05000000000000000000" pitchFamily="2" charset="2"/>
              </a:rPr>
              <a:t> </a:t>
            </a:r>
            <a:r>
              <a:rPr lang="en-US" sz="2000" dirty="0" err="1">
                <a:effectLst/>
                <a:ea typeface="Wingdings" panose="05000000000000000000" pitchFamily="2" charset="2"/>
                <a:cs typeface="Wingdings" panose="05000000000000000000" pitchFamily="2" charset="2"/>
              </a:rPr>
              <a:t>Birth_date</a:t>
            </a:r>
            <a:endParaRPr lang="en-US" sz="2000" dirty="0">
              <a:effectLst/>
              <a:ea typeface="Wingdings" panose="05000000000000000000" pitchFamily="2" charset="2"/>
              <a:cs typeface="Wingdings" panose="05000000000000000000" pitchFamily="2" charset="2"/>
            </a:endParaRPr>
          </a:p>
          <a:p>
            <a:pPr marL="342900" marR="0" lvl="0" indent="-342900" algn="just">
              <a:buSzPts val="1100"/>
              <a:buFont typeface="Wingdings" panose="05000000000000000000" pitchFamily="2" charset="2"/>
              <a:buChar char=""/>
              <a:tabLst>
                <a:tab pos="1054735" algn="l"/>
              </a:tabLst>
            </a:pPr>
            <a:r>
              <a:rPr lang="en-US" sz="2000" dirty="0">
                <a:effectLst/>
                <a:ea typeface="Wingdings" panose="05000000000000000000" pitchFamily="2" charset="2"/>
                <a:cs typeface="Wingdings" panose="05000000000000000000" pitchFamily="2" charset="2"/>
              </a:rPr>
              <a:t>The</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Age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is</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hence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called</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a:t>
            </a:r>
            <a:r>
              <a:rPr lang="en-US" sz="2000" spc="-10"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derived</a:t>
            </a:r>
            <a:r>
              <a:rPr lang="en-US" sz="2000" b="1"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a:t>
            </a:r>
          </a:p>
          <a:p>
            <a:pPr marL="342900" marR="0" lvl="0" indent="-342900" algn="just">
              <a:buSzPts val="1100"/>
              <a:buFont typeface="Wingdings" panose="05000000000000000000" pitchFamily="2" charset="2"/>
              <a:buChar char=""/>
              <a:tabLst>
                <a:tab pos="1054735" algn="l"/>
              </a:tabLst>
            </a:pPr>
            <a:r>
              <a:rPr lang="en-US" sz="2000" dirty="0" err="1">
                <a:effectLst/>
                <a:ea typeface="Wingdings" panose="05000000000000000000" pitchFamily="2" charset="2"/>
                <a:cs typeface="Wingdings" panose="05000000000000000000" pitchFamily="2" charset="2"/>
              </a:rPr>
              <a:t>Birth_date</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is</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called</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a:t>
            </a:r>
            <a:r>
              <a:rPr lang="en-US" sz="2000" spc="-15"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stored</a:t>
            </a:r>
            <a:r>
              <a:rPr lang="en-US" sz="2000" b="1"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a:t>
            </a:r>
          </a:p>
          <a:p>
            <a:pPr marL="990600" marR="3819525" indent="-412115" algn="just"/>
            <a:endParaRPr lang="en-US" sz="2000" dirty="0">
              <a:effectLst/>
              <a:ea typeface="Calibri" panose="020F0502020204030204" pitchFamily="34" charset="0"/>
            </a:endParaRPr>
          </a:p>
          <a:p>
            <a:pPr marL="990600" marR="3819525" indent="-412115" algn="just"/>
            <a:endParaRPr lang="en-US" sz="2000" dirty="0">
              <a:effectLst/>
              <a:ea typeface="Calibri" panose="020F0502020204030204" pitchFamily="34" charset="0"/>
            </a:endParaRPr>
          </a:p>
          <a:p>
            <a:pPr marL="990600" marR="3819525" indent="-412115" algn="just"/>
            <a:endParaRPr lang="en-US" sz="2000" dirty="0">
              <a:ea typeface="Calibri" panose="020F0502020204030204" pitchFamily="34" charset="0"/>
            </a:endParaRPr>
          </a:p>
          <a:p>
            <a:pPr marL="990600" marR="3819525" indent="-412115" algn="just"/>
            <a:endParaRPr lang="en-US" sz="2000" dirty="0">
              <a:effectLst/>
              <a:ea typeface="Calibri" panose="020F0502020204030204" pitchFamily="34" charset="0"/>
            </a:endParaRPr>
          </a:p>
          <a:p>
            <a:pPr marL="990600" marR="3819525" indent="-412115" algn="just"/>
            <a:endParaRPr lang="en-US" sz="2000" dirty="0">
              <a:effectLst/>
              <a:ea typeface="Calibri" panose="020F0502020204030204" pitchFamily="34" charset="0"/>
            </a:endParaRPr>
          </a:p>
          <a:p>
            <a:pPr>
              <a:buNone/>
            </a:pPr>
            <a:endParaRPr lang="en-US" sz="2000" dirty="0"/>
          </a:p>
        </p:txBody>
      </p:sp>
    </p:spTree>
    <p:extLst>
      <p:ext uri="{BB962C8B-B14F-4D97-AF65-F5344CB8AC3E}">
        <p14:creationId xmlns:p14="http://schemas.microsoft.com/office/powerpoint/2010/main" val="38018951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E3B68F-F8A8-C639-C84C-ADC16A1CA6AB}"/>
              </a:ext>
            </a:extLst>
          </p:cNvPr>
          <p:cNvSpPr txBox="1"/>
          <p:nvPr/>
        </p:nvSpPr>
        <p:spPr>
          <a:xfrm>
            <a:off x="418454" y="340963"/>
            <a:ext cx="11468746" cy="5256824"/>
          </a:xfrm>
          <a:prstGeom prst="rect">
            <a:avLst/>
          </a:prstGeom>
          <a:noFill/>
        </p:spPr>
        <p:txBody>
          <a:bodyPr wrap="square" rtlCol="0">
            <a:spAutoFit/>
          </a:bodyPr>
          <a:lstStyle/>
          <a:p>
            <a:pPr marL="482600" marR="0" indent="-342900" algn="just">
              <a:spcBef>
                <a:spcPts val="5"/>
              </a:spcBef>
              <a:buFont typeface="Wingdings" panose="05000000000000000000" pitchFamily="2" charset="2"/>
              <a:buChar char="v"/>
            </a:pPr>
            <a:r>
              <a:rPr lang="en-US" sz="2000" b="1" dirty="0">
                <a:effectLst/>
                <a:ea typeface="Calibri" panose="020F0502020204030204" pitchFamily="34" charset="0"/>
              </a:rPr>
              <a:t>NULL</a:t>
            </a:r>
            <a:r>
              <a:rPr lang="en-US" sz="2000" b="1" spc="-30" dirty="0">
                <a:effectLst/>
                <a:ea typeface="Calibri" panose="020F0502020204030204" pitchFamily="34" charset="0"/>
              </a:rPr>
              <a:t> </a:t>
            </a:r>
            <a:r>
              <a:rPr lang="en-US" sz="2000" b="1" dirty="0">
                <a:effectLst/>
                <a:ea typeface="Calibri" panose="020F0502020204030204" pitchFamily="34" charset="0"/>
              </a:rPr>
              <a:t>Values</a:t>
            </a:r>
          </a:p>
          <a:p>
            <a:pPr algn="l"/>
            <a:r>
              <a:rPr lang="en-US" sz="2000" dirty="0">
                <a:effectLst/>
                <a:ea typeface="Wingdings" panose="05000000000000000000" pitchFamily="2" charset="2"/>
                <a:cs typeface="Wingdings" panose="05000000000000000000" pitchFamily="2" charset="2"/>
              </a:rPr>
              <a:t>In</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some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cases,</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particular</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may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not</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have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applicable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value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for</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 </a:t>
            </a:r>
            <a:r>
              <a:rPr lang="en-US" sz="1800" b="0" i="0" u="none" strike="noStrike" baseline="0" dirty="0">
                <a:latin typeface="MinionPro-Regular"/>
              </a:rPr>
              <a:t>For such situations, a special value called </a:t>
            </a:r>
            <a:r>
              <a:rPr lang="en-US" sz="1800" b="0" i="0" u="none" strike="noStrike" baseline="0" dirty="0">
                <a:latin typeface="AkzidenzGroteskBE-Regular"/>
              </a:rPr>
              <a:t>NULL </a:t>
            </a:r>
            <a:r>
              <a:rPr lang="en-US" sz="1800" b="0" i="0" u="none" strike="noStrike" baseline="0" dirty="0">
                <a:latin typeface="MinionPro-Regular"/>
              </a:rPr>
              <a:t>is created.</a:t>
            </a:r>
            <a:endParaRPr lang="en-US" sz="2000" dirty="0">
              <a:effectLst/>
              <a:ea typeface="Wingdings" panose="05000000000000000000" pitchFamily="2" charset="2"/>
              <a:cs typeface="Wingdings" panose="05000000000000000000" pitchFamily="2" charset="2"/>
            </a:endParaRPr>
          </a:p>
          <a:p>
            <a:pPr marL="1569720" marR="350520" indent="-457200" algn="just">
              <a:buNone/>
            </a:pPr>
            <a:r>
              <a:rPr lang="en-US" sz="2000" dirty="0">
                <a:effectLst/>
                <a:ea typeface="Calibri" panose="020F0502020204030204" pitchFamily="34" charset="0"/>
              </a:rPr>
              <a:t>For </a:t>
            </a:r>
            <a:r>
              <a:rPr lang="en-US" sz="2000" dirty="0" err="1">
                <a:effectLst/>
                <a:ea typeface="Calibri" panose="020F0502020204030204" pitchFamily="34" charset="0"/>
              </a:rPr>
              <a:t>eg</a:t>
            </a:r>
            <a:r>
              <a:rPr lang="en-US" sz="2000" dirty="0">
                <a:ea typeface="Calibri" panose="020F0502020204030204" pitchFamily="34" charset="0"/>
              </a:rPr>
              <a:t> -</a:t>
            </a:r>
            <a:r>
              <a:rPr lang="en-US" sz="2000" spc="-3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err="1">
                <a:effectLst/>
                <a:ea typeface="Calibri" panose="020F0502020204030204" pitchFamily="34" charset="0"/>
              </a:rPr>
              <a:t>Apartment_number</a:t>
            </a:r>
            <a:r>
              <a:rPr lang="en-US" sz="2000" spc="-10" dirty="0">
                <a:effectLst/>
                <a:ea typeface="Calibri" panose="020F0502020204030204" pitchFamily="34" charset="0"/>
              </a:rPr>
              <a:t> </a:t>
            </a:r>
            <a:r>
              <a:rPr lang="en-US" sz="2000" dirty="0">
                <a:effectLst/>
                <a:ea typeface="Calibri" panose="020F0502020204030204" pitchFamily="34" charset="0"/>
              </a:rPr>
              <a:t>attribute</a:t>
            </a:r>
            <a:r>
              <a:rPr lang="en-US" sz="2000" spc="-15" dirty="0">
                <a:effectLst/>
                <a:ea typeface="Calibri" panose="020F0502020204030204" pitchFamily="34" charset="0"/>
              </a:rPr>
              <a:t> </a:t>
            </a:r>
            <a:r>
              <a:rPr lang="en-US" sz="2000" dirty="0">
                <a:effectLst/>
                <a:ea typeface="Calibri" panose="020F0502020204030204" pitchFamily="34" charset="0"/>
              </a:rPr>
              <a:t>of</a:t>
            </a:r>
            <a:r>
              <a:rPr lang="en-US" sz="2000" spc="5" dirty="0">
                <a:effectLst/>
                <a:ea typeface="Calibri" panose="020F0502020204030204" pitchFamily="34" charset="0"/>
              </a:rPr>
              <a:t> </a:t>
            </a:r>
            <a:r>
              <a:rPr lang="en-US" sz="2000" dirty="0">
                <a:effectLst/>
                <a:ea typeface="Calibri" panose="020F0502020204030204" pitchFamily="34" charset="0"/>
              </a:rPr>
              <a:t>an</a:t>
            </a:r>
            <a:r>
              <a:rPr lang="en-US" sz="2000" spc="-15" dirty="0">
                <a:effectLst/>
                <a:ea typeface="Calibri" panose="020F0502020204030204" pitchFamily="34" charset="0"/>
              </a:rPr>
              <a:t> </a:t>
            </a:r>
            <a:r>
              <a:rPr lang="en-US" sz="2000" dirty="0">
                <a:effectLst/>
                <a:ea typeface="Calibri" panose="020F0502020204030204" pitchFamily="34" charset="0"/>
              </a:rPr>
              <a:t>address</a:t>
            </a:r>
            <a:r>
              <a:rPr lang="en-US" sz="2000" spc="10" dirty="0">
                <a:effectLst/>
                <a:ea typeface="Calibri" panose="020F0502020204030204" pitchFamily="34" charset="0"/>
              </a:rPr>
              <a:t> </a:t>
            </a:r>
            <a:r>
              <a:rPr lang="en-US" sz="2000" dirty="0">
                <a:effectLst/>
                <a:ea typeface="Calibri" panose="020F0502020204030204" pitchFamily="34" charset="0"/>
              </a:rPr>
              <a:t>applies</a:t>
            </a:r>
            <a:r>
              <a:rPr lang="en-US" sz="2000" spc="-10" dirty="0">
                <a:effectLst/>
                <a:ea typeface="Calibri" panose="020F0502020204030204" pitchFamily="34" charset="0"/>
              </a:rPr>
              <a:t> </a:t>
            </a:r>
            <a:r>
              <a:rPr lang="en-US" sz="2000" dirty="0">
                <a:effectLst/>
                <a:ea typeface="Calibri" panose="020F0502020204030204" pitchFamily="34" charset="0"/>
              </a:rPr>
              <a:t>only</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20" dirty="0">
                <a:effectLst/>
                <a:ea typeface="Calibri" panose="020F0502020204030204" pitchFamily="34" charset="0"/>
              </a:rPr>
              <a:t> </a:t>
            </a:r>
            <a:r>
              <a:rPr lang="en-US" sz="2000" dirty="0">
                <a:effectLst/>
                <a:ea typeface="Calibri" panose="020F0502020204030204" pitchFamily="34" charset="0"/>
              </a:rPr>
              <a:t>addresses</a:t>
            </a:r>
            <a:r>
              <a:rPr lang="en-US" sz="2000" spc="-15" dirty="0">
                <a:effectLst/>
                <a:ea typeface="Calibri" panose="020F0502020204030204" pitchFamily="34" charset="0"/>
              </a:rPr>
              <a:t> </a:t>
            </a:r>
            <a:r>
              <a:rPr lang="en-US" sz="2000" dirty="0">
                <a:effectLst/>
                <a:ea typeface="Calibri" panose="020F0502020204030204" pitchFamily="34" charset="0"/>
              </a:rPr>
              <a:t>that</a:t>
            </a:r>
            <a:r>
              <a:rPr lang="en-US" sz="2000" spc="-25" dirty="0">
                <a:effectLst/>
                <a:ea typeface="Calibri" panose="020F0502020204030204" pitchFamily="34" charset="0"/>
              </a:rPr>
              <a:t> </a:t>
            </a:r>
            <a:r>
              <a:rPr lang="en-US" sz="2000" dirty="0">
                <a:effectLst/>
                <a:ea typeface="Calibri" panose="020F0502020204030204" pitchFamily="34" charset="0"/>
              </a:rPr>
              <a:t>are</a:t>
            </a:r>
            <a:r>
              <a:rPr lang="en-US" sz="2000" spc="-15" dirty="0">
                <a:effectLst/>
                <a:ea typeface="Calibri" panose="020F0502020204030204" pitchFamily="34" charset="0"/>
              </a:rPr>
              <a:t> </a:t>
            </a:r>
            <a:r>
              <a:rPr lang="en-US" sz="2000" dirty="0">
                <a:effectLst/>
                <a:ea typeface="Calibri" panose="020F0502020204030204" pitchFamily="34" charset="0"/>
              </a:rPr>
              <a:t>in</a:t>
            </a:r>
            <a:r>
              <a:rPr lang="en-US" sz="2000" spc="-20" dirty="0">
                <a:effectLst/>
                <a:ea typeface="Calibri" panose="020F0502020204030204" pitchFamily="34" charset="0"/>
              </a:rPr>
              <a:t> </a:t>
            </a:r>
            <a:r>
              <a:rPr lang="en-US" sz="2000" dirty="0">
                <a:effectLst/>
                <a:ea typeface="Calibri" panose="020F0502020204030204" pitchFamily="34" charset="0"/>
              </a:rPr>
              <a:t>apartment</a:t>
            </a:r>
            <a:r>
              <a:rPr lang="en-US" sz="2000" spc="-235" dirty="0">
                <a:effectLst/>
                <a:ea typeface="Calibri" panose="020F0502020204030204" pitchFamily="34" charset="0"/>
              </a:rPr>
              <a:t> </a:t>
            </a:r>
            <a:r>
              <a:rPr lang="en-US" sz="2000" dirty="0">
                <a:effectLst/>
                <a:ea typeface="Calibri" panose="020F0502020204030204" pitchFamily="34" charset="0"/>
              </a:rPr>
              <a:t>buildings</a:t>
            </a:r>
            <a:r>
              <a:rPr lang="en-US" sz="2000" spc="-15"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not</a:t>
            </a:r>
            <a:r>
              <a:rPr lang="en-US" sz="2000" spc="-20"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other</a:t>
            </a:r>
            <a:r>
              <a:rPr lang="en-US" sz="2000" spc="-10" dirty="0">
                <a:effectLst/>
                <a:ea typeface="Calibri" panose="020F0502020204030204" pitchFamily="34" charset="0"/>
              </a:rPr>
              <a:t> </a:t>
            </a:r>
            <a:r>
              <a:rPr lang="en-US" sz="2000" dirty="0">
                <a:effectLst/>
                <a:ea typeface="Calibri" panose="020F0502020204030204" pitchFamily="34" charset="0"/>
              </a:rPr>
              <a:t>types</a:t>
            </a:r>
            <a:r>
              <a:rPr lang="en-US" sz="2000" spc="-5" dirty="0">
                <a:effectLst/>
                <a:ea typeface="Calibri" panose="020F0502020204030204" pitchFamily="34" charset="0"/>
              </a:rPr>
              <a:t> </a:t>
            </a:r>
            <a:r>
              <a:rPr lang="en-US" sz="2000" dirty="0">
                <a:effectLst/>
                <a:ea typeface="Calibri" panose="020F0502020204030204" pitchFamily="34" charset="0"/>
              </a:rPr>
              <a:t>of residences, such</a:t>
            </a:r>
            <a:r>
              <a:rPr lang="en-US" sz="2000" spc="-20" dirty="0">
                <a:effectLst/>
                <a:ea typeface="Calibri" panose="020F0502020204030204" pitchFamily="34" charset="0"/>
              </a:rPr>
              <a:t> </a:t>
            </a:r>
            <a:r>
              <a:rPr lang="en-US" sz="2000" dirty="0">
                <a:effectLst/>
                <a:ea typeface="Calibri" panose="020F0502020204030204" pitchFamily="34" charset="0"/>
              </a:rPr>
              <a:t>as</a:t>
            </a:r>
            <a:r>
              <a:rPr lang="en-US" sz="2000" spc="35" dirty="0">
                <a:effectLst/>
                <a:ea typeface="Calibri" panose="020F0502020204030204" pitchFamily="34" charset="0"/>
              </a:rPr>
              <a:t> </a:t>
            </a:r>
            <a:r>
              <a:rPr lang="en-US" sz="2000" dirty="0">
                <a:effectLst/>
                <a:ea typeface="Calibri" panose="020F0502020204030204" pitchFamily="34" charset="0"/>
              </a:rPr>
              <a:t>single-family</a:t>
            </a:r>
            <a:r>
              <a:rPr lang="en-US" sz="2000" spc="-10" dirty="0">
                <a:effectLst/>
                <a:ea typeface="Calibri" panose="020F0502020204030204" pitchFamily="34" charset="0"/>
              </a:rPr>
              <a:t> </a:t>
            </a:r>
            <a:r>
              <a:rPr lang="en-US" sz="2000" dirty="0">
                <a:effectLst/>
                <a:ea typeface="Calibri" panose="020F0502020204030204" pitchFamily="34" charset="0"/>
              </a:rPr>
              <a:t>homes</a:t>
            </a:r>
          </a:p>
          <a:p>
            <a:pPr>
              <a:buNone/>
            </a:pPr>
            <a:r>
              <a:rPr lang="en-US" sz="2000" dirty="0">
                <a:effectLst/>
                <a:ea typeface="Calibri" panose="020F0502020204030204" pitchFamily="34" charset="0"/>
              </a:rPr>
              <a:t>				- </a:t>
            </a:r>
            <a:r>
              <a:rPr lang="en-US" sz="2000" dirty="0" err="1">
                <a:effectLst/>
                <a:ea typeface="Calibri" panose="020F0502020204030204" pitchFamily="34" charset="0"/>
              </a:rPr>
              <a:t>College_degrees</a:t>
            </a:r>
            <a:r>
              <a:rPr lang="en-US" sz="2000" spc="-20" dirty="0">
                <a:effectLst/>
                <a:ea typeface="Calibri" panose="020F0502020204030204" pitchFamily="34" charset="0"/>
              </a:rPr>
              <a:t> </a:t>
            </a:r>
            <a:r>
              <a:rPr lang="en-US" sz="2000" dirty="0">
                <a:effectLst/>
                <a:ea typeface="Calibri" panose="020F0502020204030204" pitchFamily="34" charset="0"/>
              </a:rPr>
              <a:t>attribute</a:t>
            </a:r>
            <a:r>
              <a:rPr lang="en-US" sz="2000" spc="-15" dirty="0">
                <a:effectLst/>
                <a:ea typeface="Calibri" panose="020F0502020204030204" pitchFamily="34" charset="0"/>
              </a:rPr>
              <a:t> </a:t>
            </a:r>
            <a:r>
              <a:rPr lang="en-US" sz="2000" dirty="0">
                <a:effectLst/>
                <a:ea typeface="Calibri" panose="020F0502020204030204" pitchFamily="34" charset="0"/>
              </a:rPr>
              <a:t>applies</a:t>
            </a:r>
            <a:r>
              <a:rPr lang="en-US" sz="2000" spc="-10" dirty="0">
                <a:effectLst/>
                <a:ea typeface="Calibri" panose="020F0502020204030204" pitchFamily="34" charset="0"/>
              </a:rPr>
              <a:t> </a:t>
            </a:r>
            <a:r>
              <a:rPr lang="en-US" sz="2000" dirty="0">
                <a:effectLst/>
                <a:ea typeface="Calibri" panose="020F0502020204030204" pitchFamily="34" charset="0"/>
              </a:rPr>
              <a:t>only to</a:t>
            </a:r>
            <a:r>
              <a:rPr lang="en-US" sz="2000" spc="-20" dirty="0">
                <a:effectLst/>
                <a:ea typeface="Calibri" panose="020F0502020204030204" pitchFamily="34" charset="0"/>
              </a:rPr>
              <a:t> </a:t>
            </a:r>
            <a:r>
              <a:rPr lang="en-US" sz="2000" dirty="0">
                <a:effectLst/>
                <a:ea typeface="Calibri" panose="020F0502020204030204" pitchFamily="34" charset="0"/>
              </a:rPr>
              <a:t>people</a:t>
            </a:r>
            <a:r>
              <a:rPr lang="en-US" sz="2000" spc="-15" dirty="0">
                <a:effectLst/>
                <a:ea typeface="Calibri" panose="020F0502020204030204" pitchFamily="34" charset="0"/>
              </a:rPr>
              <a:t> </a:t>
            </a:r>
            <a:r>
              <a:rPr lang="en-US" sz="2000" dirty="0">
                <a:effectLst/>
                <a:ea typeface="Calibri" panose="020F0502020204030204" pitchFamily="34" charset="0"/>
              </a:rPr>
              <a:t>with</a:t>
            </a:r>
            <a:r>
              <a:rPr lang="en-US" sz="2000" spc="5" dirty="0">
                <a:effectLst/>
                <a:ea typeface="Calibri" panose="020F0502020204030204" pitchFamily="34" charset="0"/>
              </a:rPr>
              <a:t> </a:t>
            </a:r>
            <a:r>
              <a:rPr lang="en-US" sz="2000" dirty="0">
                <a:effectLst/>
                <a:ea typeface="Calibri" panose="020F0502020204030204" pitchFamily="34" charset="0"/>
              </a:rPr>
              <a:t>college</a:t>
            </a:r>
            <a:r>
              <a:rPr lang="en-US" sz="2000" spc="-20" dirty="0">
                <a:effectLst/>
                <a:ea typeface="Calibri" panose="020F0502020204030204" pitchFamily="34" charset="0"/>
              </a:rPr>
              <a:t> </a:t>
            </a:r>
            <a:r>
              <a:rPr lang="en-US" sz="2000" dirty="0">
                <a:effectLst/>
                <a:ea typeface="Calibri" panose="020F0502020204030204" pitchFamily="34" charset="0"/>
              </a:rPr>
              <a:t>degrees.</a:t>
            </a:r>
          </a:p>
          <a:p>
            <a:pPr>
              <a:buNone/>
            </a:pPr>
            <a:endParaRPr lang="en-US" sz="2000" dirty="0"/>
          </a:p>
          <a:p>
            <a:pPr marL="482600" marR="0" indent="-342900" algn="just">
              <a:buFont typeface="Wingdings" panose="05000000000000000000" pitchFamily="2" charset="2"/>
              <a:buChar char="v"/>
            </a:pPr>
            <a:r>
              <a:rPr lang="en-US" sz="2000" b="1" dirty="0">
                <a:effectLst/>
                <a:ea typeface="Calibri" panose="020F0502020204030204" pitchFamily="34" charset="0"/>
              </a:rPr>
              <a:t>Complex</a:t>
            </a:r>
            <a:r>
              <a:rPr lang="en-US" sz="2000" b="1" spc="-25" dirty="0">
                <a:effectLst/>
                <a:ea typeface="Calibri" panose="020F0502020204030204" pitchFamily="34" charset="0"/>
              </a:rPr>
              <a:t> </a:t>
            </a:r>
            <a:r>
              <a:rPr lang="en-US" sz="2000" b="1" dirty="0">
                <a:effectLst/>
                <a:ea typeface="Calibri" panose="020F0502020204030204" pitchFamily="34" charset="0"/>
              </a:rPr>
              <a:t>Attributes</a:t>
            </a:r>
          </a:p>
          <a:p>
            <a:pPr marL="342900" marR="0" lvl="0" indent="-342900" algn="just">
              <a:buSzPts val="1100"/>
              <a:buFont typeface="Wingdings" panose="05000000000000000000" pitchFamily="2" charset="2"/>
              <a:buChar char=""/>
              <a:tabLst>
                <a:tab pos="1103630" algn="l"/>
              </a:tabLst>
            </a:pPr>
            <a:r>
              <a:rPr lang="en-US" sz="2000" dirty="0">
                <a:effectLst/>
                <a:ea typeface="Wingdings" panose="05000000000000000000" pitchFamily="2" charset="2"/>
                <a:cs typeface="Wingdings" panose="05000000000000000000" pitchFamily="2" charset="2"/>
              </a:rPr>
              <a:t>composite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and</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multivalued</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can</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be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nested</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arbitrarily.</a:t>
            </a:r>
          </a:p>
          <a:p>
            <a:pPr marL="342900" marR="227965" lvl="0" indent="-342900" algn="just">
              <a:spcBef>
                <a:spcPts val="5"/>
              </a:spcBef>
              <a:buSzPts val="1100"/>
              <a:buFont typeface="Wingdings" panose="05000000000000000000" pitchFamily="2" charset="2"/>
              <a:buChar char=""/>
              <a:tabLst>
                <a:tab pos="1103630" algn="l"/>
              </a:tabLst>
            </a:pPr>
            <a:r>
              <a:rPr lang="en-US" sz="2000" dirty="0">
                <a:effectLst/>
                <a:ea typeface="Wingdings" panose="05000000000000000000" pitchFamily="2" charset="2"/>
                <a:cs typeface="Wingdings" panose="05000000000000000000" pitchFamily="2" charset="2"/>
              </a:rPr>
              <a:t>arbitrary</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nesting</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by</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grouping</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components</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composite</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between</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parentheses</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and</a:t>
            </a:r>
            <a:r>
              <a:rPr lang="en-US" sz="2000" spc="-23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separating the components with commas, and by displaying multivalued attributes between braces { }.</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Such</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attributes</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are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called</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complex</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attributes.</a:t>
            </a:r>
          </a:p>
          <a:p>
            <a:pPr marL="342900" marR="222885" lvl="0" indent="-342900" algn="just">
              <a:lnSpc>
                <a:spcPct val="97000"/>
              </a:lnSpc>
              <a:spcBef>
                <a:spcPts val="25"/>
              </a:spcBef>
              <a:buSzPts val="1100"/>
              <a:buFont typeface="Wingdings" panose="05000000000000000000" pitchFamily="2" charset="2"/>
              <a:buChar char=""/>
              <a:tabLst>
                <a:tab pos="1103630" algn="l"/>
              </a:tabLst>
            </a:pPr>
            <a:r>
              <a:rPr lang="en-US" sz="2000" dirty="0">
                <a:effectLst/>
                <a:ea typeface="Wingdings" panose="05000000000000000000" pitchFamily="2" charset="2"/>
                <a:cs typeface="Wingdings" panose="05000000000000000000" pitchFamily="2" charset="2"/>
              </a:rPr>
              <a:t>For example, if a person can have more than one residence and each residence can have a single</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address</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and</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multiple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phones,</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a:t>
            </a:r>
            <a:r>
              <a:rPr lang="en-US" sz="2000" spc="-10" dirty="0">
                <a:effectLst/>
                <a:ea typeface="Wingdings" panose="05000000000000000000" pitchFamily="2" charset="2"/>
                <a:cs typeface="Wingdings" panose="05000000000000000000" pitchFamily="2" charset="2"/>
              </a:rPr>
              <a:t> </a:t>
            </a:r>
            <a:r>
              <a:rPr lang="en-US" sz="2000" dirty="0" err="1">
                <a:effectLst/>
                <a:ea typeface="Wingdings" panose="05000000000000000000" pitchFamily="2" charset="2"/>
                <a:cs typeface="Wingdings" panose="05000000000000000000" pitchFamily="2" charset="2"/>
              </a:rPr>
              <a:t>Address_phone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for</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person.</a:t>
            </a:r>
          </a:p>
          <a:p>
            <a:pPr marL="342900" marR="222885" lvl="0" indent="-342900" algn="just">
              <a:lnSpc>
                <a:spcPct val="97000"/>
              </a:lnSpc>
              <a:spcBef>
                <a:spcPts val="25"/>
              </a:spcBef>
              <a:buSzPts val="1100"/>
              <a:buFont typeface="Wingdings" panose="05000000000000000000" pitchFamily="2" charset="2"/>
              <a:buChar char=""/>
              <a:tabLst>
                <a:tab pos="1103630" algn="l"/>
              </a:tabLst>
            </a:pPr>
            <a:endParaRPr lang="en-US" sz="2000" dirty="0">
              <a:ea typeface="Wingdings" panose="05000000000000000000" pitchFamily="2" charset="2"/>
              <a:cs typeface="Wingdings" panose="05000000000000000000" pitchFamily="2" charset="2"/>
            </a:endParaRPr>
          </a:p>
          <a:p>
            <a:pPr marL="342900" marR="222885" lvl="0" indent="-342900" algn="just">
              <a:lnSpc>
                <a:spcPct val="97000"/>
              </a:lnSpc>
              <a:spcBef>
                <a:spcPts val="25"/>
              </a:spcBef>
              <a:buSzPts val="1100"/>
              <a:buFont typeface="Wingdings" panose="05000000000000000000" pitchFamily="2" charset="2"/>
              <a:buChar char=""/>
              <a:tabLst>
                <a:tab pos="1103630" algn="l"/>
              </a:tabLst>
            </a:pPr>
            <a:endParaRPr lang="en-US" sz="2000" dirty="0">
              <a:effectLst/>
              <a:ea typeface="Wingdings" panose="05000000000000000000" pitchFamily="2" charset="2"/>
              <a:cs typeface="Wingdings" panose="05000000000000000000" pitchFamily="2" charset="2"/>
            </a:endParaRPr>
          </a:p>
          <a:p>
            <a:pPr>
              <a:buNone/>
            </a:pPr>
            <a:endParaRPr lang="en-US" sz="2000" dirty="0"/>
          </a:p>
        </p:txBody>
      </p:sp>
      <p:pic>
        <p:nvPicPr>
          <p:cNvPr id="4" name="Picture 3">
            <a:extLst>
              <a:ext uri="{FF2B5EF4-FFF2-40B4-BE49-F238E27FC236}">
                <a16:creationId xmlns:a16="http://schemas.microsoft.com/office/drawing/2014/main" id="{BEB4AB8D-9ED2-2966-396E-E134C929233F}"/>
              </a:ext>
            </a:extLst>
          </p:cNvPr>
          <p:cNvPicPr>
            <a:picLocks noChangeAspect="1"/>
          </p:cNvPicPr>
          <p:nvPr/>
        </p:nvPicPr>
        <p:blipFill>
          <a:blip r:embed="rId2"/>
          <a:stretch>
            <a:fillRect/>
          </a:stretch>
        </p:blipFill>
        <p:spPr>
          <a:xfrm>
            <a:off x="152760" y="4897466"/>
            <a:ext cx="11886480" cy="1160024"/>
          </a:xfrm>
          <a:prstGeom prst="rect">
            <a:avLst/>
          </a:prstGeom>
        </p:spPr>
      </p:pic>
    </p:spTree>
    <p:extLst>
      <p:ext uri="{BB962C8B-B14F-4D97-AF65-F5344CB8AC3E}">
        <p14:creationId xmlns:p14="http://schemas.microsoft.com/office/powerpoint/2010/main" val="33105688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A62B419-23B3-B451-3686-BC5464F8D12B}"/>
              </a:ext>
            </a:extLst>
          </p:cNvPr>
          <p:cNvGraphicFramePr/>
          <p:nvPr>
            <p:extLst>
              <p:ext uri="{D42A27DB-BD31-4B8C-83A1-F6EECF244321}">
                <p14:modId xmlns:p14="http://schemas.microsoft.com/office/powerpoint/2010/main" val="1944564539"/>
              </p:ext>
            </p:extLst>
          </p:nvPr>
        </p:nvGraphicFramePr>
        <p:xfrm>
          <a:off x="278969" y="309966"/>
          <a:ext cx="11701221" cy="19851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2CE5F597-971A-DF91-C6AD-25C3B4F6D60B}"/>
              </a:ext>
            </a:extLst>
          </p:cNvPr>
          <p:cNvSpPr txBox="1"/>
          <p:nvPr/>
        </p:nvSpPr>
        <p:spPr>
          <a:xfrm>
            <a:off x="418454" y="1999281"/>
            <a:ext cx="11494577" cy="1631216"/>
          </a:xfrm>
          <a:prstGeom prst="rect">
            <a:avLst/>
          </a:prstGeom>
          <a:noFill/>
        </p:spPr>
        <p:txBody>
          <a:bodyPr wrap="square" rtlCol="0">
            <a:spAutoFit/>
          </a:bodyPr>
          <a:lstStyle/>
          <a:p>
            <a:pPr marL="742950" marR="0" lvl="1" indent="-285750" algn="just">
              <a:spcBef>
                <a:spcPts val="5"/>
              </a:spcBef>
              <a:buSzPts val="1100"/>
              <a:buFont typeface="Wingdings" panose="05000000000000000000" pitchFamily="2" charset="2"/>
              <a:buChar char=""/>
              <a:tabLst>
                <a:tab pos="1189355" algn="l"/>
              </a:tabLst>
            </a:pPr>
            <a:r>
              <a:rPr lang="en-US" sz="2000" b="1" dirty="0">
                <a:effectLst/>
                <a:ea typeface="Wingdings" panose="05000000000000000000" pitchFamily="2" charset="2"/>
                <a:cs typeface="Wingdings" panose="05000000000000000000" pitchFamily="2" charset="2"/>
              </a:rPr>
              <a:t>entity</a:t>
            </a:r>
            <a:r>
              <a:rPr lang="en-US" sz="2000" b="1" spc="-10"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type</a:t>
            </a:r>
            <a:r>
              <a:rPr lang="en-US" sz="2000" b="1"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defines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collection</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(or</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set)</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entities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that</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have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same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attributes</a:t>
            </a:r>
          </a:p>
          <a:p>
            <a:pPr marL="742950" marR="0" lvl="1" indent="-285750" algn="just">
              <a:buSzPts val="1100"/>
              <a:buFont typeface="Wingdings" panose="05000000000000000000" pitchFamily="2" charset="2"/>
              <a:buChar char=""/>
              <a:tabLst>
                <a:tab pos="1189355" algn="l"/>
              </a:tabLst>
            </a:pPr>
            <a:r>
              <a:rPr lang="en-US" sz="2000" dirty="0">
                <a:effectLst/>
                <a:ea typeface="Wingdings" panose="05000000000000000000" pitchFamily="2" charset="2"/>
                <a:cs typeface="Wingdings" panose="05000000000000000000" pitchFamily="2" charset="2"/>
              </a:rPr>
              <a:t>each</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type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in</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database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described</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by</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its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name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and</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attributes</a:t>
            </a:r>
          </a:p>
          <a:p>
            <a:pPr marL="742950" marR="372745" lvl="1" indent="-285750" algn="just">
              <a:spcBef>
                <a:spcPts val="5"/>
              </a:spcBef>
              <a:buSzPts val="1100"/>
              <a:buFont typeface="Wingdings" panose="05000000000000000000" pitchFamily="2" charset="2"/>
              <a:buChar char=""/>
              <a:tabLst>
                <a:tab pos="1189355" algn="l"/>
              </a:tabLst>
            </a:pPr>
            <a:r>
              <a:rPr lang="en-US" sz="2000" dirty="0">
                <a:effectLst/>
                <a:ea typeface="Wingdings" panose="05000000000000000000" pitchFamily="2" charset="2"/>
                <a:cs typeface="Wingdings" panose="05000000000000000000" pitchFamily="2" charset="2"/>
              </a:rPr>
              <a:t>below</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figure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shows</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two</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types:</a:t>
            </a:r>
            <a:r>
              <a:rPr lang="en-US" sz="2000" spc="-15"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EMPLOYEE </a:t>
            </a:r>
            <a:r>
              <a:rPr lang="en-US" sz="2000" dirty="0">
                <a:effectLst/>
                <a:ea typeface="Wingdings" panose="05000000000000000000" pitchFamily="2" charset="2"/>
                <a:cs typeface="Wingdings" panose="05000000000000000000" pitchFamily="2" charset="2"/>
              </a:rPr>
              <a:t>and</a:t>
            </a:r>
            <a:r>
              <a:rPr lang="en-US" sz="2000" spc="-20"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COMPANY</a:t>
            </a:r>
            <a:r>
              <a:rPr lang="en-US" sz="2000" dirty="0">
                <a:effectLst/>
                <a:ea typeface="Wingdings" panose="05000000000000000000" pitchFamily="2" charset="2"/>
                <a:cs typeface="Wingdings" panose="05000000000000000000" pitchFamily="2" charset="2"/>
              </a:rPr>
              <a:t>,</a:t>
            </a:r>
            <a:r>
              <a:rPr lang="en-US" sz="2000" spc="-3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and</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list</a:t>
            </a:r>
            <a:r>
              <a:rPr lang="en-US" sz="2000" spc="-2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some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attributes</a:t>
            </a:r>
            <a:r>
              <a:rPr lang="en-US" sz="2000" spc="-23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for</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each</a:t>
            </a:r>
          </a:p>
          <a:p>
            <a:endParaRPr lang="en-US" sz="2000" dirty="0"/>
          </a:p>
        </p:txBody>
      </p:sp>
      <p:pic>
        <p:nvPicPr>
          <p:cNvPr id="6" name="Picture 5">
            <a:extLst>
              <a:ext uri="{FF2B5EF4-FFF2-40B4-BE49-F238E27FC236}">
                <a16:creationId xmlns:a16="http://schemas.microsoft.com/office/drawing/2014/main" id="{5CAD117B-EEEB-5F3E-5679-81E85EB99EC0}"/>
              </a:ext>
            </a:extLst>
          </p:cNvPr>
          <p:cNvPicPr>
            <a:picLocks noChangeAspect="1"/>
          </p:cNvPicPr>
          <p:nvPr/>
        </p:nvPicPr>
        <p:blipFill>
          <a:blip r:embed="rId7"/>
          <a:stretch>
            <a:fillRect/>
          </a:stretch>
        </p:blipFill>
        <p:spPr>
          <a:xfrm>
            <a:off x="2857500" y="3429000"/>
            <a:ext cx="6477000" cy="3095625"/>
          </a:xfrm>
          <a:prstGeom prst="rect">
            <a:avLst/>
          </a:prstGeom>
        </p:spPr>
      </p:pic>
    </p:spTree>
    <p:extLst>
      <p:ext uri="{BB962C8B-B14F-4D97-AF65-F5344CB8AC3E}">
        <p14:creationId xmlns:p14="http://schemas.microsoft.com/office/powerpoint/2010/main" val="37737652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71676A-E36E-9E2C-2A75-BE4D3390130E}"/>
              </a:ext>
            </a:extLst>
          </p:cNvPr>
          <p:cNvSpPr txBox="1"/>
          <p:nvPr/>
        </p:nvSpPr>
        <p:spPr>
          <a:xfrm>
            <a:off x="263471" y="278969"/>
            <a:ext cx="11608231" cy="3170099"/>
          </a:xfrm>
          <a:prstGeom prst="rect">
            <a:avLst/>
          </a:prstGeom>
          <a:noFill/>
        </p:spPr>
        <p:txBody>
          <a:bodyPr wrap="square" rtlCol="0">
            <a:spAutoFit/>
          </a:bodyPr>
          <a:lstStyle/>
          <a:p>
            <a:pPr marL="742950" marR="0" lvl="1" indent="-285750" algn="just">
              <a:buSzPts val="1100"/>
              <a:buFont typeface="Wingdings" panose="05000000000000000000" pitchFamily="2" charset="2"/>
              <a:buChar char=""/>
              <a:tabLst>
                <a:tab pos="1235075" algn="l"/>
              </a:tabLst>
            </a:pPr>
            <a:r>
              <a:rPr lang="en-US" sz="2000" dirty="0">
                <a:effectLst/>
                <a:ea typeface="Wingdings" panose="05000000000000000000" pitchFamily="2" charset="2"/>
                <a:cs typeface="Wingdings" panose="05000000000000000000" pitchFamily="2" charset="2"/>
              </a:rPr>
              <a:t>The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collection</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all entities</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particular</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type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in</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database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point in</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time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called</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a:t>
            </a:r>
          </a:p>
          <a:p>
            <a:pPr marL="1234440" marR="0" algn="just">
              <a:buNone/>
            </a:pPr>
            <a:r>
              <a:rPr lang="en-US" sz="2000" b="1" dirty="0">
                <a:effectLst/>
                <a:ea typeface="Calibri" panose="020F0502020204030204" pitchFamily="34" charset="0"/>
              </a:rPr>
              <a:t>entity</a:t>
            </a:r>
            <a:r>
              <a:rPr lang="en-US" sz="2000" b="1" spc="-15" dirty="0">
                <a:effectLst/>
                <a:ea typeface="Calibri" panose="020F0502020204030204" pitchFamily="34" charset="0"/>
              </a:rPr>
              <a:t> </a:t>
            </a:r>
            <a:r>
              <a:rPr lang="en-US" sz="2000" b="1" dirty="0">
                <a:effectLst/>
                <a:ea typeface="Calibri" panose="020F0502020204030204" pitchFamily="34" charset="0"/>
              </a:rPr>
              <a:t>set</a:t>
            </a:r>
            <a:r>
              <a:rPr lang="en-US" sz="2000" b="1" spc="-20" dirty="0">
                <a:effectLst/>
                <a:ea typeface="Calibri" panose="020F0502020204030204" pitchFamily="34" charset="0"/>
              </a:rPr>
              <a:t> </a:t>
            </a:r>
            <a:r>
              <a:rPr lang="en-US" sz="2000" b="1" dirty="0">
                <a:effectLst/>
                <a:ea typeface="Calibri" panose="020F0502020204030204" pitchFamily="34" charset="0"/>
              </a:rPr>
              <a:t>or</a:t>
            </a:r>
            <a:r>
              <a:rPr lang="en-US" sz="2000" b="1" spc="-25" dirty="0">
                <a:effectLst/>
                <a:ea typeface="Calibri" panose="020F0502020204030204" pitchFamily="34" charset="0"/>
              </a:rPr>
              <a:t> </a:t>
            </a:r>
            <a:r>
              <a:rPr lang="en-US" sz="2000" b="1" dirty="0">
                <a:effectLst/>
                <a:ea typeface="Calibri" panose="020F0502020204030204" pitchFamily="34" charset="0"/>
              </a:rPr>
              <a:t>entity</a:t>
            </a:r>
            <a:r>
              <a:rPr lang="en-US" sz="2000" b="1" spc="-15" dirty="0">
                <a:effectLst/>
                <a:ea typeface="Calibri" panose="020F0502020204030204" pitchFamily="34" charset="0"/>
              </a:rPr>
              <a:t> </a:t>
            </a:r>
            <a:r>
              <a:rPr lang="en-US" sz="2000" b="1" dirty="0">
                <a:effectLst/>
                <a:ea typeface="Calibri" panose="020F0502020204030204" pitchFamily="34" charset="0"/>
              </a:rPr>
              <a:t>collection</a:t>
            </a:r>
          </a:p>
          <a:p>
            <a:pPr marL="742950" marR="0" lvl="1" indent="-285750" algn="just">
              <a:spcBef>
                <a:spcPts val="5"/>
              </a:spcBef>
              <a:buSzPts val="1100"/>
              <a:buFont typeface="Wingdings" panose="05000000000000000000" pitchFamily="2" charset="2"/>
              <a:buChar char=""/>
              <a:tabLst>
                <a:tab pos="1235075" algn="l"/>
              </a:tabLst>
            </a:pPr>
            <a:r>
              <a:rPr lang="en-US" sz="2000" dirty="0">
                <a:ea typeface="Wingdings" panose="05000000000000000000" pitchFamily="2" charset="2"/>
                <a:cs typeface="Wingdings" panose="05000000000000000000" pitchFamily="2" charset="2"/>
              </a:rPr>
              <a:t>E</a:t>
            </a:r>
            <a:r>
              <a:rPr lang="en-US" sz="2000" dirty="0">
                <a:effectLst/>
                <a:ea typeface="Wingdings" panose="05000000000000000000" pitchFamily="2" charset="2"/>
                <a:cs typeface="Wingdings" panose="05000000000000000000" pitchFamily="2" charset="2"/>
              </a:rPr>
              <a:t>ntity</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set</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is</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usually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referred</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to</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using</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same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name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type</a:t>
            </a:r>
          </a:p>
          <a:p>
            <a:pPr marL="742950" marR="0" lvl="1" indent="-285750" algn="just">
              <a:buSzPts val="1100"/>
              <a:buFont typeface="Wingdings" panose="05000000000000000000" pitchFamily="2" charset="2"/>
              <a:buChar char=""/>
              <a:tabLst>
                <a:tab pos="1235075" algn="l"/>
              </a:tabLst>
            </a:pPr>
            <a:r>
              <a:rPr lang="en-US" sz="2000" dirty="0">
                <a:effectLst/>
                <a:ea typeface="Wingdings" panose="05000000000000000000" pitchFamily="2" charset="2"/>
                <a:cs typeface="Wingdings" panose="05000000000000000000" pitchFamily="2" charset="2"/>
              </a:rPr>
              <a:t>An</a:t>
            </a:r>
            <a:r>
              <a:rPr lang="en-US" sz="2000" spc="-15"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entity type </a:t>
            </a:r>
            <a:r>
              <a:rPr lang="en-US" sz="2000" dirty="0">
                <a:effectLst/>
                <a:ea typeface="Wingdings" panose="05000000000000000000" pitchFamily="2" charset="2"/>
                <a:cs typeface="Wingdings" panose="05000000000000000000" pitchFamily="2" charset="2"/>
              </a:rPr>
              <a:t>is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represented</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in</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ER</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diagrams</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as</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a:t>
            </a:r>
            <a:r>
              <a:rPr lang="en-US" sz="2000" spc="-5"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rectangular</a:t>
            </a:r>
            <a:r>
              <a:rPr lang="en-US" sz="2000" b="1" spc="-15"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box</a:t>
            </a:r>
            <a:endParaRPr lang="en-US" sz="2000" dirty="0">
              <a:effectLst/>
              <a:ea typeface="Wingdings" panose="05000000000000000000" pitchFamily="2" charset="2"/>
              <a:cs typeface="Wingdings" panose="05000000000000000000" pitchFamily="2" charset="2"/>
            </a:endParaRPr>
          </a:p>
          <a:p>
            <a:pPr marL="742950" marR="0" lvl="1" indent="-285750" algn="just">
              <a:buSzPts val="1100"/>
              <a:buFont typeface="Wingdings" panose="05000000000000000000" pitchFamily="2" charset="2"/>
              <a:buChar char=""/>
              <a:tabLst>
                <a:tab pos="1235075" algn="l"/>
              </a:tabLst>
            </a:pPr>
            <a:r>
              <a:rPr lang="en-US" sz="2000" b="1" dirty="0">
                <a:effectLst/>
                <a:ea typeface="Wingdings" panose="05000000000000000000" pitchFamily="2" charset="2"/>
                <a:cs typeface="Wingdings" panose="05000000000000000000" pitchFamily="2" charset="2"/>
              </a:rPr>
              <a:t>Attribute</a:t>
            </a:r>
            <a:r>
              <a:rPr lang="en-US" sz="2000" b="1" spc="-20"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names</a:t>
            </a:r>
            <a:r>
              <a:rPr lang="en-US" sz="2000" b="1"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are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enclosed</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in</a:t>
            </a:r>
            <a:r>
              <a:rPr lang="en-US" sz="2000" spc="-15"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ovals</a:t>
            </a:r>
            <a:r>
              <a:rPr lang="en-US" sz="2000" b="1"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and</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are</a:t>
            </a:r>
            <a:r>
              <a:rPr lang="en-US" sz="2000" spc="-10"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attached</a:t>
            </a:r>
            <a:r>
              <a:rPr lang="en-US" sz="2000" b="1"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to</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their</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type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by </a:t>
            </a:r>
            <a:r>
              <a:rPr lang="en-US" sz="2000" b="1" dirty="0">
                <a:effectLst/>
                <a:ea typeface="Wingdings" panose="05000000000000000000" pitchFamily="2" charset="2"/>
                <a:cs typeface="Wingdings" panose="05000000000000000000" pitchFamily="2" charset="2"/>
              </a:rPr>
              <a:t>straight</a:t>
            </a:r>
            <a:r>
              <a:rPr lang="en-US" sz="2000" b="1" spc="-15"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lines</a:t>
            </a:r>
            <a:endParaRPr lang="en-US" sz="2000" dirty="0">
              <a:effectLst/>
              <a:ea typeface="Wingdings" panose="05000000000000000000" pitchFamily="2" charset="2"/>
              <a:cs typeface="Wingdings" panose="05000000000000000000" pitchFamily="2" charset="2"/>
            </a:endParaRPr>
          </a:p>
          <a:p>
            <a:pPr marL="742950" marR="0" lvl="1" indent="-285750" algn="just">
              <a:spcBef>
                <a:spcPts val="5"/>
              </a:spcBef>
              <a:buSzPts val="1100"/>
              <a:buFont typeface="Wingdings" panose="05000000000000000000" pitchFamily="2" charset="2"/>
              <a:buChar char=""/>
              <a:tabLst>
                <a:tab pos="1235075" algn="l"/>
              </a:tabLst>
            </a:pPr>
            <a:r>
              <a:rPr lang="en-US" sz="2000" b="1" dirty="0">
                <a:effectLst/>
                <a:ea typeface="Wingdings" panose="05000000000000000000" pitchFamily="2" charset="2"/>
                <a:cs typeface="Wingdings" panose="05000000000000000000" pitchFamily="2" charset="2"/>
              </a:rPr>
              <a:t>Composite</a:t>
            </a:r>
            <a:r>
              <a:rPr lang="en-US" sz="2000" b="1" spc="-25"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attributes</a:t>
            </a:r>
            <a:r>
              <a:rPr lang="en-US" sz="2000" b="1"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are</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attached to</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their</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component</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attributes</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by</a:t>
            </a:r>
            <a:r>
              <a:rPr lang="en-US" sz="2000" spc="20"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straight</a:t>
            </a:r>
            <a:r>
              <a:rPr lang="en-US" sz="2000" b="1" spc="-20"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lines</a:t>
            </a:r>
            <a:endParaRPr lang="en-US" sz="2000" dirty="0">
              <a:effectLst/>
              <a:ea typeface="Wingdings" panose="05000000000000000000" pitchFamily="2" charset="2"/>
              <a:cs typeface="Wingdings" panose="05000000000000000000" pitchFamily="2" charset="2"/>
            </a:endParaRPr>
          </a:p>
          <a:p>
            <a:pPr marL="742950" marR="0" lvl="1" indent="-285750" algn="just">
              <a:buSzPts val="1100"/>
              <a:buFont typeface="Wingdings" panose="05000000000000000000" pitchFamily="2" charset="2"/>
              <a:buChar char=""/>
              <a:tabLst>
                <a:tab pos="1235075" algn="l"/>
              </a:tabLst>
            </a:pPr>
            <a:r>
              <a:rPr lang="en-US" sz="2000" b="1" dirty="0">
                <a:effectLst/>
                <a:ea typeface="Wingdings" panose="05000000000000000000" pitchFamily="2" charset="2"/>
                <a:cs typeface="Wingdings" panose="05000000000000000000" pitchFamily="2" charset="2"/>
              </a:rPr>
              <a:t>Multivalued</a:t>
            </a:r>
            <a:r>
              <a:rPr lang="en-US" sz="2000" b="1" spc="-10"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attributes</a:t>
            </a:r>
            <a:r>
              <a:rPr lang="en-US" sz="2000" b="1"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are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displayed</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in</a:t>
            </a:r>
            <a:r>
              <a:rPr lang="en-US" sz="2000" spc="-10"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double</a:t>
            </a:r>
            <a:r>
              <a:rPr lang="en-US" sz="2000" b="1" spc="-15"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ovals</a:t>
            </a:r>
            <a:endParaRPr lang="en-US" sz="2000" dirty="0">
              <a:effectLst/>
              <a:ea typeface="Wingdings" panose="05000000000000000000" pitchFamily="2" charset="2"/>
              <a:cs typeface="Wingdings" panose="05000000000000000000" pitchFamily="2" charset="2"/>
            </a:endParaRPr>
          </a:p>
          <a:p>
            <a:pPr marL="800100" lvl="1" indent="-342900">
              <a:buFont typeface="Wingdings" panose="05000000000000000000" pitchFamily="2" charset="2"/>
              <a:buChar char="ü"/>
            </a:pPr>
            <a:r>
              <a:rPr lang="en-US" sz="2000" dirty="0">
                <a:ea typeface="Calibri" panose="020F0502020204030204" pitchFamily="34" charset="0"/>
              </a:rPr>
              <a:t>C</a:t>
            </a:r>
            <a:r>
              <a:rPr lang="en-US" sz="2000" dirty="0">
                <a:effectLst/>
                <a:ea typeface="Calibri" panose="020F0502020204030204" pitchFamily="34" charset="0"/>
              </a:rPr>
              <a:t>ollection</a:t>
            </a:r>
            <a:r>
              <a:rPr lang="en-US" sz="2000" spc="-2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entities</a:t>
            </a:r>
            <a:r>
              <a:rPr lang="en-US" sz="2000" spc="-5"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particular</a:t>
            </a:r>
            <a:r>
              <a:rPr lang="en-US" sz="2000" spc="-15"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type</a:t>
            </a:r>
            <a:r>
              <a:rPr lang="en-US" sz="2000" spc="-10"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grouped</a:t>
            </a:r>
            <a:r>
              <a:rPr lang="en-US" sz="2000" spc="-15" dirty="0">
                <a:effectLst/>
                <a:ea typeface="Calibri" panose="020F0502020204030204" pitchFamily="34" charset="0"/>
              </a:rPr>
              <a:t> </a:t>
            </a:r>
            <a:r>
              <a:rPr lang="en-US" sz="2000" dirty="0">
                <a:effectLst/>
                <a:ea typeface="Calibri" panose="020F0502020204030204" pitchFamily="34" charset="0"/>
              </a:rPr>
              <a:t>into</a:t>
            </a:r>
            <a:r>
              <a:rPr lang="en-US" sz="2000" spc="-15" dirty="0">
                <a:effectLst/>
                <a:ea typeface="Calibri" panose="020F0502020204030204" pitchFamily="34" charset="0"/>
              </a:rPr>
              <a:t> </a:t>
            </a:r>
            <a:r>
              <a:rPr lang="en-US" sz="2000" dirty="0">
                <a:effectLst/>
                <a:ea typeface="Calibri" panose="020F0502020204030204" pitchFamily="34" charset="0"/>
              </a:rPr>
              <a:t>an</a:t>
            </a:r>
            <a:r>
              <a:rPr lang="en-US" sz="2000" spc="-15"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set,</a:t>
            </a:r>
            <a:r>
              <a:rPr lang="en-US" sz="2000" spc="-25" dirty="0">
                <a:effectLst/>
                <a:ea typeface="Calibri" panose="020F0502020204030204" pitchFamily="34" charset="0"/>
              </a:rPr>
              <a:t> </a:t>
            </a:r>
            <a:r>
              <a:rPr lang="en-US" sz="2000" dirty="0">
                <a:effectLst/>
                <a:ea typeface="Calibri" panose="020F0502020204030204" pitchFamily="34" charset="0"/>
              </a:rPr>
              <a:t>which</a:t>
            </a:r>
            <a:r>
              <a:rPr lang="en-US" sz="2000" spc="-15"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also</a:t>
            </a:r>
            <a:r>
              <a:rPr lang="en-US" sz="2000" spc="-15" dirty="0">
                <a:effectLst/>
                <a:ea typeface="Calibri" panose="020F0502020204030204" pitchFamily="34" charset="0"/>
              </a:rPr>
              <a:t> </a:t>
            </a:r>
            <a:r>
              <a:rPr lang="en-US" sz="2000" dirty="0">
                <a:effectLst/>
                <a:ea typeface="Calibri" panose="020F0502020204030204" pitchFamily="34" charset="0"/>
              </a:rPr>
              <a:t>called</a:t>
            </a:r>
            <a:r>
              <a:rPr lang="en-US" sz="2000" spc="-10" dirty="0">
                <a:effectLst/>
                <a:ea typeface="Calibri" panose="020F0502020204030204" pitchFamily="34" charset="0"/>
              </a:rPr>
              <a:t> </a:t>
            </a:r>
            <a:r>
              <a:rPr lang="en-US" sz="2000" dirty="0">
                <a:effectLst/>
                <a:ea typeface="Calibri" panose="020F0502020204030204" pitchFamily="34" charset="0"/>
              </a:rPr>
              <a:t>the </a:t>
            </a:r>
            <a:r>
              <a:rPr lang="en-US" sz="2000" b="1" i="0" u="none" strike="noStrike" baseline="0" dirty="0"/>
              <a:t>extension </a:t>
            </a:r>
            <a:r>
              <a:rPr lang="en-US" sz="2000" b="0" i="0" u="none" strike="noStrike" baseline="0" dirty="0"/>
              <a:t>of the entity type</a:t>
            </a:r>
          </a:p>
          <a:p>
            <a:pPr lvl="1"/>
            <a:endParaRPr lang="en-US" sz="2000" dirty="0"/>
          </a:p>
        </p:txBody>
      </p:sp>
      <p:pic>
        <p:nvPicPr>
          <p:cNvPr id="4" name="Picture 3">
            <a:extLst>
              <a:ext uri="{FF2B5EF4-FFF2-40B4-BE49-F238E27FC236}">
                <a16:creationId xmlns:a16="http://schemas.microsoft.com/office/drawing/2014/main" id="{085A012D-113B-ED79-168B-27A9F9DC767F}"/>
              </a:ext>
            </a:extLst>
          </p:cNvPr>
          <p:cNvPicPr>
            <a:picLocks noChangeAspect="1"/>
          </p:cNvPicPr>
          <p:nvPr/>
        </p:nvPicPr>
        <p:blipFill>
          <a:blip r:embed="rId2"/>
          <a:stretch>
            <a:fillRect/>
          </a:stretch>
        </p:blipFill>
        <p:spPr>
          <a:xfrm>
            <a:off x="3328898" y="3247590"/>
            <a:ext cx="4717951" cy="2827746"/>
          </a:xfrm>
          <a:prstGeom prst="rect">
            <a:avLst/>
          </a:prstGeom>
        </p:spPr>
      </p:pic>
    </p:spTree>
    <p:extLst>
      <p:ext uri="{BB962C8B-B14F-4D97-AF65-F5344CB8AC3E}">
        <p14:creationId xmlns:p14="http://schemas.microsoft.com/office/powerpoint/2010/main" val="20614916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249049-D63A-F350-24D0-8E41EAC7608E}"/>
              </a:ext>
            </a:extLst>
          </p:cNvPr>
          <p:cNvSpPr txBox="1"/>
          <p:nvPr/>
        </p:nvSpPr>
        <p:spPr>
          <a:xfrm>
            <a:off x="201478" y="216976"/>
            <a:ext cx="11732217" cy="5909310"/>
          </a:xfrm>
          <a:prstGeom prst="rect">
            <a:avLst/>
          </a:prstGeom>
          <a:noFill/>
        </p:spPr>
        <p:txBody>
          <a:bodyPr wrap="square" rtlCol="0">
            <a:spAutoFit/>
          </a:bodyPr>
          <a:lstStyle/>
          <a:p>
            <a:pPr marL="736600" marR="0" indent="-628650" algn="just">
              <a:buNone/>
            </a:pPr>
            <a:r>
              <a:rPr lang="en-US" sz="2000" b="1" dirty="0">
                <a:effectLst/>
                <a:ea typeface="Calibri" panose="020F0502020204030204" pitchFamily="34" charset="0"/>
              </a:rPr>
              <a:t>Key</a:t>
            </a:r>
            <a:r>
              <a:rPr lang="en-US" sz="2000" b="1" spc="-10" dirty="0">
                <a:effectLst/>
                <a:ea typeface="Calibri" panose="020F0502020204030204" pitchFamily="34" charset="0"/>
              </a:rPr>
              <a:t> </a:t>
            </a:r>
            <a:r>
              <a:rPr lang="en-US" sz="2000" b="1" dirty="0">
                <a:effectLst/>
                <a:ea typeface="Calibri" panose="020F0502020204030204" pitchFamily="34" charset="0"/>
              </a:rPr>
              <a:t>Attributes</a:t>
            </a:r>
            <a:r>
              <a:rPr lang="en-US" sz="2000" b="1" spc="-15" dirty="0">
                <a:effectLst/>
                <a:ea typeface="Calibri" panose="020F0502020204030204" pitchFamily="34" charset="0"/>
              </a:rPr>
              <a:t> </a:t>
            </a:r>
            <a:r>
              <a:rPr lang="en-US" sz="2000" b="1" dirty="0">
                <a:effectLst/>
                <a:ea typeface="Calibri" panose="020F0502020204030204" pitchFamily="34" charset="0"/>
              </a:rPr>
              <a:t>of an Entity</a:t>
            </a:r>
            <a:r>
              <a:rPr lang="en-US" sz="2000" b="1" spc="-5" dirty="0">
                <a:effectLst/>
                <a:ea typeface="Calibri" panose="020F0502020204030204" pitchFamily="34" charset="0"/>
              </a:rPr>
              <a:t> </a:t>
            </a:r>
            <a:r>
              <a:rPr lang="en-US" sz="2000" b="1" dirty="0">
                <a:effectLst/>
                <a:ea typeface="Calibri" panose="020F0502020204030204" pitchFamily="34" charset="0"/>
              </a:rPr>
              <a:t>Type</a:t>
            </a:r>
            <a:endParaRPr lang="en-US" sz="2000" dirty="0">
              <a:effectLst/>
              <a:ea typeface="Calibri" panose="020F0502020204030204" pitchFamily="34" charset="0"/>
            </a:endParaRPr>
          </a:p>
          <a:p>
            <a:pPr marL="736600" marR="223520" lvl="2" indent="-628650" algn="just">
              <a:spcBef>
                <a:spcPts val="5"/>
              </a:spcBef>
              <a:buSzPts val="1100"/>
              <a:buFont typeface="Wingdings" panose="05000000000000000000" pitchFamily="2" charset="2"/>
              <a:buChar char=""/>
              <a:tabLst>
                <a:tab pos="1292860" algn="l"/>
              </a:tabLst>
            </a:pPr>
            <a:r>
              <a:rPr lang="en-US" sz="2000" dirty="0">
                <a:ea typeface="Wingdings" panose="05000000000000000000" pitchFamily="2" charset="2"/>
                <a:cs typeface="Wingdings" panose="05000000000000000000" pitchFamily="2" charset="2"/>
              </a:rPr>
              <a:t>I</a:t>
            </a:r>
            <a:r>
              <a:rPr lang="en-US" sz="2000">
                <a:effectLst/>
                <a:ea typeface="Wingdings" panose="05000000000000000000" pitchFamily="2" charset="2"/>
                <a:cs typeface="Wingdings" panose="05000000000000000000" pitchFamily="2" charset="2"/>
              </a:rPr>
              <a:t>mportant</a:t>
            </a:r>
            <a:r>
              <a:rPr lang="en-US" sz="2000" spc="5">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constraint</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on</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entities</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type</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is</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5"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key</a:t>
            </a:r>
            <a:r>
              <a:rPr lang="en-US" sz="2000" b="1" spc="5"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or</a:t>
            </a:r>
            <a:r>
              <a:rPr lang="en-US" sz="2000" b="1" spc="5"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uniqueness</a:t>
            </a:r>
            <a:r>
              <a:rPr lang="en-US" sz="2000" b="1" spc="5"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constraint</a:t>
            </a:r>
            <a:r>
              <a:rPr lang="en-US" sz="2000" b="1"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on</a:t>
            </a:r>
            <a:r>
              <a:rPr lang="en-US" sz="2000" spc="-23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attributes</a:t>
            </a:r>
          </a:p>
          <a:p>
            <a:pPr marL="736600" marR="247015" lvl="2" indent="-628650" algn="just">
              <a:buSzPts val="1100"/>
              <a:buFont typeface="Wingdings" panose="05000000000000000000" pitchFamily="2" charset="2"/>
              <a:buChar char=""/>
              <a:tabLst>
                <a:tab pos="1292860" algn="l"/>
              </a:tabLst>
            </a:pPr>
            <a:r>
              <a:rPr lang="en-US" sz="2000" dirty="0">
                <a:effectLst/>
                <a:ea typeface="Wingdings" panose="05000000000000000000" pitchFamily="2" charset="2"/>
                <a:cs typeface="Wingdings" panose="05000000000000000000" pitchFamily="2" charset="2"/>
              </a:rPr>
              <a:t>An</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type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usually</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has</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one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or</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more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whose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values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are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distinct</a:t>
            </a:r>
            <a:r>
              <a:rPr lang="en-US" sz="2000" spc="-2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for</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each</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individual</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23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in the entity set. Such an attribute is called a </a:t>
            </a:r>
            <a:r>
              <a:rPr lang="en-US" sz="2000" b="1" dirty="0">
                <a:effectLst/>
                <a:ea typeface="Wingdings" panose="05000000000000000000" pitchFamily="2" charset="2"/>
                <a:cs typeface="Wingdings" panose="05000000000000000000" pitchFamily="2" charset="2"/>
              </a:rPr>
              <a:t>key attribute</a:t>
            </a:r>
            <a:r>
              <a:rPr lang="en-US" sz="2000" dirty="0">
                <a:effectLst/>
                <a:ea typeface="Wingdings" panose="05000000000000000000" pitchFamily="2" charset="2"/>
                <a:cs typeface="Wingdings" panose="05000000000000000000" pitchFamily="2" charset="2"/>
              </a:rPr>
              <a:t>, and its values can be used to identify</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each</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uniquely</a:t>
            </a:r>
          </a:p>
          <a:p>
            <a:pPr marL="736600" marR="384810" lvl="2" indent="-628650" algn="just">
              <a:buSzPts val="1100"/>
              <a:buFont typeface="Wingdings" panose="05000000000000000000" pitchFamily="2" charset="2"/>
              <a:buChar char=""/>
              <a:tabLst>
                <a:tab pos="1283335" algn="l"/>
              </a:tabLst>
            </a:pPr>
            <a:r>
              <a:rPr lang="en-US" sz="2000" dirty="0">
                <a:effectLst/>
                <a:ea typeface="Wingdings" panose="05000000000000000000" pitchFamily="2" charset="2"/>
                <a:cs typeface="Wingdings" panose="05000000000000000000" pitchFamily="2" charset="2"/>
              </a:rPr>
              <a:t>For</a:t>
            </a:r>
            <a:r>
              <a:rPr lang="en-US" sz="2000" spc="-15" dirty="0">
                <a:effectLst/>
                <a:ea typeface="Wingdings" panose="05000000000000000000" pitchFamily="2" charset="2"/>
                <a:cs typeface="Wingdings" panose="05000000000000000000" pitchFamily="2" charset="2"/>
              </a:rPr>
              <a:t> </a:t>
            </a:r>
            <a:r>
              <a:rPr lang="en-US" sz="2000" dirty="0" err="1">
                <a:effectLst/>
                <a:ea typeface="Wingdings" panose="05000000000000000000" pitchFamily="2" charset="2"/>
                <a:cs typeface="Wingdings" panose="05000000000000000000" pitchFamily="2" charset="2"/>
              </a:rPr>
              <a:t>eg</a:t>
            </a:r>
            <a:r>
              <a:rPr lang="en-US" sz="2000" dirty="0">
                <a:effectLst/>
                <a:ea typeface="Wingdings" panose="05000000000000000000" pitchFamily="2" charset="2"/>
                <a:cs typeface="Wingdings" panose="05000000000000000000" pitchFamily="2" charset="2"/>
              </a:rPr>
              <a:t>,</a:t>
            </a:r>
            <a:r>
              <a:rPr lang="en-US" sz="2000" spc="-3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0"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Name</a:t>
            </a:r>
            <a:r>
              <a:rPr lang="en-US" sz="2000" b="1"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is</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key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20" dirty="0">
                <a:effectLst/>
                <a:ea typeface="Wingdings" panose="05000000000000000000" pitchFamily="2" charset="2"/>
                <a:cs typeface="Wingdings" panose="05000000000000000000" pitchFamily="2" charset="2"/>
              </a:rPr>
              <a:t> </a:t>
            </a:r>
            <a:r>
              <a:rPr lang="en-US" sz="2000" b="1" dirty="0">
                <a:effectLst/>
                <a:ea typeface="Wingdings" panose="05000000000000000000" pitchFamily="2" charset="2"/>
                <a:cs typeface="Wingdings" panose="05000000000000000000" pitchFamily="2" charset="2"/>
              </a:rPr>
              <a:t>COMPANY</a:t>
            </a:r>
            <a:r>
              <a:rPr lang="en-US" sz="2000" b="1"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type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in</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because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no two</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companies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are</a:t>
            </a:r>
            <a:r>
              <a:rPr lang="en-US" sz="2000" spc="-23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allowed</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to</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have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same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name</a:t>
            </a:r>
          </a:p>
          <a:p>
            <a:pPr marL="736600" marR="0" indent="-628650" algn="just">
              <a:buNone/>
            </a:pPr>
            <a:r>
              <a:rPr lang="en-US" sz="2000" dirty="0">
                <a:effectLst/>
                <a:ea typeface="Calibri" panose="020F0502020204030204" pitchFamily="34" charset="0"/>
              </a:rPr>
              <a:t>					For</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b="1" dirty="0">
                <a:effectLst/>
                <a:ea typeface="Calibri" panose="020F0502020204030204" pitchFamily="34" charset="0"/>
              </a:rPr>
              <a:t>PERSON</a:t>
            </a:r>
            <a:r>
              <a:rPr lang="en-US" sz="2000" b="1" spc="-20"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type,</a:t>
            </a:r>
            <a:r>
              <a:rPr lang="en-US" sz="2000" spc="-5"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typical</a:t>
            </a:r>
            <a:r>
              <a:rPr lang="en-US" sz="2000" spc="-5" dirty="0">
                <a:effectLst/>
                <a:ea typeface="Calibri" panose="020F0502020204030204" pitchFamily="34" charset="0"/>
              </a:rPr>
              <a:t> </a:t>
            </a:r>
            <a:r>
              <a:rPr lang="en-US" sz="2000" dirty="0">
                <a:effectLst/>
                <a:ea typeface="Calibri" panose="020F0502020204030204" pitchFamily="34" charset="0"/>
              </a:rPr>
              <a:t>key</a:t>
            </a:r>
            <a:r>
              <a:rPr lang="en-US" sz="2000" spc="-15" dirty="0">
                <a:effectLst/>
                <a:ea typeface="Calibri" panose="020F0502020204030204" pitchFamily="34" charset="0"/>
              </a:rPr>
              <a:t> </a:t>
            </a:r>
            <a:r>
              <a:rPr lang="en-US" sz="2000" dirty="0">
                <a:effectLst/>
                <a:ea typeface="Calibri" panose="020F0502020204030204" pitchFamily="34" charset="0"/>
              </a:rPr>
              <a:t>attribute</a:t>
            </a:r>
            <a:r>
              <a:rPr lang="en-US" sz="2000" spc="-10" dirty="0">
                <a:effectLst/>
                <a:ea typeface="Calibri" panose="020F0502020204030204" pitchFamily="34" charset="0"/>
              </a:rPr>
              <a:t> </a:t>
            </a:r>
            <a:r>
              <a:rPr lang="en-US" sz="2000" dirty="0">
                <a:effectLst/>
                <a:ea typeface="Calibri" panose="020F0502020204030204" pitchFamily="34" charset="0"/>
              </a:rPr>
              <a:t>is </a:t>
            </a:r>
            <a:r>
              <a:rPr lang="en-US" sz="2000" b="1" dirty="0" err="1">
                <a:effectLst/>
                <a:ea typeface="Calibri" panose="020F0502020204030204" pitchFamily="34" charset="0"/>
              </a:rPr>
              <a:t>Ssn</a:t>
            </a:r>
            <a:endParaRPr lang="en-US" sz="2000" dirty="0">
              <a:effectLst/>
              <a:ea typeface="Calibri" panose="020F0502020204030204" pitchFamily="34" charset="0"/>
            </a:endParaRPr>
          </a:p>
          <a:p>
            <a:pPr marL="736600" marR="231775" lvl="2" indent="-628650" algn="just">
              <a:buSzPts val="1100"/>
              <a:buFont typeface="Wingdings" panose="05000000000000000000" pitchFamily="2" charset="2"/>
              <a:buChar char=""/>
              <a:tabLst>
                <a:tab pos="1283335" algn="l"/>
              </a:tabLst>
            </a:pPr>
            <a:r>
              <a:rPr lang="en-US" sz="2000" dirty="0">
                <a:effectLst/>
                <a:ea typeface="Wingdings" panose="05000000000000000000" pitchFamily="2" charset="2"/>
                <a:cs typeface="Wingdings" panose="05000000000000000000" pitchFamily="2" charset="2"/>
              </a:rPr>
              <a:t>Specifying</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that an</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key</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3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type</a:t>
            </a:r>
            <a:r>
              <a:rPr lang="en-US" sz="2000" spc="4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means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that the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preceding</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uniqueness</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property</a:t>
            </a:r>
            <a:r>
              <a:rPr lang="en-US" sz="2000" spc="-23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must</a:t>
            </a:r>
            <a:r>
              <a:rPr lang="en-US" sz="2000" spc="-2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hold</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for</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every entity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set</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type</a:t>
            </a:r>
          </a:p>
          <a:p>
            <a:pPr marL="744538" marR="227965" lvl="2" indent="-633413" algn="just">
              <a:buSzPts val="1100"/>
              <a:buFont typeface="Wingdings" panose="05000000000000000000" pitchFamily="2" charset="2"/>
              <a:buChar char=""/>
              <a:tabLst>
                <a:tab pos="1283335" algn="l"/>
              </a:tabLst>
            </a:pPr>
            <a:r>
              <a:rPr lang="en-US" sz="2000" dirty="0">
                <a:effectLst/>
                <a:ea typeface="Calibri" panose="020F0502020204030204" pitchFamily="34" charset="0"/>
              </a:rPr>
              <a:t>Hence,</a:t>
            </a:r>
            <a:r>
              <a:rPr lang="en-US" sz="2000" spc="155" dirty="0">
                <a:effectLst/>
                <a:ea typeface="Calibri" panose="020F0502020204030204" pitchFamily="34" charset="0"/>
              </a:rPr>
              <a:t> </a:t>
            </a:r>
            <a:r>
              <a:rPr lang="en-US" sz="2000" dirty="0">
                <a:effectLst/>
                <a:ea typeface="Calibri" panose="020F0502020204030204" pitchFamily="34" charset="0"/>
              </a:rPr>
              <a:t>it</a:t>
            </a:r>
            <a:r>
              <a:rPr lang="en-US" sz="2000" spc="160" dirty="0">
                <a:effectLst/>
                <a:ea typeface="Calibri" panose="020F0502020204030204" pitchFamily="34" charset="0"/>
              </a:rPr>
              <a:t> </a:t>
            </a:r>
            <a:r>
              <a:rPr lang="en-US" sz="2000" dirty="0">
                <a:effectLst/>
                <a:ea typeface="Calibri" panose="020F0502020204030204" pitchFamily="34" charset="0"/>
              </a:rPr>
              <a:t>is</a:t>
            </a:r>
            <a:r>
              <a:rPr lang="en-US" sz="2000" spc="170" dirty="0">
                <a:effectLst/>
                <a:ea typeface="Calibri" panose="020F0502020204030204" pitchFamily="34" charset="0"/>
              </a:rPr>
              <a:t> </a:t>
            </a:r>
            <a:r>
              <a:rPr lang="en-US" sz="2000" dirty="0">
                <a:effectLst/>
                <a:ea typeface="Calibri" panose="020F0502020204030204" pitchFamily="34" charset="0"/>
              </a:rPr>
              <a:t>a</a:t>
            </a:r>
            <a:r>
              <a:rPr lang="en-US" sz="2000" spc="170" dirty="0">
                <a:effectLst/>
                <a:ea typeface="Calibri" panose="020F0502020204030204" pitchFamily="34" charset="0"/>
              </a:rPr>
              <a:t> </a:t>
            </a:r>
            <a:r>
              <a:rPr lang="en-US" sz="2000" dirty="0">
                <a:effectLst/>
                <a:ea typeface="Calibri" panose="020F0502020204030204" pitchFamily="34" charset="0"/>
              </a:rPr>
              <a:t>constraint</a:t>
            </a:r>
            <a:r>
              <a:rPr lang="en-US" sz="2000" spc="160" dirty="0">
                <a:effectLst/>
                <a:ea typeface="Calibri" panose="020F0502020204030204" pitchFamily="34" charset="0"/>
              </a:rPr>
              <a:t> </a:t>
            </a:r>
            <a:r>
              <a:rPr lang="en-US" sz="2000" dirty="0">
                <a:effectLst/>
                <a:ea typeface="Calibri" panose="020F0502020204030204" pitchFamily="34" charset="0"/>
              </a:rPr>
              <a:t>that</a:t>
            </a:r>
            <a:r>
              <a:rPr lang="en-US" sz="2000" spc="160" dirty="0">
                <a:effectLst/>
                <a:ea typeface="Calibri" panose="020F0502020204030204" pitchFamily="34" charset="0"/>
              </a:rPr>
              <a:t> </a:t>
            </a:r>
            <a:r>
              <a:rPr lang="en-US" sz="2000" dirty="0">
                <a:effectLst/>
                <a:ea typeface="Calibri" panose="020F0502020204030204" pitchFamily="34" charset="0"/>
              </a:rPr>
              <a:t>prohibits</a:t>
            </a:r>
            <a:r>
              <a:rPr lang="en-US" sz="2000" spc="165" dirty="0">
                <a:effectLst/>
                <a:ea typeface="Calibri" panose="020F0502020204030204" pitchFamily="34" charset="0"/>
              </a:rPr>
              <a:t> </a:t>
            </a:r>
            <a:r>
              <a:rPr lang="en-US" sz="2000" dirty="0">
                <a:effectLst/>
                <a:ea typeface="Calibri" panose="020F0502020204030204" pitchFamily="34" charset="0"/>
              </a:rPr>
              <a:t>any</a:t>
            </a:r>
            <a:r>
              <a:rPr lang="en-US" sz="2000" spc="175" dirty="0">
                <a:effectLst/>
                <a:ea typeface="Calibri" panose="020F0502020204030204" pitchFamily="34" charset="0"/>
              </a:rPr>
              <a:t> </a:t>
            </a:r>
            <a:r>
              <a:rPr lang="en-US" sz="2000" dirty="0">
                <a:effectLst/>
                <a:ea typeface="Calibri" panose="020F0502020204030204" pitchFamily="34" charset="0"/>
              </a:rPr>
              <a:t>two</a:t>
            </a:r>
            <a:r>
              <a:rPr lang="en-US" sz="2000" spc="170" dirty="0">
                <a:effectLst/>
                <a:ea typeface="Calibri" panose="020F0502020204030204" pitchFamily="34" charset="0"/>
              </a:rPr>
              <a:t> </a:t>
            </a:r>
            <a:r>
              <a:rPr lang="en-US" sz="2000" dirty="0">
                <a:effectLst/>
                <a:ea typeface="Calibri" panose="020F0502020204030204" pitchFamily="34" charset="0"/>
              </a:rPr>
              <a:t>entities</a:t>
            </a:r>
            <a:r>
              <a:rPr lang="en-US" sz="2000" spc="175" dirty="0">
                <a:effectLst/>
                <a:ea typeface="Calibri" panose="020F0502020204030204" pitchFamily="34" charset="0"/>
              </a:rPr>
              <a:t> </a:t>
            </a:r>
            <a:r>
              <a:rPr lang="en-US" sz="2000" dirty="0">
                <a:effectLst/>
                <a:ea typeface="Calibri" panose="020F0502020204030204" pitchFamily="34" charset="0"/>
              </a:rPr>
              <a:t>from</a:t>
            </a:r>
            <a:r>
              <a:rPr lang="en-US" sz="2000" spc="175" dirty="0">
                <a:effectLst/>
                <a:ea typeface="Calibri" panose="020F0502020204030204" pitchFamily="34" charset="0"/>
              </a:rPr>
              <a:t> </a:t>
            </a:r>
            <a:r>
              <a:rPr lang="en-US" sz="2000" dirty="0">
                <a:effectLst/>
                <a:ea typeface="Calibri" panose="020F0502020204030204" pitchFamily="34" charset="0"/>
              </a:rPr>
              <a:t>having</a:t>
            </a:r>
            <a:r>
              <a:rPr lang="en-US" sz="2000" spc="175" dirty="0">
                <a:effectLst/>
                <a:ea typeface="Calibri" panose="020F0502020204030204" pitchFamily="34" charset="0"/>
              </a:rPr>
              <a:t> </a:t>
            </a:r>
            <a:r>
              <a:rPr lang="en-US" sz="2000" dirty="0">
                <a:effectLst/>
                <a:ea typeface="Calibri" panose="020F0502020204030204" pitchFamily="34" charset="0"/>
              </a:rPr>
              <a:t>the</a:t>
            </a:r>
            <a:r>
              <a:rPr lang="en-US" sz="2000" spc="175" dirty="0">
                <a:effectLst/>
                <a:ea typeface="Calibri" panose="020F0502020204030204" pitchFamily="34" charset="0"/>
              </a:rPr>
              <a:t> </a:t>
            </a:r>
            <a:r>
              <a:rPr lang="en-US" sz="2000" dirty="0">
                <a:effectLst/>
                <a:ea typeface="Calibri" panose="020F0502020204030204" pitchFamily="34" charset="0"/>
              </a:rPr>
              <a:t>same</a:t>
            </a:r>
            <a:r>
              <a:rPr lang="en-US" sz="2000" spc="175" dirty="0">
                <a:effectLst/>
                <a:ea typeface="Calibri" panose="020F0502020204030204" pitchFamily="34" charset="0"/>
              </a:rPr>
              <a:t> </a:t>
            </a:r>
            <a:r>
              <a:rPr lang="en-US" sz="2000" dirty="0">
                <a:effectLst/>
                <a:ea typeface="Calibri" panose="020F0502020204030204" pitchFamily="34" charset="0"/>
              </a:rPr>
              <a:t>value</a:t>
            </a:r>
            <a:r>
              <a:rPr lang="en-US" sz="2000" spc="175" dirty="0">
                <a:effectLst/>
                <a:ea typeface="Calibri" panose="020F0502020204030204" pitchFamily="34" charset="0"/>
              </a:rPr>
              <a:t> </a:t>
            </a:r>
            <a:r>
              <a:rPr lang="en-US" sz="2000" dirty="0">
                <a:effectLst/>
                <a:ea typeface="Calibri" panose="020F0502020204030204" pitchFamily="34" charset="0"/>
              </a:rPr>
              <a:t>for </a:t>
            </a:r>
            <a:r>
              <a:rPr lang="en-US" sz="2000" dirty="0">
                <a:effectLst/>
                <a:ea typeface="Wingdings" panose="05000000000000000000" pitchFamily="2" charset="2"/>
                <a:cs typeface="Wingdings" panose="05000000000000000000" pitchFamily="2" charset="2"/>
              </a:rPr>
              <a:t>the</a:t>
            </a:r>
            <a:r>
              <a:rPr lang="en-US" sz="2000" spc="17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key</a:t>
            </a:r>
            <a:r>
              <a:rPr lang="en-US" sz="2000" spc="-23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 the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same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time.</a:t>
            </a:r>
          </a:p>
          <a:p>
            <a:pPr marL="744538" marR="0" lvl="2" indent="-574675" algn="just">
              <a:buSzPts val="1100"/>
              <a:buFont typeface="Wingdings" panose="05000000000000000000" pitchFamily="2" charset="2"/>
              <a:buChar char=""/>
              <a:tabLst>
                <a:tab pos="1283335" algn="l"/>
              </a:tabLst>
            </a:pPr>
            <a:r>
              <a:rPr lang="en-US" sz="2000" dirty="0">
                <a:effectLst/>
                <a:ea typeface="Wingdings" panose="05000000000000000000" pitchFamily="2" charset="2"/>
                <a:cs typeface="Wingdings" panose="05000000000000000000" pitchFamily="2" charset="2"/>
              </a:rPr>
              <a:t>Some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types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have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more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than</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one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key</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a:t>
            </a:r>
          </a:p>
          <a:p>
            <a:pPr marL="1026795" marR="0" algn="just">
              <a:spcBef>
                <a:spcPts val="20"/>
              </a:spcBef>
            </a:pPr>
            <a:r>
              <a:rPr lang="en-US" sz="2000" dirty="0">
                <a:effectLst/>
                <a:ea typeface="Calibri" panose="020F0502020204030204" pitchFamily="34" charset="0"/>
              </a:rPr>
              <a:t>For</a:t>
            </a:r>
            <a:r>
              <a:rPr lang="en-US" sz="2000" spc="-15" dirty="0">
                <a:effectLst/>
                <a:ea typeface="Calibri" panose="020F0502020204030204" pitchFamily="34" charset="0"/>
              </a:rPr>
              <a:t> </a:t>
            </a:r>
            <a:r>
              <a:rPr lang="en-US" sz="2000" dirty="0" err="1">
                <a:effectLst/>
                <a:ea typeface="Calibri" panose="020F0502020204030204" pitchFamily="34" charset="0"/>
              </a:rPr>
              <a:t>eg</a:t>
            </a:r>
            <a:r>
              <a:rPr lang="en-US" sz="2000" dirty="0">
                <a:effectLst/>
                <a:ea typeface="Calibri" panose="020F0502020204030204" pitchFamily="34" charset="0"/>
              </a:rPr>
              <a:t>,</a:t>
            </a:r>
            <a:r>
              <a:rPr lang="en-US" sz="2000" spc="-25" dirty="0">
                <a:effectLst/>
                <a:ea typeface="Calibri" panose="020F0502020204030204" pitchFamily="34" charset="0"/>
              </a:rPr>
              <a:t> </a:t>
            </a:r>
            <a:r>
              <a:rPr lang="en-US" sz="2000" dirty="0">
                <a:effectLst/>
                <a:ea typeface="Calibri" panose="020F0502020204030204" pitchFamily="34" charset="0"/>
              </a:rPr>
              <a:t>each</a:t>
            </a:r>
            <a:r>
              <a:rPr lang="en-US" sz="2000" spc="5"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err="1">
                <a:effectLst/>
                <a:ea typeface="Calibri" panose="020F0502020204030204" pitchFamily="34" charset="0"/>
              </a:rPr>
              <a:t>Vehicle_id</a:t>
            </a:r>
            <a:r>
              <a:rPr lang="en-US" sz="2000" spc="-15"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Registration</a:t>
            </a:r>
            <a:r>
              <a:rPr lang="en-US" sz="2000" spc="-15" dirty="0">
                <a:effectLst/>
                <a:ea typeface="Calibri" panose="020F0502020204030204" pitchFamily="34" charset="0"/>
              </a:rPr>
              <a:t> </a:t>
            </a:r>
            <a:r>
              <a:rPr lang="en-US" sz="2000" dirty="0">
                <a:effectLst/>
                <a:ea typeface="Calibri" panose="020F0502020204030204" pitchFamily="34" charset="0"/>
              </a:rPr>
              <a:t>attributes</a:t>
            </a:r>
            <a:r>
              <a:rPr lang="en-US" sz="2000" spc="-5"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type</a:t>
            </a:r>
            <a:r>
              <a:rPr lang="en-US" sz="2000" spc="-10" dirty="0">
                <a:effectLst/>
                <a:ea typeface="Calibri" panose="020F0502020204030204" pitchFamily="34" charset="0"/>
              </a:rPr>
              <a:t> </a:t>
            </a:r>
            <a:r>
              <a:rPr lang="en-US" sz="2000" dirty="0">
                <a:effectLst/>
                <a:ea typeface="Calibri" panose="020F0502020204030204" pitchFamily="34" charset="0"/>
              </a:rPr>
              <a:t>CAR</a:t>
            </a:r>
            <a:r>
              <a:rPr lang="en-US" sz="2000" spc="-10"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key</a:t>
            </a:r>
            <a:r>
              <a:rPr lang="en-US" sz="2000" spc="-10" dirty="0">
                <a:effectLst/>
                <a:ea typeface="Calibri" panose="020F0502020204030204" pitchFamily="34" charset="0"/>
              </a:rPr>
              <a:t> </a:t>
            </a:r>
            <a:r>
              <a:rPr lang="en-US" sz="2000" dirty="0">
                <a:effectLst/>
                <a:ea typeface="Calibri" panose="020F0502020204030204" pitchFamily="34" charset="0"/>
              </a:rPr>
              <a:t>in</a:t>
            </a:r>
            <a:r>
              <a:rPr lang="en-US" sz="2000" spc="-15" dirty="0">
                <a:effectLst/>
                <a:ea typeface="Calibri" panose="020F0502020204030204" pitchFamily="34" charset="0"/>
              </a:rPr>
              <a:t> </a:t>
            </a:r>
            <a:r>
              <a:rPr lang="en-US" sz="2000" dirty="0">
                <a:effectLst/>
                <a:ea typeface="Calibri" panose="020F0502020204030204" pitchFamily="34" charset="0"/>
              </a:rPr>
              <a:t>its</a:t>
            </a:r>
            <a:r>
              <a:rPr lang="en-US" sz="2000" spc="-15" dirty="0">
                <a:effectLst/>
                <a:ea typeface="Calibri" panose="020F0502020204030204" pitchFamily="34" charset="0"/>
              </a:rPr>
              <a:t> </a:t>
            </a:r>
            <a:r>
              <a:rPr lang="en-US" sz="2000" dirty="0">
                <a:effectLst/>
                <a:ea typeface="Calibri" panose="020F0502020204030204" pitchFamily="34" charset="0"/>
              </a:rPr>
              <a:t>own</a:t>
            </a:r>
            <a:r>
              <a:rPr lang="en-US" sz="2000" spc="-5" dirty="0">
                <a:effectLst/>
                <a:ea typeface="Calibri" panose="020F0502020204030204" pitchFamily="34" charset="0"/>
              </a:rPr>
              <a:t> </a:t>
            </a:r>
            <a:r>
              <a:rPr lang="en-US" sz="2000" dirty="0">
                <a:effectLst/>
                <a:ea typeface="Calibri" panose="020F0502020204030204" pitchFamily="34" charset="0"/>
              </a:rPr>
              <a:t>right</a:t>
            </a:r>
          </a:p>
          <a:p>
            <a:pPr marL="1026795" marR="0" algn="just">
              <a:spcBef>
                <a:spcPts val="20"/>
              </a:spcBef>
            </a:pPr>
            <a:endParaRPr lang="en-US" sz="2000" dirty="0">
              <a:ea typeface="Calibri" panose="020F0502020204030204" pitchFamily="34" charset="0"/>
            </a:endParaRPr>
          </a:p>
          <a:p>
            <a:pPr marL="342900" indent="-342900" algn="just">
              <a:buFont typeface="Wingdings" panose="05000000000000000000" pitchFamily="2" charset="2"/>
              <a:buChar char="ü"/>
            </a:pPr>
            <a:r>
              <a:rPr lang="en-US" sz="2000" b="0" i="0" u="none" strike="noStrike" baseline="0" dirty="0"/>
              <a:t>An entity type may also have </a:t>
            </a:r>
            <a:r>
              <a:rPr lang="en-US" sz="2000" b="0" i="1" u="none" strike="noStrike" baseline="0" dirty="0"/>
              <a:t>no key</a:t>
            </a:r>
            <a:r>
              <a:rPr lang="en-US" sz="2000" b="0" i="0" u="none" strike="noStrike" baseline="0" dirty="0"/>
              <a:t>, in which case it is called a </a:t>
            </a:r>
            <a:r>
              <a:rPr lang="en-US" sz="2000" b="0" i="1" u="none" strike="noStrike" baseline="0" dirty="0"/>
              <a:t>weak entity type</a:t>
            </a:r>
            <a:endParaRPr lang="en-US" sz="2000" dirty="0">
              <a:effectLst/>
              <a:ea typeface="Calibri" panose="020F0502020204030204" pitchFamily="34" charset="0"/>
            </a:endParaRPr>
          </a:p>
          <a:p>
            <a:pPr marL="736600" indent="-628650">
              <a:buFont typeface="Wingdings" panose="05000000000000000000" pitchFamily="2" charset="2"/>
              <a:buChar char="ü"/>
            </a:pPr>
            <a:endParaRPr lang="en-US" sz="2000" dirty="0"/>
          </a:p>
          <a:p>
            <a:endParaRPr lang="en-US" dirty="0"/>
          </a:p>
        </p:txBody>
      </p:sp>
    </p:spTree>
    <p:extLst>
      <p:ext uri="{BB962C8B-B14F-4D97-AF65-F5344CB8AC3E}">
        <p14:creationId xmlns:p14="http://schemas.microsoft.com/office/powerpoint/2010/main" val="33893437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982009-4783-406E-7FED-FA811BDED2FC}"/>
              </a:ext>
            </a:extLst>
          </p:cNvPr>
          <p:cNvPicPr>
            <a:picLocks noChangeAspect="1"/>
          </p:cNvPicPr>
          <p:nvPr/>
        </p:nvPicPr>
        <p:blipFill>
          <a:blip r:embed="rId2"/>
          <a:stretch>
            <a:fillRect/>
          </a:stretch>
        </p:blipFill>
        <p:spPr>
          <a:xfrm>
            <a:off x="2304484" y="326817"/>
            <a:ext cx="7815909" cy="5465593"/>
          </a:xfrm>
          <a:prstGeom prst="rect">
            <a:avLst/>
          </a:prstGeom>
        </p:spPr>
      </p:pic>
    </p:spTree>
    <p:extLst>
      <p:ext uri="{BB962C8B-B14F-4D97-AF65-F5344CB8AC3E}">
        <p14:creationId xmlns:p14="http://schemas.microsoft.com/office/powerpoint/2010/main" val="35624551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8F44D4-3D60-3BDF-C56A-EFE6799F8DE3}"/>
              </a:ext>
            </a:extLst>
          </p:cNvPr>
          <p:cNvSpPr txBox="1"/>
          <p:nvPr/>
        </p:nvSpPr>
        <p:spPr>
          <a:xfrm>
            <a:off x="278969" y="340963"/>
            <a:ext cx="11592733" cy="6247864"/>
          </a:xfrm>
          <a:prstGeom prst="rect">
            <a:avLst/>
          </a:prstGeom>
          <a:noFill/>
        </p:spPr>
        <p:txBody>
          <a:bodyPr wrap="square" rtlCol="0">
            <a:spAutoFit/>
          </a:bodyPr>
          <a:lstStyle/>
          <a:p>
            <a:pPr marL="465138" marR="0" indent="-228600" algn="just">
              <a:buNone/>
            </a:pPr>
            <a:r>
              <a:rPr lang="en-US" sz="2000" b="1" dirty="0">
                <a:effectLst/>
                <a:ea typeface="Calibri" panose="020F0502020204030204" pitchFamily="34" charset="0"/>
              </a:rPr>
              <a:t>Value</a:t>
            </a:r>
            <a:r>
              <a:rPr lang="en-US" sz="2000" b="1" spc="-20" dirty="0">
                <a:effectLst/>
                <a:ea typeface="Calibri" panose="020F0502020204030204" pitchFamily="34" charset="0"/>
              </a:rPr>
              <a:t> </a:t>
            </a:r>
            <a:r>
              <a:rPr lang="en-US" sz="2000" b="1" dirty="0">
                <a:effectLst/>
                <a:ea typeface="Calibri" panose="020F0502020204030204" pitchFamily="34" charset="0"/>
              </a:rPr>
              <a:t>Sets</a:t>
            </a:r>
            <a:r>
              <a:rPr lang="en-US" sz="2000" b="1" spc="-20" dirty="0">
                <a:effectLst/>
                <a:ea typeface="Calibri" panose="020F0502020204030204" pitchFamily="34" charset="0"/>
              </a:rPr>
              <a:t> </a:t>
            </a:r>
            <a:r>
              <a:rPr lang="en-US" sz="2000" b="1" dirty="0">
                <a:effectLst/>
                <a:ea typeface="Calibri" panose="020F0502020204030204" pitchFamily="34" charset="0"/>
              </a:rPr>
              <a:t>(Domains)</a:t>
            </a:r>
            <a:r>
              <a:rPr lang="en-US" sz="2000" b="1" spc="-20" dirty="0">
                <a:effectLst/>
                <a:ea typeface="Calibri" panose="020F0502020204030204" pitchFamily="34" charset="0"/>
              </a:rPr>
              <a:t> </a:t>
            </a:r>
            <a:r>
              <a:rPr lang="en-US" sz="2000" b="1" dirty="0">
                <a:effectLst/>
                <a:ea typeface="Calibri" panose="020F0502020204030204" pitchFamily="34" charset="0"/>
              </a:rPr>
              <a:t>of Attributes</a:t>
            </a:r>
          </a:p>
          <a:p>
            <a:pPr marL="465138" marR="0" indent="-228600" algn="just">
              <a:spcBef>
                <a:spcPts val="5"/>
              </a:spcBef>
              <a:buNone/>
            </a:pPr>
            <a:r>
              <a:rPr lang="en-US" sz="2000" b="1" dirty="0">
                <a:effectLst/>
                <a:ea typeface="Calibri" panose="020F0502020204030204" pitchFamily="34" charset="0"/>
              </a:rPr>
              <a:t> </a:t>
            </a:r>
            <a:endParaRPr lang="en-US" sz="2000" dirty="0">
              <a:effectLst/>
              <a:ea typeface="Calibri" panose="020F0502020204030204" pitchFamily="34" charset="0"/>
            </a:endParaRPr>
          </a:p>
          <a:p>
            <a:pPr marL="465138" marR="225425" lvl="2" indent="-228600" algn="just">
              <a:buSzPts val="1100"/>
              <a:buFont typeface="Wingdings" panose="05000000000000000000" pitchFamily="2" charset="2"/>
              <a:buChar char=""/>
              <a:tabLst>
                <a:tab pos="1225550" algn="l"/>
              </a:tabLst>
            </a:pPr>
            <a:r>
              <a:rPr lang="en-US" sz="2000" dirty="0">
                <a:effectLst/>
                <a:ea typeface="Wingdings" panose="05000000000000000000" pitchFamily="2" charset="2"/>
                <a:cs typeface="Wingdings" panose="05000000000000000000" pitchFamily="2" charset="2"/>
              </a:rPr>
              <a:t>Each simple attribute of an entity type is associated with a </a:t>
            </a:r>
            <a:r>
              <a:rPr lang="en-US" sz="2000" b="1" dirty="0">
                <a:effectLst/>
                <a:ea typeface="Wingdings" panose="05000000000000000000" pitchFamily="2" charset="2"/>
                <a:cs typeface="Wingdings" panose="05000000000000000000" pitchFamily="2" charset="2"/>
              </a:rPr>
              <a:t>value set </a:t>
            </a:r>
            <a:r>
              <a:rPr lang="en-US" sz="2000" dirty="0">
                <a:effectLst/>
                <a:ea typeface="Wingdings" panose="05000000000000000000" pitchFamily="2" charset="2"/>
                <a:cs typeface="Wingdings" panose="05000000000000000000" pitchFamily="2" charset="2"/>
              </a:rPr>
              <a:t>(or domain of values), which</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specifies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set</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values</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that</a:t>
            </a:r>
            <a:r>
              <a:rPr lang="en-US" sz="2000" spc="-2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may</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be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assigned</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to</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that</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for</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each</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individual</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p>
          <a:p>
            <a:pPr marL="465138" marR="227330" lvl="2" indent="-228600" algn="just">
              <a:buSzPts val="1100"/>
              <a:buFont typeface="Wingdings" panose="05000000000000000000" pitchFamily="2" charset="2"/>
              <a:buChar char=""/>
              <a:tabLst>
                <a:tab pos="1225550" algn="l"/>
              </a:tabLst>
            </a:pPr>
            <a:r>
              <a:rPr lang="en-US" sz="2000" dirty="0">
                <a:effectLst/>
                <a:ea typeface="Wingdings" panose="05000000000000000000" pitchFamily="2" charset="2"/>
                <a:cs typeface="Wingdings" panose="05000000000000000000" pitchFamily="2" charset="2"/>
              </a:rPr>
              <a:t>if the range of ages allowed for employees is between 16 and 70, we can specify the value set of the</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Age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EMPLOYEE to</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be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set</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integer</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numbers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between</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16</a:t>
            </a:r>
            <a:r>
              <a:rPr lang="en-US" sz="2000" spc="-2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and</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70</a:t>
            </a:r>
          </a:p>
          <a:p>
            <a:pPr marL="465138" marR="226060" lvl="2" indent="-228600" algn="just">
              <a:buSzPts val="1100"/>
              <a:buFont typeface="Wingdings" panose="05000000000000000000" pitchFamily="2" charset="2"/>
              <a:buChar char=""/>
              <a:tabLst>
                <a:tab pos="1225550" algn="l"/>
              </a:tabLst>
            </a:pPr>
            <a:r>
              <a:rPr lang="en-US" sz="2000" dirty="0">
                <a:effectLst/>
                <a:ea typeface="Wingdings" panose="05000000000000000000" pitchFamily="2" charset="2"/>
                <a:cs typeface="Wingdings" panose="05000000000000000000" pitchFamily="2" charset="2"/>
              </a:rPr>
              <a:t>Value sets are not typically displayed in basic ER diagrams and are similar to the basic data types</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available in most programming languages, such as integer, string, Boolean, float, enumerated type,</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subrange,</a:t>
            </a:r>
            <a:r>
              <a:rPr lang="en-US" sz="2000" spc="-2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and</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so</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on</a:t>
            </a:r>
          </a:p>
          <a:p>
            <a:pPr marL="465138" marR="229235" lvl="2" indent="-228600" algn="just">
              <a:buSzPts val="1100"/>
              <a:buFont typeface="Wingdings" panose="05000000000000000000" pitchFamily="2" charset="2"/>
              <a:buChar char=""/>
              <a:tabLst>
                <a:tab pos="1225550" algn="l"/>
                <a:tab pos="3228340" algn="l"/>
              </a:tabLst>
            </a:pPr>
            <a:r>
              <a:rPr lang="en-US" sz="2000" dirty="0">
                <a:effectLst/>
                <a:ea typeface="Wingdings" panose="05000000000000000000" pitchFamily="2" charset="2"/>
                <a:cs typeface="Wingdings" panose="05000000000000000000" pitchFamily="2" charset="2"/>
              </a:rPr>
              <a:t>Mathematically, an attribute A of entity set E whose value set is V can be defined as a function from E</a:t>
            </a:r>
            <a:r>
              <a:rPr lang="en-US" sz="2000" spc="-23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to</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power</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set</a:t>
            </a:r>
            <a:r>
              <a:rPr lang="en-US" sz="2000" spc="-2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P(V)</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V:	A</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 →</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P(V)</a:t>
            </a:r>
          </a:p>
          <a:p>
            <a:pPr marL="465138" marR="0" lvl="2" indent="-228600" algn="just">
              <a:buSzPts val="1100"/>
              <a:buFont typeface="Wingdings" panose="05000000000000000000" pitchFamily="2" charset="2"/>
              <a:buChar char=""/>
              <a:tabLst>
                <a:tab pos="1225550" algn="l"/>
              </a:tabLst>
            </a:pPr>
            <a:r>
              <a:rPr lang="en-US" sz="2000" dirty="0">
                <a:effectLst/>
                <a:ea typeface="Wingdings" panose="05000000000000000000" pitchFamily="2" charset="2"/>
                <a:cs typeface="Wingdings" panose="05000000000000000000" pitchFamily="2" charset="2"/>
              </a:rPr>
              <a:t>We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refer</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to</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value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 for</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A(e).</a:t>
            </a:r>
          </a:p>
          <a:p>
            <a:pPr marL="465138" marR="0" lvl="2" indent="-228600" algn="just">
              <a:buSzPts val="1100"/>
              <a:buFont typeface="Wingdings" panose="05000000000000000000" pitchFamily="2" charset="2"/>
              <a:buChar char=""/>
              <a:tabLst>
                <a:tab pos="1225550" algn="l"/>
              </a:tabLst>
            </a:pPr>
            <a:r>
              <a:rPr lang="en-US" sz="2000" dirty="0">
                <a:effectLst/>
                <a:ea typeface="Wingdings" panose="05000000000000000000" pitchFamily="2" charset="2"/>
                <a:cs typeface="Wingdings" panose="05000000000000000000" pitchFamily="2" charset="2"/>
              </a:rPr>
              <a:t>The</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previous</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definition</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covers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both</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single-valued</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and</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multivalued</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attributes,</a:t>
            </a:r>
            <a:r>
              <a:rPr lang="en-US" sz="2000" spc="-2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well</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as</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NULLs.</a:t>
            </a:r>
          </a:p>
          <a:p>
            <a:pPr marL="465138" marR="0" lvl="2" indent="-228600" algn="just">
              <a:buSzPts val="1100"/>
              <a:buFont typeface="Wingdings" panose="05000000000000000000" pitchFamily="2" charset="2"/>
              <a:buChar char=""/>
              <a:tabLst>
                <a:tab pos="1256030" algn="l"/>
              </a:tabLst>
            </a:pPr>
            <a:r>
              <a:rPr lang="en-US" sz="2000" dirty="0">
                <a:effectLst/>
                <a:ea typeface="Wingdings" panose="05000000000000000000" pitchFamily="2" charset="2"/>
                <a:cs typeface="Wingdings" panose="05000000000000000000" pitchFamily="2" charset="2"/>
              </a:rPr>
              <a:t>A</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NULL</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value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is</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represented</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by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empty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set</a:t>
            </a:r>
          </a:p>
          <a:p>
            <a:pPr marL="465138" marR="0" lvl="2" indent="-228600" algn="just">
              <a:buSzPts val="1100"/>
              <a:buFont typeface="Wingdings" panose="05000000000000000000" pitchFamily="2" charset="2"/>
              <a:buChar char=""/>
              <a:tabLst>
                <a:tab pos="1225550" algn="l"/>
              </a:tabLst>
            </a:pPr>
            <a:r>
              <a:rPr lang="en-US" sz="2000" dirty="0">
                <a:effectLst/>
                <a:ea typeface="Wingdings" panose="05000000000000000000" pitchFamily="2" charset="2"/>
                <a:cs typeface="Wingdings" panose="05000000000000000000" pitchFamily="2" charset="2"/>
              </a:rPr>
              <a:t>For</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single-valued</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attributes,</a:t>
            </a:r>
            <a:r>
              <a:rPr lang="en-US" sz="2000" spc="-2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is</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restricted</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to</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being</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singleton</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set</a:t>
            </a:r>
            <a:r>
              <a:rPr lang="en-US" sz="2000" spc="-2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for</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each</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entity</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a:t>
            </a:r>
            <a:r>
              <a:rPr lang="en-US" sz="2000" spc="1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in</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E</a:t>
            </a:r>
          </a:p>
          <a:p>
            <a:pPr marL="465138" marR="0" lvl="2" indent="-228600" algn="just">
              <a:buSzPts val="1100"/>
              <a:buFont typeface="Wingdings" panose="05000000000000000000" pitchFamily="2" charset="2"/>
              <a:buChar char=""/>
              <a:tabLst>
                <a:tab pos="1225550" algn="l"/>
              </a:tabLst>
            </a:pPr>
            <a:r>
              <a:rPr lang="en-US" sz="2000" dirty="0">
                <a:effectLst/>
                <a:ea typeface="Wingdings" panose="05000000000000000000" pitchFamily="2" charset="2"/>
                <a:cs typeface="Wingdings" panose="05000000000000000000" pitchFamily="2" charset="2"/>
              </a:rPr>
              <a:t>no</a:t>
            </a:r>
            <a:r>
              <a:rPr lang="en-US" sz="2000" spc="-2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restriction</a:t>
            </a:r>
            <a:r>
              <a:rPr lang="en-US" sz="2000" spc="-2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on multivalued</a:t>
            </a:r>
            <a:r>
              <a:rPr lang="en-US" sz="2000" spc="-1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attributes</a:t>
            </a:r>
          </a:p>
          <a:p>
            <a:pPr marL="465138" marR="226060" lvl="2" indent="-228600" algn="just">
              <a:buSzPts val="1100"/>
              <a:buFont typeface="Wingdings" panose="05000000000000000000" pitchFamily="2" charset="2"/>
              <a:buChar char=""/>
              <a:tabLst>
                <a:tab pos="1256030" algn="l"/>
                <a:tab pos="2907030" algn="l"/>
              </a:tabLst>
            </a:pPr>
            <a:r>
              <a:rPr lang="en-US" sz="2000" dirty="0">
                <a:effectLst/>
                <a:ea typeface="Wingdings" panose="05000000000000000000" pitchFamily="2" charset="2"/>
                <a:cs typeface="Wingdings" panose="05000000000000000000" pitchFamily="2" charset="2"/>
              </a:rPr>
              <a:t>	For</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composite</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attribute</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A, the</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value</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set</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V is the power</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set</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of</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the Cartesian</a:t>
            </a:r>
            <a:r>
              <a:rPr lang="en-US" sz="2000" spc="24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product of</a:t>
            </a:r>
            <a:r>
              <a:rPr lang="en-US" sz="2000" spc="250"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P(V1),</a:t>
            </a:r>
            <a:r>
              <a:rPr lang="en-US" sz="2000" spc="-23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P(V2), . . . , P(</a:t>
            </a:r>
            <a:r>
              <a:rPr lang="en-US" sz="2000" dirty="0" err="1">
                <a:effectLst/>
                <a:ea typeface="Wingdings" panose="05000000000000000000" pitchFamily="2" charset="2"/>
                <a:cs typeface="Wingdings" panose="05000000000000000000" pitchFamily="2" charset="2"/>
              </a:rPr>
              <a:t>Vn</a:t>
            </a:r>
            <a:r>
              <a:rPr lang="en-US" sz="2000" dirty="0">
                <a:effectLst/>
                <a:ea typeface="Wingdings" panose="05000000000000000000" pitchFamily="2" charset="2"/>
                <a:cs typeface="Wingdings" panose="05000000000000000000" pitchFamily="2" charset="2"/>
              </a:rPr>
              <a:t>), where V1, V2, . . . , </a:t>
            </a:r>
            <a:r>
              <a:rPr lang="en-US" sz="2000" dirty="0" err="1">
                <a:effectLst/>
                <a:ea typeface="Wingdings" panose="05000000000000000000" pitchFamily="2" charset="2"/>
                <a:cs typeface="Wingdings" panose="05000000000000000000" pitchFamily="2" charset="2"/>
              </a:rPr>
              <a:t>Vn</a:t>
            </a:r>
            <a:r>
              <a:rPr lang="en-US" sz="2000" dirty="0">
                <a:effectLst/>
                <a:ea typeface="Wingdings" panose="05000000000000000000" pitchFamily="2" charset="2"/>
                <a:cs typeface="Wingdings" panose="05000000000000000000" pitchFamily="2" charset="2"/>
              </a:rPr>
              <a:t> are the value sets of the simple component attributes that</a:t>
            </a:r>
            <a:r>
              <a:rPr lang="en-US" sz="2000" spc="5" dirty="0">
                <a:effectLst/>
                <a:ea typeface="Wingdings" panose="05000000000000000000" pitchFamily="2" charset="2"/>
                <a:cs typeface="Wingdings" panose="05000000000000000000" pitchFamily="2" charset="2"/>
              </a:rPr>
              <a:t> </a:t>
            </a:r>
            <a:r>
              <a:rPr lang="en-US" sz="2000" dirty="0">
                <a:effectLst/>
                <a:ea typeface="Wingdings" panose="05000000000000000000" pitchFamily="2" charset="2"/>
                <a:cs typeface="Wingdings" panose="05000000000000000000" pitchFamily="2" charset="2"/>
              </a:rPr>
              <a:t>form </a:t>
            </a:r>
            <a:r>
              <a:rPr lang="en-US" sz="1800" dirty="0">
                <a:effectLst/>
                <a:latin typeface="Times New Roman" panose="02020603050405020304" pitchFamily="18" charset="0"/>
                <a:ea typeface="Wingdings" panose="05000000000000000000" pitchFamily="2" charset="2"/>
                <a:cs typeface="Wingdings" panose="05000000000000000000" pitchFamily="2" charset="2"/>
              </a:rPr>
              <a:t>A:	V</a:t>
            </a:r>
            <a:r>
              <a:rPr lang="en-US" sz="18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1800" dirty="0">
                <a:effectLst/>
                <a:latin typeface="Times New Roman" panose="02020603050405020304" pitchFamily="18" charset="0"/>
                <a:ea typeface="Wingdings" panose="05000000000000000000" pitchFamily="2" charset="2"/>
                <a:cs typeface="Wingdings" panose="05000000000000000000" pitchFamily="2" charset="2"/>
              </a:rPr>
              <a:t>=</a:t>
            </a:r>
            <a:r>
              <a:rPr lang="en-US" sz="18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1800" dirty="0">
                <a:effectLst/>
                <a:latin typeface="Times New Roman" panose="02020603050405020304" pitchFamily="18" charset="0"/>
                <a:ea typeface="Wingdings" panose="05000000000000000000" pitchFamily="2" charset="2"/>
                <a:cs typeface="Wingdings" panose="05000000000000000000" pitchFamily="2" charset="2"/>
              </a:rPr>
              <a:t>P(P(V1)</a:t>
            </a:r>
            <a:r>
              <a:rPr lang="en-US" sz="1800" spc="30" dirty="0">
                <a:effectLst/>
                <a:latin typeface="Times New Roman" panose="02020603050405020304" pitchFamily="18" charset="0"/>
                <a:ea typeface="Wingdings" panose="05000000000000000000" pitchFamily="2" charset="2"/>
                <a:cs typeface="Wingdings" panose="05000000000000000000" pitchFamily="2" charset="2"/>
              </a:rPr>
              <a:t> </a:t>
            </a:r>
            <a:r>
              <a:rPr lang="en-US" spc="30" dirty="0">
                <a:latin typeface="Times New Roman" panose="02020603050405020304" pitchFamily="18" charset="0"/>
                <a:ea typeface="Wingdings" panose="05000000000000000000" pitchFamily="2" charset="2"/>
                <a:cs typeface="Wingdings" panose="05000000000000000000" pitchFamily="2" charset="2"/>
              </a:rPr>
              <a:t>x</a:t>
            </a:r>
            <a:r>
              <a:rPr lang="en-US" sz="18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1800" dirty="0">
                <a:effectLst/>
                <a:latin typeface="Times New Roman" panose="02020603050405020304" pitchFamily="18" charset="0"/>
                <a:ea typeface="Wingdings" panose="05000000000000000000" pitchFamily="2" charset="2"/>
                <a:cs typeface="Wingdings" panose="05000000000000000000" pitchFamily="2" charset="2"/>
              </a:rPr>
              <a:t>P(V2)</a:t>
            </a:r>
            <a:r>
              <a:rPr lang="en-US" sz="18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pc="-10" dirty="0">
                <a:latin typeface="Times New Roman" panose="02020603050405020304" pitchFamily="18" charset="0"/>
                <a:ea typeface="Wingdings" panose="05000000000000000000" pitchFamily="2" charset="2"/>
                <a:cs typeface="Wingdings" panose="05000000000000000000" pitchFamily="2" charset="2"/>
              </a:rPr>
              <a:t>x </a:t>
            </a:r>
            <a:r>
              <a:rPr lang="en-US" sz="1800" dirty="0">
                <a:effectLst/>
                <a:latin typeface="Times New Roman" panose="02020603050405020304" pitchFamily="18" charset="0"/>
                <a:ea typeface="Wingdings" panose="05000000000000000000" pitchFamily="2" charset="2"/>
                <a:cs typeface="Wingdings" panose="05000000000000000000" pitchFamily="2" charset="2"/>
              </a:rPr>
              <a:t>. . .</a:t>
            </a:r>
            <a:r>
              <a:rPr lang="en-US" sz="1800" spc="20" dirty="0">
                <a:effectLst/>
                <a:latin typeface="Times New Roman" panose="02020603050405020304" pitchFamily="18" charset="0"/>
                <a:ea typeface="Wingdings" panose="05000000000000000000" pitchFamily="2" charset="2"/>
                <a:cs typeface="Wingdings" panose="05000000000000000000" pitchFamily="2" charset="2"/>
              </a:rPr>
              <a:t> </a:t>
            </a:r>
            <a:r>
              <a:rPr lang="en-US" spc="20" dirty="0">
                <a:latin typeface="Times New Roman" panose="02020603050405020304" pitchFamily="18" charset="0"/>
                <a:ea typeface="Wingdings" panose="05000000000000000000" pitchFamily="2" charset="2"/>
                <a:cs typeface="Wingdings" panose="05000000000000000000" pitchFamily="2" charset="2"/>
              </a:rPr>
              <a:t>x</a:t>
            </a:r>
            <a:r>
              <a:rPr lang="en-US" sz="18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1800" dirty="0">
                <a:effectLst/>
                <a:latin typeface="Times New Roman" panose="02020603050405020304" pitchFamily="18" charset="0"/>
                <a:ea typeface="Wingdings" panose="05000000000000000000" pitchFamily="2" charset="2"/>
                <a:cs typeface="Wingdings" panose="05000000000000000000" pitchFamily="2" charset="2"/>
              </a:rPr>
              <a:t>P(</a:t>
            </a:r>
            <a:r>
              <a:rPr lang="en-US" sz="1800" dirty="0" err="1">
                <a:effectLst/>
                <a:latin typeface="Times New Roman" panose="02020603050405020304" pitchFamily="18" charset="0"/>
                <a:ea typeface="Wingdings" panose="05000000000000000000" pitchFamily="2" charset="2"/>
                <a:cs typeface="Wingdings" panose="05000000000000000000" pitchFamily="2" charset="2"/>
              </a:rPr>
              <a:t>Vn</a:t>
            </a:r>
            <a:r>
              <a:rPr lang="en-US" sz="1800" dirty="0">
                <a:effectLst/>
                <a:latin typeface="Times New Roman" panose="02020603050405020304" pitchFamily="18" charset="0"/>
                <a:ea typeface="Wingdings" panose="05000000000000000000" pitchFamily="2" charset="2"/>
                <a:cs typeface="Wingdings" panose="05000000000000000000" pitchFamily="2" charset="2"/>
              </a:rPr>
              <a:t>))</a:t>
            </a:r>
            <a:endParaRPr lang="en-US" sz="1800" dirty="0">
              <a:effectLst/>
              <a:latin typeface="Calibri" panose="020F0502020204030204" pitchFamily="34" charset="0"/>
              <a:ea typeface="Wingdings" panose="05000000000000000000" pitchFamily="2" charset="2"/>
              <a:cs typeface="Wingdings" panose="05000000000000000000" pitchFamily="2" charset="2"/>
            </a:endParaRPr>
          </a:p>
          <a:p>
            <a:pPr marL="465138" marR="226060" lvl="2" indent="-228600" algn="just">
              <a:buSzPts val="1100"/>
              <a:buFont typeface="Wingdings" panose="05000000000000000000" pitchFamily="2" charset="2"/>
              <a:buChar char=""/>
              <a:tabLst>
                <a:tab pos="1256030" algn="l"/>
                <a:tab pos="2907030" algn="l"/>
              </a:tabLst>
            </a:pPr>
            <a:endParaRPr lang="en-US" sz="2000" dirty="0">
              <a:effectLst/>
              <a:ea typeface="Wingdings" panose="05000000000000000000" pitchFamily="2" charset="2"/>
              <a:cs typeface="Wingdings" panose="05000000000000000000" pitchFamily="2" charset="2"/>
            </a:endParaRPr>
          </a:p>
        </p:txBody>
      </p:sp>
    </p:spTree>
    <p:extLst>
      <p:ext uri="{BB962C8B-B14F-4D97-AF65-F5344CB8AC3E}">
        <p14:creationId xmlns:p14="http://schemas.microsoft.com/office/powerpoint/2010/main" val="27383492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BD3BDB-DFE4-794A-0219-E96596808E88}"/>
              </a:ext>
            </a:extLst>
          </p:cNvPr>
          <p:cNvSpPr txBox="1"/>
          <p:nvPr/>
        </p:nvSpPr>
        <p:spPr>
          <a:xfrm>
            <a:off x="511444" y="356461"/>
            <a:ext cx="11406753" cy="1446550"/>
          </a:xfrm>
          <a:prstGeom prst="rect">
            <a:avLst/>
          </a:prstGeom>
          <a:noFill/>
        </p:spPr>
        <p:txBody>
          <a:bodyPr wrap="square" rtlCol="0">
            <a:spAutoFit/>
          </a:bodyPr>
          <a:lstStyle/>
          <a:p>
            <a:r>
              <a:rPr lang="en-US" sz="2200" b="1" kern="0" dirty="0">
                <a:effectLst/>
                <a:ea typeface="Calibri" panose="020F0502020204030204" pitchFamily="34" charset="0"/>
              </a:rPr>
              <a:t>Initial</a:t>
            </a:r>
            <a:r>
              <a:rPr lang="en-US" sz="2200" b="1" kern="0" spc="-25" dirty="0">
                <a:effectLst/>
                <a:ea typeface="Calibri" panose="020F0502020204030204" pitchFamily="34" charset="0"/>
              </a:rPr>
              <a:t> </a:t>
            </a:r>
            <a:r>
              <a:rPr lang="en-US" sz="2200" b="1" kern="0" dirty="0">
                <a:effectLst/>
                <a:ea typeface="Calibri" panose="020F0502020204030204" pitchFamily="34" charset="0"/>
              </a:rPr>
              <a:t>Conceptual</a:t>
            </a:r>
            <a:r>
              <a:rPr lang="en-US" sz="2200" b="1" kern="0" spc="-25" dirty="0">
                <a:effectLst/>
                <a:ea typeface="Calibri" panose="020F0502020204030204" pitchFamily="34" charset="0"/>
              </a:rPr>
              <a:t> </a:t>
            </a:r>
            <a:r>
              <a:rPr lang="en-US" sz="2200" b="1" kern="0" dirty="0">
                <a:effectLst/>
                <a:ea typeface="Calibri" panose="020F0502020204030204" pitchFamily="34" charset="0"/>
              </a:rPr>
              <a:t>Design</a:t>
            </a:r>
            <a:r>
              <a:rPr lang="en-US" sz="2200" b="1" kern="0" spc="5" dirty="0">
                <a:effectLst/>
                <a:ea typeface="Calibri" panose="020F0502020204030204" pitchFamily="34" charset="0"/>
              </a:rPr>
              <a:t> </a:t>
            </a:r>
            <a:r>
              <a:rPr lang="en-US" sz="2200" b="1" kern="0" dirty="0">
                <a:effectLst/>
                <a:ea typeface="Calibri" panose="020F0502020204030204" pitchFamily="34" charset="0"/>
              </a:rPr>
              <a:t>of</a:t>
            </a:r>
            <a:r>
              <a:rPr lang="en-US" sz="2200" b="1" kern="0" spc="-30" dirty="0">
                <a:effectLst/>
                <a:ea typeface="Calibri" panose="020F0502020204030204" pitchFamily="34" charset="0"/>
              </a:rPr>
              <a:t> </a:t>
            </a:r>
            <a:r>
              <a:rPr lang="en-US" sz="2200" b="1" kern="0" dirty="0">
                <a:effectLst/>
                <a:ea typeface="Calibri" panose="020F0502020204030204" pitchFamily="34" charset="0"/>
              </a:rPr>
              <a:t>the</a:t>
            </a:r>
            <a:r>
              <a:rPr lang="en-US" sz="2200" b="1" kern="0" spc="-25" dirty="0">
                <a:effectLst/>
                <a:ea typeface="Calibri" panose="020F0502020204030204" pitchFamily="34" charset="0"/>
              </a:rPr>
              <a:t> </a:t>
            </a:r>
            <a:r>
              <a:rPr lang="en-US" sz="2200" b="1" kern="0" dirty="0">
                <a:effectLst/>
                <a:ea typeface="Calibri" panose="020F0502020204030204" pitchFamily="34" charset="0"/>
              </a:rPr>
              <a:t>COMPANY</a:t>
            </a:r>
            <a:r>
              <a:rPr lang="en-US" sz="2200" b="1" kern="0" spc="-20" dirty="0">
                <a:effectLst/>
                <a:ea typeface="Calibri" panose="020F0502020204030204" pitchFamily="34" charset="0"/>
              </a:rPr>
              <a:t> </a:t>
            </a:r>
            <a:r>
              <a:rPr lang="en-US" sz="2200" b="1" kern="0" dirty="0">
                <a:effectLst/>
                <a:ea typeface="Calibri" panose="020F0502020204030204" pitchFamily="34" charset="0"/>
              </a:rPr>
              <a:t>Database</a:t>
            </a:r>
          </a:p>
          <a:p>
            <a:endParaRPr lang="en-US" sz="2200" b="1" kern="0" dirty="0">
              <a:ea typeface="Calibri" panose="020F0502020204030204" pitchFamily="34" charset="0"/>
            </a:endParaRPr>
          </a:p>
          <a:p>
            <a:endParaRPr lang="en-US" sz="2200" b="1" kern="0" dirty="0">
              <a:effectLst/>
              <a:ea typeface="Calibri" panose="020F0502020204030204" pitchFamily="34" charset="0"/>
            </a:endParaRPr>
          </a:p>
          <a:p>
            <a:endParaRPr lang="en-US" sz="2200" dirty="0"/>
          </a:p>
        </p:txBody>
      </p:sp>
      <p:pic>
        <p:nvPicPr>
          <p:cNvPr id="6" name="Picture 5">
            <a:extLst>
              <a:ext uri="{FF2B5EF4-FFF2-40B4-BE49-F238E27FC236}">
                <a16:creationId xmlns:a16="http://schemas.microsoft.com/office/drawing/2014/main" id="{3972F859-02F9-8771-6D53-C2B3C22FE7BB}"/>
              </a:ext>
            </a:extLst>
          </p:cNvPr>
          <p:cNvPicPr>
            <a:picLocks noChangeAspect="1"/>
          </p:cNvPicPr>
          <p:nvPr/>
        </p:nvPicPr>
        <p:blipFill>
          <a:blip r:embed="rId2"/>
          <a:stretch>
            <a:fillRect/>
          </a:stretch>
        </p:blipFill>
        <p:spPr>
          <a:xfrm>
            <a:off x="0" y="1141587"/>
            <a:ext cx="5145094" cy="4574825"/>
          </a:xfrm>
          <a:prstGeom prst="rect">
            <a:avLst/>
          </a:prstGeom>
        </p:spPr>
      </p:pic>
      <p:pic>
        <p:nvPicPr>
          <p:cNvPr id="8" name="Picture 7">
            <a:extLst>
              <a:ext uri="{FF2B5EF4-FFF2-40B4-BE49-F238E27FC236}">
                <a16:creationId xmlns:a16="http://schemas.microsoft.com/office/drawing/2014/main" id="{C0DF13AF-A1C7-DCC7-B72D-16AE8903AB75}"/>
              </a:ext>
            </a:extLst>
          </p:cNvPr>
          <p:cNvPicPr>
            <a:picLocks noChangeAspect="1"/>
          </p:cNvPicPr>
          <p:nvPr/>
        </p:nvPicPr>
        <p:blipFill>
          <a:blip r:embed="rId3"/>
          <a:stretch>
            <a:fillRect/>
          </a:stretch>
        </p:blipFill>
        <p:spPr>
          <a:xfrm>
            <a:off x="5145094" y="1141587"/>
            <a:ext cx="6800748" cy="4574825"/>
          </a:xfrm>
          <a:prstGeom prst="rect">
            <a:avLst/>
          </a:prstGeom>
        </p:spPr>
      </p:pic>
    </p:spTree>
    <p:extLst>
      <p:ext uri="{BB962C8B-B14F-4D97-AF65-F5344CB8AC3E}">
        <p14:creationId xmlns:p14="http://schemas.microsoft.com/office/powerpoint/2010/main" val="9342811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1D313C78-90C0-E063-CF6C-1E2991944774}"/>
              </a:ext>
            </a:extLst>
          </p:cNvPr>
          <p:cNvGraphicFramePr/>
          <p:nvPr>
            <p:extLst>
              <p:ext uri="{D42A27DB-BD31-4B8C-83A1-F6EECF244321}">
                <p14:modId xmlns:p14="http://schemas.microsoft.com/office/powerpoint/2010/main" val="2622957788"/>
              </p:ext>
            </p:extLst>
          </p:nvPr>
        </p:nvGraphicFramePr>
        <p:xfrm>
          <a:off x="325464" y="325464"/>
          <a:ext cx="11654726" cy="62170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44139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472FCD-C767-08F2-2DD6-F215BBD97F79}"/>
              </a:ext>
            </a:extLst>
          </p:cNvPr>
          <p:cNvSpPr txBox="1"/>
          <p:nvPr/>
        </p:nvSpPr>
        <p:spPr>
          <a:xfrm>
            <a:off x="201478" y="309966"/>
            <a:ext cx="11747715" cy="2554545"/>
          </a:xfrm>
          <a:prstGeom prst="rect">
            <a:avLst/>
          </a:prstGeom>
          <a:noFill/>
        </p:spPr>
        <p:txBody>
          <a:bodyPr wrap="square" rtlCol="0">
            <a:spAutoFit/>
          </a:bodyPr>
          <a:lstStyle/>
          <a:p>
            <a:pPr marL="285750" indent="-285750" algn="just">
              <a:buFont typeface="Arial" panose="020B0604020202020204" pitchFamily="34" charset="0"/>
              <a:buChar char="•"/>
            </a:pPr>
            <a:r>
              <a:rPr lang="en-US" sz="2000" b="0" i="0" u="none" strike="noStrike" baseline="0" dirty="0"/>
              <a:t>Mathematically, the relationship set </a:t>
            </a:r>
            <a:r>
              <a:rPr lang="en-US" sz="2000" b="0" i="1" u="none" strike="noStrike" baseline="0" dirty="0"/>
              <a:t>R </a:t>
            </a:r>
            <a:r>
              <a:rPr lang="en-US" sz="2000" b="0" i="0" u="none" strike="noStrike" baseline="0" dirty="0"/>
              <a:t>is a set of </a:t>
            </a:r>
            <a:r>
              <a:rPr lang="en-US" sz="2000" b="1" i="0" u="none" strike="noStrike" baseline="0" dirty="0"/>
              <a:t>relationship instances </a:t>
            </a:r>
            <a:r>
              <a:rPr lang="en-US" sz="2000" b="0" i="1" u="none" strike="noStrike" baseline="0" dirty="0" err="1"/>
              <a:t>ri</a:t>
            </a:r>
            <a:r>
              <a:rPr lang="en-US" sz="2000" b="0" i="1" u="none" strike="noStrike" baseline="0" dirty="0"/>
              <a:t>, </a:t>
            </a:r>
            <a:r>
              <a:rPr lang="en-US" sz="2000" b="0" i="0" u="none" strike="noStrike" baseline="0" dirty="0"/>
              <a:t>where each </a:t>
            </a:r>
            <a:r>
              <a:rPr lang="en-US" sz="2000" b="0" i="1" u="none" strike="noStrike" baseline="0" dirty="0" err="1"/>
              <a:t>ri</a:t>
            </a:r>
            <a:r>
              <a:rPr lang="en-US" sz="2000" b="0" i="1" u="none" strike="noStrike" baseline="0" dirty="0"/>
              <a:t> </a:t>
            </a:r>
            <a:r>
              <a:rPr lang="en-US" sz="2000" b="0" i="0" u="none" strike="noStrike" baseline="0" dirty="0"/>
              <a:t>associates </a:t>
            </a:r>
            <a:r>
              <a:rPr lang="en-US" sz="2000" b="0" i="1" u="none" strike="noStrike" baseline="0" dirty="0"/>
              <a:t>n </a:t>
            </a:r>
            <a:r>
              <a:rPr lang="en-US" sz="2000" b="0" i="0" u="none" strike="noStrike" baseline="0" dirty="0"/>
              <a:t>individual entities (</a:t>
            </a:r>
            <a:r>
              <a:rPr lang="en-US" sz="2000" b="0" i="1" u="none" strike="noStrike" baseline="0" dirty="0"/>
              <a:t>e</a:t>
            </a:r>
            <a:r>
              <a:rPr lang="en-US" sz="2000" b="0" i="0" u="none" strike="noStrike" baseline="0" dirty="0"/>
              <a:t>1, </a:t>
            </a:r>
            <a:r>
              <a:rPr lang="en-US" sz="2000" b="0" i="1" u="none" strike="noStrike" baseline="0" dirty="0"/>
              <a:t>e</a:t>
            </a:r>
            <a:r>
              <a:rPr lang="en-US" sz="2000" b="0" i="0" u="none" strike="noStrike" baseline="0" dirty="0"/>
              <a:t>2, . . . , </a:t>
            </a:r>
            <a:r>
              <a:rPr lang="en-US" sz="2000" b="0" i="1" u="none" strike="noStrike" baseline="0" dirty="0" err="1"/>
              <a:t>en</a:t>
            </a:r>
            <a:r>
              <a:rPr lang="en-US" sz="2000" b="0" i="0" u="none" strike="noStrike" baseline="0" dirty="0"/>
              <a:t>), and each entity </a:t>
            </a:r>
            <a:r>
              <a:rPr lang="en-US" sz="2000" b="0" i="1" u="none" strike="noStrike" baseline="0" dirty="0" err="1"/>
              <a:t>ej</a:t>
            </a:r>
            <a:r>
              <a:rPr lang="en-US" sz="2000" b="0" i="1" u="none" strike="noStrike" baseline="0" dirty="0"/>
              <a:t> </a:t>
            </a:r>
            <a:r>
              <a:rPr lang="en-US" sz="2000" b="0" i="0" u="none" strike="noStrike" baseline="0" dirty="0"/>
              <a:t>in </a:t>
            </a:r>
            <a:r>
              <a:rPr lang="en-US" sz="2000" b="0" i="1" u="none" strike="noStrike" baseline="0" dirty="0" err="1"/>
              <a:t>ri</a:t>
            </a:r>
            <a:r>
              <a:rPr lang="en-US" sz="2000" b="0" i="1" u="none" strike="noStrike" baseline="0" dirty="0"/>
              <a:t> </a:t>
            </a:r>
            <a:r>
              <a:rPr lang="en-US" sz="2000" b="0" i="0" u="none" strike="noStrike" baseline="0" dirty="0"/>
              <a:t>is a member of entity set </a:t>
            </a:r>
            <a:r>
              <a:rPr lang="en-US" sz="2000" b="0" i="1" u="none" strike="noStrike" baseline="0" dirty="0" err="1"/>
              <a:t>Ej</a:t>
            </a:r>
            <a:r>
              <a:rPr lang="en-US" sz="2000" b="0" i="0" u="none" strike="noStrike" baseline="0" dirty="0"/>
              <a:t>, 1 </a:t>
            </a:r>
            <a:r>
              <a:rPr lang="en-US" sz="2000" dirty="0"/>
              <a:t>&lt;=</a:t>
            </a:r>
            <a:r>
              <a:rPr lang="en-US" sz="2000" b="0" i="0" u="none" strike="noStrike" baseline="0" dirty="0"/>
              <a:t> </a:t>
            </a:r>
            <a:r>
              <a:rPr lang="en-US" sz="2000" b="0" i="1" u="none" strike="noStrike" baseline="0" dirty="0"/>
              <a:t>j </a:t>
            </a:r>
            <a:r>
              <a:rPr lang="en-US" sz="2000" b="0" i="0" u="none" strike="noStrike" baseline="0" dirty="0"/>
              <a:t>&lt;= </a:t>
            </a:r>
            <a:r>
              <a:rPr lang="en-US" sz="2000" b="0" i="1" u="none" strike="noStrike" baseline="0" dirty="0"/>
              <a:t>n</a:t>
            </a:r>
            <a:r>
              <a:rPr lang="en-US" sz="2000" b="0" i="0" u="none" strike="noStrike" baseline="0" dirty="0"/>
              <a:t>.</a:t>
            </a:r>
            <a:endParaRPr lang="en-US" sz="2000" dirty="0">
              <a:effectLst/>
              <a:ea typeface="Calibri" panose="020F0502020204030204" pitchFamily="34" charset="0"/>
            </a:endParaRPr>
          </a:p>
          <a:p>
            <a:pPr marL="285750" indent="-285750" algn="just">
              <a:buFont typeface="Arial" panose="020B0604020202020204" pitchFamily="34" charset="0"/>
              <a:buChar char="•"/>
            </a:pPr>
            <a:r>
              <a:rPr lang="en-US" sz="2000" b="0" i="0" u="none" strike="noStrike" baseline="0" dirty="0"/>
              <a:t>Hence, a relationship set is a mathematical relation on </a:t>
            </a:r>
            <a:r>
              <a:rPr lang="en-US" sz="2000" b="0" i="1" u="none" strike="noStrike" baseline="0" dirty="0"/>
              <a:t>E</a:t>
            </a:r>
            <a:r>
              <a:rPr lang="en-US" sz="2000" b="0" i="0" u="none" strike="noStrike" baseline="0" dirty="0"/>
              <a:t>1, </a:t>
            </a:r>
            <a:r>
              <a:rPr lang="en-US" sz="2000" b="0" i="1" u="none" strike="noStrike" baseline="0" dirty="0"/>
              <a:t>E</a:t>
            </a:r>
            <a:r>
              <a:rPr lang="en-US" sz="2000" b="0" i="0" u="none" strike="noStrike" baseline="0" dirty="0"/>
              <a:t>2, . . . , </a:t>
            </a:r>
            <a:r>
              <a:rPr lang="en-US" sz="2000" b="0" i="1" u="none" strike="noStrike" baseline="0" dirty="0"/>
              <a:t>En</a:t>
            </a:r>
            <a:r>
              <a:rPr lang="en-US" sz="2000" b="0" i="0" u="none" strike="noStrike" baseline="0" dirty="0"/>
              <a:t>;</a:t>
            </a:r>
          </a:p>
          <a:p>
            <a:pPr marL="285750" indent="-285750" algn="just">
              <a:buFont typeface="Arial" panose="020B0604020202020204" pitchFamily="34" charset="0"/>
              <a:buChar char="•"/>
            </a:pPr>
            <a:r>
              <a:rPr lang="en-US" sz="2000" b="0" i="0" u="none" strike="noStrike" baseline="0" dirty="0"/>
              <a:t>alternatively, it can be defined as a subset of the Cartesian product of the entity sets</a:t>
            </a:r>
          </a:p>
          <a:p>
            <a:pPr algn="just"/>
            <a:r>
              <a:rPr lang="en-US" sz="2000" b="0" i="1" u="none" strike="noStrike" baseline="0" dirty="0"/>
              <a:t>	E</a:t>
            </a:r>
            <a:r>
              <a:rPr lang="en-US" sz="2000" b="0" i="0" u="none" strike="noStrike" baseline="0" dirty="0"/>
              <a:t>1 × </a:t>
            </a:r>
            <a:r>
              <a:rPr lang="en-US" sz="2000" b="0" i="1" u="none" strike="noStrike" baseline="0" dirty="0"/>
              <a:t>E</a:t>
            </a:r>
            <a:r>
              <a:rPr lang="en-US" sz="2000" b="0" i="0" u="none" strike="noStrike" baseline="0" dirty="0"/>
              <a:t>2 × . . . × </a:t>
            </a:r>
            <a:r>
              <a:rPr lang="en-US" sz="2000" b="0" i="1" u="none" strike="noStrike" baseline="0" dirty="0"/>
              <a:t>En</a:t>
            </a:r>
            <a:r>
              <a:rPr lang="en-US" sz="2000" b="0" i="0" u="none" strike="noStrike" baseline="0" dirty="0"/>
              <a:t>.</a:t>
            </a:r>
          </a:p>
          <a:p>
            <a:pPr marL="285750" indent="-285750" algn="just">
              <a:buFont typeface="Arial" panose="020B0604020202020204" pitchFamily="34" charset="0"/>
              <a:buChar char="•"/>
            </a:pPr>
            <a:r>
              <a:rPr lang="en-US" sz="2000" b="0" i="0" u="none" strike="noStrike" baseline="0" dirty="0"/>
              <a:t>Each of the entity types </a:t>
            </a:r>
            <a:r>
              <a:rPr lang="en-US" sz="2000" b="0" i="1" u="none" strike="noStrike" baseline="0" dirty="0"/>
              <a:t>E</a:t>
            </a:r>
            <a:r>
              <a:rPr lang="en-US" sz="2000" b="0" i="0" u="none" strike="noStrike" baseline="0" dirty="0"/>
              <a:t>1, </a:t>
            </a:r>
            <a:r>
              <a:rPr lang="en-US" sz="2000" b="0" i="1" u="none" strike="noStrike" baseline="0" dirty="0"/>
              <a:t>E</a:t>
            </a:r>
            <a:r>
              <a:rPr lang="en-US" sz="2000" b="0" i="0" u="none" strike="noStrike" baseline="0" dirty="0"/>
              <a:t>2, . . . , </a:t>
            </a:r>
            <a:r>
              <a:rPr lang="en-US" sz="2000" b="0" i="1" u="none" strike="noStrike" baseline="0" dirty="0"/>
              <a:t>En </a:t>
            </a:r>
            <a:r>
              <a:rPr lang="en-US" sz="2000" b="0" i="0" u="none" strike="noStrike" baseline="0" dirty="0"/>
              <a:t>is said to </a:t>
            </a:r>
            <a:r>
              <a:rPr lang="en-US" sz="2000" b="1" i="0" u="none" strike="noStrike" baseline="0" dirty="0"/>
              <a:t>participate </a:t>
            </a:r>
            <a:r>
              <a:rPr lang="en-US" sz="2000" b="0" i="0" u="none" strike="noStrike" baseline="0" dirty="0"/>
              <a:t>in the relationship type </a:t>
            </a:r>
            <a:r>
              <a:rPr lang="en-US" sz="2000" b="0" i="1" u="none" strike="noStrike" baseline="0" dirty="0"/>
              <a:t>R</a:t>
            </a:r>
            <a:r>
              <a:rPr lang="en-US" sz="2000" b="0" i="0" u="none" strike="noStrike" baseline="0" dirty="0"/>
              <a:t>;</a:t>
            </a:r>
            <a:endParaRPr lang="en-US" sz="2000" dirty="0"/>
          </a:p>
          <a:p>
            <a:pPr marL="285750" indent="-285750" algn="just">
              <a:buFont typeface="Arial" panose="020B0604020202020204" pitchFamily="34" charset="0"/>
              <a:buChar char="•"/>
            </a:pPr>
            <a:r>
              <a:rPr lang="en-US" sz="2000" b="0" i="0" u="none" strike="noStrike" baseline="0" dirty="0"/>
              <a:t>similarly, each of the individual entities </a:t>
            </a:r>
            <a:r>
              <a:rPr lang="en-US" sz="2000" b="0" i="1" u="none" strike="noStrike" baseline="0" dirty="0"/>
              <a:t>e</a:t>
            </a:r>
            <a:r>
              <a:rPr lang="en-US" sz="2000" b="0" i="0" u="none" strike="noStrike" baseline="0" dirty="0"/>
              <a:t>1, </a:t>
            </a:r>
            <a:r>
              <a:rPr lang="en-US" sz="2000" b="0" i="1" u="none" strike="noStrike" baseline="0" dirty="0"/>
              <a:t>e</a:t>
            </a:r>
            <a:r>
              <a:rPr lang="en-US" sz="2000" b="0" i="0" u="none" strike="noStrike" baseline="0" dirty="0"/>
              <a:t>2, . . . , </a:t>
            </a:r>
            <a:r>
              <a:rPr lang="en-US" sz="2000" b="0" i="1" u="none" strike="noStrike" baseline="0" dirty="0" err="1"/>
              <a:t>en</a:t>
            </a:r>
            <a:r>
              <a:rPr lang="en-US" sz="2000" b="0" i="1" u="none" strike="noStrike" baseline="0" dirty="0"/>
              <a:t> </a:t>
            </a:r>
            <a:r>
              <a:rPr lang="en-US" sz="2000" b="0" i="0" u="none" strike="noStrike" baseline="0" dirty="0"/>
              <a:t>is said to </a:t>
            </a:r>
            <a:r>
              <a:rPr lang="en-US" sz="2000" b="1" i="0" u="none" strike="noStrike" baseline="0" dirty="0"/>
              <a:t>participate </a:t>
            </a:r>
            <a:r>
              <a:rPr lang="en-US" sz="2000" b="0" i="0" u="none" strike="noStrike" baseline="0" dirty="0"/>
              <a:t>in the relationship instance </a:t>
            </a:r>
            <a:r>
              <a:rPr lang="en-US" sz="2000" b="0" i="1" u="none" strike="noStrike" baseline="0" dirty="0" err="1"/>
              <a:t>ri</a:t>
            </a:r>
            <a:r>
              <a:rPr lang="en-US" sz="2000" b="0" i="1" u="none" strike="noStrike" baseline="0" dirty="0"/>
              <a:t> </a:t>
            </a:r>
            <a:r>
              <a:rPr lang="en-US" sz="2000" b="0" i="0" u="none" strike="noStrike" baseline="0" dirty="0"/>
              <a:t>= (</a:t>
            </a:r>
            <a:r>
              <a:rPr lang="en-US" sz="2000" b="0" i="1" u="none" strike="noStrike" baseline="0" dirty="0"/>
              <a:t>e</a:t>
            </a:r>
            <a:r>
              <a:rPr lang="en-US" sz="2000" b="0" i="0" u="none" strike="noStrike" baseline="0" dirty="0"/>
              <a:t>1, </a:t>
            </a:r>
            <a:r>
              <a:rPr lang="en-US" sz="2000" b="0" i="1" u="none" strike="noStrike" baseline="0" dirty="0"/>
              <a:t>e</a:t>
            </a:r>
            <a:r>
              <a:rPr lang="en-US" sz="2000" b="0" i="0" u="none" strike="noStrike" baseline="0" dirty="0"/>
              <a:t>2, . . . , </a:t>
            </a:r>
            <a:r>
              <a:rPr lang="en-US" sz="2000" b="0" i="1" u="none" strike="noStrike" baseline="0" dirty="0" err="1"/>
              <a:t>en</a:t>
            </a:r>
            <a:r>
              <a:rPr lang="en-US" sz="2000" b="0" i="0" u="none" strike="noStrike" baseline="0" dirty="0"/>
              <a:t>).</a:t>
            </a:r>
            <a:endParaRPr lang="en-US" sz="2000" dirty="0"/>
          </a:p>
        </p:txBody>
      </p:sp>
      <p:pic>
        <p:nvPicPr>
          <p:cNvPr id="4" name="Picture 3">
            <a:extLst>
              <a:ext uri="{FF2B5EF4-FFF2-40B4-BE49-F238E27FC236}">
                <a16:creationId xmlns:a16="http://schemas.microsoft.com/office/drawing/2014/main" id="{23D5A52A-2381-0F43-C23F-61271593FF1C}"/>
              </a:ext>
            </a:extLst>
          </p:cNvPr>
          <p:cNvPicPr>
            <a:picLocks noChangeAspect="1"/>
          </p:cNvPicPr>
          <p:nvPr/>
        </p:nvPicPr>
        <p:blipFill>
          <a:blip r:embed="rId2"/>
          <a:stretch>
            <a:fillRect/>
          </a:stretch>
        </p:blipFill>
        <p:spPr>
          <a:xfrm>
            <a:off x="3038475" y="2712526"/>
            <a:ext cx="6115050" cy="3695700"/>
          </a:xfrm>
          <a:prstGeom prst="rect">
            <a:avLst/>
          </a:prstGeom>
        </p:spPr>
      </p:pic>
    </p:spTree>
    <p:extLst>
      <p:ext uri="{BB962C8B-B14F-4D97-AF65-F5344CB8AC3E}">
        <p14:creationId xmlns:p14="http://schemas.microsoft.com/office/powerpoint/2010/main" val="16381290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9B9A0E-9843-4933-88B9-C3CEE5FA533A}"/>
              </a:ext>
            </a:extLst>
          </p:cNvPr>
          <p:cNvSpPr txBox="1"/>
          <p:nvPr/>
        </p:nvSpPr>
        <p:spPr>
          <a:xfrm>
            <a:off x="325464" y="340963"/>
            <a:ext cx="11701221" cy="3127010"/>
          </a:xfrm>
          <a:prstGeom prst="rect">
            <a:avLst/>
          </a:prstGeom>
          <a:noFill/>
        </p:spPr>
        <p:txBody>
          <a:bodyPr wrap="square" rtlCol="0">
            <a:spAutoFit/>
          </a:bodyPr>
          <a:lstStyle/>
          <a:p>
            <a:pPr marL="342900" marR="334645" lvl="0" indent="-342900" algn="just">
              <a:lnSpc>
                <a:spcPct val="98000"/>
              </a:lnSpc>
              <a:buFont typeface="Wingdings" panose="05000000000000000000" pitchFamily="2" charset="2"/>
              <a:buChar char=""/>
              <a:tabLst>
                <a:tab pos="722630" algn="l"/>
              </a:tabLst>
            </a:pPr>
            <a:r>
              <a:rPr lang="en-US" sz="2000" dirty="0">
                <a:effectLst/>
                <a:ea typeface="Calibri" panose="020F0502020204030204" pitchFamily="34" charset="0"/>
              </a:rPr>
              <a:t>consider</a:t>
            </a:r>
            <a:r>
              <a:rPr lang="en-US" sz="2000" spc="-20" dirty="0">
                <a:effectLst/>
                <a:ea typeface="Calibri" panose="020F0502020204030204" pitchFamily="34" charset="0"/>
              </a:rPr>
              <a:t> </a:t>
            </a:r>
            <a:r>
              <a:rPr lang="en-US" sz="2000" dirty="0">
                <a:effectLst/>
                <a:ea typeface="Calibri" panose="020F0502020204030204" pitchFamily="34" charset="0"/>
              </a:rPr>
              <a:t>a</a:t>
            </a:r>
            <a:r>
              <a:rPr lang="en-US" sz="2000" spc="-20" dirty="0">
                <a:effectLst/>
                <a:ea typeface="Calibri" panose="020F0502020204030204" pitchFamily="34" charset="0"/>
              </a:rPr>
              <a:t> </a:t>
            </a:r>
            <a:r>
              <a:rPr lang="en-US" sz="2000" dirty="0">
                <a:effectLst/>
                <a:ea typeface="Calibri" panose="020F0502020204030204" pitchFamily="34" charset="0"/>
              </a:rPr>
              <a:t>relationship</a:t>
            </a:r>
            <a:r>
              <a:rPr lang="en-US" sz="2000" spc="-20" dirty="0">
                <a:effectLst/>
                <a:ea typeface="Calibri" panose="020F0502020204030204" pitchFamily="34" charset="0"/>
              </a:rPr>
              <a:t> </a:t>
            </a:r>
            <a:r>
              <a:rPr lang="en-US" sz="2000" dirty="0">
                <a:effectLst/>
                <a:ea typeface="Calibri" panose="020F0502020204030204" pitchFamily="34" charset="0"/>
              </a:rPr>
              <a:t>type</a:t>
            </a:r>
            <a:r>
              <a:rPr lang="en-US" sz="2000" spc="-20" dirty="0">
                <a:effectLst/>
                <a:ea typeface="Calibri" panose="020F0502020204030204" pitchFamily="34" charset="0"/>
              </a:rPr>
              <a:t> </a:t>
            </a:r>
            <a:r>
              <a:rPr lang="en-US" sz="2000" dirty="0">
                <a:effectLst/>
                <a:ea typeface="Calibri" panose="020F0502020204030204" pitchFamily="34" charset="0"/>
              </a:rPr>
              <a:t>WORKS_FOR</a:t>
            </a:r>
            <a:r>
              <a:rPr lang="en-US" sz="2000" spc="-20" dirty="0">
                <a:effectLst/>
                <a:ea typeface="Calibri" panose="020F0502020204030204" pitchFamily="34" charset="0"/>
              </a:rPr>
              <a:t> </a:t>
            </a:r>
            <a:r>
              <a:rPr lang="en-US" sz="2000" dirty="0">
                <a:effectLst/>
                <a:ea typeface="Calibri" panose="020F0502020204030204" pitchFamily="34" charset="0"/>
              </a:rPr>
              <a:t>between</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5" dirty="0">
                <a:effectLst/>
                <a:ea typeface="Calibri" panose="020F0502020204030204" pitchFamily="34" charset="0"/>
              </a:rPr>
              <a:t> </a:t>
            </a:r>
            <a:r>
              <a:rPr lang="en-US" sz="2000" dirty="0">
                <a:effectLst/>
                <a:ea typeface="Calibri" panose="020F0502020204030204" pitchFamily="34" charset="0"/>
              </a:rPr>
              <a:t>two</a:t>
            </a:r>
            <a:r>
              <a:rPr lang="en-US" sz="2000" spc="-25" dirty="0">
                <a:effectLst/>
                <a:ea typeface="Calibri" panose="020F0502020204030204" pitchFamily="34" charset="0"/>
              </a:rPr>
              <a:t> </a:t>
            </a:r>
            <a:r>
              <a:rPr lang="en-US" sz="2000" dirty="0">
                <a:effectLst/>
                <a:ea typeface="Calibri" panose="020F0502020204030204" pitchFamily="34" charset="0"/>
              </a:rPr>
              <a:t>entity</a:t>
            </a:r>
            <a:r>
              <a:rPr lang="en-US" sz="2000" spc="5" dirty="0">
                <a:effectLst/>
                <a:ea typeface="Calibri" panose="020F0502020204030204" pitchFamily="34" charset="0"/>
              </a:rPr>
              <a:t> </a:t>
            </a:r>
            <a:r>
              <a:rPr lang="en-US" sz="2000" dirty="0">
                <a:effectLst/>
                <a:ea typeface="Calibri" panose="020F0502020204030204" pitchFamily="34" charset="0"/>
              </a:rPr>
              <a:t>types</a:t>
            </a:r>
            <a:r>
              <a:rPr lang="en-US" sz="2000" spc="-10" dirty="0">
                <a:effectLst/>
                <a:ea typeface="Calibri" panose="020F0502020204030204" pitchFamily="34" charset="0"/>
              </a:rPr>
              <a:t> </a:t>
            </a:r>
            <a:r>
              <a:rPr lang="en-US" sz="2000" dirty="0">
                <a:effectLst/>
                <a:ea typeface="Calibri" panose="020F0502020204030204" pitchFamily="34" charset="0"/>
              </a:rPr>
              <a:t>EMPLOYEE</a:t>
            </a:r>
            <a:r>
              <a:rPr lang="en-US" sz="2000" spc="-10" dirty="0">
                <a:effectLst/>
                <a:ea typeface="Calibri" panose="020F0502020204030204" pitchFamily="34" charset="0"/>
              </a:rPr>
              <a:t> </a:t>
            </a:r>
            <a:r>
              <a:rPr lang="en-US" sz="2000" dirty="0">
                <a:effectLst/>
                <a:ea typeface="Calibri" panose="020F0502020204030204" pitchFamily="34" charset="0"/>
              </a:rPr>
              <a:t>and</a:t>
            </a:r>
            <a:r>
              <a:rPr lang="en-US" sz="2000" spc="-25" dirty="0">
                <a:effectLst/>
                <a:ea typeface="Calibri" panose="020F0502020204030204" pitchFamily="34" charset="0"/>
              </a:rPr>
              <a:t> </a:t>
            </a:r>
            <a:r>
              <a:rPr lang="en-US" sz="2000" dirty="0">
                <a:effectLst/>
                <a:ea typeface="Calibri" panose="020F0502020204030204" pitchFamily="34" charset="0"/>
              </a:rPr>
              <a:t>DEPARTMENT,</a:t>
            </a:r>
            <a:r>
              <a:rPr lang="en-US" sz="2000" spc="-30" dirty="0">
                <a:effectLst/>
                <a:ea typeface="Calibri" panose="020F0502020204030204" pitchFamily="34" charset="0"/>
              </a:rPr>
              <a:t> </a:t>
            </a:r>
            <a:r>
              <a:rPr lang="en-US" sz="2000" dirty="0">
                <a:effectLst/>
                <a:ea typeface="Calibri" panose="020F0502020204030204" pitchFamily="34" charset="0"/>
              </a:rPr>
              <a:t>which</a:t>
            </a:r>
            <a:r>
              <a:rPr lang="en-US" sz="2000" spc="-240" dirty="0">
                <a:effectLst/>
                <a:ea typeface="Calibri" panose="020F0502020204030204" pitchFamily="34" charset="0"/>
              </a:rPr>
              <a:t> </a:t>
            </a:r>
            <a:r>
              <a:rPr lang="en-US" sz="2000" dirty="0">
                <a:effectLst/>
                <a:ea typeface="Calibri" panose="020F0502020204030204" pitchFamily="34" charset="0"/>
              </a:rPr>
              <a:t>associates each employee with the department for which the employee works. Each relationship instance in</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relationship</a:t>
            </a:r>
            <a:r>
              <a:rPr lang="en-US" sz="2000" spc="-20" dirty="0">
                <a:effectLst/>
                <a:ea typeface="Calibri" panose="020F0502020204030204" pitchFamily="34" charset="0"/>
              </a:rPr>
              <a:t> </a:t>
            </a:r>
            <a:r>
              <a:rPr lang="en-US" sz="2000" dirty="0">
                <a:effectLst/>
                <a:ea typeface="Calibri" panose="020F0502020204030204" pitchFamily="34" charset="0"/>
              </a:rPr>
              <a:t>set</a:t>
            </a:r>
            <a:r>
              <a:rPr lang="en-US" sz="2000" spc="-25" dirty="0">
                <a:effectLst/>
                <a:ea typeface="Calibri" panose="020F0502020204030204" pitchFamily="34" charset="0"/>
              </a:rPr>
              <a:t> </a:t>
            </a:r>
            <a:r>
              <a:rPr lang="en-US" sz="2000" dirty="0">
                <a:effectLst/>
                <a:ea typeface="Calibri" panose="020F0502020204030204" pitchFamily="34" charset="0"/>
              </a:rPr>
              <a:t>WORKS_FOR</a:t>
            </a:r>
            <a:r>
              <a:rPr lang="en-US" sz="2000" spc="-15" dirty="0">
                <a:effectLst/>
                <a:ea typeface="Calibri" panose="020F0502020204030204" pitchFamily="34" charset="0"/>
              </a:rPr>
              <a:t> </a:t>
            </a:r>
            <a:r>
              <a:rPr lang="en-US" sz="2000" dirty="0">
                <a:effectLst/>
                <a:ea typeface="Calibri" panose="020F0502020204030204" pitchFamily="34" charset="0"/>
              </a:rPr>
              <a:t>associates</a:t>
            </a:r>
            <a:r>
              <a:rPr lang="en-US" sz="2000" spc="-5" dirty="0">
                <a:effectLst/>
                <a:ea typeface="Calibri" panose="020F0502020204030204" pitchFamily="34" charset="0"/>
              </a:rPr>
              <a:t> </a:t>
            </a:r>
            <a:r>
              <a:rPr lang="en-US" sz="2000" dirty="0">
                <a:effectLst/>
                <a:ea typeface="Calibri" panose="020F0502020204030204" pitchFamily="34" charset="0"/>
              </a:rPr>
              <a:t>one</a:t>
            </a:r>
            <a:r>
              <a:rPr lang="en-US" sz="2000" spc="10" dirty="0">
                <a:effectLst/>
                <a:ea typeface="Calibri" panose="020F0502020204030204" pitchFamily="34" charset="0"/>
              </a:rPr>
              <a:t> </a:t>
            </a:r>
            <a:r>
              <a:rPr lang="en-US" sz="2000" dirty="0">
                <a:effectLst/>
                <a:ea typeface="Calibri" panose="020F0502020204030204" pitchFamily="34" charset="0"/>
              </a:rPr>
              <a:t>EMPLOYEE</a:t>
            </a:r>
            <a:r>
              <a:rPr lang="en-US" sz="2000" spc="-5" dirty="0">
                <a:effectLst/>
                <a:ea typeface="Calibri" panose="020F0502020204030204" pitchFamily="34" charset="0"/>
              </a:rPr>
              <a:t> </a:t>
            </a:r>
            <a:r>
              <a:rPr lang="en-US" sz="2000" dirty="0">
                <a:effectLst/>
                <a:ea typeface="Calibri" panose="020F0502020204030204" pitchFamily="34" charset="0"/>
              </a:rPr>
              <a:t>entity</a:t>
            </a:r>
            <a:r>
              <a:rPr lang="en-US" sz="2000" spc="-15" dirty="0">
                <a:effectLst/>
                <a:ea typeface="Calibri" panose="020F0502020204030204" pitchFamily="34" charset="0"/>
              </a:rPr>
              <a:t> </a:t>
            </a:r>
            <a:r>
              <a:rPr lang="en-US" sz="2000" dirty="0">
                <a:effectLst/>
                <a:ea typeface="Calibri" panose="020F0502020204030204" pitchFamily="34" charset="0"/>
              </a:rPr>
              <a:t>and</a:t>
            </a:r>
            <a:r>
              <a:rPr lang="en-US" sz="2000" spc="5" dirty="0">
                <a:effectLst/>
                <a:ea typeface="Calibri" panose="020F0502020204030204" pitchFamily="34" charset="0"/>
              </a:rPr>
              <a:t> </a:t>
            </a:r>
            <a:r>
              <a:rPr lang="en-US" sz="2000" dirty="0">
                <a:effectLst/>
                <a:ea typeface="Calibri" panose="020F0502020204030204" pitchFamily="34" charset="0"/>
              </a:rPr>
              <a:t>one</a:t>
            </a:r>
            <a:r>
              <a:rPr lang="en-US" sz="2000" spc="-10" dirty="0">
                <a:effectLst/>
                <a:ea typeface="Calibri" panose="020F0502020204030204" pitchFamily="34" charset="0"/>
              </a:rPr>
              <a:t> </a:t>
            </a:r>
            <a:r>
              <a:rPr lang="en-US" sz="2000" dirty="0">
                <a:effectLst/>
                <a:ea typeface="Calibri" panose="020F0502020204030204" pitchFamily="34" charset="0"/>
              </a:rPr>
              <a:t>DEPARTMENT</a:t>
            </a:r>
            <a:r>
              <a:rPr lang="en-US" sz="2000" spc="-5" dirty="0">
                <a:effectLst/>
                <a:ea typeface="Calibri" panose="020F0502020204030204" pitchFamily="34" charset="0"/>
              </a:rPr>
              <a:t> </a:t>
            </a:r>
            <a:r>
              <a:rPr lang="en-US" sz="2000" dirty="0">
                <a:effectLst/>
                <a:ea typeface="Calibri" panose="020F0502020204030204" pitchFamily="34" charset="0"/>
              </a:rPr>
              <a:t>entity.</a:t>
            </a:r>
          </a:p>
          <a:p>
            <a:pPr marL="342900" marR="0" lvl="0" indent="-342900" algn="just">
              <a:buFont typeface="Wingdings" panose="05000000000000000000" pitchFamily="2" charset="2"/>
              <a:buChar char=""/>
              <a:tabLst>
                <a:tab pos="722630" algn="l"/>
              </a:tabLst>
            </a:pP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employees</a:t>
            </a:r>
            <a:r>
              <a:rPr lang="en-US" sz="2000" spc="-10" dirty="0">
                <a:effectLst/>
                <a:ea typeface="Calibri" panose="020F0502020204030204" pitchFamily="34" charset="0"/>
              </a:rPr>
              <a:t> </a:t>
            </a:r>
            <a:r>
              <a:rPr lang="en-US" sz="2000" dirty="0">
                <a:effectLst/>
                <a:ea typeface="Calibri" panose="020F0502020204030204" pitchFamily="34" charset="0"/>
              </a:rPr>
              <a:t>e1,</a:t>
            </a:r>
            <a:r>
              <a:rPr lang="en-US" sz="2000" spc="-20" dirty="0">
                <a:effectLst/>
                <a:ea typeface="Calibri" panose="020F0502020204030204" pitchFamily="34" charset="0"/>
              </a:rPr>
              <a:t> </a:t>
            </a:r>
            <a:r>
              <a:rPr lang="en-US" sz="2000" dirty="0">
                <a:effectLst/>
                <a:ea typeface="Calibri" panose="020F0502020204030204" pitchFamily="34" charset="0"/>
              </a:rPr>
              <a:t>e3,</a:t>
            </a:r>
            <a:r>
              <a:rPr lang="en-US" sz="2000" spc="-25" dirty="0">
                <a:effectLst/>
                <a:ea typeface="Calibri" panose="020F0502020204030204" pitchFamily="34" charset="0"/>
              </a:rPr>
              <a:t> </a:t>
            </a:r>
            <a:r>
              <a:rPr lang="en-US" sz="2000" dirty="0">
                <a:effectLst/>
                <a:ea typeface="Calibri" panose="020F0502020204030204" pitchFamily="34" charset="0"/>
              </a:rPr>
              <a:t>and</a:t>
            </a:r>
            <a:r>
              <a:rPr lang="en-US" sz="2000" spc="-10" dirty="0">
                <a:effectLst/>
                <a:ea typeface="Calibri" panose="020F0502020204030204" pitchFamily="34" charset="0"/>
              </a:rPr>
              <a:t> </a:t>
            </a:r>
            <a:r>
              <a:rPr lang="en-US" sz="2000" dirty="0">
                <a:effectLst/>
                <a:ea typeface="Calibri" panose="020F0502020204030204" pitchFamily="34" charset="0"/>
              </a:rPr>
              <a:t>e6</a:t>
            </a:r>
            <a:r>
              <a:rPr lang="en-US" sz="2000" spc="-20" dirty="0">
                <a:effectLst/>
                <a:ea typeface="Calibri" panose="020F0502020204030204" pitchFamily="34" charset="0"/>
              </a:rPr>
              <a:t> </a:t>
            </a:r>
            <a:r>
              <a:rPr lang="en-US" sz="2000" dirty="0">
                <a:effectLst/>
                <a:ea typeface="Calibri" panose="020F0502020204030204" pitchFamily="34" charset="0"/>
              </a:rPr>
              <a:t>work</a:t>
            </a:r>
            <a:r>
              <a:rPr lang="en-US" sz="2000" spc="-5" dirty="0">
                <a:effectLst/>
                <a:ea typeface="Calibri" panose="020F0502020204030204" pitchFamily="34" charset="0"/>
              </a:rPr>
              <a:t> </a:t>
            </a:r>
            <a:r>
              <a:rPr lang="en-US" sz="2000" dirty="0">
                <a:effectLst/>
                <a:ea typeface="Calibri" panose="020F0502020204030204" pitchFamily="34" charset="0"/>
              </a:rPr>
              <a:t>for</a:t>
            </a:r>
            <a:r>
              <a:rPr lang="en-US" sz="2000" spc="10" dirty="0">
                <a:effectLst/>
                <a:ea typeface="Calibri" panose="020F0502020204030204" pitchFamily="34" charset="0"/>
              </a:rPr>
              <a:t> </a:t>
            </a:r>
            <a:r>
              <a:rPr lang="en-US" sz="2000" dirty="0">
                <a:effectLst/>
                <a:ea typeface="Calibri" panose="020F0502020204030204" pitchFamily="34" charset="0"/>
              </a:rPr>
              <a:t>department</a:t>
            </a:r>
            <a:r>
              <a:rPr lang="en-US" sz="2000" spc="-15" dirty="0">
                <a:effectLst/>
                <a:ea typeface="Calibri" panose="020F0502020204030204" pitchFamily="34" charset="0"/>
              </a:rPr>
              <a:t> </a:t>
            </a:r>
            <a:r>
              <a:rPr lang="en-US" sz="2000" dirty="0">
                <a:effectLst/>
                <a:ea typeface="Calibri" panose="020F0502020204030204" pitchFamily="34" charset="0"/>
              </a:rPr>
              <a:t>d1</a:t>
            </a:r>
          </a:p>
          <a:p>
            <a:pPr marL="342900" marR="0" lvl="0" indent="-342900" algn="just">
              <a:buFont typeface="Wingdings" panose="05000000000000000000" pitchFamily="2" charset="2"/>
              <a:buChar char=""/>
              <a:tabLst>
                <a:tab pos="722630" algn="l"/>
              </a:tabLst>
            </a:pP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employees</a:t>
            </a:r>
            <a:r>
              <a:rPr lang="en-US" sz="2000" spc="-10" dirty="0">
                <a:effectLst/>
                <a:ea typeface="Calibri" panose="020F0502020204030204" pitchFamily="34" charset="0"/>
              </a:rPr>
              <a:t> </a:t>
            </a:r>
            <a:r>
              <a:rPr lang="en-US" sz="2000" dirty="0">
                <a:effectLst/>
                <a:ea typeface="Calibri" panose="020F0502020204030204" pitchFamily="34" charset="0"/>
              </a:rPr>
              <a:t>e2</a:t>
            </a:r>
            <a:r>
              <a:rPr lang="en-US" sz="2000" spc="-15"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e4</a:t>
            </a:r>
            <a:r>
              <a:rPr lang="en-US" sz="2000" spc="-15" dirty="0">
                <a:effectLst/>
                <a:ea typeface="Calibri" panose="020F0502020204030204" pitchFamily="34" charset="0"/>
              </a:rPr>
              <a:t> </a:t>
            </a:r>
            <a:r>
              <a:rPr lang="en-US" sz="2000" dirty="0">
                <a:effectLst/>
                <a:ea typeface="Calibri" panose="020F0502020204030204" pitchFamily="34" charset="0"/>
              </a:rPr>
              <a:t>work</a:t>
            </a:r>
            <a:r>
              <a:rPr lang="en-US" sz="2000" spc="-10" dirty="0">
                <a:effectLst/>
                <a:ea typeface="Calibri" panose="020F0502020204030204" pitchFamily="34" charset="0"/>
              </a:rPr>
              <a:t> </a:t>
            </a:r>
            <a:r>
              <a:rPr lang="en-US" sz="2000" dirty="0">
                <a:effectLst/>
                <a:ea typeface="Calibri" panose="020F0502020204030204" pitchFamily="34" charset="0"/>
              </a:rPr>
              <a:t>for</a:t>
            </a:r>
            <a:r>
              <a:rPr lang="en-US" sz="2000" spc="-10" dirty="0">
                <a:effectLst/>
                <a:ea typeface="Calibri" panose="020F0502020204030204" pitchFamily="34" charset="0"/>
              </a:rPr>
              <a:t> </a:t>
            </a:r>
            <a:r>
              <a:rPr lang="en-US" sz="2000" dirty="0">
                <a:effectLst/>
                <a:ea typeface="Calibri" panose="020F0502020204030204" pitchFamily="34" charset="0"/>
              </a:rPr>
              <a:t>department</a:t>
            </a:r>
            <a:r>
              <a:rPr lang="en-US" sz="2000" spc="5" dirty="0">
                <a:effectLst/>
                <a:ea typeface="Calibri" panose="020F0502020204030204" pitchFamily="34" charset="0"/>
              </a:rPr>
              <a:t> </a:t>
            </a:r>
            <a:r>
              <a:rPr lang="en-US" sz="2000" dirty="0">
                <a:effectLst/>
                <a:ea typeface="Calibri" panose="020F0502020204030204" pitchFamily="34" charset="0"/>
              </a:rPr>
              <a:t>d2;</a:t>
            </a:r>
            <a:r>
              <a:rPr lang="en-US" sz="2000" spc="5" dirty="0">
                <a:effectLst/>
                <a:ea typeface="Calibri" panose="020F0502020204030204" pitchFamily="34" charset="0"/>
              </a:rPr>
              <a:t> </a:t>
            </a:r>
            <a:r>
              <a:rPr lang="en-US" sz="2000" dirty="0">
                <a:effectLst/>
                <a:ea typeface="Calibri" panose="020F0502020204030204" pitchFamily="34" charset="0"/>
              </a:rPr>
              <a:t>and</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employees</a:t>
            </a:r>
            <a:r>
              <a:rPr lang="en-US" sz="2000" spc="-10" dirty="0">
                <a:effectLst/>
                <a:ea typeface="Calibri" panose="020F0502020204030204" pitchFamily="34" charset="0"/>
              </a:rPr>
              <a:t> </a:t>
            </a:r>
            <a:r>
              <a:rPr lang="en-US" sz="2000" dirty="0">
                <a:effectLst/>
                <a:ea typeface="Calibri" panose="020F0502020204030204" pitchFamily="34" charset="0"/>
              </a:rPr>
              <a:t>e5</a:t>
            </a:r>
            <a:r>
              <a:rPr lang="en-US" sz="2000" spc="-15"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e7</a:t>
            </a:r>
            <a:r>
              <a:rPr lang="en-US" sz="2000" spc="-15" dirty="0">
                <a:effectLst/>
                <a:ea typeface="Calibri" panose="020F0502020204030204" pitchFamily="34" charset="0"/>
              </a:rPr>
              <a:t> </a:t>
            </a:r>
            <a:r>
              <a:rPr lang="en-US" sz="2000" dirty="0">
                <a:effectLst/>
                <a:ea typeface="Calibri" panose="020F0502020204030204" pitchFamily="34" charset="0"/>
              </a:rPr>
              <a:t>work</a:t>
            </a:r>
            <a:r>
              <a:rPr lang="en-US" sz="2000" spc="-10" dirty="0">
                <a:effectLst/>
                <a:ea typeface="Calibri" panose="020F0502020204030204" pitchFamily="34" charset="0"/>
              </a:rPr>
              <a:t> </a:t>
            </a:r>
            <a:r>
              <a:rPr lang="en-US" sz="2000" dirty="0">
                <a:effectLst/>
                <a:ea typeface="Calibri" panose="020F0502020204030204" pitchFamily="34" charset="0"/>
              </a:rPr>
              <a:t>for</a:t>
            </a:r>
            <a:r>
              <a:rPr lang="en-US" sz="2000" spc="10" dirty="0">
                <a:effectLst/>
                <a:ea typeface="Calibri" panose="020F0502020204030204" pitchFamily="34" charset="0"/>
              </a:rPr>
              <a:t> </a:t>
            </a:r>
            <a:r>
              <a:rPr lang="en-US" sz="2000" dirty="0">
                <a:effectLst/>
                <a:ea typeface="Calibri" panose="020F0502020204030204" pitchFamily="34" charset="0"/>
              </a:rPr>
              <a:t>department</a:t>
            </a:r>
            <a:r>
              <a:rPr lang="en-US" sz="2000" spc="-20" dirty="0">
                <a:effectLst/>
                <a:ea typeface="Calibri" panose="020F0502020204030204" pitchFamily="34" charset="0"/>
              </a:rPr>
              <a:t> </a:t>
            </a:r>
            <a:r>
              <a:rPr lang="en-US" sz="2000" dirty="0">
                <a:effectLst/>
                <a:ea typeface="Calibri" panose="020F0502020204030204" pitchFamily="34" charset="0"/>
              </a:rPr>
              <a:t>d3</a:t>
            </a:r>
          </a:p>
          <a:p>
            <a:pPr marL="342900" marR="227965" lvl="0" indent="-342900" algn="just">
              <a:lnSpc>
                <a:spcPct val="98000"/>
              </a:lnSpc>
              <a:buFont typeface="Wingdings" panose="05000000000000000000" pitchFamily="2" charset="2"/>
              <a:buChar char=""/>
              <a:tabLst>
                <a:tab pos="722630" algn="l"/>
              </a:tabLst>
            </a:pPr>
            <a:r>
              <a:rPr lang="en-US" sz="2000" dirty="0">
                <a:effectLst/>
                <a:ea typeface="Calibri" panose="020F0502020204030204" pitchFamily="34" charset="0"/>
              </a:rPr>
              <a:t>In ER diagrams, relationship types are displayed as diamond-shaped boxes, which are connected by straight</a:t>
            </a:r>
            <a:r>
              <a:rPr lang="en-US" sz="2000" spc="5" dirty="0">
                <a:effectLst/>
                <a:ea typeface="Calibri" panose="020F0502020204030204" pitchFamily="34" charset="0"/>
              </a:rPr>
              <a:t> </a:t>
            </a:r>
            <a:r>
              <a:rPr lang="en-US" sz="2000" dirty="0">
                <a:effectLst/>
                <a:ea typeface="Calibri" panose="020F0502020204030204" pitchFamily="34" charset="0"/>
              </a:rPr>
              <a:t>lines</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2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rectangular</a:t>
            </a:r>
            <a:r>
              <a:rPr lang="en-US" sz="2000" spc="-20" dirty="0">
                <a:effectLst/>
                <a:ea typeface="Calibri" panose="020F0502020204030204" pitchFamily="34" charset="0"/>
              </a:rPr>
              <a:t> </a:t>
            </a:r>
            <a:r>
              <a:rPr lang="en-US" sz="2000" dirty="0">
                <a:effectLst/>
                <a:ea typeface="Calibri" panose="020F0502020204030204" pitchFamily="34" charset="0"/>
              </a:rPr>
              <a:t>boxes</a:t>
            </a:r>
            <a:r>
              <a:rPr lang="en-US" sz="2000" spc="-10" dirty="0">
                <a:effectLst/>
                <a:ea typeface="Calibri" panose="020F0502020204030204" pitchFamily="34" charset="0"/>
              </a:rPr>
              <a:t> </a:t>
            </a:r>
            <a:r>
              <a:rPr lang="en-US" sz="2000" dirty="0">
                <a:effectLst/>
                <a:ea typeface="Calibri" panose="020F0502020204030204" pitchFamily="34" charset="0"/>
              </a:rPr>
              <a:t>representing</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participating</a:t>
            </a:r>
            <a:r>
              <a:rPr lang="en-US" sz="2000" spc="-10"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types.</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relationship</a:t>
            </a:r>
            <a:r>
              <a:rPr lang="en-US" sz="2000" spc="-15" dirty="0">
                <a:effectLst/>
                <a:ea typeface="Calibri" panose="020F0502020204030204" pitchFamily="34" charset="0"/>
              </a:rPr>
              <a:t> </a:t>
            </a:r>
            <a:r>
              <a:rPr lang="en-US" sz="2000" dirty="0">
                <a:effectLst/>
                <a:ea typeface="Calibri" panose="020F0502020204030204" pitchFamily="34" charset="0"/>
              </a:rPr>
              <a:t>name</a:t>
            </a:r>
            <a:r>
              <a:rPr lang="en-US" sz="2000" spc="-15"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displayed</a:t>
            </a:r>
            <a:r>
              <a:rPr lang="en-US" sz="2000" spc="-45" dirty="0">
                <a:effectLst/>
                <a:ea typeface="Calibri" panose="020F0502020204030204" pitchFamily="34" charset="0"/>
              </a:rPr>
              <a:t> </a:t>
            </a:r>
            <a:r>
              <a:rPr lang="en-US" sz="2000" dirty="0">
                <a:effectLst/>
                <a:ea typeface="Calibri" panose="020F0502020204030204" pitchFamily="34" charset="0"/>
              </a:rPr>
              <a:t>in</a:t>
            </a:r>
            <a:r>
              <a:rPr lang="en-US" sz="2000" spc="-23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diamond-shaped</a:t>
            </a:r>
            <a:r>
              <a:rPr lang="en-US" sz="2000" spc="-10" dirty="0">
                <a:effectLst/>
                <a:ea typeface="Calibri" panose="020F0502020204030204" pitchFamily="34" charset="0"/>
              </a:rPr>
              <a:t> </a:t>
            </a:r>
            <a:r>
              <a:rPr lang="en-US" sz="2000" dirty="0">
                <a:effectLst/>
                <a:ea typeface="Calibri" panose="020F0502020204030204" pitchFamily="34" charset="0"/>
              </a:rPr>
              <a:t>box</a:t>
            </a:r>
          </a:p>
          <a:p>
            <a:endParaRPr lang="en-US" sz="2000" dirty="0"/>
          </a:p>
        </p:txBody>
      </p:sp>
      <p:pic>
        <p:nvPicPr>
          <p:cNvPr id="4" name="Picture 3">
            <a:extLst>
              <a:ext uri="{FF2B5EF4-FFF2-40B4-BE49-F238E27FC236}">
                <a16:creationId xmlns:a16="http://schemas.microsoft.com/office/drawing/2014/main" id="{2BA1E3B8-5CE2-4597-259E-A561EF9370BC}"/>
              </a:ext>
            </a:extLst>
          </p:cNvPr>
          <p:cNvPicPr>
            <a:picLocks noChangeAspect="1"/>
          </p:cNvPicPr>
          <p:nvPr/>
        </p:nvPicPr>
        <p:blipFill>
          <a:blip r:embed="rId2"/>
          <a:stretch>
            <a:fillRect/>
          </a:stretch>
        </p:blipFill>
        <p:spPr>
          <a:xfrm>
            <a:off x="2728911" y="3428999"/>
            <a:ext cx="6734175" cy="2200275"/>
          </a:xfrm>
          <a:prstGeom prst="rect">
            <a:avLst/>
          </a:prstGeom>
        </p:spPr>
      </p:pic>
    </p:spTree>
    <p:extLst>
      <p:ext uri="{BB962C8B-B14F-4D97-AF65-F5344CB8AC3E}">
        <p14:creationId xmlns:p14="http://schemas.microsoft.com/office/powerpoint/2010/main" val="41962004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B69691E8-CABA-9581-52DC-AD4C0113AFD3}"/>
              </a:ext>
            </a:extLst>
          </p:cNvPr>
          <p:cNvGraphicFramePr/>
          <p:nvPr>
            <p:extLst>
              <p:ext uri="{D42A27DB-BD31-4B8C-83A1-F6EECF244321}">
                <p14:modId xmlns:p14="http://schemas.microsoft.com/office/powerpoint/2010/main" val="1076006122"/>
              </p:ext>
            </p:extLst>
          </p:nvPr>
        </p:nvGraphicFramePr>
        <p:xfrm>
          <a:off x="356461" y="433952"/>
          <a:ext cx="11561736" cy="4804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CD56D551-12F4-31A8-D578-6FBB723E819C}"/>
              </a:ext>
            </a:extLst>
          </p:cNvPr>
          <p:cNvSpPr txBox="1"/>
          <p:nvPr/>
        </p:nvSpPr>
        <p:spPr>
          <a:xfrm>
            <a:off x="356461" y="1084881"/>
            <a:ext cx="11561736" cy="2580194"/>
          </a:xfrm>
          <a:prstGeom prst="rect">
            <a:avLst/>
          </a:prstGeom>
          <a:noFill/>
        </p:spPr>
        <p:txBody>
          <a:bodyPr wrap="square" rtlCol="0">
            <a:spAutoFit/>
          </a:bodyPr>
          <a:lstStyle/>
          <a:p>
            <a:pPr marL="342900" marR="0" lvl="0" indent="-342900" algn="just">
              <a:buFont typeface="Wingdings" panose="05000000000000000000" pitchFamily="2" charset="2"/>
              <a:buChar char=""/>
              <a:tabLst>
                <a:tab pos="597535" algn="l"/>
              </a:tabLst>
            </a:pPr>
            <a:r>
              <a:rPr lang="en-US" sz="2000" b="1" dirty="0">
                <a:effectLst/>
                <a:ea typeface="Calibri" panose="020F0502020204030204" pitchFamily="34" charset="0"/>
              </a:rPr>
              <a:t>Degree</a:t>
            </a:r>
            <a:r>
              <a:rPr lang="en-US" sz="2000" b="1" spc="-20" dirty="0">
                <a:effectLst/>
                <a:ea typeface="Calibri" panose="020F0502020204030204" pitchFamily="34" charset="0"/>
              </a:rPr>
              <a:t> </a:t>
            </a:r>
            <a:r>
              <a:rPr lang="en-US" sz="2000" b="1" dirty="0">
                <a:effectLst/>
                <a:ea typeface="Calibri" panose="020F0502020204030204" pitchFamily="34" charset="0"/>
              </a:rPr>
              <a:t>of</a:t>
            </a:r>
            <a:r>
              <a:rPr lang="en-US" sz="2000" b="1" spc="-5" dirty="0">
                <a:effectLst/>
                <a:ea typeface="Calibri" panose="020F0502020204030204" pitchFamily="34" charset="0"/>
              </a:rPr>
              <a:t> </a:t>
            </a:r>
            <a:r>
              <a:rPr lang="en-US" sz="2000" b="1" dirty="0">
                <a:effectLst/>
                <a:ea typeface="Calibri" panose="020F0502020204030204" pitchFamily="34" charset="0"/>
              </a:rPr>
              <a:t>a</a:t>
            </a:r>
            <a:r>
              <a:rPr lang="en-US" sz="2000" b="1" spc="-5" dirty="0">
                <a:effectLst/>
                <a:ea typeface="Calibri" panose="020F0502020204030204" pitchFamily="34" charset="0"/>
              </a:rPr>
              <a:t> </a:t>
            </a:r>
            <a:r>
              <a:rPr lang="en-US" sz="2000" b="1" dirty="0">
                <a:effectLst/>
                <a:ea typeface="Calibri" panose="020F0502020204030204" pitchFamily="34" charset="0"/>
              </a:rPr>
              <a:t>Relationship</a:t>
            </a:r>
            <a:r>
              <a:rPr lang="en-US" sz="2000" b="1" spc="-10" dirty="0">
                <a:effectLst/>
                <a:ea typeface="Calibri" panose="020F0502020204030204" pitchFamily="34" charset="0"/>
              </a:rPr>
              <a:t> </a:t>
            </a:r>
            <a:r>
              <a:rPr lang="en-US" sz="2000" b="1" dirty="0">
                <a:effectLst/>
                <a:ea typeface="Calibri" panose="020F0502020204030204" pitchFamily="34" charset="0"/>
              </a:rPr>
              <a:t>Type</a:t>
            </a:r>
            <a:r>
              <a:rPr lang="en-US" sz="2000" dirty="0">
                <a:effectLst/>
                <a:ea typeface="Calibri" panose="020F0502020204030204" pitchFamily="34" charset="0"/>
              </a:rPr>
              <a:t>:</a:t>
            </a:r>
            <a:r>
              <a:rPr lang="en-US" sz="2000" spc="21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degree</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a:effectLst/>
                <a:ea typeface="Calibri" panose="020F0502020204030204" pitchFamily="34" charset="0"/>
              </a:rPr>
              <a:t>relationship</a:t>
            </a:r>
            <a:r>
              <a:rPr lang="en-US" sz="2000" spc="-15" dirty="0">
                <a:effectLst/>
                <a:ea typeface="Calibri" panose="020F0502020204030204" pitchFamily="34" charset="0"/>
              </a:rPr>
              <a:t> </a:t>
            </a:r>
            <a:r>
              <a:rPr lang="en-US" sz="2000" dirty="0">
                <a:effectLst/>
                <a:ea typeface="Calibri" panose="020F0502020204030204" pitchFamily="34" charset="0"/>
              </a:rPr>
              <a:t>type</a:t>
            </a:r>
            <a:r>
              <a:rPr lang="en-US" sz="2000" spc="-15"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number</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5" dirty="0">
                <a:effectLst/>
                <a:ea typeface="Calibri" panose="020F0502020204030204" pitchFamily="34" charset="0"/>
              </a:rPr>
              <a:t> </a:t>
            </a:r>
            <a:r>
              <a:rPr lang="en-US" sz="2000" dirty="0">
                <a:effectLst/>
                <a:ea typeface="Calibri" panose="020F0502020204030204" pitchFamily="34" charset="0"/>
              </a:rPr>
              <a:t>participating</a:t>
            </a:r>
            <a:r>
              <a:rPr lang="en-US" sz="2000" spc="-10"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types.</a:t>
            </a:r>
          </a:p>
          <a:p>
            <a:pPr marR="0" lvl="0" algn="just">
              <a:lnSpc>
                <a:spcPts val="1330"/>
              </a:lnSpc>
              <a:tabLst>
                <a:tab pos="597535" algn="l"/>
              </a:tabLst>
            </a:pPr>
            <a:endParaRPr lang="en-US" sz="2000" dirty="0">
              <a:effectLst/>
              <a:ea typeface="Calibri" panose="020F0502020204030204" pitchFamily="34" charset="0"/>
            </a:endParaRPr>
          </a:p>
          <a:p>
            <a:pPr marL="342900" marR="0" lvl="0" indent="-342900" algn="just">
              <a:lnSpc>
                <a:spcPts val="1330"/>
              </a:lnSpc>
              <a:buFont typeface="Wingdings" panose="05000000000000000000" pitchFamily="2" charset="2"/>
              <a:buChar char=""/>
              <a:tabLst>
                <a:tab pos="597535" algn="l"/>
              </a:tabLst>
            </a:pPr>
            <a:r>
              <a:rPr lang="en-US" sz="2000" dirty="0">
                <a:effectLst/>
                <a:ea typeface="Calibri" panose="020F0502020204030204" pitchFamily="34" charset="0"/>
              </a:rPr>
              <a:t>Hence,</a:t>
            </a:r>
            <a:r>
              <a:rPr lang="en-US" sz="2000" spc="-2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WORKS_FOR</a:t>
            </a:r>
            <a:r>
              <a:rPr lang="en-US" sz="2000" spc="-10" dirty="0">
                <a:effectLst/>
                <a:ea typeface="Calibri" panose="020F0502020204030204" pitchFamily="34" charset="0"/>
              </a:rPr>
              <a:t> </a:t>
            </a:r>
            <a:r>
              <a:rPr lang="en-US" sz="2000" dirty="0">
                <a:effectLst/>
                <a:ea typeface="Calibri" panose="020F0502020204030204" pitchFamily="34" charset="0"/>
              </a:rPr>
              <a:t>relationship</a:t>
            </a:r>
            <a:r>
              <a:rPr lang="en-US" sz="2000" spc="-15"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degree</a:t>
            </a:r>
            <a:r>
              <a:rPr lang="en-US" sz="2000" spc="-5" dirty="0">
                <a:effectLst/>
                <a:ea typeface="Calibri" panose="020F0502020204030204" pitchFamily="34" charset="0"/>
              </a:rPr>
              <a:t> </a:t>
            </a:r>
            <a:r>
              <a:rPr lang="en-US" sz="2000" dirty="0">
                <a:effectLst/>
                <a:ea typeface="Calibri" panose="020F0502020204030204" pitchFamily="34" charset="0"/>
              </a:rPr>
              <a:t>two.</a:t>
            </a:r>
          </a:p>
          <a:p>
            <a:pPr marL="342900" marR="0" lvl="0" indent="-342900" algn="just">
              <a:buFont typeface="Wingdings" panose="05000000000000000000" pitchFamily="2" charset="2"/>
              <a:buChar char=""/>
              <a:tabLst>
                <a:tab pos="658495" algn="l"/>
              </a:tabLst>
            </a:pPr>
            <a:r>
              <a:rPr lang="en-US" sz="2000" dirty="0">
                <a:effectLst/>
                <a:ea typeface="Calibri" panose="020F0502020204030204" pitchFamily="34" charset="0"/>
              </a:rPr>
              <a:t>A</a:t>
            </a:r>
            <a:r>
              <a:rPr lang="en-US" sz="2000" spc="-5" dirty="0">
                <a:effectLst/>
                <a:ea typeface="Calibri" panose="020F0502020204030204" pitchFamily="34" charset="0"/>
              </a:rPr>
              <a:t> </a:t>
            </a:r>
            <a:r>
              <a:rPr lang="en-US" sz="2000" dirty="0">
                <a:effectLst/>
                <a:ea typeface="Calibri" panose="020F0502020204030204" pitchFamily="34" charset="0"/>
              </a:rPr>
              <a:t>relationship</a:t>
            </a:r>
            <a:r>
              <a:rPr lang="en-US" sz="2000" spc="-15" dirty="0">
                <a:effectLst/>
                <a:ea typeface="Calibri" panose="020F0502020204030204" pitchFamily="34" charset="0"/>
              </a:rPr>
              <a:t> </a:t>
            </a:r>
            <a:r>
              <a:rPr lang="en-US" sz="2000" dirty="0">
                <a:effectLst/>
                <a:ea typeface="Calibri" panose="020F0502020204030204" pitchFamily="34" charset="0"/>
              </a:rPr>
              <a:t>type</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5" dirty="0">
                <a:effectLst/>
                <a:ea typeface="Calibri" panose="020F0502020204030204" pitchFamily="34" charset="0"/>
              </a:rPr>
              <a:t> </a:t>
            </a:r>
            <a:r>
              <a:rPr lang="en-US" sz="2000" dirty="0">
                <a:effectLst/>
                <a:ea typeface="Calibri" panose="020F0502020204030204" pitchFamily="34" charset="0"/>
              </a:rPr>
              <a:t>degree</a:t>
            </a:r>
            <a:r>
              <a:rPr lang="en-US" sz="2000" spc="-5" dirty="0">
                <a:effectLst/>
                <a:ea typeface="Calibri" panose="020F0502020204030204" pitchFamily="34" charset="0"/>
              </a:rPr>
              <a:t> </a:t>
            </a:r>
            <a:r>
              <a:rPr lang="en-US" sz="2000" dirty="0">
                <a:effectLst/>
                <a:ea typeface="Calibri" panose="020F0502020204030204" pitchFamily="34" charset="0"/>
              </a:rPr>
              <a:t>two</a:t>
            </a:r>
            <a:r>
              <a:rPr lang="en-US" sz="2000" spc="-15" dirty="0">
                <a:effectLst/>
                <a:ea typeface="Calibri" panose="020F0502020204030204" pitchFamily="34" charset="0"/>
              </a:rPr>
              <a:t> </a:t>
            </a:r>
            <a:r>
              <a:rPr lang="en-US" sz="2000" dirty="0">
                <a:effectLst/>
                <a:ea typeface="Calibri" panose="020F0502020204030204" pitchFamily="34" charset="0"/>
              </a:rPr>
              <a:t>is</a:t>
            </a:r>
            <a:r>
              <a:rPr lang="en-US" sz="2000" spc="-5" dirty="0">
                <a:effectLst/>
                <a:ea typeface="Calibri" panose="020F0502020204030204" pitchFamily="34" charset="0"/>
              </a:rPr>
              <a:t> </a:t>
            </a:r>
            <a:r>
              <a:rPr lang="en-US" sz="2000" dirty="0">
                <a:effectLst/>
                <a:ea typeface="Calibri" panose="020F0502020204030204" pitchFamily="34" charset="0"/>
              </a:rPr>
              <a:t>called</a:t>
            </a:r>
            <a:r>
              <a:rPr lang="en-US" sz="2000" spc="5" dirty="0">
                <a:effectLst/>
                <a:ea typeface="Calibri" panose="020F0502020204030204" pitchFamily="34" charset="0"/>
              </a:rPr>
              <a:t> </a:t>
            </a:r>
            <a:r>
              <a:rPr lang="en-US" sz="2000" b="1" dirty="0">
                <a:effectLst/>
                <a:ea typeface="Calibri" panose="020F0502020204030204" pitchFamily="34" charset="0"/>
              </a:rPr>
              <a:t>binary</a:t>
            </a:r>
            <a:r>
              <a:rPr lang="en-US" sz="2000" dirty="0">
                <a:effectLst/>
                <a:ea typeface="Calibri" panose="020F0502020204030204" pitchFamily="34" charset="0"/>
              </a:rPr>
              <a:t>,</a:t>
            </a:r>
            <a:r>
              <a:rPr lang="en-US" sz="2000" spc="-25" dirty="0">
                <a:effectLst/>
                <a:ea typeface="Calibri" panose="020F0502020204030204" pitchFamily="34" charset="0"/>
              </a:rPr>
              <a:t> </a:t>
            </a:r>
            <a:r>
              <a:rPr lang="en-US" sz="2000" dirty="0">
                <a:effectLst/>
                <a:ea typeface="Calibri" panose="020F0502020204030204" pitchFamily="34" charset="0"/>
              </a:rPr>
              <a:t>and</a:t>
            </a:r>
            <a:r>
              <a:rPr lang="en-US" sz="2000" spc="-10" dirty="0">
                <a:effectLst/>
                <a:ea typeface="Calibri" panose="020F0502020204030204" pitchFamily="34" charset="0"/>
              </a:rPr>
              <a:t> </a:t>
            </a:r>
            <a:r>
              <a:rPr lang="en-US" sz="2000" dirty="0">
                <a:effectLst/>
                <a:ea typeface="Calibri" panose="020F0502020204030204" pitchFamily="34" charset="0"/>
              </a:rPr>
              <a:t>one</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degree three</a:t>
            </a:r>
            <a:r>
              <a:rPr lang="en-US" sz="2000" spc="-5"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called </a:t>
            </a:r>
            <a:r>
              <a:rPr lang="en-US" sz="2000" b="1" dirty="0">
                <a:effectLst/>
                <a:ea typeface="Calibri" panose="020F0502020204030204" pitchFamily="34" charset="0"/>
              </a:rPr>
              <a:t>ternary</a:t>
            </a:r>
            <a:endParaRPr lang="en-US" sz="2000" dirty="0">
              <a:effectLst/>
              <a:ea typeface="Calibri" panose="020F0502020204030204" pitchFamily="34" charset="0"/>
            </a:endParaRPr>
          </a:p>
          <a:p>
            <a:pPr marL="342900" marR="766445" lvl="0" indent="-342900" algn="just">
              <a:spcBef>
                <a:spcPts val="5"/>
              </a:spcBef>
              <a:buFont typeface="Wingdings" panose="05000000000000000000" pitchFamily="2" charset="2"/>
              <a:buChar char=""/>
              <a:tabLst>
                <a:tab pos="658495" algn="l"/>
              </a:tabLst>
            </a:pPr>
            <a:r>
              <a:rPr lang="en-US" sz="2000" dirty="0">
                <a:effectLst/>
                <a:ea typeface="Calibri" panose="020F0502020204030204" pitchFamily="34" charset="0"/>
              </a:rPr>
              <a:t>An example of a ternary relationship is SUPPLY, shown in Figure, where each relationship instance </a:t>
            </a:r>
            <a:r>
              <a:rPr lang="en-US" sz="2000" dirty="0" err="1">
                <a:effectLst/>
                <a:ea typeface="Calibri" panose="020F0502020204030204" pitchFamily="34" charset="0"/>
              </a:rPr>
              <a:t>ri</a:t>
            </a:r>
            <a:r>
              <a:rPr lang="en-US" sz="2000" spc="5" dirty="0">
                <a:effectLst/>
                <a:ea typeface="Calibri" panose="020F0502020204030204" pitchFamily="34" charset="0"/>
              </a:rPr>
              <a:t> </a:t>
            </a:r>
            <a:r>
              <a:rPr lang="en-US" sz="2000" dirty="0">
                <a:effectLst/>
                <a:ea typeface="Calibri" panose="020F0502020204030204" pitchFamily="34" charset="0"/>
              </a:rPr>
              <a:t>associates</a:t>
            </a:r>
            <a:r>
              <a:rPr lang="en-US" sz="2000" spc="-10" dirty="0">
                <a:effectLst/>
                <a:ea typeface="Calibri" panose="020F0502020204030204" pitchFamily="34" charset="0"/>
              </a:rPr>
              <a:t> </a:t>
            </a:r>
            <a:r>
              <a:rPr lang="en-US" sz="2000" dirty="0">
                <a:effectLst/>
                <a:ea typeface="Calibri" panose="020F0502020204030204" pitchFamily="34" charset="0"/>
              </a:rPr>
              <a:t>three</a:t>
            </a:r>
            <a:r>
              <a:rPr lang="en-US" sz="2000" spc="-5" dirty="0">
                <a:effectLst/>
                <a:ea typeface="Calibri" panose="020F0502020204030204" pitchFamily="34" charset="0"/>
              </a:rPr>
              <a:t> </a:t>
            </a:r>
            <a:r>
              <a:rPr lang="en-US" sz="2000" dirty="0">
                <a:effectLst/>
                <a:ea typeface="Calibri" panose="020F0502020204030204" pitchFamily="34" charset="0"/>
              </a:rPr>
              <a:t>entities—a</a:t>
            </a:r>
            <a:r>
              <a:rPr lang="en-US" sz="2000" spc="-15" dirty="0">
                <a:effectLst/>
                <a:ea typeface="Calibri" panose="020F0502020204030204" pitchFamily="34" charset="0"/>
              </a:rPr>
              <a:t> </a:t>
            </a:r>
            <a:r>
              <a:rPr lang="en-US" sz="2000" dirty="0">
                <a:effectLst/>
                <a:ea typeface="Calibri" panose="020F0502020204030204" pitchFamily="34" charset="0"/>
              </a:rPr>
              <a:t>supplier</a:t>
            </a:r>
            <a:r>
              <a:rPr lang="en-US" sz="2000" spc="-10" dirty="0">
                <a:effectLst/>
                <a:ea typeface="Calibri" panose="020F0502020204030204" pitchFamily="34" charset="0"/>
              </a:rPr>
              <a:t> </a:t>
            </a:r>
            <a:r>
              <a:rPr lang="en-US" sz="2000" dirty="0">
                <a:effectLst/>
                <a:ea typeface="Calibri" panose="020F0502020204030204" pitchFamily="34" charset="0"/>
              </a:rPr>
              <a:t>s,</a:t>
            </a:r>
            <a:r>
              <a:rPr lang="en-US" sz="2000" spc="-25"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a:effectLst/>
                <a:ea typeface="Calibri" panose="020F0502020204030204" pitchFamily="34" charset="0"/>
              </a:rPr>
              <a:t>part</a:t>
            </a:r>
            <a:r>
              <a:rPr lang="en-US" sz="2000" spc="-25" dirty="0">
                <a:effectLst/>
                <a:ea typeface="Calibri" panose="020F0502020204030204" pitchFamily="34" charset="0"/>
              </a:rPr>
              <a:t> </a:t>
            </a:r>
            <a:r>
              <a:rPr lang="en-US" sz="2000" dirty="0">
                <a:effectLst/>
                <a:ea typeface="Calibri" panose="020F0502020204030204" pitchFamily="34" charset="0"/>
              </a:rPr>
              <a:t>p, and</a:t>
            </a:r>
            <a:r>
              <a:rPr lang="en-US" sz="2000" spc="-2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project</a:t>
            </a:r>
            <a:r>
              <a:rPr lang="en-US" sz="2000" spc="-20" dirty="0">
                <a:effectLst/>
                <a:ea typeface="Calibri" panose="020F0502020204030204" pitchFamily="34" charset="0"/>
              </a:rPr>
              <a:t> </a:t>
            </a:r>
            <a:r>
              <a:rPr lang="en-US" sz="2000" dirty="0">
                <a:effectLst/>
                <a:ea typeface="Calibri" panose="020F0502020204030204" pitchFamily="34" charset="0"/>
              </a:rPr>
              <a:t>j—whenever</a:t>
            </a:r>
            <a:r>
              <a:rPr lang="en-US" sz="2000" spc="-15" dirty="0">
                <a:effectLst/>
                <a:ea typeface="Calibri" panose="020F0502020204030204" pitchFamily="34" charset="0"/>
              </a:rPr>
              <a:t> </a:t>
            </a:r>
            <a:r>
              <a:rPr lang="en-US" sz="2000" dirty="0">
                <a:effectLst/>
                <a:ea typeface="Calibri" panose="020F0502020204030204" pitchFamily="34" charset="0"/>
              </a:rPr>
              <a:t>s</a:t>
            </a:r>
            <a:r>
              <a:rPr lang="en-US" sz="2000" spc="-10" dirty="0">
                <a:effectLst/>
                <a:ea typeface="Calibri" panose="020F0502020204030204" pitchFamily="34" charset="0"/>
              </a:rPr>
              <a:t> </a:t>
            </a:r>
            <a:r>
              <a:rPr lang="en-US" sz="2000" dirty="0">
                <a:effectLst/>
                <a:ea typeface="Calibri" panose="020F0502020204030204" pitchFamily="34" charset="0"/>
              </a:rPr>
              <a:t>supplies</a:t>
            </a:r>
            <a:r>
              <a:rPr lang="en-US" sz="2000" spc="-5" dirty="0">
                <a:effectLst/>
                <a:ea typeface="Calibri" panose="020F0502020204030204" pitchFamily="34" charset="0"/>
              </a:rPr>
              <a:t> </a:t>
            </a:r>
            <a:r>
              <a:rPr lang="en-US" sz="2000" dirty="0">
                <a:effectLst/>
                <a:ea typeface="Calibri" panose="020F0502020204030204" pitchFamily="34" charset="0"/>
              </a:rPr>
              <a:t>part</a:t>
            </a:r>
            <a:r>
              <a:rPr lang="en-US" sz="2000" spc="-30" dirty="0">
                <a:effectLst/>
                <a:ea typeface="Calibri" panose="020F0502020204030204" pitchFamily="34" charset="0"/>
              </a:rPr>
              <a:t> </a:t>
            </a:r>
            <a:r>
              <a:rPr lang="en-US" sz="2000" dirty="0">
                <a:effectLst/>
                <a:ea typeface="Calibri" panose="020F0502020204030204" pitchFamily="34" charset="0"/>
              </a:rPr>
              <a:t>p</a:t>
            </a:r>
            <a:r>
              <a:rPr lang="en-US" sz="2000" spc="-15" dirty="0">
                <a:effectLst/>
                <a:ea typeface="Calibri" panose="020F0502020204030204" pitchFamily="34" charset="0"/>
              </a:rPr>
              <a:t> </a:t>
            </a:r>
            <a:r>
              <a:rPr lang="en-US" sz="2000" dirty="0">
                <a:effectLst/>
                <a:ea typeface="Calibri" panose="020F0502020204030204" pitchFamily="34" charset="0"/>
              </a:rPr>
              <a:t>to</a:t>
            </a:r>
            <a:r>
              <a:rPr lang="en-US" sz="2000" spc="5" dirty="0">
                <a:ea typeface="Calibri" panose="020F0502020204030204" pitchFamily="34" charset="0"/>
              </a:rPr>
              <a:t> </a:t>
            </a:r>
            <a:r>
              <a:rPr lang="en-US" sz="2000" dirty="0">
                <a:effectLst/>
                <a:ea typeface="Calibri" panose="020F0502020204030204" pitchFamily="34" charset="0"/>
              </a:rPr>
              <a:t>project</a:t>
            </a:r>
            <a:r>
              <a:rPr lang="en-US" sz="2000" spc="-5" dirty="0">
                <a:effectLst/>
                <a:ea typeface="Calibri" panose="020F0502020204030204" pitchFamily="34" charset="0"/>
              </a:rPr>
              <a:t> </a:t>
            </a:r>
            <a:r>
              <a:rPr lang="en-US" sz="2000" dirty="0">
                <a:effectLst/>
                <a:ea typeface="Calibri" panose="020F0502020204030204" pitchFamily="34" charset="0"/>
              </a:rPr>
              <a:t>j.</a:t>
            </a:r>
          </a:p>
          <a:p>
            <a:endParaRPr lang="en-US" sz="2000" dirty="0"/>
          </a:p>
        </p:txBody>
      </p:sp>
      <p:pic>
        <p:nvPicPr>
          <p:cNvPr id="6" name="Picture 5">
            <a:extLst>
              <a:ext uri="{FF2B5EF4-FFF2-40B4-BE49-F238E27FC236}">
                <a16:creationId xmlns:a16="http://schemas.microsoft.com/office/drawing/2014/main" id="{DF53559D-38EC-9095-6166-82F5E8FD3611}"/>
              </a:ext>
            </a:extLst>
          </p:cNvPr>
          <p:cNvPicPr>
            <a:picLocks noChangeAspect="1"/>
          </p:cNvPicPr>
          <p:nvPr/>
        </p:nvPicPr>
        <p:blipFill>
          <a:blip r:embed="rId7"/>
          <a:stretch>
            <a:fillRect/>
          </a:stretch>
        </p:blipFill>
        <p:spPr>
          <a:xfrm>
            <a:off x="3798240" y="3008764"/>
            <a:ext cx="3408472" cy="3268048"/>
          </a:xfrm>
          <a:prstGeom prst="rect">
            <a:avLst/>
          </a:prstGeom>
        </p:spPr>
      </p:pic>
    </p:spTree>
    <p:extLst>
      <p:ext uri="{BB962C8B-B14F-4D97-AF65-F5344CB8AC3E}">
        <p14:creationId xmlns:p14="http://schemas.microsoft.com/office/powerpoint/2010/main" val="29437961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8AE2F9-8D2A-8B16-C7BE-8FC8C705BFB3}"/>
              </a:ext>
            </a:extLst>
          </p:cNvPr>
          <p:cNvSpPr txBox="1"/>
          <p:nvPr/>
        </p:nvSpPr>
        <p:spPr>
          <a:xfrm>
            <a:off x="340963" y="309966"/>
            <a:ext cx="11499742" cy="4172424"/>
          </a:xfrm>
          <a:prstGeom prst="rect">
            <a:avLst/>
          </a:prstGeom>
          <a:noFill/>
        </p:spPr>
        <p:txBody>
          <a:bodyPr wrap="square" rtlCol="0">
            <a:spAutoFit/>
          </a:bodyPr>
          <a:lstStyle/>
          <a:p>
            <a:pPr marL="139700" marR="0" algn="just">
              <a:buNone/>
            </a:pPr>
            <a:r>
              <a:rPr lang="en-US" sz="2000" b="1" dirty="0">
                <a:effectLst/>
                <a:ea typeface="Calibri" panose="020F0502020204030204" pitchFamily="34" charset="0"/>
              </a:rPr>
              <a:t>Role</a:t>
            </a:r>
            <a:r>
              <a:rPr lang="en-US" sz="2000" b="1" spc="-20" dirty="0">
                <a:effectLst/>
                <a:ea typeface="Calibri" panose="020F0502020204030204" pitchFamily="34" charset="0"/>
              </a:rPr>
              <a:t> </a:t>
            </a:r>
            <a:r>
              <a:rPr lang="en-US" sz="2000" b="1" dirty="0">
                <a:effectLst/>
                <a:ea typeface="Calibri" panose="020F0502020204030204" pitchFamily="34" charset="0"/>
              </a:rPr>
              <a:t>Names</a:t>
            </a:r>
            <a:r>
              <a:rPr lang="en-US" sz="2000" b="1" spc="-20" dirty="0">
                <a:effectLst/>
                <a:ea typeface="Calibri" panose="020F0502020204030204" pitchFamily="34" charset="0"/>
              </a:rPr>
              <a:t> </a:t>
            </a:r>
            <a:r>
              <a:rPr lang="en-US" sz="2000" b="1" dirty="0">
                <a:effectLst/>
                <a:ea typeface="Calibri" panose="020F0502020204030204" pitchFamily="34" charset="0"/>
              </a:rPr>
              <a:t>and</a:t>
            </a:r>
            <a:r>
              <a:rPr lang="en-US" sz="2000" b="1" spc="-10" dirty="0">
                <a:effectLst/>
                <a:ea typeface="Calibri" panose="020F0502020204030204" pitchFamily="34" charset="0"/>
              </a:rPr>
              <a:t> </a:t>
            </a:r>
            <a:r>
              <a:rPr lang="en-US" sz="2000" b="1" dirty="0">
                <a:effectLst/>
                <a:ea typeface="Calibri" panose="020F0502020204030204" pitchFamily="34" charset="0"/>
              </a:rPr>
              <a:t>Recursive</a:t>
            </a:r>
            <a:r>
              <a:rPr lang="en-US" sz="2000" b="1" spc="-15" dirty="0">
                <a:effectLst/>
                <a:ea typeface="Calibri" panose="020F0502020204030204" pitchFamily="34" charset="0"/>
              </a:rPr>
              <a:t> </a:t>
            </a:r>
            <a:r>
              <a:rPr lang="en-US" sz="2000" b="1" dirty="0">
                <a:effectLst/>
                <a:ea typeface="Calibri" panose="020F0502020204030204" pitchFamily="34" charset="0"/>
              </a:rPr>
              <a:t>Relationships</a:t>
            </a:r>
          </a:p>
          <a:p>
            <a:pPr marL="1143000" marR="0" lvl="2" indent="-228600" algn="just">
              <a:spcBef>
                <a:spcPts val="890"/>
              </a:spcBef>
              <a:buFont typeface="Wingdings" panose="05000000000000000000" pitchFamily="2" charset="2"/>
              <a:buChar char=""/>
              <a:tabLst>
                <a:tab pos="624840" algn="l"/>
              </a:tabLst>
            </a:pPr>
            <a:r>
              <a:rPr lang="en-US" sz="2000" dirty="0">
                <a:effectLst/>
                <a:ea typeface="Calibri" panose="020F0502020204030204" pitchFamily="34" charset="0"/>
              </a:rPr>
              <a:t>Each</a:t>
            </a:r>
            <a:r>
              <a:rPr lang="en-US" sz="2000" spc="-20" dirty="0">
                <a:effectLst/>
                <a:ea typeface="Calibri" panose="020F0502020204030204" pitchFamily="34" charset="0"/>
              </a:rPr>
              <a:t> </a:t>
            </a:r>
            <a:r>
              <a:rPr lang="en-US" sz="2000" dirty="0">
                <a:effectLst/>
                <a:ea typeface="Calibri" panose="020F0502020204030204" pitchFamily="34" charset="0"/>
              </a:rPr>
              <a:t>entity</a:t>
            </a:r>
            <a:r>
              <a:rPr lang="en-US" sz="2000" spc="15" dirty="0">
                <a:effectLst/>
                <a:ea typeface="Calibri" panose="020F0502020204030204" pitchFamily="34" charset="0"/>
              </a:rPr>
              <a:t> </a:t>
            </a:r>
            <a:r>
              <a:rPr lang="en-US" sz="2000" dirty="0">
                <a:effectLst/>
                <a:ea typeface="Calibri" panose="020F0502020204030204" pitchFamily="34" charset="0"/>
              </a:rPr>
              <a:t>type</a:t>
            </a:r>
            <a:r>
              <a:rPr lang="en-US" sz="2000" spc="-15" dirty="0">
                <a:effectLst/>
                <a:ea typeface="Calibri" panose="020F0502020204030204" pitchFamily="34" charset="0"/>
              </a:rPr>
              <a:t> </a:t>
            </a:r>
            <a:r>
              <a:rPr lang="en-US" sz="2000" dirty="0">
                <a:effectLst/>
                <a:ea typeface="Calibri" panose="020F0502020204030204" pitchFamily="34" charset="0"/>
              </a:rPr>
              <a:t>that participates</a:t>
            </a:r>
            <a:r>
              <a:rPr lang="en-US" sz="2000" spc="-10" dirty="0">
                <a:effectLst/>
                <a:ea typeface="Calibri" panose="020F0502020204030204" pitchFamily="34" charset="0"/>
              </a:rPr>
              <a:t> </a:t>
            </a:r>
            <a:r>
              <a:rPr lang="en-US" sz="2000" dirty="0">
                <a:effectLst/>
                <a:ea typeface="Calibri" panose="020F0502020204030204" pitchFamily="34" charset="0"/>
              </a:rPr>
              <a:t>in</a:t>
            </a:r>
            <a:r>
              <a:rPr lang="en-US" sz="2000" spc="-15"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a:effectLst/>
                <a:ea typeface="Calibri" panose="020F0502020204030204" pitchFamily="34" charset="0"/>
              </a:rPr>
              <a:t>relationship</a:t>
            </a:r>
            <a:r>
              <a:rPr lang="en-US" sz="2000" spc="-15" dirty="0">
                <a:effectLst/>
                <a:ea typeface="Calibri" panose="020F0502020204030204" pitchFamily="34" charset="0"/>
              </a:rPr>
              <a:t> </a:t>
            </a:r>
            <a:r>
              <a:rPr lang="en-US" sz="2000" dirty="0">
                <a:effectLst/>
                <a:ea typeface="Calibri" panose="020F0502020204030204" pitchFamily="34" charset="0"/>
              </a:rPr>
              <a:t>type</a:t>
            </a:r>
            <a:r>
              <a:rPr lang="en-US" sz="2000" spc="10" dirty="0">
                <a:effectLst/>
                <a:ea typeface="Calibri" panose="020F0502020204030204" pitchFamily="34" charset="0"/>
              </a:rPr>
              <a:t> </a:t>
            </a:r>
            <a:r>
              <a:rPr lang="en-US" sz="2000" dirty="0">
                <a:effectLst/>
                <a:ea typeface="Calibri" panose="020F0502020204030204" pitchFamily="34" charset="0"/>
              </a:rPr>
              <a:t>plays</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a:effectLst/>
                <a:ea typeface="Calibri" panose="020F0502020204030204" pitchFamily="34" charset="0"/>
              </a:rPr>
              <a:t>particular</a:t>
            </a:r>
            <a:r>
              <a:rPr lang="en-US" sz="2000" spc="-15" dirty="0">
                <a:effectLst/>
                <a:ea typeface="Calibri" panose="020F0502020204030204" pitchFamily="34" charset="0"/>
              </a:rPr>
              <a:t> </a:t>
            </a:r>
            <a:r>
              <a:rPr lang="en-US" sz="2000" dirty="0">
                <a:effectLst/>
                <a:ea typeface="Calibri" panose="020F0502020204030204" pitchFamily="34" charset="0"/>
              </a:rPr>
              <a:t>role</a:t>
            </a:r>
            <a:r>
              <a:rPr lang="en-US" sz="2000" spc="-10" dirty="0">
                <a:effectLst/>
                <a:ea typeface="Calibri" panose="020F0502020204030204" pitchFamily="34" charset="0"/>
              </a:rPr>
              <a:t> </a:t>
            </a:r>
            <a:r>
              <a:rPr lang="en-US" sz="2000" dirty="0">
                <a:effectLst/>
                <a:ea typeface="Calibri" panose="020F0502020204030204" pitchFamily="34" charset="0"/>
              </a:rPr>
              <a:t>in</a:t>
            </a:r>
            <a:r>
              <a:rPr lang="en-US" sz="2000" spc="-2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relationship</a:t>
            </a:r>
          </a:p>
          <a:p>
            <a:pPr marL="1143000" marR="719455" lvl="2" indent="-228600" algn="just">
              <a:lnSpc>
                <a:spcPct val="106000"/>
              </a:lnSpc>
              <a:spcBef>
                <a:spcPts val="120"/>
              </a:spcBef>
              <a:buFont typeface="Wingdings" panose="05000000000000000000" pitchFamily="2" charset="2"/>
              <a:buChar char=""/>
              <a:tabLst>
                <a:tab pos="624840" algn="l"/>
              </a:tabLst>
            </a:pP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role</a:t>
            </a:r>
            <a:r>
              <a:rPr lang="en-US" sz="2000" spc="-15" dirty="0">
                <a:effectLst/>
                <a:ea typeface="Calibri" panose="020F0502020204030204" pitchFamily="34" charset="0"/>
              </a:rPr>
              <a:t> </a:t>
            </a:r>
            <a:r>
              <a:rPr lang="en-US" sz="2000" dirty="0">
                <a:effectLst/>
                <a:ea typeface="Calibri" panose="020F0502020204030204" pitchFamily="34" charset="0"/>
              </a:rPr>
              <a:t>name</a:t>
            </a:r>
            <a:r>
              <a:rPr lang="en-US" sz="2000" spc="-10" dirty="0">
                <a:effectLst/>
                <a:ea typeface="Calibri" panose="020F0502020204030204" pitchFamily="34" charset="0"/>
              </a:rPr>
              <a:t> </a:t>
            </a:r>
            <a:r>
              <a:rPr lang="en-US" sz="2000" dirty="0">
                <a:effectLst/>
                <a:ea typeface="Calibri" panose="020F0502020204030204" pitchFamily="34" charset="0"/>
              </a:rPr>
              <a:t>signifies</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role</a:t>
            </a:r>
            <a:r>
              <a:rPr lang="en-US" sz="2000" spc="-10" dirty="0">
                <a:effectLst/>
                <a:ea typeface="Calibri" panose="020F0502020204030204" pitchFamily="34" charset="0"/>
              </a:rPr>
              <a:t> </a:t>
            </a:r>
            <a:r>
              <a:rPr lang="en-US" sz="2000" dirty="0">
                <a:effectLst/>
                <a:ea typeface="Calibri" panose="020F0502020204030204" pitchFamily="34" charset="0"/>
              </a:rPr>
              <a:t>that</a:t>
            </a:r>
            <a:r>
              <a:rPr lang="en-US" sz="2000" spc="-30"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a:effectLst/>
                <a:ea typeface="Calibri" panose="020F0502020204030204" pitchFamily="34" charset="0"/>
              </a:rPr>
              <a:t>participating</a:t>
            </a:r>
            <a:r>
              <a:rPr lang="en-US" sz="2000" spc="-5" dirty="0">
                <a:effectLst/>
                <a:ea typeface="Calibri" panose="020F0502020204030204" pitchFamily="34" charset="0"/>
              </a:rPr>
              <a:t> </a:t>
            </a:r>
            <a:r>
              <a:rPr lang="en-US" sz="2000" dirty="0">
                <a:effectLst/>
                <a:ea typeface="Calibri" panose="020F0502020204030204" pitchFamily="34" charset="0"/>
              </a:rPr>
              <a:t>entity</a:t>
            </a:r>
            <a:r>
              <a:rPr lang="en-US" sz="2000" spc="-15" dirty="0">
                <a:effectLst/>
                <a:ea typeface="Calibri" panose="020F0502020204030204" pitchFamily="34" charset="0"/>
              </a:rPr>
              <a:t> </a:t>
            </a:r>
            <a:r>
              <a:rPr lang="en-US" sz="2000" dirty="0">
                <a:effectLst/>
                <a:ea typeface="Calibri" panose="020F0502020204030204" pitchFamily="34" charset="0"/>
              </a:rPr>
              <a:t>from</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entity</a:t>
            </a:r>
            <a:r>
              <a:rPr lang="en-US" sz="2000" spc="-15" dirty="0">
                <a:effectLst/>
                <a:ea typeface="Calibri" panose="020F0502020204030204" pitchFamily="34" charset="0"/>
              </a:rPr>
              <a:t> </a:t>
            </a:r>
            <a:r>
              <a:rPr lang="en-US" sz="2000" dirty="0">
                <a:effectLst/>
                <a:ea typeface="Calibri" panose="020F0502020204030204" pitchFamily="34" charset="0"/>
              </a:rPr>
              <a:t>type</a:t>
            </a:r>
            <a:r>
              <a:rPr lang="en-US" sz="2000" spc="-10" dirty="0">
                <a:effectLst/>
                <a:ea typeface="Calibri" panose="020F0502020204030204" pitchFamily="34" charset="0"/>
              </a:rPr>
              <a:t> </a:t>
            </a:r>
            <a:r>
              <a:rPr lang="en-US" sz="2000" dirty="0">
                <a:effectLst/>
                <a:ea typeface="Calibri" panose="020F0502020204030204" pitchFamily="34" charset="0"/>
              </a:rPr>
              <a:t>plays</a:t>
            </a:r>
            <a:r>
              <a:rPr lang="en-US" sz="2000" spc="-15" dirty="0">
                <a:effectLst/>
                <a:ea typeface="Calibri" panose="020F0502020204030204" pitchFamily="34" charset="0"/>
              </a:rPr>
              <a:t> </a:t>
            </a:r>
            <a:r>
              <a:rPr lang="en-US" sz="2000" dirty="0">
                <a:effectLst/>
                <a:ea typeface="Calibri" panose="020F0502020204030204" pitchFamily="34" charset="0"/>
              </a:rPr>
              <a:t>in</a:t>
            </a:r>
            <a:r>
              <a:rPr lang="en-US" sz="2000" spc="-20" dirty="0">
                <a:effectLst/>
                <a:ea typeface="Calibri" panose="020F0502020204030204" pitchFamily="34" charset="0"/>
              </a:rPr>
              <a:t> </a:t>
            </a:r>
            <a:r>
              <a:rPr lang="en-US" sz="2000" dirty="0">
                <a:effectLst/>
                <a:ea typeface="Calibri" panose="020F0502020204030204" pitchFamily="34" charset="0"/>
              </a:rPr>
              <a:t>each</a:t>
            </a:r>
            <a:r>
              <a:rPr lang="en-US" sz="2000" spc="-15" dirty="0">
                <a:effectLst/>
                <a:ea typeface="Calibri" panose="020F0502020204030204" pitchFamily="34" charset="0"/>
              </a:rPr>
              <a:t> </a:t>
            </a:r>
            <a:r>
              <a:rPr lang="en-US" sz="2000" dirty="0">
                <a:effectLst/>
                <a:ea typeface="Calibri" panose="020F0502020204030204" pitchFamily="34" charset="0"/>
              </a:rPr>
              <a:t>relationship</a:t>
            </a:r>
            <a:r>
              <a:rPr lang="en-US" sz="2000" spc="-235" dirty="0">
                <a:effectLst/>
                <a:ea typeface="Calibri" panose="020F0502020204030204" pitchFamily="34" charset="0"/>
              </a:rPr>
              <a:t> </a:t>
            </a:r>
            <a:r>
              <a:rPr lang="en-US" sz="2000" dirty="0">
                <a:effectLst/>
                <a:ea typeface="Calibri" panose="020F0502020204030204" pitchFamily="34" charset="0"/>
              </a:rPr>
              <a:t>instance</a:t>
            </a:r>
          </a:p>
          <a:p>
            <a:pPr marL="1143000" marR="697865" lvl="2" indent="-228600" algn="just">
              <a:lnSpc>
                <a:spcPct val="106000"/>
              </a:lnSpc>
              <a:spcBef>
                <a:spcPts val="35"/>
              </a:spcBef>
              <a:buFont typeface="Wingdings" panose="05000000000000000000" pitchFamily="2" charset="2"/>
              <a:buChar char=""/>
              <a:tabLst>
                <a:tab pos="624840" algn="l"/>
              </a:tabLst>
            </a:pPr>
            <a:r>
              <a:rPr lang="en-US" sz="2000" dirty="0">
                <a:effectLst/>
                <a:ea typeface="Calibri" panose="020F0502020204030204" pitchFamily="34" charset="0"/>
              </a:rPr>
              <a:t>For</a:t>
            </a:r>
            <a:r>
              <a:rPr lang="en-US" sz="2000" spc="-15" dirty="0">
                <a:effectLst/>
                <a:ea typeface="Calibri" panose="020F0502020204030204" pitchFamily="34" charset="0"/>
              </a:rPr>
              <a:t> </a:t>
            </a:r>
            <a:r>
              <a:rPr lang="en-US" sz="2000" dirty="0">
                <a:effectLst/>
                <a:ea typeface="Calibri" panose="020F0502020204030204" pitchFamily="34" charset="0"/>
              </a:rPr>
              <a:t>example,</a:t>
            </a:r>
            <a:r>
              <a:rPr lang="en-US" sz="2000" spc="-20" dirty="0">
                <a:effectLst/>
                <a:ea typeface="Calibri" panose="020F0502020204030204" pitchFamily="34" charset="0"/>
              </a:rPr>
              <a:t> </a:t>
            </a:r>
            <a:r>
              <a:rPr lang="en-US" sz="2000" dirty="0">
                <a:effectLst/>
                <a:ea typeface="Calibri" panose="020F0502020204030204" pitchFamily="34" charset="0"/>
              </a:rPr>
              <a:t>in</a:t>
            </a:r>
            <a:r>
              <a:rPr lang="en-US" sz="2000" spc="-2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WORKS_FOR</a:t>
            </a:r>
            <a:r>
              <a:rPr lang="en-US" sz="2000" spc="-15" dirty="0">
                <a:effectLst/>
                <a:ea typeface="Calibri" panose="020F0502020204030204" pitchFamily="34" charset="0"/>
              </a:rPr>
              <a:t> </a:t>
            </a:r>
            <a:r>
              <a:rPr lang="en-US" sz="2000" dirty="0">
                <a:effectLst/>
                <a:ea typeface="Calibri" panose="020F0502020204030204" pitchFamily="34" charset="0"/>
              </a:rPr>
              <a:t>relationship</a:t>
            </a:r>
            <a:r>
              <a:rPr lang="en-US" sz="2000" spc="-15" dirty="0">
                <a:effectLst/>
                <a:ea typeface="Calibri" panose="020F0502020204030204" pitchFamily="34" charset="0"/>
              </a:rPr>
              <a:t> </a:t>
            </a:r>
            <a:r>
              <a:rPr lang="en-US" sz="2000" dirty="0">
                <a:effectLst/>
                <a:ea typeface="Calibri" panose="020F0502020204030204" pitchFamily="34" charset="0"/>
              </a:rPr>
              <a:t>type,</a:t>
            </a:r>
            <a:r>
              <a:rPr lang="en-US" sz="2000" spc="-25" dirty="0">
                <a:effectLst/>
                <a:ea typeface="Calibri" panose="020F0502020204030204" pitchFamily="34" charset="0"/>
              </a:rPr>
              <a:t> </a:t>
            </a:r>
            <a:r>
              <a:rPr lang="en-US" sz="2000" dirty="0">
                <a:effectLst/>
                <a:ea typeface="Calibri" panose="020F0502020204030204" pitchFamily="34" charset="0"/>
              </a:rPr>
              <a:t>EMPLOYEE plays</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role</a:t>
            </a:r>
            <a:r>
              <a:rPr lang="en-US" sz="2000" spc="-15"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employee</a:t>
            </a:r>
            <a:r>
              <a:rPr lang="en-US" sz="2000" spc="-15" dirty="0">
                <a:effectLst/>
                <a:ea typeface="Calibri" panose="020F0502020204030204" pitchFamily="34" charset="0"/>
              </a:rPr>
              <a:t> </a:t>
            </a:r>
            <a:r>
              <a:rPr lang="en-US" sz="2000" dirty="0">
                <a:effectLst/>
                <a:ea typeface="Calibri" panose="020F0502020204030204" pitchFamily="34" charset="0"/>
              </a:rPr>
              <a:t>or</a:t>
            </a:r>
            <a:r>
              <a:rPr lang="en-US" sz="2000" spc="-10" dirty="0">
                <a:effectLst/>
                <a:ea typeface="Calibri" panose="020F0502020204030204" pitchFamily="34" charset="0"/>
              </a:rPr>
              <a:t> </a:t>
            </a:r>
            <a:r>
              <a:rPr lang="en-US" sz="2000" dirty="0">
                <a:effectLst/>
                <a:ea typeface="Calibri" panose="020F0502020204030204" pitchFamily="34" charset="0"/>
              </a:rPr>
              <a:t>worker</a:t>
            </a:r>
            <a:r>
              <a:rPr lang="en-US" sz="2000" spc="-15" dirty="0">
                <a:effectLst/>
                <a:ea typeface="Calibri" panose="020F0502020204030204" pitchFamily="34" charset="0"/>
              </a:rPr>
              <a:t> </a:t>
            </a:r>
            <a:r>
              <a:rPr lang="en-US" sz="2000" dirty="0">
                <a:effectLst/>
                <a:ea typeface="Calibri" panose="020F0502020204030204" pitchFamily="34" charset="0"/>
              </a:rPr>
              <a:t>and</a:t>
            </a:r>
            <a:r>
              <a:rPr lang="en-US" sz="2000" spc="-235" dirty="0">
                <a:effectLst/>
                <a:ea typeface="Calibri" panose="020F0502020204030204" pitchFamily="34" charset="0"/>
              </a:rPr>
              <a:t> </a:t>
            </a:r>
            <a:r>
              <a:rPr lang="en-US" sz="2000" dirty="0">
                <a:effectLst/>
                <a:ea typeface="Calibri" panose="020F0502020204030204" pitchFamily="34" charset="0"/>
              </a:rPr>
              <a:t>DEPARTMENT</a:t>
            </a:r>
            <a:r>
              <a:rPr lang="en-US" sz="2000" spc="-20" dirty="0">
                <a:effectLst/>
                <a:ea typeface="Calibri" panose="020F0502020204030204" pitchFamily="34" charset="0"/>
              </a:rPr>
              <a:t> </a:t>
            </a:r>
            <a:r>
              <a:rPr lang="en-US" sz="2000" dirty="0">
                <a:effectLst/>
                <a:ea typeface="Calibri" panose="020F0502020204030204" pitchFamily="34" charset="0"/>
              </a:rPr>
              <a:t>plays</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role</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department</a:t>
            </a:r>
            <a:r>
              <a:rPr lang="en-US" sz="2000" spc="-20" dirty="0">
                <a:effectLst/>
                <a:ea typeface="Calibri" panose="020F0502020204030204" pitchFamily="34" charset="0"/>
              </a:rPr>
              <a:t> </a:t>
            </a:r>
            <a:r>
              <a:rPr lang="en-US" sz="2000" dirty="0">
                <a:effectLst/>
                <a:ea typeface="Calibri" panose="020F0502020204030204" pitchFamily="34" charset="0"/>
              </a:rPr>
              <a:t>or</a:t>
            </a:r>
            <a:r>
              <a:rPr lang="en-US" sz="2000" spc="-10" dirty="0">
                <a:effectLst/>
                <a:ea typeface="Calibri" panose="020F0502020204030204" pitchFamily="34" charset="0"/>
              </a:rPr>
              <a:t> </a:t>
            </a:r>
            <a:r>
              <a:rPr lang="en-US" sz="2000" dirty="0">
                <a:effectLst/>
                <a:ea typeface="Calibri" panose="020F0502020204030204" pitchFamily="34" charset="0"/>
              </a:rPr>
              <a:t>employer</a:t>
            </a:r>
          </a:p>
          <a:p>
            <a:pPr marL="1257300" lvl="2" indent="-342900">
              <a:buFont typeface="Wingdings" panose="05000000000000000000" pitchFamily="2" charset="2"/>
              <a:buChar char="ü"/>
            </a:pPr>
            <a:r>
              <a:rPr lang="en-US" sz="2000" dirty="0">
                <a:effectLst/>
                <a:ea typeface="Calibri" panose="020F0502020204030204" pitchFamily="34" charset="0"/>
              </a:rPr>
              <a:t>same</a:t>
            </a:r>
            <a:r>
              <a:rPr lang="en-US" sz="2000" spc="-15" dirty="0">
                <a:effectLst/>
                <a:ea typeface="Calibri" panose="020F0502020204030204" pitchFamily="34" charset="0"/>
              </a:rPr>
              <a:t> </a:t>
            </a:r>
            <a:r>
              <a:rPr lang="en-US" sz="2000" dirty="0">
                <a:effectLst/>
                <a:ea typeface="Calibri" panose="020F0502020204030204" pitchFamily="34" charset="0"/>
              </a:rPr>
              <a:t>entity</a:t>
            </a:r>
            <a:r>
              <a:rPr lang="en-US" sz="2000" spc="-15" dirty="0">
                <a:effectLst/>
                <a:ea typeface="Calibri" panose="020F0502020204030204" pitchFamily="34" charset="0"/>
              </a:rPr>
              <a:t> </a:t>
            </a:r>
            <a:r>
              <a:rPr lang="en-US" sz="2000" dirty="0">
                <a:effectLst/>
                <a:ea typeface="Calibri" panose="020F0502020204030204" pitchFamily="34" charset="0"/>
              </a:rPr>
              <a:t>type</a:t>
            </a:r>
            <a:r>
              <a:rPr lang="en-US" sz="2000" spc="-15" dirty="0">
                <a:effectLst/>
                <a:ea typeface="Calibri" panose="020F0502020204030204" pitchFamily="34" charset="0"/>
              </a:rPr>
              <a:t> </a:t>
            </a:r>
            <a:r>
              <a:rPr lang="en-US" sz="2000" dirty="0">
                <a:effectLst/>
                <a:ea typeface="Calibri" panose="020F0502020204030204" pitchFamily="34" charset="0"/>
              </a:rPr>
              <a:t>participates</a:t>
            </a:r>
            <a:r>
              <a:rPr lang="en-US" sz="2000" spc="-5" dirty="0">
                <a:effectLst/>
                <a:ea typeface="Calibri" panose="020F0502020204030204" pitchFamily="34" charset="0"/>
              </a:rPr>
              <a:t> </a:t>
            </a:r>
            <a:r>
              <a:rPr lang="en-US" sz="2000" dirty="0">
                <a:effectLst/>
                <a:ea typeface="Calibri" panose="020F0502020204030204" pitchFamily="34" charset="0"/>
              </a:rPr>
              <a:t>more</a:t>
            </a:r>
            <a:r>
              <a:rPr lang="en-US" sz="2000" spc="-15" dirty="0">
                <a:effectLst/>
                <a:ea typeface="Calibri" panose="020F0502020204030204" pitchFamily="34" charset="0"/>
              </a:rPr>
              <a:t> </a:t>
            </a:r>
            <a:r>
              <a:rPr lang="en-US" sz="2000" dirty="0">
                <a:effectLst/>
                <a:ea typeface="Calibri" panose="020F0502020204030204" pitchFamily="34" charset="0"/>
              </a:rPr>
              <a:t>than</a:t>
            </a:r>
            <a:r>
              <a:rPr lang="en-US" sz="2000" spc="-20" dirty="0">
                <a:effectLst/>
                <a:ea typeface="Calibri" panose="020F0502020204030204" pitchFamily="34" charset="0"/>
              </a:rPr>
              <a:t> </a:t>
            </a:r>
            <a:r>
              <a:rPr lang="en-US" sz="2000" dirty="0">
                <a:effectLst/>
                <a:ea typeface="Calibri" panose="020F0502020204030204" pitchFamily="34" charset="0"/>
              </a:rPr>
              <a:t>once</a:t>
            </a:r>
            <a:r>
              <a:rPr lang="en-US" sz="2000" spc="-10" dirty="0">
                <a:effectLst/>
                <a:ea typeface="Calibri" panose="020F0502020204030204" pitchFamily="34" charset="0"/>
              </a:rPr>
              <a:t> </a:t>
            </a:r>
            <a:r>
              <a:rPr lang="en-US" sz="2000" dirty="0">
                <a:effectLst/>
                <a:ea typeface="Calibri" panose="020F0502020204030204" pitchFamily="34" charset="0"/>
              </a:rPr>
              <a:t>in</a:t>
            </a:r>
            <a:r>
              <a:rPr lang="en-US" sz="2000" spc="-20"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a:effectLst/>
                <a:ea typeface="Calibri" panose="020F0502020204030204" pitchFamily="34" charset="0"/>
              </a:rPr>
              <a:t>relationship</a:t>
            </a:r>
            <a:r>
              <a:rPr lang="en-US" sz="2000" spc="-15" dirty="0">
                <a:effectLst/>
                <a:ea typeface="Calibri" panose="020F0502020204030204" pitchFamily="34" charset="0"/>
              </a:rPr>
              <a:t> </a:t>
            </a:r>
            <a:r>
              <a:rPr lang="en-US" sz="2000" dirty="0">
                <a:effectLst/>
                <a:ea typeface="Calibri" panose="020F0502020204030204" pitchFamily="34" charset="0"/>
              </a:rPr>
              <a:t>type</a:t>
            </a:r>
            <a:r>
              <a:rPr lang="en-US" sz="2000" spc="-15" dirty="0">
                <a:effectLst/>
                <a:ea typeface="Calibri" panose="020F0502020204030204" pitchFamily="34" charset="0"/>
              </a:rPr>
              <a:t> </a:t>
            </a:r>
            <a:r>
              <a:rPr lang="en-US" sz="2000" dirty="0">
                <a:effectLst/>
                <a:ea typeface="Calibri" panose="020F0502020204030204" pitchFamily="34" charset="0"/>
              </a:rPr>
              <a:t>in</a:t>
            </a:r>
            <a:r>
              <a:rPr lang="en-US" sz="2000" spc="-20" dirty="0">
                <a:effectLst/>
                <a:ea typeface="Calibri" panose="020F0502020204030204" pitchFamily="34" charset="0"/>
              </a:rPr>
              <a:t> </a:t>
            </a:r>
            <a:r>
              <a:rPr lang="en-US" sz="2000" dirty="0">
                <a:effectLst/>
                <a:ea typeface="Calibri" panose="020F0502020204030204" pitchFamily="34" charset="0"/>
              </a:rPr>
              <a:t>different</a:t>
            </a:r>
            <a:r>
              <a:rPr lang="en-US" sz="2000" spc="-25" dirty="0">
                <a:effectLst/>
                <a:ea typeface="Calibri" panose="020F0502020204030204" pitchFamily="34" charset="0"/>
              </a:rPr>
              <a:t> </a:t>
            </a:r>
            <a:r>
              <a:rPr lang="en-US" sz="2000" dirty="0">
                <a:effectLst/>
                <a:ea typeface="Calibri" panose="020F0502020204030204" pitchFamily="34" charset="0"/>
              </a:rPr>
              <a:t>roles,</a:t>
            </a:r>
            <a:r>
              <a:rPr lang="en-US" sz="2000" spc="-25" dirty="0">
                <a:effectLst/>
                <a:ea typeface="Calibri" panose="020F0502020204030204" pitchFamily="34" charset="0"/>
              </a:rPr>
              <a:t> </a:t>
            </a:r>
            <a:r>
              <a:rPr lang="en-US" sz="2000" dirty="0">
                <a:effectLst/>
                <a:ea typeface="Calibri" panose="020F0502020204030204" pitchFamily="34" charset="0"/>
              </a:rPr>
              <a:t>such</a:t>
            </a:r>
            <a:r>
              <a:rPr lang="en-US" sz="2000" spc="-20" dirty="0">
                <a:effectLst/>
                <a:ea typeface="Calibri" panose="020F0502020204030204" pitchFamily="34" charset="0"/>
              </a:rPr>
              <a:t> </a:t>
            </a:r>
            <a:r>
              <a:rPr lang="en-US" sz="2000" dirty="0">
                <a:effectLst/>
                <a:ea typeface="Calibri" panose="020F0502020204030204" pitchFamily="34" charset="0"/>
              </a:rPr>
              <a:t>relationship</a:t>
            </a:r>
            <a:r>
              <a:rPr lang="en-US" sz="2000" spc="-15" dirty="0">
                <a:effectLst/>
                <a:ea typeface="Calibri" panose="020F0502020204030204" pitchFamily="34" charset="0"/>
              </a:rPr>
              <a:t> </a:t>
            </a:r>
            <a:r>
              <a:rPr lang="en-US" sz="2000" dirty="0">
                <a:effectLst/>
                <a:ea typeface="Calibri" panose="020F0502020204030204" pitchFamily="34" charset="0"/>
              </a:rPr>
              <a:t>types</a:t>
            </a:r>
            <a:r>
              <a:rPr lang="en-US" sz="2000" spc="5" dirty="0">
                <a:effectLst/>
                <a:ea typeface="Calibri" panose="020F0502020204030204" pitchFamily="34" charset="0"/>
              </a:rPr>
              <a:t> </a:t>
            </a:r>
            <a:r>
              <a:rPr lang="en-US" sz="2000" dirty="0">
                <a:effectLst/>
                <a:ea typeface="Calibri" panose="020F0502020204030204" pitchFamily="34" charset="0"/>
              </a:rPr>
              <a:t>are</a:t>
            </a:r>
            <a:r>
              <a:rPr lang="en-US" sz="2000" spc="-15" dirty="0">
                <a:effectLst/>
                <a:ea typeface="Calibri" panose="020F0502020204030204" pitchFamily="34" charset="0"/>
              </a:rPr>
              <a:t> </a:t>
            </a:r>
            <a:r>
              <a:rPr lang="en-US" sz="2000" dirty="0">
                <a:effectLst/>
                <a:ea typeface="Calibri" panose="020F0502020204030204" pitchFamily="34" charset="0"/>
              </a:rPr>
              <a:t>called</a:t>
            </a:r>
            <a:r>
              <a:rPr lang="en-US" sz="2000" spc="-5" dirty="0">
                <a:effectLst/>
                <a:ea typeface="Calibri" panose="020F0502020204030204" pitchFamily="34" charset="0"/>
              </a:rPr>
              <a:t> </a:t>
            </a:r>
            <a:r>
              <a:rPr lang="en-US" sz="2000" b="1" dirty="0">
                <a:effectLst/>
                <a:ea typeface="Calibri" panose="020F0502020204030204" pitchFamily="34" charset="0"/>
              </a:rPr>
              <a:t>recursive</a:t>
            </a:r>
            <a:r>
              <a:rPr lang="en-US" sz="2000" b="1" spc="-15" dirty="0">
                <a:effectLst/>
                <a:ea typeface="Calibri" panose="020F0502020204030204" pitchFamily="34" charset="0"/>
              </a:rPr>
              <a:t> </a:t>
            </a:r>
            <a:r>
              <a:rPr lang="en-US" sz="2000" b="1" dirty="0">
                <a:effectLst/>
                <a:ea typeface="Calibri" panose="020F0502020204030204" pitchFamily="34" charset="0"/>
              </a:rPr>
              <a:t>relationships </a:t>
            </a:r>
            <a:r>
              <a:rPr lang="en-US" b="0" i="0" u="none" strike="noStrike" baseline="0" dirty="0">
                <a:latin typeface="MinionPro-Regular"/>
              </a:rPr>
              <a:t>or </a:t>
            </a:r>
            <a:r>
              <a:rPr lang="en-US" b="1" i="0" u="none" strike="noStrike" baseline="0" dirty="0">
                <a:latin typeface="MinionPro-Bold"/>
              </a:rPr>
              <a:t>self-referencing relationships</a:t>
            </a:r>
            <a:r>
              <a:rPr lang="en-US" b="0" i="0" u="none" strike="noStrike" baseline="0" dirty="0">
                <a:latin typeface="MinionPro-Regular"/>
              </a:rPr>
              <a:t>.</a:t>
            </a:r>
          </a:p>
          <a:p>
            <a:pPr marL="285750" indent="-285750" algn="l">
              <a:buFont typeface="Wingdings" panose="05000000000000000000" pitchFamily="2" charset="2"/>
              <a:buChar char="ü"/>
            </a:pPr>
            <a:r>
              <a:rPr lang="en-US" sz="1800" b="0" i="0" u="none" strike="noStrike" baseline="0" dirty="0">
                <a:latin typeface="MinionPro-Regular"/>
              </a:rPr>
              <a:t>Below figure shows an example. The </a:t>
            </a:r>
            <a:r>
              <a:rPr lang="en-US" sz="1800" b="0" i="0" u="none" strike="noStrike" baseline="0" dirty="0">
                <a:latin typeface="AkzidenzGroteskBE-Regular"/>
              </a:rPr>
              <a:t>SUPERVISION </a:t>
            </a:r>
            <a:r>
              <a:rPr lang="en-US" sz="1800" b="0" i="0" u="none" strike="noStrike" baseline="0" dirty="0">
                <a:latin typeface="MinionPro-Regular"/>
              </a:rPr>
              <a:t>relationship type relates an employee to a supervisor, where both employee and supervisor entities are members of the same </a:t>
            </a:r>
            <a:r>
              <a:rPr lang="en-US" sz="1800" b="0" i="0" u="none" strike="noStrike" baseline="0" dirty="0">
                <a:latin typeface="AkzidenzGroteskBE-Regular"/>
              </a:rPr>
              <a:t>EMPLOYEE </a:t>
            </a:r>
            <a:r>
              <a:rPr lang="en-US" sz="1800" b="0" i="0" u="none" strike="noStrike" baseline="0" dirty="0">
                <a:latin typeface="MinionPro-Regular"/>
              </a:rPr>
              <a:t>entity set. Hence, the </a:t>
            </a:r>
            <a:r>
              <a:rPr lang="en-US" sz="1800" b="0" i="0" u="none" strike="noStrike" baseline="0" dirty="0">
                <a:latin typeface="AkzidenzGroteskBE-Regular"/>
              </a:rPr>
              <a:t>EMPLOYEE </a:t>
            </a:r>
            <a:r>
              <a:rPr lang="en-US" sz="1800" b="0" i="0" u="none" strike="noStrike" baseline="0" dirty="0">
                <a:latin typeface="MinionPro-Regular"/>
              </a:rPr>
              <a:t>entity type </a:t>
            </a:r>
            <a:r>
              <a:rPr lang="en-US" sz="1800" b="0" i="1" u="none" strike="noStrike" baseline="0" dirty="0">
                <a:latin typeface="MinionPro-It"/>
              </a:rPr>
              <a:t>participates twice </a:t>
            </a:r>
            <a:r>
              <a:rPr lang="en-US" sz="1800" b="0" i="0" u="none" strike="noStrike" baseline="0" dirty="0">
                <a:latin typeface="MinionPro-Regular"/>
              </a:rPr>
              <a:t>in </a:t>
            </a:r>
            <a:r>
              <a:rPr lang="en-US" sz="1800" b="0" i="0" u="none" strike="noStrike" baseline="0" dirty="0">
                <a:latin typeface="AkzidenzGroteskBE-Regular"/>
              </a:rPr>
              <a:t>SUPERVISION</a:t>
            </a:r>
            <a:r>
              <a:rPr lang="en-US" sz="1800" b="0" i="0" u="none" strike="noStrike" baseline="0" dirty="0">
                <a:latin typeface="MinionPro-Regular"/>
              </a:rPr>
              <a:t>: once in the role of </a:t>
            </a:r>
            <a:r>
              <a:rPr lang="en-US" sz="1800" b="0" i="1" u="none" strike="noStrike" baseline="0" dirty="0">
                <a:latin typeface="MinionPro-It"/>
              </a:rPr>
              <a:t>supervisor </a:t>
            </a:r>
            <a:r>
              <a:rPr lang="en-US" sz="1800" b="0" i="0" u="none" strike="noStrike" baseline="0" dirty="0">
                <a:latin typeface="MinionPro-Regular"/>
              </a:rPr>
              <a:t>(or </a:t>
            </a:r>
            <a:r>
              <a:rPr lang="en-US" sz="1800" b="0" i="1" u="none" strike="noStrike" baseline="0" dirty="0">
                <a:latin typeface="MinionPro-It"/>
              </a:rPr>
              <a:t>boss</a:t>
            </a:r>
            <a:r>
              <a:rPr lang="en-US" sz="1800" b="0" i="0" u="none" strike="noStrike" baseline="0" dirty="0">
                <a:latin typeface="MinionPro-Regular"/>
              </a:rPr>
              <a:t>), and once in the role of </a:t>
            </a:r>
            <a:r>
              <a:rPr lang="en-US" sz="1800" b="0" i="1" u="none" strike="noStrike" baseline="0" dirty="0">
                <a:latin typeface="MinionPro-It"/>
              </a:rPr>
              <a:t>supervisee </a:t>
            </a:r>
            <a:r>
              <a:rPr lang="en-US" sz="1800" b="0" i="0" u="none" strike="noStrike" baseline="0" dirty="0">
                <a:latin typeface="MinionPro-Regular"/>
              </a:rPr>
              <a:t>(or </a:t>
            </a:r>
            <a:r>
              <a:rPr lang="en-US" sz="1800" b="0" i="1" u="none" strike="noStrike" baseline="0" dirty="0">
                <a:latin typeface="MinionPro-It"/>
              </a:rPr>
              <a:t>subordinate</a:t>
            </a:r>
            <a:r>
              <a:rPr lang="en-US" sz="1800" b="0" i="0" u="none" strike="noStrike" baseline="0" dirty="0">
                <a:latin typeface="MinionPro-Regular"/>
              </a:rPr>
              <a:t>).</a:t>
            </a:r>
            <a:endParaRPr lang="en-US" sz="2000" dirty="0">
              <a:effectLst/>
              <a:ea typeface="Calibri" panose="020F0502020204030204" pitchFamily="34" charset="0"/>
            </a:endParaRPr>
          </a:p>
          <a:p>
            <a:endParaRPr lang="en-US" sz="2000" dirty="0"/>
          </a:p>
        </p:txBody>
      </p:sp>
      <p:pic>
        <p:nvPicPr>
          <p:cNvPr id="6" name="Picture 5">
            <a:extLst>
              <a:ext uri="{FF2B5EF4-FFF2-40B4-BE49-F238E27FC236}">
                <a16:creationId xmlns:a16="http://schemas.microsoft.com/office/drawing/2014/main" id="{A2E327C9-875E-7C3B-2526-5707BA4F4690}"/>
              </a:ext>
            </a:extLst>
          </p:cNvPr>
          <p:cNvPicPr>
            <a:picLocks noChangeAspect="1"/>
          </p:cNvPicPr>
          <p:nvPr/>
        </p:nvPicPr>
        <p:blipFill>
          <a:blip r:embed="rId2"/>
          <a:stretch>
            <a:fillRect/>
          </a:stretch>
        </p:blipFill>
        <p:spPr>
          <a:xfrm>
            <a:off x="4765728" y="3886573"/>
            <a:ext cx="4905213" cy="2971427"/>
          </a:xfrm>
          <a:prstGeom prst="rect">
            <a:avLst/>
          </a:prstGeom>
        </p:spPr>
      </p:pic>
    </p:spTree>
    <p:extLst>
      <p:ext uri="{BB962C8B-B14F-4D97-AF65-F5344CB8AC3E}">
        <p14:creationId xmlns:p14="http://schemas.microsoft.com/office/powerpoint/2010/main" val="12474052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E2D5EF4-A5C9-A372-9350-038B2B4D334F}"/>
              </a:ext>
            </a:extLst>
          </p:cNvPr>
          <p:cNvGraphicFramePr/>
          <p:nvPr>
            <p:extLst>
              <p:ext uri="{D42A27DB-BD31-4B8C-83A1-F6EECF244321}">
                <p14:modId xmlns:p14="http://schemas.microsoft.com/office/powerpoint/2010/main" val="1815695540"/>
              </p:ext>
            </p:extLst>
          </p:nvPr>
        </p:nvGraphicFramePr>
        <p:xfrm>
          <a:off x="263471" y="201478"/>
          <a:ext cx="11716719" cy="4494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 name="TextBox 14">
            <a:extLst>
              <a:ext uri="{FF2B5EF4-FFF2-40B4-BE49-F238E27FC236}">
                <a16:creationId xmlns:a16="http://schemas.microsoft.com/office/drawing/2014/main" id="{D04455CD-9F9E-CA6B-1227-E530015A8DBD}"/>
              </a:ext>
            </a:extLst>
          </p:cNvPr>
          <p:cNvSpPr txBox="1"/>
          <p:nvPr/>
        </p:nvSpPr>
        <p:spPr>
          <a:xfrm>
            <a:off x="464948" y="1053885"/>
            <a:ext cx="11515241" cy="4708981"/>
          </a:xfrm>
          <a:prstGeom prst="rect">
            <a:avLst/>
          </a:prstGeom>
          <a:noFill/>
        </p:spPr>
        <p:txBody>
          <a:bodyPr wrap="square" rtlCol="0">
            <a:spAutoFit/>
          </a:bodyPr>
          <a:lstStyle/>
          <a:p>
            <a:pPr marL="342900" indent="-342900" algn="just">
              <a:buFont typeface="Arial" panose="020B0604020202020204" pitchFamily="34" charset="0"/>
              <a:buChar char="•"/>
            </a:pPr>
            <a:r>
              <a:rPr lang="en-US" sz="2000" b="0" i="0" u="none" strike="noStrike" baseline="0" dirty="0"/>
              <a:t>Relationship types usually have certain constraints that limit the possible combinations of entities that may participate in the corresponding relationship set. </a:t>
            </a:r>
          </a:p>
          <a:p>
            <a:pPr marL="342900" indent="-342900" algn="just">
              <a:buFont typeface="Arial" panose="020B0604020202020204" pitchFamily="34" charset="0"/>
              <a:buChar char="•"/>
            </a:pPr>
            <a:r>
              <a:rPr lang="en-US" sz="2000" b="0" i="0" u="none" strike="noStrike" baseline="0" dirty="0"/>
              <a:t>These constraints are determined from the </a:t>
            </a:r>
            <a:r>
              <a:rPr lang="en-US" sz="2000" b="0" i="0" u="none" strike="noStrike" baseline="0" dirty="0" err="1"/>
              <a:t>miniworld</a:t>
            </a:r>
            <a:r>
              <a:rPr lang="en-US" sz="2000" b="0" i="0" u="none" strike="noStrike" baseline="0" dirty="0"/>
              <a:t> situation that the relationships represent.</a:t>
            </a:r>
            <a:endParaRPr lang="en-US" sz="2000" dirty="0"/>
          </a:p>
          <a:p>
            <a:pPr marL="342900" indent="-342900" algn="just">
              <a:buFont typeface="Arial" panose="020B0604020202020204" pitchFamily="34" charset="0"/>
              <a:buChar char="•"/>
            </a:pPr>
            <a:r>
              <a:rPr lang="en-US" sz="2000" dirty="0"/>
              <a:t>T</a:t>
            </a:r>
            <a:r>
              <a:rPr lang="en-US" sz="2000" b="0" i="0" u="none" strike="noStrike" baseline="0" dirty="0"/>
              <a:t>wo main types of binary relationship constraints: </a:t>
            </a:r>
            <a:r>
              <a:rPr lang="en-US" sz="2000" b="0" i="1" u="none" strike="noStrike" baseline="0" dirty="0"/>
              <a:t>cardinality ratio </a:t>
            </a:r>
            <a:r>
              <a:rPr lang="en-US" sz="2000" b="0" i="0" u="none" strike="noStrike" baseline="0" dirty="0"/>
              <a:t>and </a:t>
            </a:r>
            <a:r>
              <a:rPr lang="en-US" sz="2000" b="0" i="1" u="none" strike="noStrike" baseline="0" dirty="0"/>
              <a:t>participation</a:t>
            </a:r>
            <a:r>
              <a:rPr lang="en-US" sz="2000" b="0" i="0" u="none" strike="noStrike" baseline="0" dirty="0"/>
              <a:t>.</a:t>
            </a:r>
          </a:p>
          <a:p>
            <a:pPr marL="342900" indent="-342900" algn="just">
              <a:buFont typeface="Arial" panose="020B0604020202020204" pitchFamily="34" charset="0"/>
              <a:buChar char="•"/>
            </a:pPr>
            <a:endParaRPr lang="en-US" sz="2000" dirty="0"/>
          </a:p>
          <a:p>
            <a:pPr algn="just"/>
            <a:r>
              <a:rPr lang="en-US" sz="2000" b="1" i="0" u="none" strike="noStrike" baseline="0" dirty="0"/>
              <a:t>Cardinality Ratios for Binary Relationships.</a:t>
            </a:r>
            <a:endParaRPr lang="en-US" sz="2000" b="1" dirty="0"/>
          </a:p>
          <a:p>
            <a:pPr marL="342900" indent="-342900" algn="just">
              <a:buFont typeface="Arial" panose="020B0604020202020204" pitchFamily="34" charset="0"/>
              <a:buChar char="•"/>
            </a:pP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dirty="0">
                <a:effectLst/>
                <a:ea typeface="Calibri" panose="020F0502020204030204" pitchFamily="34" charset="0"/>
              </a:rPr>
              <a:t>cardinality</a:t>
            </a:r>
            <a:r>
              <a:rPr lang="en-US" sz="2000" spc="-20" dirty="0">
                <a:effectLst/>
                <a:ea typeface="Calibri" panose="020F0502020204030204" pitchFamily="34" charset="0"/>
              </a:rPr>
              <a:t> </a:t>
            </a:r>
            <a:r>
              <a:rPr lang="en-US" sz="2000" dirty="0">
                <a:effectLst/>
                <a:ea typeface="Calibri" panose="020F0502020204030204" pitchFamily="34" charset="0"/>
              </a:rPr>
              <a:t>ratio</a:t>
            </a:r>
            <a:r>
              <a:rPr lang="en-US" sz="2000" spc="-20" dirty="0">
                <a:effectLst/>
                <a:ea typeface="Calibri" panose="020F0502020204030204" pitchFamily="34" charset="0"/>
              </a:rPr>
              <a:t> </a:t>
            </a:r>
            <a:r>
              <a:rPr lang="en-US" sz="2000" dirty="0">
                <a:effectLst/>
                <a:ea typeface="Calibri" panose="020F0502020204030204" pitchFamily="34" charset="0"/>
              </a:rPr>
              <a:t>for</a:t>
            </a:r>
            <a:r>
              <a:rPr lang="en-US" sz="2000" spc="-20" dirty="0">
                <a:effectLst/>
                <a:ea typeface="Calibri" panose="020F0502020204030204" pitchFamily="34" charset="0"/>
              </a:rPr>
              <a:t> </a:t>
            </a:r>
            <a:r>
              <a:rPr lang="en-US" sz="2000" dirty="0">
                <a:effectLst/>
                <a:ea typeface="Calibri" panose="020F0502020204030204" pitchFamily="34" charset="0"/>
              </a:rPr>
              <a:t>a binary</a:t>
            </a:r>
            <a:r>
              <a:rPr lang="en-US" sz="2000" spc="-15" dirty="0">
                <a:effectLst/>
                <a:ea typeface="Calibri" panose="020F0502020204030204" pitchFamily="34" charset="0"/>
              </a:rPr>
              <a:t> </a:t>
            </a:r>
            <a:r>
              <a:rPr lang="en-US" sz="2000" dirty="0">
                <a:effectLst/>
                <a:ea typeface="Calibri" panose="020F0502020204030204" pitchFamily="34" charset="0"/>
              </a:rPr>
              <a:t>relationship</a:t>
            </a:r>
            <a:r>
              <a:rPr lang="en-US" sz="2000" spc="-25" dirty="0">
                <a:effectLst/>
                <a:ea typeface="Calibri" panose="020F0502020204030204" pitchFamily="34" charset="0"/>
              </a:rPr>
              <a:t> </a:t>
            </a:r>
            <a:r>
              <a:rPr lang="en-US" sz="2000" dirty="0">
                <a:effectLst/>
                <a:ea typeface="Calibri" panose="020F0502020204030204" pitchFamily="34" charset="0"/>
              </a:rPr>
              <a:t>specifies</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b="1" dirty="0">
                <a:effectLst/>
                <a:ea typeface="Calibri" panose="020F0502020204030204" pitchFamily="34" charset="0"/>
              </a:rPr>
              <a:t>maximum</a:t>
            </a:r>
            <a:r>
              <a:rPr lang="en-US" sz="2000" b="1" spc="-30" dirty="0">
                <a:effectLst/>
                <a:ea typeface="Calibri" panose="020F0502020204030204" pitchFamily="34" charset="0"/>
              </a:rPr>
              <a:t> </a:t>
            </a:r>
            <a:r>
              <a:rPr lang="en-US" sz="2000" b="1" dirty="0">
                <a:effectLst/>
                <a:ea typeface="Calibri" panose="020F0502020204030204" pitchFamily="34" charset="0"/>
              </a:rPr>
              <a:t>number</a:t>
            </a:r>
            <a:r>
              <a:rPr lang="en-US" sz="2000" b="1" spc="-30" dirty="0">
                <a:effectLst/>
                <a:ea typeface="Calibri" panose="020F0502020204030204" pitchFamily="34" charset="0"/>
              </a:rPr>
              <a:t> </a:t>
            </a:r>
            <a:r>
              <a:rPr lang="en-US" sz="2000" b="1" dirty="0">
                <a:effectLst/>
                <a:ea typeface="Calibri" panose="020F0502020204030204" pitchFamily="34" charset="0"/>
              </a:rPr>
              <a:t>of</a:t>
            </a:r>
            <a:r>
              <a:rPr lang="en-US" sz="2000" b="1" spc="-5" dirty="0">
                <a:effectLst/>
                <a:ea typeface="Calibri" panose="020F0502020204030204" pitchFamily="34" charset="0"/>
              </a:rPr>
              <a:t> </a:t>
            </a:r>
            <a:r>
              <a:rPr lang="en-US" sz="2000" b="1" dirty="0">
                <a:effectLst/>
                <a:ea typeface="Calibri" panose="020F0502020204030204" pitchFamily="34" charset="0"/>
              </a:rPr>
              <a:t>relationship</a:t>
            </a:r>
            <a:r>
              <a:rPr lang="en-US" sz="2000" b="1" spc="-15" dirty="0">
                <a:effectLst/>
                <a:ea typeface="Calibri" panose="020F0502020204030204" pitchFamily="34" charset="0"/>
              </a:rPr>
              <a:t> </a:t>
            </a:r>
            <a:r>
              <a:rPr lang="en-US" sz="2000" b="1" dirty="0">
                <a:effectLst/>
                <a:ea typeface="Calibri" panose="020F0502020204030204" pitchFamily="34" charset="0"/>
              </a:rPr>
              <a:t>instances</a:t>
            </a:r>
            <a:r>
              <a:rPr lang="en-US" sz="2000" b="1" dirty="0">
                <a:ea typeface="Calibri" panose="020F0502020204030204" pitchFamily="34" charset="0"/>
              </a:rPr>
              <a:t> </a:t>
            </a:r>
            <a:r>
              <a:rPr lang="en-US" sz="2000" dirty="0">
                <a:effectLst/>
                <a:ea typeface="Calibri" panose="020F0502020204030204" pitchFamily="34" charset="0"/>
              </a:rPr>
              <a:t>that</a:t>
            </a:r>
            <a:r>
              <a:rPr lang="en-US" sz="2000" spc="-30" dirty="0">
                <a:effectLst/>
                <a:ea typeface="Calibri" panose="020F0502020204030204" pitchFamily="34" charset="0"/>
              </a:rPr>
              <a:t> </a:t>
            </a:r>
            <a:r>
              <a:rPr lang="en-US" sz="2000" dirty="0">
                <a:effectLst/>
                <a:ea typeface="Calibri" panose="020F0502020204030204" pitchFamily="34" charset="0"/>
              </a:rPr>
              <a:t>an</a:t>
            </a:r>
            <a:r>
              <a:rPr lang="en-US" sz="2000" spc="-15"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can</a:t>
            </a:r>
            <a:r>
              <a:rPr lang="en-US" sz="2000" spc="5" dirty="0">
                <a:effectLst/>
                <a:ea typeface="Calibri" panose="020F0502020204030204" pitchFamily="34" charset="0"/>
              </a:rPr>
              <a:t> </a:t>
            </a:r>
            <a:r>
              <a:rPr lang="en-US" sz="2000" dirty="0">
                <a:effectLst/>
                <a:ea typeface="Calibri" panose="020F0502020204030204" pitchFamily="34" charset="0"/>
              </a:rPr>
              <a:t>participate</a:t>
            </a:r>
            <a:r>
              <a:rPr lang="en-US" sz="2000" spc="-15" dirty="0">
                <a:effectLst/>
                <a:ea typeface="Calibri" panose="020F0502020204030204" pitchFamily="34" charset="0"/>
              </a:rPr>
              <a:t> </a:t>
            </a:r>
            <a:r>
              <a:rPr lang="en-US" sz="2000" dirty="0">
                <a:effectLst/>
                <a:ea typeface="Calibri" panose="020F0502020204030204" pitchFamily="34" charset="0"/>
              </a:rPr>
              <a:t>in.</a:t>
            </a:r>
            <a:endParaRPr lang="en-US" sz="2000" dirty="0"/>
          </a:p>
          <a:p>
            <a:pPr marL="342900" indent="-342900" algn="just">
              <a:buFont typeface="Arial" panose="020B0604020202020204" pitchFamily="34" charset="0"/>
              <a:buChar char="•"/>
            </a:pPr>
            <a:r>
              <a:rPr lang="en-US" sz="2000" b="0" i="0" u="none" strike="noStrike" baseline="0" dirty="0"/>
              <a:t>For example, in the WORKS_FOR binary relationship type, DEPARTMENT:EMPLOYEE is of cardinality ratio 1:N, meaning that each department can be related to (that is, employs) any number of employees (N), but an employee can be related to (work for) at most one department (1).</a:t>
            </a:r>
          </a:p>
          <a:p>
            <a:pPr marL="342900" indent="-342900" algn="just">
              <a:buFont typeface="Arial" panose="020B0604020202020204" pitchFamily="34" charset="0"/>
              <a:buChar char="•"/>
            </a:pPr>
            <a:r>
              <a:rPr lang="en-US" sz="2000" b="0" i="0" u="none" strike="noStrike" baseline="0" dirty="0"/>
              <a:t>This means that for this particular relationship type WORKS_FOR, a particular department entity can be related to any number of employees (N indicates there is no maximum number). On the other hand, an </a:t>
            </a:r>
            <a:r>
              <a:rPr lang="en-US" sz="2000" dirty="0"/>
              <a:t>employee can be related to a maximum of one department.</a:t>
            </a:r>
          </a:p>
          <a:p>
            <a:pPr marL="342900" indent="-342900" algn="just">
              <a:buFont typeface="Arial" panose="020B0604020202020204" pitchFamily="34" charset="0"/>
              <a:buChar char="•"/>
            </a:pPr>
            <a:r>
              <a:rPr lang="en-US" sz="2000" dirty="0"/>
              <a:t>The possible cardinality ratios for binary relationship types are 1:1, 1:N, N:1, and M:N.</a:t>
            </a:r>
          </a:p>
        </p:txBody>
      </p:sp>
    </p:spTree>
    <p:extLst>
      <p:ext uri="{BB962C8B-B14F-4D97-AF65-F5344CB8AC3E}">
        <p14:creationId xmlns:p14="http://schemas.microsoft.com/office/powerpoint/2010/main" val="18291585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52558E-B048-64DD-9A0A-96F347533CF1}"/>
              </a:ext>
            </a:extLst>
          </p:cNvPr>
          <p:cNvPicPr>
            <a:picLocks noChangeAspect="1"/>
          </p:cNvPicPr>
          <p:nvPr/>
        </p:nvPicPr>
        <p:blipFill>
          <a:blip r:embed="rId2"/>
          <a:stretch>
            <a:fillRect/>
          </a:stretch>
        </p:blipFill>
        <p:spPr>
          <a:xfrm>
            <a:off x="5914056" y="0"/>
            <a:ext cx="5876925" cy="2971800"/>
          </a:xfrm>
          <a:prstGeom prst="rect">
            <a:avLst/>
          </a:prstGeom>
        </p:spPr>
      </p:pic>
      <p:pic>
        <p:nvPicPr>
          <p:cNvPr id="5" name="Picture 4">
            <a:extLst>
              <a:ext uri="{FF2B5EF4-FFF2-40B4-BE49-F238E27FC236}">
                <a16:creationId xmlns:a16="http://schemas.microsoft.com/office/drawing/2014/main" id="{72054151-8E33-C22F-36BC-6E3E1B391F1E}"/>
              </a:ext>
            </a:extLst>
          </p:cNvPr>
          <p:cNvPicPr>
            <a:picLocks noChangeAspect="1"/>
          </p:cNvPicPr>
          <p:nvPr/>
        </p:nvPicPr>
        <p:blipFill>
          <a:blip r:embed="rId3"/>
          <a:stretch>
            <a:fillRect/>
          </a:stretch>
        </p:blipFill>
        <p:spPr>
          <a:xfrm>
            <a:off x="170481" y="3143250"/>
            <a:ext cx="5743575" cy="3714750"/>
          </a:xfrm>
          <a:prstGeom prst="rect">
            <a:avLst/>
          </a:prstGeom>
        </p:spPr>
      </p:pic>
      <p:sp>
        <p:nvSpPr>
          <p:cNvPr id="6" name="TextBox 5">
            <a:extLst>
              <a:ext uri="{FF2B5EF4-FFF2-40B4-BE49-F238E27FC236}">
                <a16:creationId xmlns:a16="http://schemas.microsoft.com/office/drawing/2014/main" id="{B17CEA01-8872-41C6-47A8-B8EEF77FEB64}"/>
              </a:ext>
            </a:extLst>
          </p:cNvPr>
          <p:cNvSpPr txBox="1"/>
          <p:nvPr/>
        </p:nvSpPr>
        <p:spPr>
          <a:xfrm>
            <a:off x="278969" y="201478"/>
            <a:ext cx="5377912" cy="1631216"/>
          </a:xfrm>
          <a:prstGeom prst="rect">
            <a:avLst/>
          </a:prstGeom>
          <a:noFill/>
        </p:spPr>
        <p:txBody>
          <a:bodyPr wrap="square" rtlCol="0">
            <a:spAutoFit/>
          </a:bodyPr>
          <a:lstStyle/>
          <a:p>
            <a:pPr algn="just"/>
            <a:endParaRPr lang="en-US" sz="2000" dirty="0">
              <a:effectLst/>
              <a:ea typeface="Calibri" panose="020F0502020204030204" pitchFamily="34" charset="0"/>
            </a:endParaRPr>
          </a:p>
          <a:p>
            <a:pPr algn="just"/>
            <a:r>
              <a:rPr lang="en-US" sz="2000" dirty="0">
                <a:effectLst/>
                <a:ea typeface="Calibri" panose="020F0502020204030204" pitchFamily="34" charset="0"/>
              </a:rPr>
              <a:t>In</a:t>
            </a:r>
            <a:r>
              <a:rPr lang="en-US" sz="2000" spc="-15" dirty="0">
                <a:effectLst/>
                <a:ea typeface="Calibri" panose="020F0502020204030204" pitchFamily="34" charset="0"/>
              </a:rPr>
              <a:t> </a:t>
            </a:r>
            <a:r>
              <a:rPr lang="en-US" sz="2000" dirty="0">
                <a:effectLst/>
                <a:ea typeface="Calibri" panose="020F0502020204030204" pitchFamily="34" charset="0"/>
              </a:rPr>
              <a:t>1:1,</a:t>
            </a:r>
            <a:r>
              <a:rPr lang="en-US" sz="2000" spc="-20" dirty="0">
                <a:effectLst/>
                <a:ea typeface="Calibri" panose="020F0502020204030204" pitchFamily="34" charset="0"/>
              </a:rPr>
              <a:t> </a:t>
            </a:r>
            <a:r>
              <a:rPr lang="en-US" sz="2000" dirty="0">
                <a:effectLst/>
                <a:ea typeface="Calibri" panose="020F0502020204030204" pitchFamily="34" charset="0"/>
              </a:rPr>
              <a:t>an</a:t>
            </a:r>
            <a:r>
              <a:rPr lang="en-US" sz="2000" spc="-15" dirty="0">
                <a:effectLst/>
                <a:ea typeface="Calibri" panose="020F0502020204030204" pitchFamily="34" charset="0"/>
              </a:rPr>
              <a:t> </a:t>
            </a:r>
            <a:r>
              <a:rPr lang="en-US" sz="2000" dirty="0">
                <a:effectLst/>
                <a:ea typeface="Calibri" panose="020F0502020204030204" pitchFamily="34" charset="0"/>
              </a:rPr>
              <a:t>employee</a:t>
            </a:r>
            <a:r>
              <a:rPr lang="en-US" sz="2000" spc="-10" dirty="0">
                <a:effectLst/>
                <a:ea typeface="Calibri" panose="020F0502020204030204" pitchFamily="34" charset="0"/>
              </a:rPr>
              <a:t> </a:t>
            </a:r>
            <a:r>
              <a:rPr lang="en-US" sz="2000" dirty="0">
                <a:effectLst/>
                <a:ea typeface="Calibri" panose="020F0502020204030204" pitchFamily="34" charset="0"/>
              </a:rPr>
              <a:t>can</a:t>
            </a:r>
            <a:r>
              <a:rPr lang="en-US" sz="2000" spc="-15" dirty="0">
                <a:effectLst/>
                <a:ea typeface="Calibri" panose="020F0502020204030204" pitchFamily="34" charset="0"/>
              </a:rPr>
              <a:t> </a:t>
            </a:r>
            <a:r>
              <a:rPr lang="en-US" sz="2000" dirty="0">
                <a:effectLst/>
                <a:ea typeface="Calibri" panose="020F0502020204030204" pitchFamily="34" charset="0"/>
              </a:rPr>
              <a:t>manage</a:t>
            </a:r>
            <a:r>
              <a:rPr lang="en-US" sz="2000" spc="-5" dirty="0">
                <a:effectLst/>
                <a:ea typeface="Calibri" panose="020F0502020204030204" pitchFamily="34" charset="0"/>
              </a:rPr>
              <a:t> </a:t>
            </a:r>
            <a:r>
              <a:rPr lang="en-US" sz="2000" dirty="0">
                <a:effectLst/>
                <a:ea typeface="Calibri" panose="020F0502020204030204" pitchFamily="34" charset="0"/>
              </a:rPr>
              <a:t>at</a:t>
            </a:r>
            <a:r>
              <a:rPr lang="en-US" sz="2000" spc="-25" dirty="0">
                <a:effectLst/>
                <a:ea typeface="Calibri" panose="020F0502020204030204" pitchFamily="34" charset="0"/>
              </a:rPr>
              <a:t> </a:t>
            </a:r>
            <a:r>
              <a:rPr lang="en-US" sz="2000" dirty="0">
                <a:effectLst/>
                <a:ea typeface="Calibri" panose="020F0502020204030204" pitchFamily="34" charset="0"/>
              </a:rPr>
              <a:t>most one</a:t>
            </a:r>
            <a:r>
              <a:rPr lang="en-US" sz="2000" spc="-10" dirty="0">
                <a:effectLst/>
                <a:ea typeface="Calibri" panose="020F0502020204030204" pitchFamily="34" charset="0"/>
              </a:rPr>
              <a:t> </a:t>
            </a:r>
            <a:r>
              <a:rPr lang="en-US" sz="2000" dirty="0">
                <a:effectLst/>
                <a:ea typeface="Calibri" panose="020F0502020204030204" pitchFamily="34" charset="0"/>
              </a:rPr>
              <a:t>department</a:t>
            </a:r>
            <a:r>
              <a:rPr lang="en-US" sz="2000" spc="-20"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dirty="0">
                <a:effectLst/>
                <a:ea typeface="Calibri" panose="020F0502020204030204" pitchFamily="34" charset="0"/>
              </a:rPr>
              <a:t>department</a:t>
            </a:r>
            <a:r>
              <a:rPr lang="en-US" sz="2000" spc="-20" dirty="0">
                <a:effectLst/>
                <a:ea typeface="Calibri" panose="020F0502020204030204" pitchFamily="34" charset="0"/>
              </a:rPr>
              <a:t> </a:t>
            </a:r>
            <a:r>
              <a:rPr lang="en-US" sz="2000" dirty="0">
                <a:effectLst/>
                <a:ea typeface="Calibri" panose="020F0502020204030204" pitchFamily="34" charset="0"/>
              </a:rPr>
              <a:t>can</a:t>
            </a:r>
            <a:r>
              <a:rPr lang="en-US" sz="2000" spc="5" dirty="0">
                <a:effectLst/>
                <a:ea typeface="Calibri" panose="020F0502020204030204" pitchFamily="34" charset="0"/>
              </a:rPr>
              <a:t> </a:t>
            </a:r>
            <a:r>
              <a:rPr lang="en-US" sz="2000" dirty="0">
                <a:effectLst/>
                <a:ea typeface="Calibri" panose="020F0502020204030204" pitchFamily="34" charset="0"/>
              </a:rPr>
              <a:t>have</a:t>
            </a:r>
            <a:r>
              <a:rPr lang="en-US" sz="2000" spc="-10" dirty="0">
                <a:effectLst/>
                <a:ea typeface="Calibri" panose="020F0502020204030204" pitchFamily="34" charset="0"/>
              </a:rPr>
              <a:t> </a:t>
            </a:r>
            <a:r>
              <a:rPr lang="en-US" sz="2000" dirty="0">
                <a:effectLst/>
                <a:ea typeface="Calibri" panose="020F0502020204030204" pitchFamily="34" charset="0"/>
              </a:rPr>
              <a:t>at</a:t>
            </a:r>
            <a:r>
              <a:rPr lang="en-US" sz="2000" spc="-25" dirty="0">
                <a:effectLst/>
                <a:ea typeface="Calibri" panose="020F0502020204030204" pitchFamily="34" charset="0"/>
              </a:rPr>
              <a:t> </a:t>
            </a:r>
            <a:r>
              <a:rPr lang="en-US" sz="2000" dirty="0">
                <a:effectLst/>
                <a:ea typeface="Calibri" panose="020F0502020204030204" pitchFamily="34" charset="0"/>
              </a:rPr>
              <a:t>most</a:t>
            </a:r>
            <a:r>
              <a:rPr lang="en-US" sz="2000" spc="5" dirty="0">
                <a:effectLst/>
                <a:ea typeface="Calibri" panose="020F0502020204030204" pitchFamily="34" charset="0"/>
              </a:rPr>
              <a:t> </a:t>
            </a:r>
            <a:r>
              <a:rPr lang="en-US" sz="2000" dirty="0">
                <a:effectLst/>
                <a:ea typeface="Calibri" panose="020F0502020204030204" pitchFamily="34" charset="0"/>
              </a:rPr>
              <a:t>one</a:t>
            </a:r>
            <a:r>
              <a:rPr lang="en-US" sz="2000" spc="-10" dirty="0">
                <a:effectLst/>
                <a:ea typeface="Calibri" panose="020F0502020204030204" pitchFamily="34" charset="0"/>
              </a:rPr>
              <a:t> </a:t>
            </a:r>
            <a:r>
              <a:rPr lang="en-US" sz="2000" dirty="0">
                <a:effectLst/>
                <a:ea typeface="Calibri" panose="020F0502020204030204" pitchFamily="34" charset="0"/>
              </a:rPr>
              <a:t>manager</a:t>
            </a:r>
          </a:p>
          <a:p>
            <a:pPr algn="just"/>
            <a:endParaRPr lang="en-US" sz="2000" dirty="0"/>
          </a:p>
        </p:txBody>
      </p:sp>
      <p:sp>
        <p:nvSpPr>
          <p:cNvPr id="7" name="TextBox 6">
            <a:extLst>
              <a:ext uri="{FF2B5EF4-FFF2-40B4-BE49-F238E27FC236}">
                <a16:creationId xmlns:a16="http://schemas.microsoft.com/office/drawing/2014/main" id="{9732CD20-BB10-4B87-D609-0AB17E345B6E}"/>
              </a:ext>
            </a:extLst>
          </p:cNvPr>
          <p:cNvSpPr txBox="1"/>
          <p:nvPr/>
        </p:nvSpPr>
        <p:spPr>
          <a:xfrm>
            <a:off x="6586780" y="3429000"/>
            <a:ext cx="5204201" cy="1015663"/>
          </a:xfrm>
          <a:prstGeom prst="rect">
            <a:avLst/>
          </a:prstGeom>
          <a:noFill/>
        </p:spPr>
        <p:txBody>
          <a:bodyPr wrap="square" rtlCol="0">
            <a:spAutoFit/>
          </a:bodyPr>
          <a:lstStyle/>
          <a:p>
            <a:pPr algn="just"/>
            <a:r>
              <a:rPr lang="en-US" sz="2000" dirty="0">
                <a:effectLst/>
                <a:ea typeface="Calibri" panose="020F0502020204030204" pitchFamily="34" charset="0"/>
              </a:rPr>
              <a:t>In</a:t>
            </a:r>
            <a:r>
              <a:rPr lang="en-US" sz="2000" spc="-20" dirty="0">
                <a:effectLst/>
                <a:ea typeface="Calibri" panose="020F0502020204030204" pitchFamily="34" charset="0"/>
              </a:rPr>
              <a:t> </a:t>
            </a:r>
            <a:r>
              <a:rPr lang="en-US" sz="2000" dirty="0">
                <a:effectLst/>
                <a:ea typeface="Calibri" panose="020F0502020204030204" pitchFamily="34" charset="0"/>
              </a:rPr>
              <a:t>M:N, an</a:t>
            </a:r>
            <a:r>
              <a:rPr lang="en-US" sz="2000" spc="-15" dirty="0">
                <a:effectLst/>
                <a:ea typeface="Calibri" panose="020F0502020204030204" pitchFamily="34" charset="0"/>
              </a:rPr>
              <a:t> </a:t>
            </a:r>
            <a:r>
              <a:rPr lang="en-US" sz="2000" dirty="0">
                <a:effectLst/>
                <a:ea typeface="Calibri" panose="020F0502020204030204" pitchFamily="34" charset="0"/>
              </a:rPr>
              <a:t>employee</a:t>
            </a:r>
            <a:r>
              <a:rPr lang="en-US" sz="2000" spc="-10" dirty="0">
                <a:effectLst/>
                <a:ea typeface="Calibri" panose="020F0502020204030204" pitchFamily="34" charset="0"/>
              </a:rPr>
              <a:t> </a:t>
            </a:r>
            <a:r>
              <a:rPr lang="en-US" sz="2000" dirty="0">
                <a:effectLst/>
                <a:ea typeface="Calibri" panose="020F0502020204030204" pitchFamily="34" charset="0"/>
              </a:rPr>
              <a:t>can</a:t>
            </a:r>
            <a:r>
              <a:rPr lang="en-US" sz="2000" spc="-15" dirty="0">
                <a:effectLst/>
                <a:ea typeface="Calibri" panose="020F0502020204030204" pitchFamily="34" charset="0"/>
              </a:rPr>
              <a:t> </a:t>
            </a:r>
            <a:r>
              <a:rPr lang="en-US" sz="2000" dirty="0">
                <a:effectLst/>
                <a:ea typeface="Calibri" panose="020F0502020204030204" pitchFamily="34" charset="0"/>
              </a:rPr>
              <a:t>work</a:t>
            </a:r>
            <a:r>
              <a:rPr lang="en-US" sz="2000" spc="-15" dirty="0">
                <a:effectLst/>
                <a:ea typeface="Calibri" panose="020F0502020204030204" pitchFamily="34" charset="0"/>
              </a:rPr>
              <a:t> </a:t>
            </a:r>
            <a:r>
              <a:rPr lang="en-US" sz="2000" dirty="0">
                <a:effectLst/>
                <a:ea typeface="Calibri" panose="020F0502020204030204" pitchFamily="34" charset="0"/>
              </a:rPr>
              <a:t>on</a:t>
            </a:r>
            <a:r>
              <a:rPr lang="en-US" sz="2000" spc="-15" dirty="0">
                <a:effectLst/>
                <a:ea typeface="Calibri" panose="020F0502020204030204" pitchFamily="34" charset="0"/>
              </a:rPr>
              <a:t> </a:t>
            </a:r>
            <a:r>
              <a:rPr lang="en-US" sz="2000" dirty="0">
                <a:effectLst/>
                <a:ea typeface="Calibri" panose="020F0502020204030204" pitchFamily="34" charset="0"/>
              </a:rPr>
              <a:t>several projects</a:t>
            </a:r>
            <a:r>
              <a:rPr lang="en-US" sz="2000" spc="-10" dirty="0">
                <a:effectLst/>
                <a:ea typeface="Calibri" panose="020F0502020204030204" pitchFamily="34" charset="0"/>
              </a:rPr>
              <a:t> </a:t>
            </a:r>
            <a:r>
              <a:rPr lang="en-US" sz="2000" dirty="0">
                <a:effectLst/>
                <a:ea typeface="Calibri" panose="020F0502020204030204" pitchFamily="34" charset="0"/>
              </a:rPr>
              <a:t>and</a:t>
            </a:r>
            <a:r>
              <a:rPr lang="en-US" sz="2000" spc="-2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project can</a:t>
            </a:r>
            <a:r>
              <a:rPr lang="en-US" sz="2000" spc="-15" dirty="0">
                <a:effectLst/>
                <a:ea typeface="Calibri" panose="020F0502020204030204" pitchFamily="34" charset="0"/>
              </a:rPr>
              <a:t> </a:t>
            </a:r>
            <a:r>
              <a:rPr lang="en-US" sz="2000" dirty="0">
                <a:effectLst/>
                <a:ea typeface="Calibri" panose="020F0502020204030204" pitchFamily="34" charset="0"/>
              </a:rPr>
              <a:t>have</a:t>
            </a:r>
            <a:r>
              <a:rPr lang="en-US" sz="2000" spc="-15" dirty="0">
                <a:effectLst/>
                <a:ea typeface="Calibri" panose="020F0502020204030204" pitchFamily="34" charset="0"/>
              </a:rPr>
              <a:t> </a:t>
            </a:r>
            <a:r>
              <a:rPr lang="en-US" sz="2000" dirty="0">
                <a:effectLst/>
                <a:ea typeface="Calibri" panose="020F0502020204030204" pitchFamily="34" charset="0"/>
              </a:rPr>
              <a:t>several employees</a:t>
            </a:r>
            <a:endParaRPr lang="en-US" sz="2000" dirty="0"/>
          </a:p>
        </p:txBody>
      </p:sp>
    </p:spTree>
    <p:extLst>
      <p:ext uri="{BB962C8B-B14F-4D97-AF65-F5344CB8AC3E}">
        <p14:creationId xmlns:p14="http://schemas.microsoft.com/office/powerpoint/2010/main" val="20567602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E81039-397E-9D6F-D273-6A109C2D8216}"/>
              </a:ext>
            </a:extLst>
          </p:cNvPr>
          <p:cNvPicPr>
            <a:picLocks noChangeAspect="1"/>
          </p:cNvPicPr>
          <p:nvPr/>
        </p:nvPicPr>
        <p:blipFill>
          <a:blip r:embed="rId2"/>
          <a:stretch>
            <a:fillRect/>
          </a:stretch>
        </p:blipFill>
        <p:spPr>
          <a:xfrm>
            <a:off x="1472105" y="898902"/>
            <a:ext cx="9247789" cy="3874253"/>
          </a:xfrm>
          <a:prstGeom prst="rect">
            <a:avLst/>
          </a:prstGeom>
        </p:spPr>
      </p:pic>
    </p:spTree>
    <p:extLst>
      <p:ext uri="{BB962C8B-B14F-4D97-AF65-F5344CB8AC3E}">
        <p14:creationId xmlns:p14="http://schemas.microsoft.com/office/powerpoint/2010/main" val="28407179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4A8819-8550-0D9B-0978-936C93D5680D}"/>
              </a:ext>
            </a:extLst>
          </p:cNvPr>
          <p:cNvSpPr txBox="1"/>
          <p:nvPr/>
        </p:nvSpPr>
        <p:spPr>
          <a:xfrm>
            <a:off x="294468" y="136047"/>
            <a:ext cx="11603064" cy="6585905"/>
          </a:xfrm>
          <a:prstGeom prst="rect">
            <a:avLst/>
          </a:prstGeom>
          <a:noFill/>
        </p:spPr>
        <p:txBody>
          <a:bodyPr wrap="square" rtlCol="0">
            <a:spAutoFit/>
          </a:bodyPr>
          <a:lstStyle/>
          <a:p>
            <a:pPr algn="just"/>
            <a:r>
              <a:rPr lang="en-US" sz="2000" b="1" dirty="0">
                <a:effectLst/>
                <a:ea typeface="Calibri" panose="020F0502020204030204" pitchFamily="34" charset="0"/>
              </a:rPr>
              <a:t>Participation</a:t>
            </a:r>
            <a:r>
              <a:rPr lang="en-US" sz="2000" b="1" spc="-25" dirty="0">
                <a:effectLst/>
                <a:ea typeface="Calibri" panose="020F0502020204030204" pitchFamily="34" charset="0"/>
              </a:rPr>
              <a:t> </a:t>
            </a:r>
            <a:r>
              <a:rPr lang="en-US" sz="2000" b="1" dirty="0">
                <a:effectLst/>
                <a:ea typeface="Calibri" panose="020F0502020204030204" pitchFamily="34" charset="0"/>
              </a:rPr>
              <a:t>Constraints</a:t>
            </a:r>
            <a:r>
              <a:rPr lang="en-US" sz="2000" b="1" spc="-35" dirty="0">
                <a:effectLst/>
                <a:ea typeface="Calibri" panose="020F0502020204030204" pitchFamily="34" charset="0"/>
              </a:rPr>
              <a:t> </a:t>
            </a:r>
            <a:r>
              <a:rPr lang="en-US" sz="2000" b="1" dirty="0">
                <a:effectLst/>
                <a:ea typeface="Calibri" panose="020F0502020204030204" pitchFamily="34" charset="0"/>
              </a:rPr>
              <a:t>and</a:t>
            </a:r>
            <a:r>
              <a:rPr lang="en-US" sz="2000" b="1" spc="-20" dirty="0">
                <a:effectLst/>
                <a:ea typeface="Calibri" panose="020F0502020204030204" pitchFamily="34" charset="0"/>
              </a:rPr>
              <a:t> </a:t>
            </a:r>
            <a:r>
              <a:rPr lang="en-US" sz="2000" b="1" dirty="0">
                <a:effectLst/>
                <a:ea typeface="Calibri" panose="020F0502020204030204" pitchFamily="34" charset="0"/>
              </a:rPr>
              <a:t>Existence</a:t>
            </a:r>
            <a:r>
              <a:rPr lang="en-US" sz="2000" b="1" spc="-30" dirty="0">
                <a:effectLst/>
                <a:ea typeface="Calibri" panose="020F0502020204030204" pitchFamily="34" charset="0"/>
              </a:rPr>
              <a:t> </a:t>
            </a:r>
            <a:r>
              <a:rPr lang="en-US" sz="2000" b="1" dirty="0">
                <a:effectLst/>
                <a:ea typeface="Calibri" panose="020F0502020204030204" pitchFamily="34" charset="0"/>
              </a:rPr>
              <a:t>Dependencies</a:t>
            </a:r>
          </a:p>
          <a:p>
            <a:pPr algn="just"/>
            <a:endParaRPr lang="en-US" sz="2000" dirty="0"/>
          </a:p>
          <a:p>
            <a:pPr marL="342900" marR="687070" lvl="0" indent="-342900" algn="just">
              <a:lnSpc>
                <a:spcPct val="108000"/>
              </a:lnSpc>
              <a:spcBef>
                <a:spcPts val="890"/>
              </a:spcBef>
              <a:buFont typeface="Wingdings" panose="05000000000000000000" pitchFamily="2" charset="2"/>
              <a:buChar char=""/>
              <a:tabLst>
                <a:tab pos="664845" algn="l"/>
              </a:tabLst>
            </a:pP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dirty="0">
                <a:effectLst/>
                <a:ea typeface="Calibri" panose="020F0502020204030204" pitchFamily="34" charset="0"/>
              </a:rPr>
              <a:t>participation</a:t>
            </a:r>
            <a:r>
              <a:rPr lang="en-US" sz="2000" spc="-20" dirty="0">
                <a:effectLst/>
                <a:ea typeface="Calibri" panose="020F0502020204030204" pitchFamily="34" charset="0"/>
              </a:rPr>
              <a:t> </a:t>
            </a:r>
            <a:r>
              <a:rPr lang="en-US" sz="2000" dirty="0">
                <a:effectLst/>
                <a:ea typeface="Calibri" panose="020F0502020204030204" pitchFamily="34" charset="0"/>
              </a:rPr>
              <a:t>constraint</a:t>
            </a:r>
            <a:r>
              <a:rPr lang="en-US" sz="2000" spc="-25" dirty="0">
                <a:effectLst/>
                <a:ea typeface="Calibri" panose="020F0502020204030204" pitchFamily="34" charset="0"/>
              </a:rPr>
              <a:t> </a:t>
            </a:r>
            <a:r>
              <a:rPr lang="en-US" sz="2000" dirty="0">
                <a:effectLst/>
                <a:ea typeface="Calibri" panose="020F0502020204030204" pitchFamily="34" charset="0"/>
              </a:rPr>
              <a:t>specifies</a:t>
            </a:r>
            <a:r>
              <a:rPr lang="en-US" sz="2000" spc="-10" dirty="0">
                <a:effectLst/>
                <a:ea typeface="Calibri" panose="020F0502020204030204" pitchFamily="34" charset="0"/>
              </a:rPr>
              <a:t> </a:t>
            </a:r>
            <a:r>
              <a:rPr lang="en-US" sz="2000" dirty="0">
                <a:effectLst/>
                <a:ea typeface="Calibri" panose="020F0502020204030204" pitchFamily="34" charset="0"/>
              </a:rPr>
              <a:t>whether</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existence</a:t>
            </a:r>
            <a:r>
              <a:rPr lang="en-US" sz="2000" spc="-15" dirty="0">
                <a:effectLst/>
                <a:ea typeface="Calibri" panose="020F0502020204030204" pitchFamily="34" charset="0"/>
              </a:rPr>
              <a:t> </a:t>
            </a:r>
            <a:r>
              <a:rPr lang="en-US" sz="2000" dirty="0">
                <a:effectLst/>
                <a:ea typeface="Calibri" panose="020F0502020204030204" pitchFamily="34" charset="0"/>
              </a:rPr>
              <a:t>of</a:t>
            </a:r>
            <a:r>
              <a:rPr lang="en-US" sz="2000" spc="-15" dirty="0">
                <a:effectLst/>
                <a:ea typeface="Calibri" panose="020F0502020204030204" pitchFamily="34" charset="0"/>
              </a:rPr>
              <a:t> </a:t>
            </a:r>
            <a:r>
              <a:rPr lang="en-US" sz="2000" dirty="0">
                <a:effectLst/>
                <a:ea typeface="Calibri" panose="020F0502020204030204" pitchFamily="34" charset="0"/>
              </a:rPr>
              <a:t>an entity</a:t>
            </a:r>
            <a:r>
              <a:rPr lang="en-US" sz="2000" spc="-15" dirty="0">
                <a:effectLst/>
                <a:ea typeface="Calibri" panose="020F0502020204030204" pitchFamily="34" charset="0"/>
              </a:rPr>
              <a:t> </a:t>
            </a:r>
            <a:r>
              <a:rPr lang="en-US" sz="2000" dirty="0">
                <a:effectLst/>
                <a:ea typeface="Calibri" panose="020F0502020204030204" pitchFamily="34" charset="0"/>
              </a:rPr>
              <a:t>depends</a:t>
            </a:r>
            <a:r>
              <a:rPr lang="en-US" sz="2000" spc="-15" dirty="0">
                <a:effectLst/>
                <a:ea typeface="Calibri" panose="020F0502020204030204" pitchFamily="34" charset="0"/>
              </a:rPr>
              <a:t> </a:t>
            </a:r>
            <a:r>
              <a:rPr lang="en-US" sz="2000" dirty="0">
                <a:effectLst/>
                <a:ea typeface="Calibri" panose="020F0502020204030204" pitchFamily="34" charset="0"/>
              </a:rPr>
              <a:t>on its</a:t>
            </a:r>
            <a:r>
              <a:rPr lang="en-US" sz="2000" spc="-15" dirty="0">
                <a:effectLst/>
                <a:ea typeface="Calibri" panose="020F0502020204030204" pitchFamily="34" charset="0"/>
              </a:rPr>
              <a:t> </a:t>
            </a:r>
            <a:r>
              <a:rPr lang="en-US" sz="2000" dirty="0">
                <a:effectLst/>
                <a:ea typeface="Calibri" panose="020F0502020204030204" pitchFamily="34" charset="0"/>
              </a:rPr>
              <a:t>being</a:t>
            </a:r>
            <a:r>
              <a:rPr lang="en-US" sz="2000" spc="-15" dirty="0">
                <a:effectLst/>
                <a:ea typeface="Calibri" panose="020F0502020204030204" pitchFamily="34" charset="0"/>
              </a:rPr>
              <a:t> </a:t>
            </a:r>
            <a:r>
              <a:rPr lang="en-US" sz="2000" dirty="0">
                <a:effectLst/>
                <a:ea typeface="Calibri" panose="020F0502020204030204" pitchFamily="34" charset="0"/>
              </a:rPr>
              <a:t>related</a:t>
            </a:r>
            <a:r>
              <a:rPr lang="en-US" sz="2000" spc="-15" dirty="0">
                <a:effectLst/>
                <a:ea typeface="Calibri" panose="020F0502020204030204" pitchFamily="34" charset="0"/>
              </a:rPr>
              <a:t> </a:t>
            </a:r>
            <a:r>
              <a:rPr lang="en-US" sz="2000" dirty="0">
                <a:effectLst/>
                <a:ea typeface="Calibri" panose="020F0502020204030204" pitchFamily="34" charset="0"/>
              </a:rPr>
              <a:t>to</a:t>
            </a:r>
            <a:r>
              <a:rPr lang="en-US" sz="2000" spc="-230" dirty="0">
                <a:effectLst/>
                <a:ea typeface="Calibri" panose="020F0502020204030204" pitchFamily="34" charset="0"/>
              </a:rPr>
              <a:t> </a:t>
            </a:r>
            <a:r>
              <a:rPr lang="en-US" sz="2000" dirty="0">
                <a:effectLst/>
                <a:ea typeface="Calibri" panose="020F0502020204030204" pitchFamily="34" charset="0"/>
              </a:rPr>
              <a:t>another</a:t>
            </a:r>
            <a:r>
              <a:rPr lang="en-US" sz="2000" spc="-15"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via</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relationship</a:t>
            </a:r>
            <a:r>
              <a:rPr lang="en-US" sz="2000" spc="-15" dirty="0">
                <a:effectLst/>
                <a:ea typeface="Calibri" panose="020F0502020204030204" pitchFamily="34" charset="0"/>
              </a:rPr>
              <a:t> </a:t>
            </a:r>
            <a:r>
              <a:rPr lang="en-US" sz="2000" dirty="0">
                <a:effectLst/>
                <a:ea typeface="Calibri" panose="020F0502020204030204" pitchFamily="34" charset="0"/>
              </a:rPr>
              <a:t>type</a:t>
            </a:r>
          </a:p>
          <a:p>
            <a:pPr marL="342900" marR="290195" lvl="0" indent="-342900" algn="just">
              <a:lnSpc>
                <a:spcPct val="108000"/>
              </a:lnSpc>
              <a:buFont typeface="Wingdings" panose="05000000000000000000" pitchFamily="2" charset="2"/>
              <a:buChar char=""/>
              <a:tabLst>
                <a:tab pos="694055" algn="l"/>
                <a:tab pos="695325" algn="l"/>
              </a:tabLst>
            </a:pPr>
            <a:r>
              <a:rPr lang="en-US" sz="2000" dirty="0">
                <a:effectLst/>
                <a:ea typeface="Calibri" panose="020F0502020204030204" pitchFamily="34" charset="0"/>
              </a:rPr>
              <a:t>This</a:t>
            </a:r>
            <a:r>
              <a:rPr lang="en-US" sz="2000" spc="-20" dirty="0">
                <a:effectLst/>
                <a:ea typeface="Calibri" panose="020F0502020204030204" pitchFamily="34" charset="0"/>
              </a:rPr>
              <a:t> </a:t>
            </a:r>
            <a:r>
              <a:rPr lang="en-US" sz="2000" dirty="0">
                <a:effectLst/>
                <a:ea typeface="Calibri" panose="020F0502020204030204" pitchFamily="34" charset="0"/>
              </a:rPr>
              <a:t>constraint</a:t>
            </a:r>
            <a:r>
              <a:rPr lang="en-US" sz="2000" spc="-10" dirty="0">
                <a:effectLst/>
                <a:ea typeface="Calibri" panose="020F0502020204030204" pitchFamily="34" charset="0"/>
              </a:rPr>
              <a:t> </a:t>
            </a:r>
            <a:r>
              <a:rPr lang="en-US" sz="2000" dirty="0">
                <a:effectLst/>
                <a:ea typeface="Calibri" panose="020F0502020204030204" pitchFamily="34" charset="0"/>
              </a:rPr>
              <a:t>specifies</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dirty="0">
                <a:effectLst/>
                <a:ea typeface="Calibri" panose="020F0502020204030204" pitchFamily="34" charset="0"/>
              </a:rPr>
              <a:t>minimum</a:t>
            </a:r>
            <a:r>
              <a:rPr lang="en-US" sz="2000" spc="-15" dirty="0">
                <a:effectLst/>
                <a:ea typeface="Calibri" panose="020F0502020204030204" pitchFamily="34" charset="0"/>
              </a:rPr>
              <a:t> </a:t>
            </a:r>
            <a:r>
              <a:rPr lang="en-US" sz="2000" dirty="0">
                <a:effectLst/>
                <a:ea typeface="Calibri" panose="020F0502020204030204" pitchFamily="34" charset="0"/>
              </a:rPr>
              <a:t>number</a:t>
            </a:r>
            <a:r>
              <a:rPr lang="en-US" sz="2000" spc="-15" dirty="0">
                <a:effectLst/>
                <a:ea typeface="Calibri" panose="020F0502020204030204" pitchFamily="34" charset="0"/>
              </a:rPr>
              <a:t> </a:t>
            </a:r>
            <a:r>
              <a:rPr lang="en-US" sz="2000" dirty="0">
                <a:effectLst/>
                <a:ea typeface="Calibri" panose="020F0502020204030204" pitchFamily="34" charset="0"/>
              </a:rPr>
              <a:t>of</a:t>
            </a:r>
            <a:r>
              <a:rPr lang="en-US" sz="2000" spc="-20" dirty="0">
                <a:effectLst/>
                <a:ea typeface="Calibri" panose="020F0502020204030204" pitchFamily="34" charset="0"/>
              </a:rPr>
              <a:t> </a:t>
            </a:r>
            <a:r>
              <a:rPr lang="en-US" sz="2000" dirty="0">
                <a:effectLst/>
                <a:ea typeface="Calibri" panose="020F0502020204030204" pitchFamily="34" charset="0"/>
              </a:rPr>
              <a:t>relationship</a:t>
            </a:r>
            <a:r>
              <a:rPr lang="en-US" sz="2000" spc="-20" dirty="0">
                <a:effectLst/>
                <a:ea typeface="Calibri" panose="020F0502020204030204" pitchFamily="34" charset="0"/>
              </a:rPr>
              <a:t> </a:t>
            </a:r>
            <a:r>
              <a:rPr lang="en-US" sz="2000" dirty="0">
                <a:effectLst/>
                <a:ea typeface="Calibri" panose="020F0502020204030204" pitchFamily="34" charset="0"/>
              </a:rPr>
              <a:t>instances</a:t>
            </a:r>
            <a:r>
              <a:rPr lang="en-US" sz="2000" spc="-15" dirty="0">
                <a:effectLst/>
                <a:ea typeface="Calibri" panose="020F0502020204030204" pitchFamily="34" charset="0"/>
              </a:rPr>
              <a:t> </a:t>
            </a:r>
            <a:r>
              <a:rPr lang="en-US" sz="2000" dirty="0">
                <a:effectLst/>
                <a:ea typeface="Calibri" panose="020F0502020204030204" pitchFamily="34" charset="0"/>
              </a:rPr>
              <a:t>that</a:t>
            </a:r>
            <a:r>
              <a:rPr lang="en-US" sz="2000" spc="-35" dirty="0">
                <a:effectLst/>
                <a:ea typeface="Calibri" panose="020F0502020204030204" pitchFamily="34" charset="0"/>
              </a:rPr>
              <a:t> </a:t>
            </a:r>
            <a:r>
              <a:rPr lang="en-US" sz="2000" dirty="0">
                <a:effectLst/>
                <a:ea typeface="Calibri" panose="020F0502020204030204" pitchFamily="34" charset="0"/>
              </a:rPr>
              <a:t>each entity</a:t>
            </a:r>
            <a:r>
              <a:rPr lang="en-US" sz="2000" spc="-20" dirty="0">
                <a:effectLst/>
                <a:ea typeface="Calibri" panose="020F0502020204030204" pitchFamily="34" charset="0"/>
              </a:rPr>
              <a:t> </a:t>
            </a:r>
            <a:r>
              <a:rPr lang="en-US" sz="2000" dirty="0">
                <a:effectLst/>
                <a:ea typeface="Calibri" panose="020F0502020204030204" pitchFamily="34" charset="0"/>
              </a:rPr>
              <a:t>can</a:t>
            </a:r>
            <a:r>
              <a:rPr lang="en-US" sz="2000" spc="-5" dirty="0">
                <a:effectLst/>
                <a:ea typeface="Calibri" panose="020F0502020204030204" pitchFamily="34" charset="0"/>
              </a:rPr>
              <a:t> </a:t>
            </a:r>
            <a:r>
              <a:rPr lang="en-US" sz="2000" dirty="0">
                <a:effectLst/>
                <a:ea typeface="Calibri" panose="020F0502020204030204" pitchFamily="34" charset="0"/>
              </a:rPr>
              <a:t>participate</a:t>
            </a:r>
            <a:r>
              <a:rPr lang="en-US" sz="2000" spc="-15" dirty="0">
                <a:effectLst/>
                <a:ea typeface="Calibri" panose="020F0502020204030204" pitchFamily="34" charset="0"/>
              </a:rPr>
              <a:t> </a:t>
            </a:r>
            <a:r>
              <a:rPr lang="en-US" sz="2000" dirty="0">
                <a:effectLst/>
                <a:ea typeface="Calibri" panose="020F0502020204030204" pitchFamily="34" charset="0"/>
              </a:rPr>
              <a:t>in</a:t>
            </a:r>
            <a:r>
              <a:rPr lang="en-US" sz="2000" spc="-25" dirty="0">
                <a:effectLst/>
                <a:ea typeface="Calibri" panose="020F0502020204030204" pitchFamily="34" charset="0"/>
              </a:rPr>
              <a:t> </a:t>
            </a:r>
            <a:r>
              <a:rPr lang="en-US" sz="2000" dirty="0">
                <a:effectLst/>
                <a:ea typeface="Calibri" panose="020F0502020204030204" pitchFamily="34" charset="0"/>
              </a:rPr>
              <a:t>and</a:t>
            </a:r>
            <a:r>
              <a:rPr lang="en-US" sz="2000" spc="-235" dirty="0">
                <a:effectLst/>
                <a:ea typeface="Calibri" panose="020F0502020204030204" pitchFamily="34" charset="0"/>
              </a:rPr>
              <a:t> </a:t>
            </a:r>
            <a:r>
              <a:rPr lang="en-US" sz="2000" dirty="0">
                <a:effectLst/>
                <a:ea typeface="Calibri" panose="020F0502020204030204" pitchFamily="34" charset="0"/>
              </a:rPr>
              <a:t>is</a:t>
            </a:r>
            <a:r>
              <a:rPr lang="en-US" sz="2000" spc="-15" dirty="0">
                <a:effectLst/>
                <a:ea typeface="Calibri" panose="020F0502020204030204" pitchFamily="34" charset="0"/>
              </a:rPr>
              <a:t> </a:t>
            </a:r>
            <a:r>
              <a:rPr lang="en-US" sz="2000" dirty="0">
                <a:effectLst/>
                <a:ea typeface="Calibri" panose="020F0502020204030204" pitchFamily="34" charset="0"/>
              </a:rPr>
              <a:t>sometimes</a:t>
            </a:r>
            <a:r>
              <a:rPr lang="en-US" sz="2000" spc="-5" dirty="0">
                <a:effectLst/>
                <a:ea typeface="Calibri" panose="020F0502020204030204" pitchFamily="34" charset="0"/>
              </a:rPr>
              <a:t> </a:t>
            </a:r>
            <a:r>
              <a:rPr lang="en-US" sz="2000" dirty="0">
                <a:effectLst/>
                <a:ea typeface="Calibri" panose="020F0502020204030204" pitchFamily="34" charset="0"/>
              </a:rPr>
              <a:t>called</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minimum</a:t>
            </a:r>
            <a:r>
              <a:rPr lang="en-US" sz="2000" spc="-5" dirty="0">
                <a:effectLst/>
                <a:ea typeface="Calibri" panose="020F0502020204030204" pitchFamily="34" charset="0"/>
              </a:rPr>
              <a:t> </a:t>
            </a:r>
            <a:r>
              <a:rPr lang="en-US" sz="2000" dirty="0">
                <a:effectLst/>
                <a:ea typeface="Calibri" panose="020F0502020204030204" pitchFamily="34" charset="0"/>
              </a:rPr>
              <a:t>cardinality</a:t>
            </a:r>
            <a:r>
              <a:rPr lang="en-US" sz="2000" spc="-10" dirty="0">
                <a:effectLst/>
                <a:ea typeface="Calibri" panose="020F0502020204030204" pitchFamily="34" charset="0"/>
              </a:rPr>
              <a:t> </a:t>
            </a:r>
            <a:r>
              <a:rPr lang="en-US" sz="2000" dirty="0">
                <a:effectLst/>
                <a:ea typeface="Calibri" panose="020F0502020204030204" pitchFamily="34" charset="0"/>
              </a:rPr>
              <a:t>constraint.</a:t>
            </a:r>
          </a:p>
          <a:p>
            <a:pPr marR="290195" lvl="0" algn="just">
              <a:lnSpc>
                <a:spcPct val="108000"/>
              </a:lnSpc>
              <a:tabLst>
                <a:tab pos="694055" algn="l"/>
                <a:tab pos="695325" algn="l"/>
              </a:tabLst>
            </a:pPr>
            <a:endParaRPr lang="en-US" sz="2000" dirty="0">
              <a:effectLst/>
              <a:ea typeface="Calibri" panose="020F0502020204030204" pitchFamily="34" charset="0"/>
            </a:endParaRPr>
          </a:p>
          <a:p>
            <a:pPr marL="342900" marR="0" lvl="0" indent="-342900" algn="just">
              <a:lnSpc>
                <a:spcPts val="1320"/>
              </a:lnSpc>
              <a:buFont typeface="Wingdings" panose="05000000000000000000" pitchFamily="2" charset="2"/>
              <a:buChar char=""/>
              <a:tabLst>
                <a:tab pos="694055" algn="l"/>
                <a:tab pos="695325" algn="l"/>
              </a:tabLst>
            </a:pPr>
            <a:r>
              <a:rPr lang="en-US" sz="2000" dirty="0">
                <a:effectLst/>
                <a:ea typeface="Calibri" panose="020F0502020204030204" pitchFamily="34" charset="0"/>
              </a:rPr>
              <a:t>There</a:t>
            </a:r>
            <a:r>
              <a:rPr lang="en-US" sz="2000" spc="-10" dirty="0">
                <a:effectLst/>
                <a:ea typeface="Calibri" panose="020F0502020204030204" pitchFamily="34" charset="0"/>
              </a:rPr>
              <a:t> </a:t>
            </a:r>
            <a:r>
              <a:rPr lang="en-US" sz="2000" dirty="0">
                <a:effectLst/>
                <a:ea typeface="Calibri" panose="020F0502020204030204" pitchFamily="34" charset="0"/>
              </a:rPr>
              <a:t>are</a:t>
            </a:r>
            <a:r>
              <a:rPr lang="en-US" sz="2000" spc="-10" dirty="0">
                <a:effectLst/>
                <a:ea typeface="Calibri" panose="020F0502020204030204" pitchFamily="34" charset="0"/>
              </a:rPr>
              <a:t> </a:t>
            </a:r>
            <a:r>
              <a:rPr lang="en-US" sz="2000" dirty="0">
                <a:effectLst/>
                <a:ea typeface="Calibri" panose="020F0502020204030204" pitchFamily="34" charset="0"/>
              </a:rPr>
              <a:t>two</a:t>
            </a:r>
            <a:r>
              <a:rPr lang="en-US" sz="2000" spc="10" dirty="0">
                <a:effectLst/>
                <a:ea typeface="Calibri" panose="020F0502020204030204" pitchFamily="34" charset="0"/>
              </a:rPr>
              <a:t> </a:t>
            </a:r>
            <a:r>
              <a:rPr lang="en-US" sz="2000" dirty="0">
                <a:effectLst/>
                <a:ea typeface="Calibri" panose="020F0502020204030204" pitchFamily="34" charset="0"/>
              </a:rPr>
              <a:t>types</a:t>
            </a:r>
            <a:r>
              <a:rPr lang="en-US" sz="2000" spc="-5"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participation</a:t>
            </a:r>
            <a:r>
              <a:rPr lang="en-US" sz="2000" spc="-20" dirty="0">
                <a:effectLst/>
                <a:ea typeface="Calibri" panose="020F0502020204030204" pitchFamily="34" charset="0"/>
              </a:rPr>
              <a:t> </a:t>
            </a:r>
            <a:r>
              <a:rPr lang="en-US" sz="2000" dirty="0">
                <a:effectLst/>
                <a:ea typeface="Calibri" panose="020F0502020204030204" pitchFamily="34" charset="0"/>
              </a:rPr>
              <a:t>constraints—</a:t>
            </a:r>
            <a:r>
              <a:rPr lang="en-US" sz="2000" b="1" dirty="0">
                <a:effectLst/>
                <a:ea typeface="Calibri" panose="020F0502020204030204" pitchFamily="34" charset="0"/>
              </a:rPr>
              <a:t>total</a:t>
            </a:r>
            <a:r>
              <a:rPr lang="en-US" sz="2000" b="1" spc="-20" dirty="0">
                <a:effectLst/>
                <a:ea typeface="Calibri" panose="020F0502020204030204" pitchFamily="34" charset="0"/>
              </a:rPr>
              <a:t> </a:t>
            </a:r>
            <a:r>
              <a:rPr lang="en-US" sz="2000" b="1" dirty="0">
                <a:effectLst/>
                <a:ea typeface="Calibri" panose="020F0502020204030204" pitchFamily="34" charset="0"/>
              </a:rPr>
              <a:t>and</a:t>
            </a:r>
            <a:r>
              <a:rPr lang="en-US" sz="2000" b="1" spc="-5" dirty="0">
                <a:effectLst/>
                <a:ea typeface="Calibri" panose="020F0502020204030204" pitchFamily="34" charset="0"/>
              </a:rPr>
              <a:t> </a:t>
            </a:r>
            <a:r>
              <a:rPr lang="en-US" sz="2000" b="1" dirty="0">
                <a:effectLst/>
                <a:ea typeface="Calibri" panose="020F0502020204030204" pitchFamily="34" charset="0"/>
              </a:rPr>
              <a:t>partial</a:t>
            </a:r>
            <a:endParaRPr lang="en-US" sz="2000" dirty="0">
              <a:effectLst/>
              <a:ea typeface="Calibri" panose="020F0502020204030204" pitchFamily="34" charset="0"/>
            </a:endParaRPr>
          </a:p>
          <a:p>
            <a:pPr marL="342900" marR="267335" lvl="0" indent="-342900" algn="just">
              <a:lnSpc>
                <a:spcPct val="107000"/>
              </a:lnSpc>
              <a:spcBef>
                <a:spcPts val="75"/>
              </a:spcBef>
              <a:buFont typeface="Wingdings" panose="05000000000000000000" pitchFamily="2" charset="2"/>
              <a:buChar char=""/>
              <a:tabLst>
                <a:tab pos="664845" algn="l"/>
              </a:tabLst>
            </a:pPr>
            <a:r>
              <a:rPr lang="en-US" sz="2000" dirty="0">
                <a:effectLst/>
                <a:ea typeface="Calibri" panose="020F0502020204030204" pitchFamily="34" charset="0"/>
              </a:rPr>
              <a:t>If</a:t>
            </a:r>
            <a:r>
              <a:rPr lang="en-US" sz="2000" spc="-15"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company</a:t>
            </a:r>
            <a:r>
              <a:rPr lang="en-US" sz="2000" spc="-15" dirty="0">
                <a:effectLst/>
                <a:ea typeface="Calibri" panose="020F0502020204030204" pitchFamily="34" charset="0"/>
              </a:rPr>
              <a:t> </a:t>
            </a:r>
            <a:r>
              <a:rPr lang="en-US" sz="2000" dirty="0">
                <a:effectLst/>
                <a:ea typeface="Calibri" panose="020F0502020204030204" pitchFamily="34" charset="0"/>
              </a:rPr>
              <a:t>policy</a:t>
            </a:r>
            <a:r>
              <a:rPr lang="en-US" sz="2000" spc="-10" dirty="0">
                <a:effectLst/>
                <a:ea typeface="Calibri" panose="020F0502020204030204" pitchFamily="34" charset="0"/>
              </a:rPr>
              <a:t> </a:t>
            </a:r>
            <a:r>
              <a:rPr lang="en-US" sz="2000" dirty="0">
                <a:effectLst/>
                <a:ea typeface="Calibri" panose="020F0502020204030204" pitchFamily="34" charset="0"/>
              </a:rPr>
              <a:t>states</a:t>
            </a:r>
            <a:r>
              <a:rPr lang="en-US" sz="2000" spc="-10" dirty="0">
                <a:effectLst/>
                <a:ea typeface="Calibri" panose="020F0502020204030204" pitchFamily="34" charset="0"/>
              </a:rPr>
              <a:t> </a:t>
            </a:r>
            <a:r>
              <a:rPr lang="en-US" sz="2000" dirty="0">
                <a:effectLst/>
                <a:ea typeface="Calibri" panose="020F0502020204030204" pitchFamily="34" charset="0"/>
              </a:rPr>
              <a:t>that</a:t>
            </a:r>
            <a:r>
              <a:rPr lang="en-US" sz="2000" spc="-20" dirty="0">
                <a:effectLst/>
                <a:ea typeface="Calibri" panose="020F0502020204030204" pitchFamily="34" charset="0"/>
              </a:rPr>
              <a:t> </a:t>
            </a:r>
            <a:r>
              <a:rPr lang="en-US" sz="2000" dirty="0">
                <a:effectLst/>
                <a:ea typeface="Calibri" panose="020F0502020204030204" pitchFamily="34" charset="0"/>
              </a:rPr>
              <a:t>every</a:t>
            </a:r>
            <a:r>
              <a:rPr lang="en-US" sz="2000" spc="-15" dirty="0">
                <a:effectLst/>
                <a:ea typeface="Calibri" panose="020F0502020204030204" pitchFamily="34" charset="0"/>
              </a:rPr>
              <a:t> </a:t>
            </a:r>
            <a:r>
              <a:rPr lang="en-US" sz="2000" dirty="0">
                <a:effectLst/>
                <a:ea typeface="Calibri" panose="020F0502020204030204" pitchFamily="34" charset="0"/>
              </a:rPr>
              <a:t>employee</a:t>
            </a:r>
            <a:r>
              <a:rPr lang="en-US" sz="2000" spc="-10" dirty="0">
                <a:effectLst/>
                <a:ea typeface="Calibri" panose="020F0502020204030204" pitchFamily="34" charset="0"/>
              </a:rPr>
              <a:t> </a:t>
            </a:r>
            <a:r>
              <a:rPr lang="en-US" sz="2000" dirty="0">
                <a:effectLst/>
                <a:ea typeface="Calibri" panose="020F0502020204030204" pitchFamily="34" charset="0"/>
              </a:rPr>
              <a:t>must</a:t>
            </a:r>
            <a:r>
              <a:rPr lang="en-US" sz="2000" spc="-25" dirty="0">
                <a:effectLst/>
                <a:ea typeface="Calibri" panose="020F0502020204030204" pitchFamily="34" charset="0"/>
              </a:rPr>
              <a:t> </a:t>
            </a:r>
            <a:r>
              <a:rPr lang="en-US" sz="2000" dirty="0">
                <a:effectLst/>
                <a:ea typeface="Calibri" panose="020F0502020204030204" pitchFamily="34" charset="0"/>
              </a:rPr>
              <a:t>work</a:t>
            </a:r>
            <a:r>
              <a:rPr lang="en-US" sz="2000" spc="-10" dirty="0">
                <a:effectLst/>
                <a:ea typeface="Calibri" panose="020F0502020204030204" pitchFamily="34" charset="0"/>
              </a:rPr>
              <a:t> </a:t>
            </a:r>
            <a:r>
              <a:rPr lang="en-US" sz="2000" dirty="0">
                <a:effectLst/>
                <a:ea typeface="Calibri" panose="020F0502020204030204" pitchFamily="34" charset="0"/>
              </a:rPr>
              <a:t>for</a:t>
            </a:r>
            <a:r>
              <a:rPr lang="en-US" sz="2000" spc="-15"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department,</a:t>
            </a:r>
            <a:r>
              <a:rPr lang="en-US" sz="2000" spc="-30" dirty="0">
                <a:effectLst/>
                <a:ea typeface="Calibri" panose="020F0502020204030204" pitchFamily="34" charset="0"/>
              </a:rPr>
              <a:t> </a:t>
            </a:r>
            <a:r>
              <a:rPr lang="en-US" sz="2000" dirty="0">
                <a:effectLst/>
                <a:ea typeface="Calibri" panose="020F0502020204030204" pitchFamily="34" charset="0"/>
              </a:rPr>
              <a:t>then</a:t>
            </a:r>
            <a:r>
              <a:rPr lang="en-US" sz="2000" spc="10" dirty="0">
                <a:effectLst/>
                <a:ea typeface="Calibri" panose="020F0502020204030204" pitchFamily="34" charset="0"/>
              </a:rPr>
              <a:t> </a:t>
            </a:r>
            <a:r>
              <a:rPr lang="en-US" sz="2000" dirty="0">
                <a:effectLst/>
                <a:ea typeface="Calibri" panose="020F0502020204030204" pitchFamily="34" charset="0"/>
              </a:rPr>
              <a:t>an</a:t>
            </a:r>
            <a:r>
              <a:rPr lang="en-US" sz="2000" spc="-20" dirty="0">
                <a:effectLst/>
                <a:ea typeface="Calibri" panose="020F0502020204030204" pitchFamily="34" charset="0"/>
              </a:rPr>
              <a:t> </a:t>
            </a:r>
            <a:r>
              <a:rPr lang="en-US" sz="2000" dirty="0">
                <a:effectLst/>
                <a:ea typeface="Calibri" panose="020F0502020204030204" pitchFamily="34" charset="0"/>
              </a:rPr>
              <a:t>employee</a:t>
            </a:r>
            <a:r>
              <a:rPr lang="en-US" sz="2000" spc="-10" dirty="0">
                <a:effectLst/>
                <a:ea typeface="Calibri" panose="020F0502020204030204" pitchFamily="34" charset="0"/>
              </a:rPr>
              <a:t> </a:t>
            </a:r>
            <a:r>
              <a:rPr lang="en-US" sz="2000" dirty="0">
                <a:effectLst/>
                <a:ea typeface="Calibri" panose="020F0502020204030204" pitchFamily="34" charset="0"/>
              </a:rPr>
              <a:t>entity</a:t>
            </a:r>
            <a:r>
              <a:rPr lang="en-US" sz="2000" spc="-15" dirty="0">
                <a:effectLst/>
                <a:ea typeface="Calibri" panose="020F0502020204030204" pitchFamily="34" charset="0"/>
              </a:rPr>
              <a:t> </a:t>
            </a:r>
            <a:r>
              <a:rPr lang="en-US" sz="2000" dirty="0">
                <a:effectLst/>
                <a:ea typeface="Calibri" panose="020F0502020204030204" pitchFamily="34" charset="0"/>
              </a:rPr>
              <a:t>can</a:t>
            </a:r>
            <a:r>
              <a:rPr lang="en-US" sz="2000" spc="-15" dirty="0">
                <a:effectLst/>
                <a:ea typeface="Calibri" panose="020F0502020204030204" pitchFamily="34" charset="0"/>
              </a:rPr>
              <a:t> </a:t>
            </a:r>
            <a:r>
              <a:rPr lang="en-US" sz="2000" dirty="0">
                <a:effectLst/>
                <a:ea typeface="Calibri" panose="020F0502020204030204" pitchFamily="34" charset="0"/>
              </a:rPr>
              <a:t>exist</a:t>
            </a:r>
            <a:r>
              <a:rPr lang="en-US" sz="2000" spc="-235" dirty="0">
                <a:effectLst/>
                <a:ea typeface="Calibri" panose="020F0502020204030204" pitchFamily="34" charset="0"/>
              </a:rPr>
              <a:t> </a:t>
            </a:r>
            <a:r>
              <a:rPr lang="en-US" sz="2000" dirty="0">
                <a:effectLst/>
                <a:ea typeface="Calibri" panose="020F0502020204030204" pitchFamily="34" charset="0"/>
              </a:rPr>
              <a:t>only if it participates in at least one WORKS_FOR relationship instance . Thus, the participation of EMPLOYEE in</a:t>
            </a:r>
            <a:r>
              <a:rPr lang="en-US" sz="2000" spc="-235" dirty="0">
                <a:effectLst/>
                <a:ea typeface="Calibri" panose="020F0502020204030204" pitchFamily="34" charset="0"/>
              </a:rPr>
              <a:t> </a:t>
            </a:r>
            <a:r>
              <a:rPr lang="en-US" sz="2000" dirty="0">
                <a:effectLst/>
                <a:ea typeface="Calibri" panose="020F0502020204030204" pitchFamily="34" charset="0"/>
              </a:rPr>
              <a:t>WORKS_FOR is called </a:t>
            </a:r>
            <a:r>
              <a:rPr lang="en-US" sz="2000" b="1" dirty="0">
                <a:effectLst/>
                <a:ea typeface="Calibri" panose="020F0502020204030204" pitchFamily="34" charset="0"/>
              </a:rPr>
              <a:t>total participation</a:t>
            </a:r>
            <a:r>
              <a:rPr lang="en-US" sz="2000" dirty="0">
                <a:effectLst/>
                <a:ea typeface="Calibri" panose="020F0502020204030204" pitchFamily="34" charset="0"/>
              </a:rPr>
              <a:t>, meaning that every entity in the total set of employee entities must</a:t>
            </a:r>
            <a:r>
              <a:rPr lang="en-US" sz="2000" spc="5" dirty="0">
                <a:effectLst/>
                <a:ea typeface="Calibri" panose="020F0502020204030204" pitchFamily="34" charset="0"/>
              </a:rPr>
              <a:t> </a:t>
            </a:r>
            <a:r>
              <a:rPr lang="en-US" sz="2000" dirty="0">
                <a:effectLst/>
                <a:ea typeface="Calibri" panose="020F0502020204030204" pitchFamily="34" charset="0"/>
              </a:rPr>
              <a:t>be</a:t>
            </a:r>
            <a:r>
              <a:rPr lang="en-US" sz="2000" spc="-15" dirty="0">
                <a:effectLst/>
                <a:ea typeface="Calibri" panose="020F0502020204030204" pitchFamily="34" charset="0"/>
              </a:rPr>
              <a:t> </a:t>
            </a:r>
            <a:r>
              <a:rPr lang="en-US" sz="2000" dirty="0">
                <a:effectLst/>
                <a:ea typeface="Calibri" panose="020F0502020204030204" pitchFamily="34" charset="0"/>
              </a:rPr>
              <a:t>related</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2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department</a:t>
            </a:r>
            <a:r>
              <a:rPr lang="en-US" sz="2000" spc="-5"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via</a:t>
            </a:r>
            <a:r>
              <a:rPr lang="en-US" sz="2000" spc="-15" dirty="0">
                <a:effectLst/>
                <a:ea typeface="Calibri" panose="020F0502020204030204" pitchFamily="34" charset="0"/>
              </a:rPr>
              <a:t> </a:t>
            </a:r>
            <a:r>
              <a:rPr lang="en-US" sz="2000" dirty="0">
                <a:effectLst/>
                <a:ea typeface="Calibri" panose="020F0502020204030204" pitchFamily="34" charset="0"/>
              </a:rPr>
              <a:t>WORKS_FOR.</a:t>
            </a:r>
            <a:r>
              <a:rPr lang="en-US" sz="2000" spc="-5" dirty="0">
                <a:effectLst/>
                <a:ea typeface="Calibri" panose="020F0502020204030204" pitchFamily="34" charset="0"/>
              </a:rPr>
              <a:t> </a:t>
            </a:r>
            <a:r>
              <a:rPr lang="en-US" sz="2000" dirty="0">
                <a:effectLst/>
                <a:ea typeface="Calibri" panose="020F0502020204030204" pitchFamily="34" charset="0"/>
              </a:rPr>
              <a:t>Total</a:t>
            </a:r>
            <a:r>
              <a:rPr lang="en-US" sz="2000" spc="-5" dirty="0">
                <a:effectLst/>
                <a:ea typeface="Calibri" panose="020F0502020204030204" pitchFamily="34" charset="0"/>
              </a:rPr>
              <a:t> </a:t>
            </a:r>
            <a:r>
              <a:rPr lang="en-US" sz="2000" dirty="0">
                <a:effectLst/>
                <a:ea typeface="Calibri" panose="020F0502020204030204" pitchFamily="34" charset="0"/>
              </a:rPr>
              <a:t>participation</a:t>
            </a:r>
            <a:r>
              <a:rPr lang="en-US" sz="2000" spc="-20"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also</a:t>
            </a:r>
            <a:r>
              <a:rPr lang="en-US" sz="2000" spc="-20" dirty="0">
                <a:effectLst/>
                <a:ea typeface="Calibri" panose="020F0502020204030204" pitchFamily="34" charset="0"/>
              </a:rPr>
              <a:t> </a:t>
            </a:r>
            <a:r>
              <a:rPr lang="en-US" sz="2000" dirty="0">
                <a:effectLst/>
                <a:ea typeface="Calibri" panose="020F0502020204030204" pitchFamily="34" charset="0"/>
              </a:rPr>
              <a:t>called </a:t>
            </a:r>
            <a:r>
              <a:rPr lang="en-US" sz="2000" b="1" dirty="0">
                <a:effectLst/>
                <a:ea typeface="Calibri" panose="020F0502020204030204" pitchFamily="34" charset="0"/>
              </a:rPr>
              <a:t>existence</a:t>
            </a:r>
            <a:r>
              <a:rPr lang="en-US" sz="2000" b="1" spc="-15" dirty="0">
                <a:effectLst/>
                <a:ea typeface="Calibri" panose="020F0502020204030204" pitchFamily="34" charset="0"/>
              </a:rPr>
              <a:t> </a:t>
            </a:r>
            <a:r>
              <a:rPr lang="en-US" sz="2000" b="1" dirty="0">
                <a:effectLst/>
                <a:ea typeface="Calibri" panose="020F0502020204030204" pitchFamily="34" charset="0"/>
              </a:rPr>
              <a:t>dependency.</a:t>
            </a:r>
            <a:endParaRPr lang="en-US" sz="2000" dirty="0">
              <a:effectLst/>
              <a:ea typeface="Calibri" panose="020F0502020204030204" pitchFamily="34" charset="0"/>
            </a:endParaRPr>
          </a:p>
          <a:p>
            <a:pPr marL="342900" marR="244475" lvl="0" indent="-342900" algn="just">
              <a:lnSpc>
                <a:spcPct val="107000"/>
              </a:lnSpc>
              <a:spcBef>
                <a:spcPts val="10"/>
              </a:spcBef>
              <a:buFont typeface="Wingdings" panose="05000000000000000000" pitchFamily="2" charset="2"/>
              <a:buChar char=""/>
              <a:tabLst>
                <a:tab pos="664845" algn="l"/>
              </a:tabLst>
            </a:pPr>
            <a:r>
              <a:rPr lang="en-US" sz="2000" dirty="0">
                <a:effectLst/>
                <a:ea typeface="Calibri" panose="020F0502020204030204" pitchFamily="34" charset="0"/>
              </a:rPr>
              <a:t>we</a:t>
            </a:r>
            <a:r>
              <a:rPr lang="en-US" sz="2000" spc="-15" dirty="0">
                <a:effectLst/>
                <a:ea typeface="Calibri" panose="020F0502020204030204" pitchFamily="34" charset="0"/>
              </a:rPr>
              <a:t> </a:t>
            </a:r>
            <a:r>
              <a:rPr lang="en-US" sz="2000" dirty="0">
                <a:effectLst/>
                <a:ea typeface="Calibri" panose="020F0502020204030204" pitchFamily="34" charset="0"/>
              </a:rPr>
              <a:t>do</a:t>
            </a:r>
            <a:r>
              <a:rPr lang="en-US" sz="2000" spc="-15" dirty="0">
                <a:effectLst/>
                <a:ea typeface="Calibri" panose="020F0502020204030204" pitchFamily="34" charset="0"/>
              </a:rPr>
              <a:t> </a:t>
            </a:r>
            <a:r>
              <a:rPr lang="en-US" sz="2000" dirty="0">
                <a:effectLst/>
                <a:ea typeface="Calibri" panose="020F0502020204030204" pitchFamily="34" charset="0"/>
              </a:rPr>
              <a:t>not</a:t>
            </a:r>
            <a:r>
              <a:rPr lang="en-US" sz="2000" spc="-20" dirty="0">
                <a:effectLst/>
                <a:ea typeface="Calibri" panose="020F0502020204030204" pitchFamily="34" charset="0"/>
              </a:rPr>
              <a:t> </a:t>
            </a:r>
            <a:r>
              <a:rPr lang="en-US" sz="2000" dirty="0">
                <a:effectLst/>
                <a:ea typeface="Calibri" panose="020F0502020204030204" pitchFamily="34" charset="0"/>
              </a:rPr>
              <a:t>expect</a:t>
            </a:r>
            <a:r>
              <a:rPr lang="en-US" sz="2000" spc="-25" dirty="0">
                <a:effectLst/>
                <a:ea typeface="Calibri" panose="020F0502020204030204" pitchFamily="34" charset="0"/>
              </a:rPr>
              <a:t> </a:t>
            </a:r>
            <a:r>
              <a:rPr lang="en-US" sz="2000" dirty="0">
                <a:effectLst/>
                <a:ea typeface="Calibri" panose="020F0502020204030204" pitchFamily="34" charset="0"/>
              </a:rPr>
              <a:t>every</a:t>
            </a:r>
            <a:r>
              <a:rPr lang="en-US" sz="2000" spc="-10" dirty="0">
                <a:effectLst/>
                <a:ea typeface="Calibri" panose="020F0502020204030204" pitchFamily="34" charset="0"/>
              </a:rPr>
              <a:t> </a:t>
            </a:r>
            <a:r>
              <a:rPr lang="en-US" sz="2000" dirty="0">
                <a:effectLst/>
                <a:ea typeface="Calibri" panose="020F0502020204030204" pitchFamily="34" charset="0"/>
              </a:rPr>
              <a:t>employee</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20" dirty="0">
                <a:effectLst/>
                <a:ea typeface="Calibri" panose="020F0502020204030204" pitchFamily="34" charset="0"/>
              </a:rPr>
              <a:t> </a:t>
            </a:r>
            <a:r>
              <a:rPr lang="en-US" sz="2000" dirty="0">
                <a:effectLst/>
                <a:ea typeface="Calibri" panose="020F0502020204030204" pitchFamily="34" charset="0"/>
              </a:rPr>
              <a:t>manage</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department,</a:t>
            </a:r>
            <a:r>
              <a:rPr lang="en-US" sz="2000" spc="-30" dirty="0">
                <a:effectLst/>
                <a:ea typeface="Calibri" panose="020F0502020204030204" pitchFamily="34" charset="0"/>
              </a:rPr>
              <a:t> </a:t>
            </a:r>
            <a:r>
              <a:rPr lang="en-US" sz="2000" dirty="0">
                <a:effectLst/>
                <a:ea typeface="Calibri" panose="020F0502020204030204" pitchFamily="34" charset="0"/>
              </a:rPr>
              <a:t>so</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participation</a:t>
            </a:r>
            <a:r>
              <a:rPr lang="en-US" sz="2000" spc="-2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EMPLOYEE in</a:t>
            </a:r>
            <a:r>
              <a:rPr lang="en-US" sz="2000" spc="-2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MANAGES</a:t>
            </a:r>
            <a:r>
              <a:rPr lang="en-US" sz="2000" spc="-235" dirty="0">
                <a:effectLst/>
                <a:ea typeface="Calibri" panose="020F0502020204030204" pitchFamily="34" charset="0"/>
              </a:rPr>
              <a:t> </a:t>
            </a:r>
            <a:r>
              <a:rPr lang="en-US" sz="2000" dirty="0">
                <a:effectLst/>
                <a:ea typeface="Calibri" panose="020F0502020204030204" pitchFamily="34" charset="0"/>
              </a:rPr>
              <a:t>relationship type is </a:t>
            </a:r>
            <a:r>
              <a:rPr lang="en-US" sz="2000" b="1" dirty="0">
                <a:effectLst/>
                <a:ea typeface="Calibri" panose="020F0502020204030204" pitchFamily="34" charset="0"/>
              </a:rPr>
              <a:t>partial, </a:t>
            </a:r>
            <a:r>
              <a:rPr lang="en-US" sz="2000" dirty="0">
                <a:effectLst/>
                <a:ea typeface="Calibri" panose="020F0502020204030204" pitchFamily="34" charset="0"/>
              </a:rPr>
              <a:t>meaning that some or part of the set of employee entities are related to some</a:t>
            </a:r>
            <a:r>
              <a:rPr lang="en-US" sz="2000" spc="5" dirty="0">
                <a:effectLst/>
                <a:ea typeface="Calibri" panose="020F0502020204030204" pitchFamily="34" charset="0"/>
              </a:rPr>
              <a:t> </a:t>
            </a:r>
            <a:r>
              <a:rPr lang="en-US" sz="2000" dirty="0">
                <a:effectLst/>
                <a:ea typeface="Calibri" panose="020F0502020204030204" pitchFamily="34" charset="0"/>
              </a:rPr>
              <a:t>department</a:t>
            </a:r>
            <a:r>
              <a:rPr lang="en-US" sz="2000" spc="-20"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via</a:t>
            </a:r>
            <a:r>
              <a:rPr lang="en-US" sz="2000" spc="-10" dirty="0">
                <a:effectLst/>
                <a:ea typeface="Calibri" panose="020F0502020204030204" pitchFamily="34" charset="0"/>
              </a:rPr>
              <a:t> </a:t>
            </a:r>
            <a:r>
              <a:rPr lang="en-US" sz="2000" dirty="0">
                <a:effectLst/>
                <a:ea typeface="Calibri" panose="020F0502020204030204" pitchFamily="34" charset="0"/>
              </a:rPr>
              <a:t>MANAGES,</a:t>
            </a:r>
            <a:r>
              <a:rPr lang="en-US" sz="2000" spc="-25" dirty="0">
                <a:effectLst/>
                <a:ea typeface="Calibri" panose="020F0502020204030204" pitchFamily="34" charset="0"/>
              </a:rPr>
              <a:t> </a:t>
            </a:r>
            <a:r>
              <a:rPr lang="en-US" sz="2000" dirty="0">
                <a:effectLst/>
                <a:ea typeface="Calibri" panose="020F0502020204030204" pitchFamily="34" charset="0"/>
              </a:rPr>
              <a:t>but</a:t>
            </a:r>
            <a:r>
              <a:rPr lang="en-US" sz="2000" spc="-20" dirty="0">
                <a:effectLst/>
                <a:ea typeface="Calibri" panose="020F0502020204030204" pitchFamily="34" charset="0"/>
              </a:rPr>
              <a:t> </a:t>
            </a:r>
            <a:r>
              <a:rPr lang="en-US" sz="2000" dirty="0">
                <a:effectLst/>
                <a:ea typeface="Calibri" panose="020F0502020204030204" pitchFamily="34" charset="0"/>
              </a:rPr>
              <a:t>not</a:t>
            </a:r>
            <a:r>
              <a:rPr lang="en-US" sz="2000" spc="-20" dirty="0">
                <a:effectLst/>
                <a:ea typeface="Calibri" panose="020F0502020204030204" pitchFamily="34" charset="0"/>
              </a:rPr>
              <a:t> </a:t>
            </a:r>
            <a:r>
              <a:rPr lang="en-US" sz="2000" dirty="0">
                <a:effectLst/>
                <a:ea typeface="Calibri" panose="020F0502020204030204" pitchFamily="34" charset="0"/>
              </a:rPr>
              <a:t>necessarily</a:t>
            </a:r>
            <a:r>
              <a:rPr lang="en-US" sz="2000" spc="-10" dirty="0">
                <a:effectLst/>
                <a:ea typeface="Calibri" panose="020F0502020204030204" pitchFamily="34" charset="0"/>
              </a:rPr>
              <a:t> </a:t>
            </a:r>
            <a:r>
              <a:rPr lang="en-US" sz="2000" dirty="0">
                <a:effectLst/>
                <a:ea typeface="Calibri" panose="020F0502020204030204" pitchFamily="34" charset="0"/>
              </a:rPr>
              <a:t>all</a:t>
            </a:r>
          </a:p>
          <a:p>
            <a:pPr marL="342900" marR="570230" lvl="0" indent="-342900" algn="just">
              <a:lnSpc>
                <a:spcPct val="106000"/>
              </a:lnSpc>
              <a:buFont typeface="Wingdings" panose="05000000000000000000" pitchFamily="2" charset="2"/>
              <a:buChar char=""/>
              <a:tabLst>
                <a:tab pos="664845" algn="l"/>
              </a:tabLst>
            </a:pPr>
            <a:r>
              <a:rPr lang="en-US" sz="2000" dirty="0">
                <a:effectLst/>
                <a:ea typeface="Calibri" panose="020F0502020204030204" pitchFamily="34" charset="0"/>
              </a:rPr>
              <a:t>In ER diagrams, </a:t>
            </a:r>
            <a:r>
              <a:rPr lang="en-US" sz="2000" b="1" dirty="0">
                <a:effectLst/>
                <a:ea typeface="Calibri" panose="020F0502020204030204" pitchFamily="34" charset="0"/>
              </a:rPr>
              <a:t>total participation </a:t>
            </a:r>
            <a:r>
              <a:rPr lang="en-US" sz="2000" dirty="0">
                <a:effectLst/>
                <a:ea typeface="Calibri" panose="020F0502020204030204" pitchFamily="34" charset="0"/>
              </a:rPr>
              <a:t>(or existence dependency) is displayed as a </a:t>
            </a:r>
            <a:r>
              <a:rPr lang="en-US" sz="2000" b="1" dirty="0">
                <a:effectLst/>
                <a:ea typeface="Calibri" panose="020F0502020204030204" pitchFamily="34" charset="0"/>
              </a:rPr>
              <a:t>double line </a:t>
            </a:r>
            <a:r>
              <a:rPr lang="en-US" sz="2000" dirty="0">
                <a:effectLst/>
                <a:ea typeface="Calibri" panose="020F0502020204030204" pitchFamily="34" charset="0"/>
              </a:rPr>
              <a:t>connecting the</a:t>
            </a:r>
            <a:r>
              <a:rPr lang="en-US" sz="2000" spc="-240" dirty="0">
                <a:effectLst/>
                <a:ea typeface="Calibri" panose="020F0502020204030204" pitchFamily="34" charset="0"/>
              </a:rPr>
              <a:t> </a:t>
            </a:r>
            <a:r>
              <a:rPr lang="en-US" sz="2000" dirty="0">
                <a:effectLst/>
                <a:ea typeface="Calibri" panose="020F0502020204030204" pitchFamily="34" charset="0"/>
              </a:rPr>
              <a:t>participating</a:t>
            </a:r>
            <a:r>
              <a:rPr lang="en-US" sz="2000" spc="-10" dirty="0">
                <a:effectLst/>
                <a:ea typeface="Calibri" panose="020F0502020204030204" pitchFamily="34" charset="0"/>
              </a:rPr>
              <a:t> </a:t>
            </a:r>
            <a:r>
              <a:rPr lang="en-US" sz="2000" dirty="0">
                <a:effectLst/>
                <a:ea typeface="Calibri" panose="020F0502020204030204" pitchFamily="34" charset="0"/>
              </a:rPr>
              <a:t>entity</a:t>
            </a:r>
            <a:r>
              <a:rPr lang="en-US" sz="2000" spc="-15" dirty="0">
                <a:effectLst/>
                <a:ea typeface="Calibri" panose="020F0502020204030204" pitchFamily="34" charset="0"/>
              </a:rPr>
              <a:t> </a:t>
            </a:r>
            <a:r>
              <a:rPr lang="en-US" sz="2000" dirty="0">
                <a:effectLst/>
                <a:ea typeface="Calibri" panose="020F0502020204030204" pitchFamily="34" charset="0"/>
              </a:rPr>
              <a:t>type</a:t>
            </a:r>
            <a:r>
              <a:rPr lang="en-US" sz="2000" spc="-15" dirty="0">
                <a:effectLst/>
                <a:ea typeface="Calibri" panose="020F0502020204030204" pitchFamily="34" charset="0"/>
              </a:rPr>
              <a:t> </a:t>
            </a:r>
            <a:r>
              <a:rPr lang="en-US" sz="2000" dirty="0">
                <a:effectLst/>
                <a:ea typeface="Calibri" panose="020F0502020204030204" pitchFamily="34" charset="0"/>
              </a:rPr>
              <a:t>to</a:t>
            </a:r>
            <a:r>
              <a:rPr lang="en-US" sz="2000" spc="-2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relationship,</a:t>
            </a:r>
            <a:r>
              <a:rPr lang="en-US" sz="2000" spc="-30" dirty="0">
                <a:effectLst/>
                <a:ea typeface="Calibri" panose="020F0502020204030204" pitchFamily="34" charset="0"/>
              </a:rPr>
              <a:t> </a:t>
            </a:r>
            <a:r>
              <a:rPr lang="en-US" sz="2000" dirty="0">
                <a:effectLst/>
                <a:ea typeface="Calibri" panose="020F0502020204030204" pitchFamily="34" charset="0"/>
              </a:rPr>
              <a:t>whereas</a:t>
            </a:r>
            <a:r>
              <a:rPr lang="en-US" sz="2000" spc="5" dirty="0">
                <a:effectLst/>
                <a:ea typeface="Calibri" panose="020F0502020204030204" pitchFamily="34" charset="0"/>
              </a:rPr>
              <a:t> </a:t>
            </a:r>
            <a:r>
              <a:rPr lang="en-US" sz="2000" b="1" dirty="0">
                <a:effectLst/>
                <a:ea typeface="Calibri" panose="020F0502020204030204" pitchFamily="34" charset="0"/>
              </a:rPr>
              <a:t>partial</a:t>
            </a:r>
            <a:r>
              <a:rPr lang="en-US" sz="2000" b="1" spc="-25" dirty="0">
                <a:effectLst/>
                <a:ea typeface="Calibri" panose="020F0502020204030204" pitchFamily="34" charset="0"/>
              </a:rPr>
              <a:t> </a:t>
            </a:r>
            <a:r>
              <a:rPr lang="en-US" sz="2000" b="1" dirty="0">
                <a:effectLst/>
                <a:ea typeface="Calibri" panose="020F0502020204030204" pitchFamily="34" charset="0"/>
              </a:rPr>
              <a:t>participation</a:t>
            </a:r>
            <a:r>
              <a:rPr lang="en-US" sz="2000" b="1" spc="5"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represented</a:t>
            </a:r>
            <a:r>
              <a:rPr lang="en-US" sz="2000" spc="-15" dirty="0">
                <a:effectLst/>
                <a:ea typeface="Calibri" panose="020F0502020204030204" pitchFamily="34" charset="0"/>
              </a:rPr>
              <a:t> </a:t>
            </a:r>
            <a:r>
              <a:rPr lang="en-US" sz="2000" dirty="0">
                <a:effectLst/>
                <a:ea typeface="Calibri" panose="020F0502020204030204" pitchFamily="34" charset="0"/>
              </a:rPr>
              <a:t>by</a:t>
            </a:r>
            <a:r>
              <a:rPr lang="en-US" sz="2000" spc="-15" dirty="0">
                <a:effectLst/>
                <a:ea typeface="Calibri" panose="020F0502020204030204" pitchFamily="34" charset="0"/>
              </a:rPr>
              <a:t> </a:t>
            </a:r>
            <a:r>
              <a:rPr lang="en-US" sz="2000" dirty="0">
                <a:effectLst/>
                <a:ea typeface="Calibri" panose="020F0502020204030204" pitchFamily="34" charset="0"/>
              </a:rPr>
              <a:t>a</a:t>
            </a:r>
            <a:r>
              <a:rPr lang="en-US" sz="2000" spc="-15" dirty="0">
                <a:effectLst/>
                <a:ea typeface="Calibri" panose="020F0502020204030204" pitchFamily="34" charset="0"/>
              </a:rPr>
              <a:t> </a:t>
            </a:r>
            <a:r>
              <a:rPr lang="en-US" sz="2000" b="1" dirty="0">
                <a:effectLst/>
                <a:ea typeface="Calibri" panose="020F0502020204030204" pitchFamily="34" charset="0"/>
              </a:rPr>
              <a:t>single</a:t>
            </a:r>
            <a:r>
              <a:rPr lang="en-US" sz="2000" b="1" spc="-15" dirty="0">
                <a:effectLst/>
                <a:ea typeface="Calibri" panose="020F0502020204030204" pitchFamily="34" charset="0"/>
              </a:rPr>
              <a:t> </a:t>
            </a:r>
            <a:r>
              <a:rPr lang="en-US" sz="2000" b="1" dirty="0">
                <a:effectLst/>
                <a:ea typeface="Calibri" panose="020F0502020204030204" pitchFamily="34" charset="0"/>
              </a:rPr>
              <a:t>line</a:t>
            </a:r>
            <a:endParaRPr lang="en-US" sz="2000" dirty="0">
              <a:effectLst/>
              <a:ea typeface="Calibri" panose="020F0502020204030204" pitchFamily="34" charset="0"/>
            </a:endParaRPr>
          </a:p>
          <a:p>
            <a:pPr algn="just"/>
            <a:endParaRPr lang="en-US" sz="2000" dirty="0"/>
          </a:p>
        </p:txBody>
      </p:sp>
    </p:spTree>
    <p:extLst>
      <p:ext uri="{BB962C8B-B14F-4D97-AF65-F5344CB8AC3E}">
        <p14:creationId xmlns:p14="http://schemas.microsoft.com/office/powerpoint/2010/main" val="6226407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303597-7E3A-4FB8-D019-16FD3211FDD2}"/>
              </a:ext>
            </a:extLst>
          </p:cNvPr>
          <p:cNvSpPr txBox="1"/>
          <p:nvPr/>
        </p:nvSpPr>
        <p:spPr>
          <a:xfrm>
            <a:off x="201478" y="216976"/>
            <a:ext cx="11763214" cy="2424253"/>
          </a:xfrm>
          <a:prstGeom prst="rect">
            <a:avLst/>
          </a:prstGeom>
          <a:noFill/>
        </p:spPr>
        <p:txBody>
          <a:bodyPr wrap="square" rtlCol="0">
            <a:spAutoFit/>
          </a:bodyPr>
          <a:lstStyle/>
          <a:p>
            <a:pPr algn="just"/>
            <a:r>
              <a:rPr lang="en-US" sz="2000" b="1" i="0" u="none" strike="noStrike" baseline="0" dirty="0"/>
              <a:t>Attributes of Relationship Types</a:t>
            </a:r>
          </a:p>
          <a:p>
            <a:pPr algn="just"/>
            <a:endParaRPr lang="en-US" sz="2000" b="1" dirty="0"/>
          </a:p>
          <a:p>
            <a:pPr marL="342900" marR="0" lvl="0" indent="-342900" algn="just">
              <a:spcBef>
                <a:spcPts val="910"/>
              </a:spcBef>
              <a:buFont typeface="Wingdings" panose="05000000000000000000" pitchFamily="2" charset="2"/>
              <a:buChar char=""/>
              <a:tabLst>
                <a:tab pos="712470" algn="l"/>
                <a:tab pos="713105" algn="l"/>
              </a:tabLst>
            </a:pPr>
            <a:r>
              <a:rPr lang="en-US" sz="2000" dirty="0">
                <a:effectLst/>
                <a:ea typeface="Calibri" panose="020F0502020204030204" pitchFamily="34" charset="0"/>
              </a:rPr>
              <a:t>Relationship</a:t>
            </a:r>
            <a:r>
              <a:rPr lang="en-US" sz="2000" spc="-20" dirty="0">
                <a:effectLst/>
                <a:ea typeface="Calibri" panose="020F0502020204030204" pitchFamily="34" charset="0"/>
              </a:rPr>
              <a:t> </a:t>
            </a:r>
            <a:r>
              <a:rPr lang="en-US" sz="2000" dirty="0">
                <a:effectLst/>
                <a:ea typeface="Calibri" panose="020F0502020204030204" pitchFamily="34" charset="0"/>
              </a:rPr>
              <a:t>types</a:t>
            </a:r>
            <a:r>
              <a:rPr lang="en-US" sz="2000" spc="-10" dirty="0">
                <a:effectLst/>
                <a:ea typeface="Calibri" panose="020F0502020204030204" pitchFamily="34" charset="0"/>
              </a:rPr>
              <a:t> </a:t>
            </a:r>
            <a:r>
              <a:rPr lang="en-US" sz="2000" dirty="0">
                <a:effectLst/>
                <a:ea typeface="Calibri" panose="020F0502020204030204" pitchFamily="34" charset="0"/>
              </a:rPr>
              <a:t>can</a:t>
            </a:r>
            <a:r>
              <a:rPr lang="en-US" sz="2000" spc="-15" dirty="0">
                <a:effectLst/>
                <a:ea typeface="Calibri" panose="020F0502020204030204" pitchFamily="34" charset="0"/>
              </a:rPr>
              <a:t> </a:t>
            </a:r>
            <a:r>
              <a:rPr lang="en-US" sz="2000" dirty="0">
                <a:effectLst/>
                <a:ea typeface="Calibri" panose="020F0502020204030204" pitchFamily="34" charset="0"/>
              </a:rPr>
              <a:t>also</a:t>
            </a:r>
            <a:r>
              <a:rPr lang="en-US" sz="2000" spc="-20" dirty="0">
                <a:effectLst/>
                <a:ea typeface="Calibri" panose="020F0502020204030204" pitchFamily="34" charset="0"/>
              </a:rPr>
              <a:t> </a:t>
            </a:r>
            <a:r>
              <a:rPr lang="en-US" sz="2000" dirty="0">
                <a:effectLst/>
                <a:ea typeface="Calibri" panose="020F0502020204030204" pitchFamily="34" charset="0"/>
              </a:rPr>
              <a:t>have</a:t>
            </a:r>
            <a:r>
              <a:rPr lang="en-US" sz="2000" spc="-15" dirty="0">
                <a:effectLst/>
                <a:ea typeface="Calibri" panose="020F0502020204030204" pitchFamily="34" charset="0"/>
              </a:rPr>
              <a:t> </a:t>
            </a:r>
            <a:r>
              <a:rPr lang="en-US" sz="2000" dirty="0">
                <a:effectLst/>
                <a:ea typeface="Calibri" panose="020F0502020204030204" pitchFamily="34" charset="0"/>
              </a:rPr>
              <a:t>attributes,</a:t>
            </a:r>
            <a:r>
              <a:rPr lang="en-US" sz="2000" spc="-20" dirty="0">
                <a:effectLst/>
                <a:ea typeface="Calibri" panose="020F0502020204030204" pitchFamily="34" charset="0"/>
              </a:rPr>
              <a:t> </a:t>
            </a:r>
            <a:r>
              <a:rPr lang="en-US" sz="2000" dirty="0">
                <a:effectLst/>
                <a:ea typeface="Calibri" panose="020F0502020204030204" pitchFamily="34" charset="0"/>
              </a:rPr>
              <a:t>similar</a:t>
            </a:r>
            <a:r>
              <a:rPr lang="en-US" sz="2000" spc="-20"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those</a:t>
            </a:r>
            <a:r>
              <a:rPr lang="en-US" sz="2000" spc="-15" dirty="0">
                <a:effectLst/>
                <a:ea typeface="Calibri" panose="020F0502020204030204" pitchFamily="34" charset="0"/>
              </a:rPr>
              <a:t> </a:t>
            </a:r>
            <a:r>
              <a:rPr lang="en-US" sz="2000" dirty="0">
                <a:effectLst/>
                <a:ea typeface="Calibri" panose="020F0502020204030204" pitchFamily="34" charset="0"/>
              </a:rPr>
              <a:t>of</a:t>
            </a:r>
            <a:r>
              <a:rPr lang="en-US" sz="2000" spc="-15"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types.</a:t>
            </a:r>
          </a:p>
          <a:p>
            <a:pPr marL="342900" marR="691515" lvl="0" indent="-342900" algn="just">
              <a:lnSpc>
                <a:spcPct val="108000"/>
              </a:lnSpc>
              <a:spcBef>
                <a:spcPts val="100"/>
              </a:spcBef>
              <a:buFont typeface="Wingdings" panose="05000000000000000000" pitchFamily="2" charset="2"/>
              <a:buChar char=""/>
              <a:tabLst>
                <a:tab pos="712470" algn="l"/>
                <a:tab pos="713105" algn="l"/>
              </a:tabLst>
            </a:pPr>
            <a:r>
              <a:rPr lang="en-US" sz="2000" dirty="0">
                <a:effectLst/>
                <a:ea typeface="Calibri" panose="020F0502020204030204" pitchFamily="34" charset="0"/>
              </a:rPr>
              <a:t>For</a:t>
            </a:r>
            <a:r>
              <a:rPr lang="en-US" sz="2000" spc="-15" dirty="0">
                <a:effectLst/>
                <a:ea typeface="Calibri" panose="020F0502020204030204" pitchFamily="34" charset="0"/>
              </a:rPr>
              <a:t> </a:t>
            </a:r>
            <a:r>
              <a:rPr lang="en-US" sz="2000" dirty="0">
                <a:effectLst/>
                <a:ea typeface="Calibri" panose="020F0502020204030204" pitchFamily="34" charset="0"/>
              </a:rPr>
              <a:t>example,</a:t>
            </a:r>
            <a:r>
              <a:rPr lang="en-US" sz="2000" spc="-20"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record the</a:t>
            </a:r>
            <a:r>
              <a:rPr lang="en-US" sz="2000" spc="-10" dirty="0">
                <a:effectLst/>
                <a:ea typeface="Calibri" panose="020F0502020204030204" pitchFamily="34" charset="0"/>
              </a:rPr>
              <a:t> </a:t>
            </a:r>
            <a:r>
              <a:rPr lang="en-US" sz="2000" dirty="0">
                <a:effectLst/>
                <a:ea typeface="Calibri" panose="020F0502020204030204" pitchFamily="34" charset="0"/>
              </a:rPr>
              <a:t>number</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5" dirty="0">
                <a:effectLst/>
                <a:ea typeface="Calibri" panose="020F0502020204030204" pitchFamily="34" charset="0"/>
              </a:rPr>
              <a:t> </a:t>
            </a:r>
            <a:r>
              <a:rPr lang="en-US" sz="2000" dirty="0">
                <a:effectLst/>
                <a:ea typeface="Calibri" panose="020F0502020204030204" pitchFamily="34" charset="0"/>
              </a:rPr>
              <a:t>hours</a:t>
            </a:r>
            <a:r>
              <a:rPr lang="en-US" sz="2000" spc="-10" dirty="0">
                <a:effectLst/>
                <a:ea typeface="Calibri" panose="020F0502020204030204" pitchFamily="34" charset="0"/>
              </a:rPr>
              <a:t> </a:t>
            </a:r>
            <a:r>
              <a:rPr lang="en-US" sz="2000" dirty="0">
                <a:effectLst/>
                <a:ea typeface="Calibri" panose="020F0502020204030204" pitchFamily="34" charset="0"/>
              </a:rPr>
              <a:t>per</a:t>
            </a:r>
            <a:r>
              <a:rPr lang="en-US" sz="2000" spc="-10" dirty="0">
                <a:effectLst/>
                <a:ea typeface="Calibri" panose="020F0502020204030204" pitchFamily="34" charset="0"/>
              </a:rPr>
              <a:t> </a:t>
            </a:r>
            <a:r>
              <a:rPr lang="en-US" sz="2000" dirty="0">
                <a:effectLst/>
                <a:ea typeface="Calibri" panose="020F0502020204030204" pitchFamily="34" charset="0"/>
              </a:rPr>
              <a:t>week</a:t>
            </a:r>
            <a:r>
              <a:rPr lang="en-US" sz="2000" spc="10" dirty="0">
                <a:effectLst/>
                <a:ea typeface="Calibri" panose="020F0502020204030204" pitchFamily="34" charset="0"/>
              </a:rPr>
              <a:t> </a:t>
            </a:r>
            <a:r>
              <a:rPr lang="en-US" sz="2000" dirty="0">
                <a:effectLst/>
                <a:ea typeface="Calibri" panose="020F0502020204030204" pitchFamily="34" charset="0"/>
              </a:rPr>
              <a:t>that</a:t>
            </a:r>
            <a:r>
              <a:rPr lang="en-US" sz="2000" spc="-25"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particular</a:t>
            </a:r>
            <a:r>
              <a:rPr lang="en-US" sz="2000" spc="-20" dirty="0">
                <a:effectLst/>
                <a:ea typeface="Calibri" panose="020F0502020204030204" pitchFamily="34" charset="0"/>
              </a:rPr>
              <a:t> </a:t>
            </a:r>
            <a:r>
              <a:rPr lang="en-US" sz="2000" dirty="0">
                <a:effectLst/>
                <a:ea typeface="Calibri" panose="020F0502020204030204" pitchFamily="34" charset="0"/>
              </a:rPr>
              <a:t>employee</a:t>
            </a:r>
            <a:r>
              <a:rPr lang="en-US" sz="2000" spc="-10" dirty="0">
                <a:effectLst/>
                <a:ea typeface="Calibri" panose="020F0502020204030204" pitchFamily="34" charset="0"/>
              </a:rPr>
              <a:t> </a:t>
            </a:r>
            <a:r>
              <a:rPr lang="en-US" sz="2000" dirty="0">
                <a:effectLst/>
                <a:ea typeface="Calibri" panose="020F0502020204030204" pitchFamily="34" charset="0"/>
              </a:rPr>
              <a:t>works</a:t>
            </a:r>
            <a:r>
              <a:rPr lang="en-US" sz="2000" spc="-10" dirty="0">
                <a:effectLst/>
                <a:ea typeface="Calibri" panose="020F0502020204030204" pitchFamily="34" charset="0"/>
              </a:rPr>
              <a:t> </a:t>
            </a:r>
            <a:r>
              <a:rPr lang="en-US" sz="2000" dirty="0">
                <a:effectLst/>
                <a:ea typeface="Calibri" panose="020F0502020204030204" pitchFamily="34" charset="0"/>
              </a:rPr>
              <a:t>on</a:t>
            </a:r>
            <a:r>
              <a:rPr lang="en-US" sz="2000" spc="-2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particular</a:t>
            </a:r>
            <a:r>
              <a:rPr lang="en-US" sz="2000" spc="-235" dirty="0">
                <a:effectLst/>
                <a:ea typeface="Calibri" panose="020F0502020204030204" pitchFamily="34" charset="0"/>
              </a:rPr>
              <a:t> </a:t>
            </a:r>
            <a:r>
              <a:rPr lang="en-US" sz="2000" dirty="0">
                <a:effectLst/>
                <a:ea typeface="Calibri" panose="020F0502020204030204" pitchFamily="34" charset="0"/>
              </a:rPr>
              <a:t>project,</a:t>
            </a:r>
            <a:r>
              <a:rPr lang="en-US" sz="2000" spc="-5" dirty="0">
                <a:effectLst/>
                <a:ea typeface="Calibri" panose="020F0502020204030204" pitchFamily="34" charset="0"/>
              </a:rPr>
              <a:t> </a:t>
            </a:r>
            <a:r>
              <a:rPr lang="en-US" sz="2000" dirty="0">
                <a:effectLst/>
                <a:ea typeface="Calibri" panose="020F0502020204030204" pitchFamily="34" charset="0"/>
              </a:rPr>
              <a:t>we</a:t>
            </a:r>
            <a:r>
              <a:rPr lang="en-US" sz="2000" spc="-10" dirty="0">
                <a:effectLst/>
                <a:ea typeface="Calibri" panose="020F0502020204030204" pitchFamily="34" charset="0"/>
              </a:rPr>
              <a:t> </a:t>
            </a:r>
            <a:r>
              <a:rPr lang="en-US" sz="2000" dirty="0">
                <a:effectLst/>
                <a:ea typeface="Calibri" panose="020F0502020204030204" pitchFamily="34" charset="0"/>
              </a:rPr>
              <a:t>can</a:t>
            </a:r>
            <a:r>
              <a:rPr lang="en-US" sz="2000" spc="-15" dirty="0">
                <a:effectLst/>
                <a:ea typeface="Calibri" panose="020F0502020204030204" pitchFamily="34" charset="0"/>
              </a:rPr>
              <a:t> </a:t>
            </a:r>
            <a:r>
              <a:rPr lang="en-US" sz="2000" dirty="0">
                <a:effectLst/>
                <a:ea typeface="Calibri" panose="020F0502020204030204" pitchFamily="34" charset="0"/>
              </a:rPr>
              <a:t>include</a:t>
            </a:r>
            <a:r>
              <a:rPr lang="en-US" sz="2000" spc="-10" dirty="0">
                <a:effectLst/>
                <a:ea typeface="Calibri" panose="020F0502020204030204" pitchFamily="34" charset="0"/>
              </a:rPr>
              <a:t> </a:t>
            </a:r>
            <a:r>
              <a:rPr lang="en-US" sz="2000" dirty="0">
                <a:effectLst/>
                <a:ea typeface="Calibri" panose="020F0502020204030204" pitchFamily="34" charset="0"/>
              </a:rPr>
              <a:t>an</a:t>
            </a:r>
            <a:r>
              <a:rPr lang="en-US" sz="2000" spc="-15" dirty="0">
                <a:effectLst/>
                <a:ea typeface="Calibri" panose="020F0502020204030204" pitchFamily="34" charset="0"/>
              </a:rPr>
              <a:t> </a:t>
            </a:r>
            <a:r>
              <a:rPr lang="en-US" sz="2000" dirty="0">
                <a:effectLst/>
                <a:ea typeface="Calibri" panose="020F0502020204030204" pitchFamily="34" charset="0"/>
              </a:rPr>
              <a:t>attribute</a:t>
            </a:r>
            <a:r>
              <a:rPr lang="en-US" sz="2000" spc="5" dirty="0">
                <a:effectLst/>
                <a:ea typeface="Calibri" panose="020F0502020204030204" pitchFamily="34" charset="0"/>
              </a:rPr>
              <a:t> </a:t>
            </a:r>
            <a:r>
              <a:rPr lang="en-US" sz="2000" b="1" dirty="0">
                <a:effectLst/>
                <a:ea typeface="Calibri" panose="020F0502020204030204" pitchFamily="34" charset="0"/>
              </a:rPr>
              <a:t>Hours</a:t>
            </a:r>
            <a:r>
              <a:rPr lang="en-US" sz="2000" b="1" spc="-15" dirty="0">
                <a:effectLst/>
                <a:ea typeface="Calibri" panose="020F0502020204030204" pitchFamily="34" charset="0"/>
              </a:rPr>
              <a:t> </a:t>
            </a:r>
            <a:r>
              <a:rPr lang="en-US" sz="2000" dirty="0">
                <a:effectLst/>
                <a:ea typeface="Calibri" panose="020F0502020204030204" pitchFamily="34" charset="0"/>
              </a:rPr>
              <a:t>for</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b="1" dirty="0">
                <a:effectLst/>
                <a:ea typeface="Calibri" panose="020F0502020204030204" pitchFamily="34" charset="0"/>
              </a:rPr>
              <a:t>WORKS_ON</a:t>
            </a:r>
            <a:r>
              <a:rPr lang="en-US" sz="2000" b="1" spc="-15" dirty="0">
                <a:effectLst/>
                <a:ea typeface="Calibri" panose="020F0502020204030204" pitchFamily="34" charset="0"/>
              </a:rPr>
              <a:t> </a:t>
            </a:r>
            <a:r>
              <a:rPr lang="en-US" sz="2000" dirty="0">
                <a:effectLst/>
                <a:ea typeface="Calibri" panose="020F0502020204030204" pitchFamily="34" charset="0"/>
              </a:rPr>
              <a:t>relationship</a:t>
            </a:r>
            <a:r>
              <a:rPr lang="en-US" sz="2000" spc="-15" dirty="0">
                <a:effectLst/>
                <a:ea typeface="Calibri" panose="020F0502020204030204" pitchFamily="34" charset="0"/>
              </a:rPr>
              <a:t> </a:t>
            </a:r>
            <a:r>
              <a:rPr lang="en-US" sz="2000" dirty="0">
                <a:effectLst/>
                <a:ea typeface="Calibri" panose="020F0502020204030204" pitchFamily="34" charset="0"/>
              </a:rPr>
              <a:t>type</a:t>
            </a:r>
          </a:p>
          <a:p>
            <a:pPr marL="285750" indent="-285750" algn="just">
              <a:buFont typeface="Wingdings" panose="05000000000000000000" pitchFamily="2" charset="2"/>
              <a:buChar char="ü"/>
            </a:pPr>
            <a:r>
              <a:rPr lang="en-US" sz="2000" dirty="0">
                <a:effectLst/>
                <a:ea typeface="Calibri" panose="020F0502020204030204" pitchFamily="34" charset="0"/>
              </a:rPr>
              <a:t>to include the date on which a manager started managing a department via an attribute </a:t>
            </a:r>
            <a:r>
              <a:rPr lang="en-US" sz="2000" b="1" dirty="0" err="1">
                <a:effectLst/>
                <a:ea typeface="Calibri" panose="020F0502020204030204" pitchFamily="34" charset="0"/>
              </a:rPr>
              <a:t>Start_date</a:t>
            </a:r>
            <a:r>
              <a:rPr lang="en-US" sz="2000" b="1" dirty="0">
                <a:effectLst/>
                <a:ea typeface="Calibri" panose="020F0502020204030204" pitchFamily="34" charset="0"/>
              </a:rPr>
              <a:t> </a:t>
            </a:r>
            <a:r>
              <a:rPr lang="en-US" sz="2000" dirty="0">
                <a:effectLst/>
                <a:ea typeface="Calibri" panose="020F0502020204030204" pitchFamily="34" charset="0"/>
              </a:rPr>
              <a:t>for the</a:t>
            </a:r>
            <a:r>
              <a:rPr lang="en-US" sz="2000" spc="-240" dirty="0">
                <a:effectLst/>
                <a:ea typeface="Calibri" panose="020F0502020204030204" pitchFamily="34" charset="0"/>
              </a:rPr>
              <a:t> </a:t>
            </a:r>
            <a:r>
              <a:rPr lang="en-US" sz="2000" dirty="0">
                <a:effectLst/>
                <a:ea typeface="Calibri" panose="020F0502020204030204" pitchFamily="34" charset="0"/>
              </a:rPr>
              <a:t>MANAGES</a:t>
            </a:r>
            <a:r>
              <a:rPr lang="en-US" sz="2000" spc="-20" dirty="0">
                <a:effectLst/>
                <a:ea typeface="Calibri" panose="020F0502020204030204" pitchFamily="34" charset="0"/>
              </a:rPr>
              <a:t> </a:t>
            </a:r>
            <a:r>
              <a:rPr lang="en-US" sz="2000" dirty="0">
                <a:effectLst/>
                <a:ea typeface="Calibri" panose="020F0502020204030204" pitchFamily="34" charset="0"/>
              </a:rPr>
              <a:t>relationship</a:t>
            </a:r>
            <a:r>
              <a:rPr lang="en-US" sz="2000" spc="-15" dirty="0">
                <a:effectLst/>
                <a:ea typeface="Calibri" panose="020F0502020204030204" pitchFamily="34" charset="0"/>
              </a:rPr>
              <a:t> </a:t>
            </a:r>
            <a:r>
              <a:rPr lang="en-US" sz="2000" dirty="0">
                <a:effectLst/>
                <a:ea typeface="Calibri" panose="020F0502020204030204" pitchFamily="34" charset="0"/>
              </a:rPr>
              <a:t>type</a:t>
            </a:r>
            <a:endParaRPr lang="en-US" sz="2000" dirty="0"/>
          </a:p>
        </p:txBody>
      </p:sp>
      <p:pic>
        <p:nvPicPr>
          <p:cNvPr id="4" name="Picture 3">
            <a:extLst>
              <a:ext uri="{FF2B5EF4-FFF2-40B4-BE49-F238E27FC236}">
                <a16:creationId xmlns:a16="http://schemas.microsoft.com/office/drawing/2014/main" id="{A163FA0F-28D5-522E-03C6-16815528B607}"/>
              </a:ext>
            </a:extLst>
          </p:cNvPr>
          <p:cNvPicPr>
            <a:picLocks noChangeAspect="1"/>
          </p:cNvPicPr>
          <p:nvPr/>
        </p:nvPicPr>
        <p:blipFill>
          <a:blip r:embed="rId2"/>
          <a:stretch>
            <a:fillRect/>
          </a:stretch>
        </p:blipFill>
        <p:spPr>
          <a:xfrm>
            <a:off x="3027862" y="3152128"/>
            <a:ext cx="6110446" cy="2424253"/>
          </a:xfrm>
          <a:prstGeom prst="rect">
            <a:avLst/>
          </a:prstGeom>
        </p:spPr>
      </p:pic>
    </p:spTree>
    <p:extLst>
      <p:ext uri="{BB962C8B-B14F-4D97-AF65-F5344CB8AC3E}">
        <p14:creationId xmlns:p14="http://schemas.microsoft.com/office/powerpoint/2010/main" val="11848410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A750994D-B454-4E89-4C50-592EE50E280A}"/>
              </a:ext>
            </a:extLst>
          </p:cNvPr>
          <p:cNvGraphicFramePr/>
          <p:nvPr/>
        </p:nvGraphicFramePr>
        <p:xfrm>
          <a:off x="449451" y="371959"/>
          <a:ext cx="11236271" cy="6463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DC6A912A-0235-AB11-402F-2D8EAEECC051}"/>
              </a:ext>
            </a:extLst>
          </p:cNvPr>
          <p:cNvSpPr txBox="1"/>
          <p:nvPr/>
        </p:nvSpPr>
        <p:spPr>
          <a:xfrm>
            <a:off x="604434" y="1270861"/>
            <a:ext cx="11081288" cy="5203989"/>
          </a:xfrm>
          <a:prstGeom prst="rect">
            <a:avLst/>
          </a:prstGeom>
          <a:noFill/>
        </p:spPr>
        <p:txBody>
          <a:bodyPr wrap="square" rtlCol="0">
            <a:spAutoFit/>
          </a:bodyPr>
          <a:lstStyle/>
          <a:p>
            <a:pPr marL="285750" indent="-285750" algn="just">
              <a:buFont typeface="Wingdings" panose="05000000000000000000" pitchFamily="2" charset="2"/>
              <a:buChar char="ü"/>
            </a:pP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types that</a:t>
            </a:r>
            <a:r>
              <a:rPr lang="en-US" sz="2000" spc="-15" dirty="0">
                <a:effectLst/>
                <a:ea typeface="Calibri" panose="020F0502020204030204" pitchFamily="34" charset="0"/>
              </a:rPr>
              <a:t> </a:t>
            </a:r>
            <a:r>
              <a:rPr lang="en-US" sz="2000" b="1" dirty="0">
                <a:effectLst/>
                <a:ea typeface="Calibri" panose="020F0502020204030204" pitchFamily="34" charset="0"/>
              </a:rPr>
              <a:t>do not</a:t>
            </a:r>
            <a:r>
              <a:rPr lang="en-US" sz="2000" b="1" spc="-10" dirty="0">
                <a:effectLst/>
                <a:ea typeface="Calibri" panose="020F0502020204030204" pitchFamily="34" charset="0"/>
              </a:rPr>
              <a:t> </a:t>
            </a:r>
            <a:r>
              <a:rPr lang="en-US" sz="2000" b="1" dirty="0">
                <a:effectLst/>
                <a:ea typeface="Calibri" panose="020F0502020204030204" pitchFamily="34" charset="0"/>
              </a:rPr>
              <a:t>have</a:t>
            </a:r>
            <a:r>
              <a:rPr lang="en-US" sz="2000" b="1" spc="-10" dirty="0">
                <a:effectLst/>
                <a:ea typeface="Calibri" panose="020F0502020204030204" pitchFamily="34" charset="0"/>
              </a:rPr>
              <a:t> </a:t>
            </a:r>
            <a:r>
              <a:rPr lang="en-US" sz="2000" b="1" dirty="0">
                <a:effectLst/>
                <a:ea typeface="Calibri" panose="020F0502020204030204" pitchFamily="34" charset="0"/>
              </a:rPr>
              <a:t>key</a:t>
            </a:r>
            <a:r>
              <a:rPr lang="en-US" sz="2000" b="1" spc="-10" dirty="0">
                <a:effectLst/>
                <a:ea typeface="Calibri" panose="020F0502020204030204" pitchFamily="34" charset="0"/>
              </a:rPr>
              <a:t> </a:t>
            </a:r>
            <a:r>
              <a:rPr lang="en-US" sz="2000" b="1" dirty="0">
                <a:effectLst/>
                <a:ea typeface="Calibri" panose="020F0502020204030204" pitchFamily="34" charset="0"/>
              </a:rPr>
              <a:t>attributes</a:t>
            </a:r>
            <a:r>
              <a:rPr lang="en-US" sz="2000" b="1" spc="5" dirty="0">
                <a:effectLst/>
                <a:ea typeface="Calibri" panose="020F0502020204030204" pitchFamily="34" charset="0"/>
              </a:rPr>
              <a:t> </a:t>
            </a:r>
            <a:r>
              <a:rPr lang="en-US" sz="2000" dirty="0">
                <a:effectLst/>
                <a:ea typeface="Calibri" panose="020F0502020204030204" pitchFamily="34" charset="0"/>
              </a:rPr>
              <a:t>of</a:t>
            </a:r>
            <a:r>
              <a:rPr lang="en-US" sz="2000" spc="-5" dirty="0">
                <a:effectLst/>
                <a:ea typeface="Calibri" panose="020F0502020204030204" pitchFamily="34" charset="0"/>
              </a:rPr>
              <a:t> </a:t>
            </a:r>
            <a:r>
              <a:rPr lang="en-US" sz="2000" dirty="0">
                <a:effectLst/>
                <a:ea typeface="Calibri" panose="020F0502020204030204" pitchFamily="34" charset="0"/>
              </a:rPr>
              <a:t>their</a:t>
            </a:r>
            <a:r>
              <a:rPr lang="en-US" sz="2000" spc="-10" dirty="0">
                <a:effectLst/>
                <a:ea typeface="Calibri" panose="020F0502020204030204" pitchFamily="34" charset="0"/>
              </a:rPr>
              <a:t> </a:t>
            </a:r>
            <a:r>
              <a:rPr lang="en-US" sz="2000" dirty="0">
                <a:effectLst/>
                <a:ea typeface="Calibri" panose="020F0502020204030204" pitchFamily="34" charset="0"/>
              </a:rPr>
              <a:t>own</a:t>
            </a:r>
            <a:r>
              <a:rPr lang="en-US" sz="2000" spc="-5" dirty="0">
                <a:effectLst/>
                <a:ea typeface="Calibri" panose="020F0502020204030204" pitchFamily="34" charset="0"/>
              </a:rPr>
              <a:t> </a:t>
            </a:r>
            <a:r>
              <a:rPr lang="en-US" sz="2000" dirty="0">
                <a:effectLst/>
                <a:ea typeface="Calibri" panose="020F0502020204030204" pitchFamily="34" charset="0"/>
              </a:rPr>
              <a:t>are</a:t>
            </a:r>
            <a:r>
              <a:rPr lang="en-US" sz="2000" spc="-10" dirty="0">
                <a:effectLst/>
                <a:ea typeface="Calibri" panose="020F0502020204030204" pitchFamily="34" charset="0"/>
              </a:rPr>
              <a:t> </a:t>
            </a:r>
            <a:r>
              <a:rPr lang="en-US" sz="2000" dirty="0">
                <a:effectLst/>
                <a:ea typeface="Calibri" panose="020F0502020204030204" pitchFamily="34" charset="0"/>
              </a:rPr>
              <a:t>called</a:t>
            </a:r>
            <a:r>
              <a:rPr lang="en-US" sz="2000" spc="-10" dirty="0">
                <a:effectLst/>
                <a:ea typeface="Calibri" panose="020F0502020204030204" pitchFamily="34" charset="0"/>
              </a:rPr>
              <a:t> </a:t>
            </a:r>
            <a:r>
              <a:rPr lang="en-US" sz="2000" b="1" dirty="0">
                <a:effectLst/>
                <a:ea typeface="Calibri" panose="020F0502020204030204" pitchFamily="34" charset="0"/>
              </a:rPr>
              <a:t>weak</a:t>
            </a:r>
            <a:r>
              <a:rPr lang="en-US" sz="2000" b="1" spc="-15" dirty="0">
                <a:effectLst/>
                <a:ea typeface="Calibri" panose="020F0502020204030204" pitchFamily="34" charset="0"/>
              </a:rPr>
              <a:t> </a:t>
            </a:r>
            <a:r>
              <a:rPr lang="en-US" sz="2000" b="1" dirty="0">
                <a:effectLst/>
                <a:ea typeface="Calibri" panose="020F0502020204030204" pitchFamily="34" charset="0"/>
              </a:rPr>
              <a:t>entity types.</a:t>
            </a:r>
          </a:p>
          <a:p>
            <a:pPr marL="342900" marR="0" lvl="0" indent="-342900" algn="just">
              <a:spcBef>
                <a:spcPts val="105"/>
              </a:spcBef>
              <a:buFont typeface="Wingdings" panose="05000000000000000000" pitchFamily="2" charset="2"/>
              <a:buChar char=""/>
              <a:tabLst>
                <a:tab pos="658495" algn="l"/>
              </a:tabLst>
            </a:pPr>
            <a:r>
              <a:rPr lang="en-US" sz="2000" dirty="0">
                <a:effectLst/>
                <a:ea typeface="Calibri" panose="020F0502020204030204" pitchFamily="34" charset="0"/>
              </a:rPr>
              <a:t>In</a:t>
            </a:r>
            <a:r>
              <a:rPr lang="en-US" sz="2000" spc="-15" dirty="0">
                <a:effectLst/>
                <a:ea typeface="Calibri" panose="020F0502020204030204" pitchFamily="34" charset="0"/>
              </a:rPr>
              <a:t> </a:t>
            </a:r>
            <a:r>
              <a:rPr lang="en-US" sz="2000" dirty="0">
                <a:effectLst/>
                <a:ea typeface="Calibri" panose="020F0502020204030204" pitchFamily="34" charset="0"/>
              </a:rPr>
              <a:t>contrast,</a:t>
            </a:r>
            <a:r>
              <a:rPr lang="en-US" sz="2000" spc="5" dirty="0">
                <a:effectLst/>
                <a:ea typeface="Calibri" panose="020F0502020204030204" pitchFamily="34" charset="0"/>
              </a:rPr>
              <a:t> </a:t>
            </a:r>
            <a:r>
              <a:rPr lang="en-US" sz="2000" b="1" dirty="0">
                <a:effectLst/>
                <a:ea typeface="Calibri" panose="020F0502020204030204" pitchFamily="34" charset="0"/>
              </a:rPr>
              <a:t>regular</a:t>
            </a:r>
            <a:r>
              <a:rPr lang="en-US" sz="2000" b="1" spc="-20" dirty="0">
                <a:effectLst/>
                <a:ea typeface="Calibri" panose="020F0502020204030204" pitchFamily="34" charset="0"/>
              </a:rPr>
              <a:t> </a:t>
            </a:r>
            <a:r>
              <a:rPr lang="en-US" sz="2000" b="1" dirty="0">
                <a:effectLst/>
                <a:ea typeface="Calibri" panose="020F0502020204030204" pitchFamily="34" charset="0"/>
              </a:rPr>
              <a:t>entity</a:t>
            </a:r>
            <a:r>
              <a:rPr lang="en-US" sz="2000" b="1" spc="-5" dirty="0">
                <a:effectLst/>
                <a:ea typeface="Calibri" panose="020F0502020204030204" pitchFamily="34" charset="0"/>
              </a:rPr>
              <a:t> </a:t>
            </a:r>
            <a:r>
              <a:rPr lang="en-US" sz="2000" b="1" dirty="0">
                <a:effectLst/>
                <a:ea typeface="Calibri" panose="020F0502020204030204" pitchFamily="34" charset="0"/>
              </a:rPr>
              <a:t>types</a:t>
            </a:r>
            <a:r>
              <a:rPr lang="en-US" sz="2000" b="1" spc="-5" dirty="0">
                <a:effectLst/>
                <a:ea typeface="Calibri" panose="020F0502020204030204" pitchFamily="34" charset="0"/>
              </a:rPr>
              <a:t> </a:t>
            </a:r>
            <a:r>
              <a:rPr lang="en-US" sz="2000" dirty="0">
                <a:effectLst/>
                <a:ea typeface="Calibri" panose="020F0502020204030204" pitchFamily="34" charset="0"/>
              </a:rPr>
              <a:t>that do</a:t>
            </a:r>
            <a:r>
              <a:rPr lang="en-US" sz="2000" spc="-15" dirty="0">
                <a:effectLst/>
                <a:ea typeface="Calibri" panose="020F0502020204030204" pitchFamily="34" charset="0"/>
              </a:rPr>
              <a:t> </a:t>
            </a:r>
            <a:r>
              <a:rPr lang="en-US" sz="2000" dirty="0">
                <a:effectLst/>
                <a:ea typeface="Calibri" panose="020F0502020204030204" pitchFamily="34" charset="0"/>
              </a:rPr>
              <a:t>have</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key</a:t>
            </a:r>
            <a:r>
              <a:rPr lang="en-US" sz="2000" spc="-10" dirty="0">
                <a:effectLst/>
                <a:ea typeface="Calibri" panose="020F0502020204030204" pitchFamily="34" charset="0"/>
              </a:rPr>
              <a:t> </a:t>
            </a:r>
            <a:r>
              <a:rPr lang="en-US" sz="2000" dirty="0">
                <a:effectLst/>
                <a:ea typeface="Calibri" panose="020F0502020204030204" pitchFamily="34" charset="0"/>
              </a:rPr>
              <a:t>attribute—are</a:t>
            </a:r>
            <a:r>
              <a:rPr lang="en-US" sz="2000" spc="-5" dirty="0">
                <a:effectLst/>
                <a:ea typeface="Calibri" panose="020F0502020204030204" pitchFamily="34" charset="0"/>
              </a:rPr>
              <a:t> </a:t>
            </a:r>
            <a:r>
              <a:rPr lang="en-US" sz="2000" dirty="0">
                <a:effectLst/>
                <a:ea typeface="Calibri" panose="020F0502020204030204" pitchFamily="34" charset="0"/>
              </a:rPr>
              <a:t>called</a:t>
            </a:r>
            <a:r>
              <a:rPr lang="en-US" sz="2000" spc="-10" dirty="0">
                <a:effectLst/>
                <a:ea typeface="Calibri" panose="020F0502020204030204" pitchFamily="34" charset="0"/>
              </a:rPr>
              <a:t> </a:t>
            </a:r>
            <a:r>
              <a:rPr lang="en-US" sz="2000" b="1" dirty="0">
                <a:effectLst/>
                <a:ea typeface="Calibri" panose="020F0502020204030204" pitchFamily="34" charset="0"/>
              </a:rPr>
              <a:t>strong</a:t>
            </a:r>
            <a:r>
              <a:rPr lang="en-US" sz="2000" b="1" spc="-10" dirty="0">
                <a:effectLst/>
                <a:ea typeface="Calibri" panose="020F0502020204030204" pitchFamily="34" charset="0"/>
              </a:rPr>
              <a:t> </a:t>
            </a:r>
            <a:r>
              <a:rPr lang="en-US" sz="2000" b="1" dirty="0">
                <a:effectLst/>
                <a:ea typeface="Calibri" panose="020F0502020204030204" pitchFamily="34" charset="0"/>
              </a:rPr>
              <a:t>entity</a:t>
            </a:r>
            <a:r>
              <a:rPr lang="en-US" sz="2000" b="1" spc="-10" dirty="0">
                <a:effectLst/>
                <a:ea typeface="Calibri" panose="020F0502020204030204" pitchFamily="34" charset="0"/>
              </a:rPr>
              <a:t> </a:t>
            </a:r>
            <a:r>
              <a:rPr lang="en-US" sz="2000" b="1" dirty="0">
                <a:effectLst/>
                <a:ea typeface="Calibri" panose="020F0502020204030204" pitchFamily="34" charset="0"/>
              </a:rPr>
              <a:t>types</a:t>
            </a:r>
            <a:endParaRPr lang="en-US" sz="2000" dirty="0">
              <a:effectLst/>
              <a:ea typeface="Calibri" panose="020F0502020204030204" pitchFamily="34" charset="0"/>
            </a:endParaRPr>
          </a:p>
          <a:p>
            <a:pPr marL="342900" marR="231140" lvl="0" indent="-342900" algn="just">
              <a:lnSpc>
                <a:spcPct val="105000"/>
              </a:lnSpc>
              <a:spcBef>
                <a:spcPts val="50"/>
              </a:spcBef>
              <a:buFont typeface="Wingdings" panose="05000000000000000000" pitchFamily="2" charset="2"/>
              <a:buChar char=""/>
              <a:tabLst>
                <a:tab pos="655320" algn="l"/>
              </a:tabLst>
            </a:pPr>
            <a:r>
              <a:rPr lang="en-US" sz="2000" dirty="0">
                <a:effectLst/>
                <a:ea typeface="Calibri" panose="020F0502020204030204" pitchFamily="34" charset="0"/>
              </a:rPr>
              <a:t>Entities</a:t>
            </a:r>
            <a:r>
              <a:rPr lang="en-US" sz="2000" spc="55" dirty="0">
                <a:effectLst/>
                <a:ea typeface="Calibri" panose="020F0502020204030204" pitchFamily="34" charset="0"/>
              </a:rPr>
              <a:t> </a:t>
            </a:r>
            <a:r>
              <a:rPr lang="en-US" sz="2000" dirty="0">
                <a:effectLst/>
                <a:ea typeface="Calibri" panose="020F0502020204030204" pitchFamily="34" charset="0"/>
              </a:rPr>
              <a:t>belonging</a:t>
            </a:r>
            <a:r>
              <a:rPr lang="en-US" sz="2000" spc="55" dirty="0">
                <a:effectLst/>
                <a:ea typeface="Calibri" panose="020F0502020204030204" pitchFamily="34" charset="0"/>
              </a:rPr>
              <a:t> </a:t>
            </a:r>
            <a:r>
              <a:rPr lang="en-US" sz="2000" dirty="0">
                <a:effectLst/>
                <a:ea typeface="Calibri" panose="020F0502020204030204" pitchFamily="34" charset="0"/>
              </a:rPr>
              <a:t>to</a:t>
            </a:r>
            <a:r>
              <a:rPr lang="en-US" sz="2000" spc="45" dirty="0">
                <a:effectLst/>
                <a:ea typeface="Calibri" panose="020F0502020204030204" pitchFamily="34" charset="0"/>
              </a:rPr>
              <a:t> </a:t>
            </a:r>
            <a:r>
              <a:rPr lang="en-US" sz="2000" dirty="0">
                <a:effectLst/>
                <a:ea typeface="Calibri" panose="020F0502020204030204" pitchFamily="34" charset="0"/>
              </a:rPr>
              <a:t>a</a:t>
            </a:r>
            <a:r>
              <a:rPr lang="en-US" sz="2000" spc="50" dirty="0">
                <a:effectLst/>
                <a:ea typeface="Calibri" panose="020F0502020204030204" pitchFamily="34" charset="0"/>
              </a:rPr>
              <a:t> </a:t>
            </a:r>
            <a:r>
              <a:rPr lang="en-US" sz="2000" dirty="0">
                <a:effectLst/>
                <a:ea typeface="Calibri" panose="020F0502020204030204" pitchFamily="34" charset="0"/>
              </a:rPr>
              <a:t>weak</a:t>
            </a:r>
            <a:r>
              <a:rPr lang="en-US" sz="2000" spc="55" dirty="0">
                <a:effectLst/>
                <a:ea typeface="Calibri" panose="020F0502020204030204" pitchFamily="34" charset="0"/>
              </a:rPr>
              <a:t> </a:t>
            </a:r>
            <a:r>
              <a:rPr lang="en-US" sz="2000" dirty="0">
                <a:effectLst/>
                <a:ea typeface="Calibri" panose="020F0502020204030204" pitchFamily="34" charset="0"/>
              </a:rPr>
              <a:t>entity</a:t>
            </a:r>
            <a:r>
              <a:rPr lang="en-US" sz="2000" spc="55" dirty="0">
                <a:effectLst/>
                <a:ea typeface="Calibri" panose="020F0502020204030204" pitchFamily="34" charset="0"/>
              </a:rPr>
              <a:t> </a:t>
            </a:r>
            <a:r>
              <a:rPr lang="en-US" sz="2000" dirty="0">
                <a:effectLst/>
                <a:ea typeface="Calibri" panose="020F0502020204030204" pitchFamily="34" charset="0"/>
              </a:rPr>
              <a:t>type</a:t>
            </a:r>
            <a:r>
              <a:rPr lang="en-US" sz="2000" spc="55" dirty="0">
                <a:effectLst/>
                <a:ea typeface="Calibri" panose="020F0502020204030204" pitchFamily="34" charset="0"/>
              </a:rPr>
              <a:t> </a:t>
            </a:r>
            <a:r>
              <a:rPr lang="en-US" sz="2000" dirty="0">
                <a:effectLst/>
                <a:ea typeface="Calibri" panose="020F0502020204030204" pitchFamily="34" charset="0"/>
              </a:rPr>
              <a:t>are</a:t>
            </a:r>
            <a:r>
              <a:rPr lang="en-US" sz="2000" spc="25" dirty="0">
                <a:effectLst/>
                <a:ea typeface="Calibri" panose="020F0502020204030204" pitchFamily="34" charset="0"/>
              </a:rPr>
              <a:t> </a:t>
            </a:r>
            <a:r>
              <a:rPr lang="en-US" sz="2000" dirty="0">
                <a:effectLst/>
                <a:ea typeface="Calibri" panose="020F0502020204030204" pitchFamily="34" charset="0"/>
              </a:rPr>
              <a:t>identified</a:t>
            </a:r>
            <a:r>
              <a:rPr lang="en-US" sz="2000" spc="30" dirty="0">
                <a:effectLst/>
                <a:ea typeface="Calibri" panose="020F0502020204030204" pitchFamily="34" charset="0"/>
              </a:rPr>
              <a:t> </a:t>
            </a:r>
            <a:r>
              <a:rPr lang="en-US" sz="2000" dirty="0">
                <a:effectLst/>
                <a:ea typeface="Calibri" panose="020F0502020204030204" pitchFamily="34" charset="0"/>
              </a:rPr>
              <a:t>by</a:t>
            </a:r>
            <a:r>
              <a:rPr lang="en-US" sz="2000" spc="55" dirty="0">
                <a:effectLst/>
                <a:ea typeface="Calibri" panose="020F0502020204030204" pitchFamily="34" charset="0"/>
              </a:rPr>
              <a:t> </a:t>
            </a:r>
            <a:r>
              <a:rPr lang="en-US" sz="2000" dirty="0">
                <a:effectLst/>
                <a:ea typeface="Calibri" panose="020F0502020204030204" pitchFamily="34" charset="0"/>
              </a:rPr>
              <a:t>being</a:t>
            </a:r>
            <a:r>
              <a:rPr lang="en-US" sz="2000" spc="55" dirty="0">
                <a:effectLst/>
                <a:ea typeface="Calibri" panose="020F0502020204030204" pitchFamily="34" charset="0"/>
              </a:rPr>
              <a:t> </a:t>
            </a:r>
            <a:r>
              <a:rPr lang="en-US" sz="2000" dirty="0">
                <a:effectLst/>
                <a:ea typeface="Calibri" panose="020F0502020204030204" pitchFamily="34" charset="0"/>
              </a:rPr>
              <a:t>related</a:t>
            </a:r>
            <a:r>
              <a:rPr lang="en-US" sz="2000" spc="50" dirty="0">
                <a:effectLst/>
                <a:ea typeface="Calibri" panose="020F0502020204030204" pitchFamily="34" charset="0"/>
              </a:rPr>
              <a:t> </a:t>
            </a:r>
            <a:r>
              <a:rPr lang="en-US" sz="2000" dirty="0">
                <a:effectLst/>
                <a:ea typeface="Calibri" panose="020F0502020204030204" pitchFamily="34" charset="0"/>
              </a:rPr>
              <a:t>to</a:t>
            </a:r>
            <a:r>
              <a:rPr lang="en-US" sz="2000" spc="45" dirty="0">
                <a:effectLst/>
                <a:ea typeface="Calibri" panose="020F0502020204030204" pitchFamily="34" charset="0"/>
              </a:rPr>
              <a:t> </a:t>
            </a:r>
            <a:r>
              <a:rPr lang="en-US" sz="2000" dirty="0">
                <a:effectLst/>
                <a:ea typeface="Calibri" panose="020F0502020204030204" pitchFamily="34" charset="0"/>
              </a:rPr>
              <a:t>specific</a:t>
            </a:r>
            <a:r>
              <a:rPr lang="en-US" sz="2000" spc="45" dirty="0">
                <a:effectLst/>
                <a:ea typeface="Calibri" panose="020F0502020204030204" pitchFamily="34" charset="0"/>
              </a:rPr>
              <a:t> </a:t>
            </a:r>
            <a:r>
              <a:rPr lang="en-US" sz="2000" dirty="0">
                <a:effectLst/>
                <a:ea typeface="Calibri" panose="020F0502020204030204" pitchFamily="34" charset="0"/>
              </a:rPr>
              <a:t>entities</a:t>
            </a:r>
            <a:r>
              <a:rPr lang="en-US" sz="2000" spc="55" dirty="0">
                <a:effectLst/>
                <a:ea typeface="Calibri" panose="020F0502020204030204" pitchFamily="34" charset="0"/>
              </a:rPr>
              <a:t> </a:t>
            </a:r>
            <a:r>
              <a:rPr lang="en-US" sz="2000" dirty="0">
                <a:effectLst/>
                <a:ea typeface="Calibri" panose="020F0502020204030204" pitchFamily="34" charset="0"/>
              </a:rPr>
              <a:t>from</a:t>
            </a:r>
            <a:r>
              <a:rPr lang="en-US" sz="2000" spc="55" dirty="0">
                <a:effectLst/>
                <a:ea typeface="Calibri" panose="020F0502020204030204" pitchFamily="34" charset="0"/>
              </a:rPr>
              <a:t> </a:t>
            </a:r>
            <a:r>
              <a:rPr lang="en-US" sz="2000" dirty="0">
                <a:effectLst/>
                <a:ea typeface="Calibri" panose="020F0502020204030204" pitchFamily="34" charset="0"/>
              </a:rPr>
              <a:t>another</a:t>
            </a:r>
            <a:r>
              <a:rPr lang="en-US" sz="2000" spc="50" dirty="0">
                <a:effectLst/>
                <a:ea typeface="Calibri" panose="020F0502020204030204" pitchFamily="34" charset="0"/>
              </a:rPr>
              <a:t> </a:t>
            </a:r>
            <a:r>
              <a:rPr lang="en-US" sz="2000" dirty="0">
                <a:effectLst/>
                <a:ea typeface="Calibri" panose="020F0502020204030204" pitchFamily="34" charset="0"/>
              </a:rPr>
              <a:t>entity</a:t>
            </a:r>
            <a:r>
              <a:rPr lang="en-US" sz="2000" spc="-230" dirty="0">
                <a:effectLst/>
                <a:ea typeface="Calibri" panose="020F0502020204030204" pitchFamily="34" charset="0"/>
              </a:rPr>
              <a:t> </a:t>
            </a:r>
            <a:r>
              <a:rPr lang="en-US" sz="2000" dirty="0">
                <a:effectLst/>
                <a:ea typeface="Calibri" panose="020F0502020204030204" pitchFamily="34" charset="0"/>
              </a:rPr>
              <a:t>type</a:t>
            </a:r>
            <a:r>
              <a:rPr lang="en-US" sz="2000" spc="-15" dirty="0">
                <a:effectLst/>
                <a:ea typeface="Calibri" panose="020F0502020204030204" pitchFamily="34" charset="0"/>
              </a:rPr>
              <a:t> </a:t>
            </a:r>
            <a:r>
              <a:rPr lang="en-US" sz="2000" dirty="0">
                <a:effectLst/>
                <a:ea typeface="Calibri" panose="020F0502020204030204" pitchFamily="34" charset="0"/>
              </a:rPr>
              <a:t>in</a:t>
            </a:r>
            <a:r>
              <a:rPr lang="en-US" sz="2000" spc="-15" dirty="0">
                <a:effectLst/>
                <a:ea typeface="Calibri" panose="020F0502020204030204" pitchFamily="34" charset="0"/>
              </a:rPr>
              <a:t> </a:t>
            </a:r>
            <a:r>
              <a:rPr lang="en-US" sz="2000" dirty="0">
                <a:effectLst/>
                <a:ea typeface="Calibri" panose="020F0502020204030204" pitchFamily="34" charset="0"/>
              </a:rPr>
              <a:t>combination</a:t>
            </a:r>
            <a:r>
              <a:rPr lang="en-US" sz="2000" spc="-15" dirty="0">
                <a:effectLst/>
                <a:ea typeface="Calibri" panose="020F0502020204030204" pitchFamily="34" charset="0"/>
              </a:rPr>
              <a:t> </a:t>
            </a:r>
            <a:r>
              <a:rPr lang="en-US" sz="2000" dirty="0">
                <a:effectLst/>
                <a:ea typeface="Calibri" panose="020F0502020204030204" pitchFamily="34" charset="0"/>
              </a:rPr>
              <a:t>with</a:t>
            </a:r>
            <a:r>
              <a:rPr lang="en-US" sz="2000" spc="-15" dirty="0">
                <a:effectLst/>
                <a:ea typeface="Calibri" panose="020F0502020204030204" pitchFamily="34" charset="0"/>
              </a:rPr>
              <a:t> </a:t>
            </a:r>
            <a:r>
              <a:rPr lang="en-US" sz="2000" dirty="0">
                <a:effectLst/>
                <a:ea typeface="Calibri" panose="020F0502020204030204" pitchFamily="34" charset="0"/>
              </a:rPr>
              <a:t>one</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their</a:t>
            </a:r>
            <a:r>
              <a:rPr lang="en-US" sz="2000" spc="-10" dirty="0">
                <a:effectLst/>
                <a:ea typeface="Calibri" panose="020F0502020204030204" pitchFamily="34" charset="0"/>
              </a:rPr>
              <a:t> </a:t>
            </a:r>
            <a:r>
              <a:rPr lang="en-US" sz="2000" dirty="0">
                <a:effectLst/>
                <a:ea typeface="Calibri" panose="020F0502020204030204" pitchFamily="34" charset="0"/>
              </a:rPr>
              <a:t>attribute</a:t>
            </a:r>
            <a:r>
              <a:rPr lang="en-US" sz="2000" spc="-10" dirty="0">
                <a:effectLst/>
                <a:ea typeface="Calibri" panose="020F0502020204030204" pitchFamily="34" charset="0"/>
              </a:rPr>
              <a:t> </a:t>
            </a:r>
            <a:r>
              <a:rPr lang="en-US" sz="2000" dirty="0">
                <a:effectLst/>
                <a:ea typeface="Calibri" panose="020F0502020204030204" pitchFamily="34" charset="0"/>
              </a:rPr>
              <a:t>values.</a:t>
            </a:r>
          </a:p>
          <a:p>
            <a:pPr marL="342900" marR="228600" lvl="0" indent="-342900" algn="just">
              <a:lnSpc>
                <a:spcPct val="105000"/>
              </a:lnSpc>
              <a:spcBef>
                <a:spcPts val="50"/>
              </a:spcBef>
              <a:buFont typeface="Wingdings" panose="05000000000000000000" pitchFamily="2" charset="2"/>
              <a:buChar char=""/>
              <a:tabLst>
                <a:tab pos="655320" algn="l"/>
              </a:tabLst>
            </a:pPr>
            <a:r>
              <a:rPr lang="en-US" sz="2000" dirty="0">
                <a:effectLst/>
                <a:ea typeface="Calibri" panose="020F0502020204030204" pitchFamily="34" charset="0"/>
              </a:rPr>
              <a:t>We</a:t>
            </a:r>
            <a:r>
              <a:rPr lang="en-US" sz="2000" spc="170" dirty="0">
                <a:effectLst/>
                <a:ea typeface="Calibri" panose="020F0502020204030204" pitchFamily="34" charset="0"/>
              </a:rPr>
              <a:t> </a:t>
            </a:r>
            <a:r>
              <a:rPr lang="en-US" sz="2000" dirty="0">
                <a:effectLst/>
                <a:ea typeface="Calibri" panose="020F0502020204030204" pitchFamily="34" charset="0"/>
              </a:rPr>
              <a:t>call</a:t>
            </a:r>
            <a:r>
              <a:rPr lang="en-US" sz="2000" spc="180" dirty="0">
                <a:effectLst/>
                <a:ea typeface="Calibri" panose="020F0502020204030204" pitchFamily="34" charset="0"/>
              </a:rPr>
              <a:t> </a:t>
            </a:r>
            <a:r>
              <a:rPr lang="en-US" sz="2000" dirty="0">
                <a:effectLst/>
                <a:ea typeface="Calibri" panose="020F0502020204030204" pitchFamily="34" charset="0"/>
              </a:rPr>
              <a:t>this</a:t>
            </a:r>
            <a:r>
              <a:rPr lang="en-US" sz="2000" spc="145" dirty="0">
                <a:effectLst/>
                <a:ea typeface="Calibri" panose="020F0502020204030204" pitchFamily="34" charset="0"/>
              </a:rPr>
              <a:t> </a:t>
            </a:r>
            <a:r>
              <a:rPr lang="en-US" sz="2000" dirty="0">
                <a:effectLst/>
                <a:ea typeface="Calibri" panose="020F0502020204030204" pitchFamily="34" charset="0"/>
              </a:rPr>
              <a:t>other</a:t>
            </a:r>
            <a:r>
              <a:rPr lang="en-US" sz="2000" spc="175" dirty="0">
                <a:effectLst/>
                <a:ea typeface="Calibri" panose="020F0502020204030204" pitchFamily="34" charset="0"/>
              </a:rPr>
              <a:t> </a:t>
            </a:r>
            <a:r>
              <a:rPr lang="en-US" sz="2000" dirty="0">
                <a:effectLst/>
                <a:ea typeface="Calibri" panose="020F0502020204030204" pitchFamily="34" charset="0"/>
              </a:rPr>
              <a:t>entity</a:t>
            </a:r>
            <a:r>
              <a:rPr lang="en-US" sz="2000" spc="175" dirty="0">
                <a:effectLst/>
                <a:ea typeface="Calibri" panose="020F0502020204030204" pitchFamily="34" charset="0"/>
              </a:rPr>
              <a:t> </a:t>
            </a:r>
            <a:r>
              <a:rPr lang="en-US" sz="2000" dirty="0">
                <a:effectLst/>
                <a:ea typeface="Calibri" panose="020F0502020204030204" pitchFamily="34" charset="0"/>
              </a:rPr>
              <a:t>type</a:t>
            </a:r>
            <a:r>
              <a:rPr lang="en-US" sz="2000" spc="175" dirty="0">
                <a:effectLst/>
                <a:ea typeface="Calibri" panose="020F0502020204030204" pitchFamily="34" charset="0"/>
              </a:rPr>
              <a:t> </a:t>
            </a:r>
            <a:r>
              <a:rPr lang="en-US" sz="2000" dirty="0">
                <a:effectLst/>
                <a:ea typeface="Calibri" panose="020F0502020204030204" pitchFamily="34" charset="0"/>
              </a:rPr>
              <a:t>the</a:t>
            </a:r>
            <a:r>
              <a:rPr lang="en-US" sz="2000" spc="195" dirty="0">
                <a:effectLst/>
                <a:ea typeface="Calibri" panose="020F0502020204030204" pitchFamily="34" charset="0"/>
              </a:rPr>
              <a:t> </a:t>
            </a:r>
            <a:r>
              <a:rPr lang="en-US" sz="2000" b="1" dirty="0">
                <a:effectLst/>
                <a:ea typeface="Calibri" panose="020F0502020204030204" pitchFamily="34" charset="0"/>
              </a:rPr>
              <a:t>identifying</a:t>
            </a:r>
            <a:r>
              <a:rPr lang="en-US" sz="2000" b="1" spc="150" dirty="0">
                <a:effectLst/>
                <a:ea typeface="Calibri" panose="020F0502020204030204" pitchFamily="34" charset="0"/>
              </a:rPr>
              <a:t> </a:t>
            </a:r>
            <a:r>
              <a:rPr lang="en-US" sz="2000" b="1" dirty="0">
                <a:effectLst/>
                <a:ea typeface="Calibri" panose="020F0502020204030204" pitchFamily="34" charset="0"/>
              </a:rPr>
              <a:t>or</a:t>
            </a:r>
            <a:r>
              <a:rPr lang="en-US" sz="2000" b="1" spc="165" dirty="0">
                <a:effectLst/>
                <a:ea typeface="Calibri" panose="020F0502020204030204" pitchFamily="34" charset="0"/>
              </a:rPr>
              <a:t> </a:t>
            </a:r>
            <a:r>
              <a:rPr lang="en-US" sz="2000" b="1" dirty="0">
                <a:effectLst/>
                <a:ea typeface="Calibri" panose="020F0502020204030204" pitchFamily="34" charset="0"/>
              </a:rPr>
              <a:t>owner</a:t>
            </a:r>
            <a:r>
              <a:rPr lang="en-US" sz="2000" b="1" spc="165" dirty="0">
                <a:effectLst/>
                <a:ea typeface="Calibri" panose="020F0502020204030204" pitchFamily="34" charset="0"/>
              </a:rPr>
              <a:t> </a:t>
            </a:r>
            <a:r>
              <a:rPr lang="en-US" sz="2000" b="1" dirty="0">
                <a:effectLst/>
                <a:ea typeface="Calibri" panose="020F0502020204030204" pitchFamily="34" charset="0"/>
              </a:rPr>
              <a:t>entity</a:t>
            </a:r>
            <a:r>
              <a:rPr lang="en-US" sz="2000" b="1" spc="175" dirty="0">
                <a:effectLst/>
                <a:ea typeface="Calibri" panose="020F0502020204030204" pitchFamily="34" charset="0"/>
              </a:rPr>
              <a:t> </a:t>
            </a:r>
            <a:r>
              <a:rPr lang="en-US" sz="2000" b="1" dirty="0">
                <a:effectLst/>
                <a:ea typeface="Calibri" panose="020F0502020204030204" pitchFamily="34" charset="0"/>
              </a:rPr>
              <a:t>type</a:t>
            </a:r>
            <a:r>
              <a:rPr lang="en-US" sz="2000" dirty="0">
                <a:effectLst/>
                <a:ea typeface="Calibri" panose="020F0502020204030204" pitchFamily="34" charset="0"/>
              </a:rPr>
              <a:t>,</a:t>
            </a:r>
            <a:r>
              <a:rPr lang="en-US" sz="2000" spc="160" dirty="0">
                <a:effectLst/>
                <a:ea typeface="Calibri" panose="020F0502020204030204" pitchFamily="34" charset="0"/>
              </a:rPr>
              <a:t> </a:t>
            </a:r>
            <a:r>
              <a:rPr lang="en-US" sz="2000" dirty="0">
                <a:effectLst/>
                <a:ea typeface="Calibri" panose="020F0502020204030204" pitchFamily="34" charset="0"/>
              </a:rPr>
              <a:t>and</a:t>
            </a:r>
            <a:r>
              <a:rPr lang="en-US" sz="2000" spc="165" dirty="0">
                <a:effectLst/>
                <a:ea typeface="Calibri" panose="020F0502020204030204" pitchFamily="34" charset="0"/>
              </a:rPr>
              <a:t> </a:t>
            </a:r>
            <a:r>
              <a:rPr lang="en-US" sz="2000" dirty="0">
                <a:effectLst/>
                <a:ea typeface="Calibri" panose="020F0502020204030204" pitchFamily="34" charset="0"/>
              </a:rPr>
              <a:t>we</a:t>
            </a:r>
            <a:r>
              <a:rPr lang="en-US" sz="2000" spc="175" dirty="0">
                <a:effectLst/>
                <a:ea typeface="Calibri" panose="020F0502020204030204" pitchFamily="34" charset="0"/>
              </a:rPr>
              <a:t> </a:t>
            </a:r>
            <a:r>
              <a:rPr lang="en-US" sz="2000" dirty="0">
                <a:effectLst/>
                <a:ea typeface="Calibri" panose="020F0502020204030204" pitchFamily="34" charset="0"/>
              </a:rPr>
              <a:t>call</a:t>
            </a:r>
            <a:r>
              <a:rPr lang="en-US" sz="2000" spc="175" dirty="0">
                <a:effectLst/>
                <a:ea typeface="Calibri" panose="020F0502020204030204" pitchFamily="34" charset="0"/>
              </a:rPr>
              <a:t> </a:t>
            </a:r>
            <a:r>
              <a:rPr lang="en-US" sz="2000" dirty="0">
                <a:effectLst/>
                <a:ea typeface="Calibri" panose="020F0502020204030204" pitchFamily="34" charset="0"/>
              </a:rPr>
              <a:t>the</a:t>
            </a:r>
            <a:r>
              <a:rPr lang="en-US" sz="2000" spc="175" dirty="0">
                <a:effectLst/>
                <a:ea typeface="Calibri" panose="020F0502020204030204" pitchFamily="34" charset="0"/>
              </a:rPr>
              <a:t> </a:t>
            </a:r>
            <a:r>
              <a:rPr lang="en-US" sz="2000" dirty="0">
                <a:effectLst/>
                <a:ea typeface="Calibri" panose="020F0502020204030204" pitchFamily="34" charset="0"/>
              </a:rPr>
              <a:t>relationship</a:t>
            </a:r>
            <a:r>
              <a:rPr lang="en-US" sz="2000" spc="165" dirty="0">
                <a:effectLst/>
                <a:ea typeface="Calibri" panose="020F0502020204030204" pitchFamily="34" charset="0"/>
              </a:rPr>
              <a:t> </a:t>
            </a:r>
            <a:r>
              <a:rPr lang="en-US" sz="2000" dirty="0">
                <a:effectLst/>
                <a:ea typeface="Calibri" panose="020F0502020204030204" pitchFamily="34" charset="0"/>
              </a:rPr>
              <a:t>type</a:t>
            </a:r>
            <a:r>
              <a:rPr lang="en-US" sz="2000" spc="175" dirty="0">
                <a:effectLst/>
                <a:ea typeface="Calibri" panose="020F0502020204030204" pitchFamily="34" charset="0"/>
              </a:rPr>
              <a:t> </a:t>
            </a:r>
            <a:r>
              <a:rPr lang="en-US" sz="2000" dirty="0">
                <a:effectLst/>
                <a:ea typeface="Calibri" panose="020F0502020204030204" pitchFamily="34" charset="0"/>
              </a:rPr>
              <a:t>that</a:t>
            </a:r>
            <a:r>
              <a:rPr lang="en-US" sz="2000" spc="-230" dirty="0">
                <a:effectLst/>
                <a:ea typeface="Calibri" panose="020F0502020204030204" pitchFamily="34" charset="0"/>
              </a:rPr>
              <a:t> </a:t>
            </a:r>
            <a:r>
              <a:rPr lang="en-US" sz="2000" dirty="0">
                <a:effectLst/>
                <a:ea typeface="Calibri" panose="020F0502020204030204" pitchFamily="34" charset="0"/>
              </a:rPr>
              <a:t>relates</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weak</a:t>
            </a:r>
            <a:r>
              <a:rPr lang="en-US" sz="2000" spc="-10"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type</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its</a:t>
            </a:r>
            <a:r>
              <a:rPr lang="en-US" sz="2000" spc="-15" dirty="0">
                <a:effectLst/>
                <a:ea typeface="Calibri" panose="020F0502020204030204" pitchFamily="34" charset="0"/>
              </a:rPr>
              <a:t> </a:t>
            </a:r>
            <a:r>
              <a:rPr lang="en-US" sz="2000" dirty="0">
                <a:effectLst/>
                <a:ea typeface="Calibri" panose="020F0502020204030204" pitchFamily="34" charset="0"/>
              </a:rPr>
              <a:t>owner</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identifying</a:t>
            </a:r>
            <a:r>
              <a:rPr lang="en-US" sz="2000" spc="-5" dirty="0">
                <a:effectLst/>
                <a:ea typeface="Calibri" panose="020F0502020204030204" pitchFamily="34" charset="0"/>
              </a:rPr>
              <a:t> </a:t>
            </a:r>
            <a:r>
              <a:rPr lang="en-US" sz="2000" dirty="0">
                <a:effectLst/>
                <a:ea typeface="Calibri" panose="020F0502020204030204" pitchFamily="34" charset="0"/>
              </a:rPr>
              <a:t>relationship</a:t>
            </a:r>
            <a:r>
              <a:rPr lang="en-US" sz="2000" spc="-15"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weak</a:t>
            </a:r>
            <a:r>
              <a:rPr lang="en-US" sz="2000" spc="-15"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type</a:t>
            </a:r>
          </a:p>
          <a:p>
            <a:pPr marL="342900" marR="228600" lvl="0" indent="-342900" algn="just">
              <a:lnSpc>
                <a:spcPct val="105000"/>
              </a:lnSpc>
              <a:spcBef>
                <a:spcPts val="25"/>
              </a:spcBef>
              <a:buFont typeface="Wingdings" panose="05000000000000000000" pitchFamily="2" charset="2"/>
              <a:buChar char=""/>
              <a:tabLst>
                <a:tab pos="655320" algn="l"/>
              </a:tabLst>
            </a:pPr>
            <a:r>
              <a:rPr lang="en-US" sz="2000" dirty="0">
                <a:effectLst/>
                <a:ea typeface="Calibri" panose="020F0502020204030204" pitchFamily="34" charset="0"/>
              </a:rPr>
              <a:t>A</a:t>
            </a:r>
            <a:r>
              <a:rPr lang="en-US" sz="2000" spc="5" dirty="0">
                <a:effectLst/>
                <a:ea typeface="Calibri" panose="020F0502020204030204" pitchFamily="34" charset="0"/>
              </a:rPr>
              <a:t> </a:t>
            </a:r>
            <a:r>
              <a:rPr lang="en-US" sz="2000" dirty="0">
                <a:effectLst/>
                <a:ea typeface="Calibri" panose="020F0502020204030204" pitchFamily="34" charset="0"/>
              </a:rPr>
              <a:t>weak</a:t>
            </a:r>
            <a:r>
              <a:rPr lang="en-US" sz="2000" spc="5" dirty="0">
                <a:effectLst/>
                <a:ea typeface="Calibri" panose="020F0502020204030204" pitchFamily="34" charset="0"/>
              </a:rPr>
              <a:t> </a:t>
            </a:r>
            <a:r>
              <a:rPr lang="en-US" sz="2000" dirty="0">
                <a:effectLst/>
                <a:ea typeface="Calibri" panose="020F0502020204030204" pitchFamily="34" charset="0"/>
              </a:rPr>
              <a:t>entity</a:t>
            </a:r>
            <a:r>
              <a:rPr lang="en-US" sz="2000" spc="5" dirty="0">
                <a:effectLst/>
                <a:ea typeface="Calibri" panose="020F0502020204030204" pitchFamily="34" charset="0"/>
              </a:rPr>
              <a:t> </a:t>
            </a:r>
            <a:r>
              <a:rPr lang="en-US" sz="2000" dirty="0">
                <a:effectLst/>
                <a:ea typeface="Calibri" panose="020F0502020204030204" pitchFamily="34" charset="0"/>
              </a:rPr>
              <a:t>type</a:t>
            </a:r>
            <a:r>
              <a:rPr lang="en-US" sz="2000" spc="5" dirty="0">
                <a:effectLst/>
                <a:ea typeface="Calibri" panose="020F0502020204030204" pitchFamily="34" charset="0"/>
              </a:rPr>
              <a:t> </a:t>
            </a:r>
            <a:r>
              <a:rPr lang="en-US" sz="2000" dirty="0">
                <a:effectLst/>
                <a:ea typeface="Calibri" panose="020F0502020204030204" pitchFamily="34" charset="0"/>
              </a:rPr>
              <a:t>always</a:t>
            </a:r>
            <a:r>
              <a:rPr lang="en-US" sz="2000" spc="5" dirty="0">
                <a:effectLst/>
                <a:ea typeface="Calibri" panose="020F0502020204030204" pitchFamily="34" charset="0"/>
              </a:rPr>
              <a:t> </a:t>
            </a:r>
            <a:r>
              <a:rPr lang="en-US" sz="2000" dirty="0">
                <a:effectLst/>
                <a:ea typeface="Calibri" panose="020F0502020204030204" pitchFamily="34" charset="0"/>
              </a:rPr>
              <a:t>has</a:t>
            </a:r>
            <a:r>
              <a:rPr lang="en-US" sz="2000" spc="5" dirty="0">
                <a:effectLst/>
                <a:ea typeface="Calibri" panose="020F0502020204030204" pitchFamily="34" charset="0"/>
              </a:rPr>
              <a:t> </a:t>
            </a:r>
            <a:r>
              <a:rPr lang="en-US" sz="2000" dirty="0">
                <a:effectLst/>
                <a:ea typeface="Calibri" panose="020F0502020204030204" pitchFamily="34" charset="0"/>
              </a:rPr>
              <a:t>a</a:t>
            </a:r>
            <a:r>
              <a:rPr lang="en-US" sz="2000" spc="5" dirty="0">
                <a:effectLst/>
                <a:ea typeface="Calibri" panose="020F0502020204030204" pitchFamily="34" charset="0"/>
              </a:rPr>
              <a:t> </a:t>
            </a:r>
            <a:r>
              <a:rPr lang="en-US" sz="2000" dirty="0">
                <a:effectLst/>
                <a:ea typeface="Calibri" panose="020F0502020204030204" pitchFamily="34" charset="0"/>
              </a:rPr>
              <a:t>total</a:t>
            </a:r>
            <a:r>
              <a:rPr lang="en-US" sz="2000" spc="5" dirty="0">
                <a:effectLst/>
                <a:ea typeface="Calibri" panose="020F0502020204030204" pitchFamily="34" charset="0"/>
              </a:rPr>
              <a:t> </a:t>
            </a:r>
            <a:r>
              <a:rPr lang="en-US" sz="2000" dirty="0">
                <a:effectLst/>
                <a:ea typeface="Calibri" panose="020F0502020204030204" pitchFamily="34" charset="0"/>
              </a:rPr>
              <a:t>participation</a:t>
            </a:r>
            <a:r>
              <a:rPr lang="en-US" sz="2000" spc="5" dirty="0">
                <a:effectLst/>
                <a:ea typeface="Calibri" panose="020F0502020204030204" pitchFamily="34" charset="0"/>
              </a:rPr>
              <a:t> </a:t>
            </a:r>
            <a:r>
              <a:rPr lang="en-US" sz="2000" dirty="0">
                <a:effectLst/>
                <a:ea typeface="Calibri" panose="020F0502020204030204" pitchFamily="34" charset="0"/>
              </a:rPr>
              <a:t>constraint</a:t>
            </a:r>
            <a:r>
              <a:rPr lang="en-US" sz="2000" spc="5" dirty="0">
                <a:effectLst/>
                <a:ea typeface="Calibri" panose="020F0502020204030204" pitchFamily="34" charset="0"/>
              </a:rPr>
              <a:t> </a:t>
            </a:r>
            <a:r>
              <a:rPr lang="en-US" sz="2000" dirty="0">
                <a:effectLst/>
                <a:ea typeface="Calibri" panose="020F0502020204030204" pitchFamily="34" charset="0"/>
              </a:rPr>
              <a:t>with</a:t>
            </a:r>
            <a:r>
              <a:rPr lang="en-US" sz="2000" spc="5" dirty="0">
                <a:effectLst/>
                <a:ea typeface="Calibri" panose="020F0502020204030204" pitchFamily="34" charset="0"/>
              </a:rPr>
              <a:t> </a:t>
            </a:r>
            <a:r>
              <a:rPr lang="en-US" sz="2000" dirty="0">
                <a:effectLst/>
                <a:ea typeface="Calibri" panose="020F0502020204030204" pitchFamily="34" charset="0"/>
              </a:rPr>
              <a:t>respect</a:t>
            </a:r>
            <a:r>
              <a:rPr lang="en-US" sz="2000" spc="5" dirty="0">
                <a:effectLst/>
                <a:ea typeface="Calibri" panose="020F0502020204030204" pitchFamily="34" charset="0"/>
              </a:rPr>
              <a:t> </a:t>
            </a:r>
            <a:r>
              <a:rPr lang="en-US" sz="2000" dirty="0">
                <a:effectLst/>
                <a:ea typeface="Calibri" panose="020F0502020204030204" pitchFamily="34" charset="0"/>
              </a:rPr>
              <a:t>to</a:t>
            </a:r>
            <a:r>
              <a:rPr lang="en-US" sz="2000" spc="5" dirty="0">
                <a:effectLst/>
                <a:ea typeface="Calibri" panose="020F0502020204030204" pitchFamily="34" charset="0"/>
              </a:rPr>
              <a:t> </a:t>
            </a:r>
            <a:r>
              <a:rPr lang="en-US" sz="2000" dirty="0">
                <a:effectLst/>
                <a:ea typeface="Calibri" panose="020F0502020204030204" pitchFamily="34" charset="0"/>
              </a:rPr>
              <a:t>its</a:t>
            </a:r>
            <a:r>
              <a:rPr lang="en-US" sz="2000" spc="5" dirty="0">
                <a:effectLst/>
                <a:ea typeface="Calibri" panose="020F0502020204030204" pitchFamily="34" charset="0"/>
              </a:rPr>
              <a:t> </a:t>
            </a:r>
            <a:r>
              <a:rPr lang="en-US" sz="2000" dirty="0">
                <a:effectLst/>
                <a:ea typeface="Calibri" panose="020F0502020204030204" pitchFamily="34" charset="0"/>
              </a:rPr>
              <a:t>identifying</a:t>
            </a:r>
            <a:r>
              <a:rPr lang="en-US" sz="2000" spc="245" dirty="0">
                <a:effectLst/>
                <a:ea typeface="Calibri" panose="020F0502020204030204" pitchFamily="34" charset="0"/>
              </a:rPr>
              <a:t> </a:t>
            </a:r>
            <a:r>
              <a:rPr lang="en-US" sz="2000" dirty="0">
                <a:effectLst/>
                <a:ea typeface="Calibri" panose="020F0502020204030204" pitchFamily="34" charset="0"/>
              </a:rPr>
              <a:t>relationship</a:t>
            </a:r>
            <a:r>
              <a:rPr lang="en-US" sz="2000" spc="-235" dirty="0">
                <a:effectLst/>
                <a:ea typeface="Calibri" panose="020F0502020204030204" pitchFamily="34" charset="0"/>
              </a:rPr>
              <a:t> </a:t>
            </a:r>
            <a:r>
              <a:rPr lang="en-US" sz="2000" dirty="0">
                <a:effectLst/>
                <a:ea typeface="Calibri" panose="020F0502020204030204" pitchFamily="34" charset="0"/>
              </a:rPr>
              <a:t>because</a:t>
            </a:r>
            <a:r>
              <a:rPr lang="en-US" sz="2000" spc="-15"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weak</a:t>
            </a:r>
            <a:r>
              <a:rPr lang="en-US" sz="2000" spc="-10"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cannot</a:t>
            </a:r>
            <a:r>
              <a:rPr lang="en-US" sz="2000" spc="-20" dirty="0">
                <a:effectLst/>
                <a:ea typeface="Calibri" panose="020F0502020204030204" pitchFamily="34" charset="0"/>
              </a:rPr>
              <a:t> </a:t>
            </a:r>
            <a:r>
              <a:rPr lang="en-US" sz="2000" dirty="0">
                <a:effectLst/>
                <a:ea typeface="Calibri" panose="020F0502020204030204" pitchFamily="34" charset="0"/>
              </a:rPr>
              <a:t>be</a:t>
            </a:r>
            <a:r>
              <a:rPr lang="en-US" sz="2000" spc="-10" dirty="0">
                <a:effectLst/>
                <a:ea typeface="Calibri" panose="020F0502020204030204" pitchFamily="34" charset="0"/>
              </a:rPr>
              <a:t> </a:t>
            </a:r>
            <a:r>
              <a:rPr lang="en-US" sz="2000" dirty="0">
                <a:effectLst/>
                <a:ea typeface="Calibri" panose="020F0502020204030204" pitchFamily="34" charset="0"/>
              </a:rPr>
              <a:t>identified</a:t>
            </a:r>
            <a:r>
              <a:rPr lang="en-US" sz="2000" spc="-10" dirty="0">
                <a:effectLst/>
                <a:ea typeface="Calibri" panose="020F0502020204030204" pitchFamily="34" charset="0"/>
              </a:rPr>
              <a:t> </a:t>
            </a:r>
            <a:r>
              <a:rPr lang="en-US" sz="2000" dirty="0">
                <a:effectLst/>
                <a:ea typeface="Calibri" panose="020F0502020204030204" pitchFamily="34" charset="0"/>
              </a:rPr>
              <a:t>without</a:t>
            </a:r>
            <a:r>
              <a:rPr lang="en-US" sz="2000" spc="-20" dirty="0">
                <a:effectLst/>
                <a:ea typeface="Calibri" panose="020F0502020204030204" pitchFamily="34" charset="0"/>
              </a:rPr>
              <a:t> </a:t>
            </a:r>
            <a:r>
              <a:rPr lang="en-US" sz="2000" dirty="0">
                <a:effectLst/>
                <a:ea typeface="Calibri" panose="020F0502020204030204" pitchFamily="34" charset="0"/>
              </a:rPr>
              <a:t>an</a:t>
            </a:r>
            <a:r>
              <a:rPr lang="en-US" sz="2000" spc="5" dirty="0">
                <a:effectLst/>
                <a:ea typeface="Calibri" panose="020F0502020204030204" pitchFamily="34" charset="0"/>
              </a:rPr>
              <a:t> </a:t>
            </a:r>
            <a:r>
              <a:rPr lang="en-US" sz="2000" dirty="0">
                <a:effectLst/>
                <a:ea typeface="Calibri" panose="020F0502020204030204" pitchFamily="34" charset="0"/>
              </a:rPr>
              <a:t>owner</a:t>
            </a:r>
            <a:r>
              <a:rPr lang="en-US" sz="2000" spc="-10" dirty="0">
                <a:effectLst/>
                <a:ea typeface="Calibri" panose="020F0502020204030204" pitchFamily="34" charset="0"/>
              </a:rPr>
              <a:t> </a:t>
            </a:r>
            <a:r>
              <a:rPr lang="en-US" sz="2000" dirty="0">
                <a:effectLst/>
                <a:ea typeface="Calibri" panose="020F0502020204030204" pitchFamily="34" charset="0"/>
              </a:rPr>
              <a:t>entity</a:t>
            </a:r>
          </a:p>
          <a:p>
            <a:pPr marL="342900" marR="0" lvl="0" indent="-342900" algn="just">
              <a:spcBef>
                <a:spcPts val="50"/>
              </a:spcBef>
              <a:buFont typeface="Wingdings" panose="05000000000000000000" pitchFamily="2" charset="2"/>
              <a:buChar char=""/>
              <a:tabLst>
                <a:tab pos="655320" algn="l"/>
              </a:tabLst>
            </a:pPr>
            <a:r>
              <a:rPr lang="en-US" sz="2000" dirty="0">
                <a:effectLst/>
                <a:ea typeface="Calibri" panose="020F0502020204030204" pitchFamily="34" charset="0"/>
              </a:rPr>
              <a:t>A</a:t>
            </a:r>
            <a:r>
              <a:rPr lang="en-US" sz="2000" spc="75" dirty="0">
                <a:effectLst/>
                <a:ea typeface="Calibri" panose="020F0502020204030204" pitchFamily="34" charset="0"/>
              </a:rPr>
              <a:t> </a:t>
            </a:r>
            <a:r>
              <a:rPr lang="en-US" sz="2000" dirty="0">
                <a:effectLst/>
                <a:ea typeface="Calibri" panose="020F0502020204030204" pitchFamily="34" charset="0"/>
              </a:rPr>
              <a:t>weak</a:t>
            </a:r>
            <a:r>
              <a:rPr lang="en-US" sz="2000" spc="75" dirty="0">
                <a:effectLst/>
                <a:ea typeface="Calibri" panose="020F0502020204030204" pitchFamily="34" charset="0"/>
              </a:rPr>
              <a:t> </a:t>
            </a:r>
            <a:r>
              <a:rPr lang="en-US" sz="2000" dirty="0">
                <a:effectLst/>
                <a:ea typeface="Calibri" panose="020F0502020204030204" pitchFamily="34" charset="0"/>
              </a:rPr>
              <a:t>entity</a:t>
            </a:r>
            <a:r>
              <a:rPr lang="en-US" sz="2000" spc="55" dirty="0">
                <a:effectLst/>
                <a:ea typeface="Calibri" panose="020F0502020204030204" pitchFamily="34" charset="0"/>
              </a:rPr>
              <a:t> </a:t>
            </a:r>
            <a:r>
              <a:rPr lang="en-US" sz="2000" dirty="0">
                <a:effectLst/>
                <a:ea typeface="Calibri" panose="020F0502020204030204" pitchFamily="34" charset="0"/>
              </a:rPr>
              <a:t>type</a:t>
            </a:r>
            <a:r>
              <a:rPr lang="en-US" sz="2000" spc="75" dirty="0">
                <a:effectLst/>
                <a:ea typeface="Calibri" panose="020F0502020204030204" pitchFamily="34" charset="0"/>
              </a:rPr>
              <a:t> </a:t>
            </a:r>
            <a:r>
              <a:rPr lang="en-US" sz="2000" dirty="0">
                <a:effectLst/>
                <a:ea typeface="Calibri" panose="020F0502020204030204" pitchFamily="34" charset="0"/>
              </a:rPr>
              <a:t>normally</a:t>
            </a:r>
            <a:r>
              <a:rPr lang="en-US" sz="2000" spc="55" dirty="0">
                <a:effectLst/>
                <a:ea typeface="Calibri" panose="020F0502020204030204" pitchFamily="34" charset="0"/>
              </a:rPr>
              <a:t> </a:t>
            </a:r>
            <a:r>
              <a:rPr lang="en-US" sz="2000" dirty="0">
                <a:effectLst/>
                <a:ea typeface="Calibri" panose="020F0502020204030204" pitchFamily="34" charset="0"/>
              </a:rPr>
              <a:t>has</a:t>
            </a:r>
            <a:r>
              <a:rPr lang="en-US" sz="2000" spc="75" dirty="0">
                <a:effectLst/>
                <a:ea typeface="Calibri" panose="020F0502020204030204" pitchFamily="34" charset="0"/>
              </a:rPr>
              <a:t> </a:t>
            </a:r>
            <a:r>
              <a:rPr lang="en-US" sz="2000" dirty="0">
                <a:effectLst/>
                <a:ea typeface="Calibri" panose="020F0502020204030204" pitchFamily="34" charset="0"/>
              </a:rPr>
              <a:t>a</a:t>
            </a:r>
            <a:r>
              <a:rPr lang="en-US" sz="2000" spc="70" dirty="0">
                <a:effectLst/>
                <a:ea typeface="Calibri" panose="020F0502020204030204" pitchFamily="34" charset="0"/>
              </a:rPr>
              <a:t> </a:t>
            </a:r>
            <a:r>
              <a:rPr lang="en-US" sz="2000" b="1" dirty="0">
                <a:effectLst/>
                <a:ea typeface="Calibri" panose="020F0502020204030204" pitchFamily="34" charset="0"/>
              </a:rPr>
              <a:t>partial</a:t>
            </a:r>
            <a:r>
              <a:rPr lang="en-US" sz="2000" b="1" spc="65" dirty="0">
                <a:effectLst/>
                <a:ea typeface="Calibri" panose="020F0502020204030204" pitchFamily="34" charset="0"/>
              </a:rPr>
              <a:t> </a:t>
            </a:r>
            <a:r>
              <a:rPr lang="en-US" sz="2000" b="1" dirty="0">
                <a:effectLst/>
                <a:ea typeface="Calibri" panose="020F0502020204030204" pitchFamily="34" charset="0"/>
              </a:rPr>
              <a:t>key</a:t>
            </a:r>
            <a:r>
              <a:rPr lang="en-US" sz="2000" dirty="0">
                <a:effectLst/>
                <a:ea typeface="Calibri" panose="020F0502020204030204" pitchFamily="34" charset="0"/>
              </a:rPr>
              <a:t>,</a:t>
            </a:r>
            <a:r>
              <a:rPr lang="en-US" sz="2000" spc="60" dirty="0">
                <a:effectLst/>
                <a:ea typeface="Calibri" panose="020F0502020204030204" pitchFamily="34" charset="0"/>
              </a:rPr>
              <a:t> </a:t>
            </a:r>
            <a:r>
              <a:rPr lang="en-US" sz="2000" dirty="0">
                <a:effectLst/>
                <a:ea typeface="Calibri" panose="020F0502020204030204" pitchFamily="34" charset="0"/>
              </a:rPr>
              <a:t>which</a:t>
            </a:r>
            <a:r>
              <a:rPr lang="en-US" sz="2000" spc="45" dirty="0">
                <a:effectLst/>
                <a:ea typeface="Calibri" panose="020F0502020204030204" pitchFamily="34" charset="0"/>
              </a:rPr>
              <a:t> </a:t>
            </a:r>
            <a:r>
              <a:rPr lang="en-US" sz="2000" dirty="0">
                <a:effectLst/>
                <a:ea typeface="Calibri" panose="020F0502020204030204" pitchFamily="34" charset="0"/>
              </a:rPr>
              <a:t>is</a:t>
            </a:r>
            <a:r>
              <a:rPr lang="en-US" sz="2000" spc="75" dirty="0">
                <a:effectLst/>
                <a:ea typeface="Calibri" panose="020F0502020204030204" pitchFamily="34" charset="0"/>
              </a:rPr>
              <a:t> </a:t>
            </a:r>
            <a:r>
              <a:rPr lang="en-US" sz="2000" dirty="0">
                <a:effectLst/>
                <a:ea typeface="Calibri" panose="020F0502020204030204" pitchFamily="34" charset="0"/>
              </a:rPr>
              <a:t>the</a:t>
            </a:r>
            <a:r>
              <a:rPr lang="en-US" sz="2000" spc="75" dirty="0">
                <a:effectLst/>
                <a:ea typeface="Calibri" panose="020F0502020204030204" pitchFamily="34" charset="0"/>
              </a:rPr>
              <a:t> </a:t>
            </a:r>
            <a:r>
              <a:rPr lang="en-US" sz="2000" dirty="0">
                <a:effectLst/>
                <a:ea typeface="Calibri" panose="020F0502020204030204" pitchFamily="34" charset="0"/>
              </a:rPr>
              <a:t>attribute</a:t>
            </a:r>
            <a:r>
              <a:rPr lang="en-US" sz="2000" spc="75" dirty="0">
                <a:effectLst/>
                <a:ea typeface="Calibri" panose="020F0502020204030204" pitchFamily="34" charset="0"/>
              </a:rPr>
              <a:t> </a:t>
            </a:r>
            <a:r>
              <a:rPr lang="en-US" sz="2000" dirty="0">
                <a:effectLst/>
                <a:ea typeface="Calibri" panose="020F0502020204030204" pitchFamily="34" charset="0"/>
              </a:rPr>
              <a:t>that</a:t>
            </a:r>
            <a:r>
              <a:rPr lang="en-US" sz="2000" spc="60" dirty="0">
                <a:effectLst/>
                <a:ea typeface="Calibri" panose="020F0502020204030204" pitchFamily="34" charset="0"/>
              </a:rPr>
              <a:t> </a:t>
            </a:r>
            <a:r>
              <a:rPr lang="en-US" sz="2000" dirty="0">
                <a:effectLst/>
                <a:ea typeface="Calibri" panose="020F0502020204030204" pitchFamily="34" charset="0"/>
              </a:rPr>
              <a:t>can</a:t>
            </a:r>
            <a:r>
              <a:rPr lang="en-US" sz="2000" spc="85" dirty="0">
                <a:effectLst/>
                <a:ea typeface="Calibri" panose="020F0502020204030204" pitchFamily="34" charset="0"/>
              </a:rPr>
              <a:t> </a:t>
            </a:r>
            <a:r>
              <a:rPr lang="en-US" sz="2000" b="1" dirty="0">
                <a:effectLst/>
                <a:ea typeface="Calibri" panose="020F0502020204030204" pitchFamily="34" charset="0"/>
              </a:rPr>
              <a:t>uniquely</a:t>
            </a:r>
            <a:r>
              <a:rPr lang="en-US" sz="2000" b="1" spc="55" dirty="0">
                <a:effectLst/>
                <a:ea typeface="Calibri" panose="020F0502020204030204" pitchFamily="34" charset="0"/>
              </a:rPr>
              <a:t> </a:t>
            </a:r>
            <a:r>
              <a:rPr lang="en-US" sz="2000" b="1" dirty="0">
                <a:effectLst/>
                <a:ea typeface="Calibri" panose="020F0502020204030204" pitchFamily="34" charset="0"/>
              </a:rPr>
              <a:t>identify</a:t>
            </a:r>
            <a:r>
              <a:rPr lang="en-US" sz="2000" b="1" spc="75" dirty="0">
                <a:effectLst/>
                <a:ea typeface="Calibri" panose="020F0502020204030204" pitchFamily="34" charset="0"/>
              </a:rPr>
              <a:t> </a:t>
            </a:r>
            <a:r>
              <a:rPr lang="en-US" sz="2000" b="1" dirty="0">
                <a:effectLst/>
                <a:ea typeface="Calibri" panose="020F0502020204030204" pitchFamily="34" charset="0"/>
              </a:rPr>
              <a:t>weak</a:t>
            </a:r>
            <a:r>
              <a:rPr lang="en-US" sz="2000" b="1" spc="50" dirty="0">
                <a:effectLst/>
                <a:ea typeface="Calibri" panose="020F0502020204030204" pitchFamily="34" charset="0"/>
              </a:rPr>
              <a:t> </a:t>
            </a:r>
            <a:r>
              <a:rPr lang="en-US" sz="2000" b="1" dirty="0">
                <a:effectLst/>
                <a:ea typeface="Calibri" panose="020F0502020204030204" pitchFamily="34" charset="0"/>
              </a:rPr>
              <a:t>entities</a:t>
            </a:r>
            <a:r>
              <a:rPr lang="en-US" sz="2000" b="1" dirty="0">
                <a:ea typeface="Calibri" panose="020F0502020204030204" pitchFamily="34" charset="0"/>
              </a:rPr>
              <a:t> </a:t>
            </a:r>
            <a:r>
              <a:rPr lang="en-US" sz="2000" dirty="0">
                <a:effectLst/>
                <a:ea typeface="Calibri" panose="020F0502020204030204" pitchFamily="34" charset="0"/>
              </a:rPr>
              <a:t>that</a:t>
            </a:r>
            <a:r>
              <a:rPr lang="en-US" sz="2000" spc="-30" dirty="0">
                <a:effectLst/>
                <a:ea typeface="Calibri" panose="020F0502020204030204" pitchFamily="34" charset="0"/>
              </a:rPr>
              <a:t> </a:t>
            </a:r>
            <a:r>
              <a:rPr lang="en-US" sz="2000" dirty="0">
                <a:effectLst/>
                <a:ea typeface="Calibri" panose="020F0502020204030204" pitchFamily="34" charset="0"/>
              </a:rPr>
              <a:t>are</a:t>
            </a:r>
            <a:r>
              <a:rPr lang="en-US" sz="2000" spc="-10" dirty="0">
                <a:effectLst/>
                <a:ea typeface="Calibri" panose="020F0502020204030204" pitchFamily="34" charset="0"/>
              </a:rPr>
              <a:t> </a:t>
            </a:r>
            <a:r>
              <a:rPr lang="en-US" sz="2000" dirty="0">
                <a:effectLst/>
                <a:ea typeface="Calibri" panose="020F0502020204030204" pitchFamily="34" charset="0"/>
              </a:rPr>
              <a:t>related</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same</a:t>
            </a:r>
            <a:r>
              <a:rPr lang="en-US" sz="2000" spc="-10" dirty="0">
                <a:effectLst/>
                <a:ea typeface="Calibri" panose="020F0502020204030204" pitchFamily="34" charset="0"/>
              </a:rPr>
              <a:t> </a:t>
            </a:r>
            <a:r>
              <a:rPr lang="en-US" sz="2000" dirty="0">
                <a:effectLst/>
                <a:ea typeface="Calibri" panose="020F0502020204030204" pitchFamily="34" charset="0"/>
              </a:rPr>
              <a:t>owner</a:t>
            </a:r>
            <a:r>
              <a:rPr lang="en-US" sz="2000" spc="-10" dirty="0">
                <a:effectLst/>
                <a:ea typeface="Calibri" panose="020F0502020204030204" pitchFamily="34" charset="0"/>
              </a:rPr>
              <a:t> </a:t>
            </a:r>
            <a:r>
              <a:rPr lang="en-US" sz="2000" dirty="0">
                <a:effectLst/>
                <a:ea typeface="Calibri" panose="020F0502020204030204" pitchFamily="34" charset="0"/>
              </a:rPr>
              <a:t>entity</a:t>
            </a:r>
          </a:p>
          <a:p>
            <a:pPr marL="342900" marR="228600" lvl="0" indent="-342900" algn="just">
              <a:lnSpc>
                <a:spcPct val="105000"/>
              </a:lnSpc>
              <a:spcBef>
                <a:spcPts val="100"/>
              </a:spcBef>
              <a:buFont typeface="Wingdings" panose="05000000000000000000" pitchFamily="2" charset="2"/>
              <a:buChar char=""/>
              <a:tabLst>
                <a:tab pos="655320" algn="l"/>
              </a:tabLst>
            </a:pPr>
            <a:r>
              <a:rPr lang="en-US" sz="2000" dirty="0">
                <a:effectLst/>
                <a:ea typeface="Calibri" panose="020F0502020204030204" pitchFamily="34" charset="0"/>
              </a:rPr>
              <a:t>assume</a:t>
            </a:r>
            <a:r>
              <a:rPr lang="en-US" sz="2000" spc="55" dirty="0">
                <a:effectLst/>
                <a:ea typeface="Calibri" panose="020F0502020204030204" pitchFamily="34" charset="0"/>
              </a:rPr>
              <a:t> </a:t>
            </a:r>
            <a:r>
              <a:rPr lang="en-US" sz="2000" dirty="0">
                <a:effectLst/>
                <a:ea typeface="Calibri" panose="020F0502020204030204" pitchFamily="34" charset="0"/>
              </a:rPr>
              <a:t>that</a:t>
            </a:r>
            <a:r>
              <a:rPr lang="en-US" sz="2000" spc="50" dirty="0">
                <a:effectLst/>
                <a:ea typeface="Calibri" panose="020F0502020204030204" pitchFamily="34" charset="0"/>
              </a:rPr>
              <a:t> </a:t>
            </a:r>
            <a:r>
              <a:rPr lang="en-US" sz="2000" dirty="0">
                <a:effectLst/>
                <a:ea typeface="Calibri" panose="020F0502020204030204" pitchFamily="34" charset="0"/>
              </a:rPr>
              <a:t>no</a:t>
            </a:r>
            <a:r>
              <a:rPr lang="en-US" sz="2000" spc="50" dirty="0">
                <a:effectLst/>
                <a:ea typeface="Calibri" panose="020F0502020204030204" pitchFamily="34" charset="0"/>
              </a:rPr>
              <a:t> </a:t>
            </a:r>
            <a:r>
              <a:rPr lang="en-US" sz="2000" dirty="0">
                <a:effectLst/>
                <a:ea typeface="Calibri" panose="020F0502020204030204" pitchFamily="34" charset="0"/>
              </a:rPr>
              <a:t>two</a:t>
            </a:r>
            <a:r>
              <a:rPr lang="en-US" sz="2000" spc="50" dirty="0">
                <a:effectLst/>
                <a:ea typeface="Calibri" panose="020F0502020204030204" pitchFamily="34" charset="0"/>
              </a:rPr>
              <a:t> </a:t>
            </a:r>
            <a:r>
              <a:rPr lang="en-US" sz="2000" dirty="0">
                <a:effectLst/>
                <a:ea typeface="Calibri" panose="020F0502020204030204" pitchFamily="34" charset="0"/>
              </a:rPr>
              <a:t>dependents</a:t>
            </a:r>
            <a:r>
              <a:rPr lang="en-US" sz="2000" spc="55" dirty="0">
                <a:effectLst/>
                <a:ea typeface="Calibri" panose="020F0502020204030204" pitchFamily="34" charset="0"/>
              </a:rPr>
              <a:t> </a:t>
            </a:r>
            <a:r>
              <a:rPr lang="en-US" sz="2000" dirty="0">
                <a:effectLst/>
                <a:ea typeface="Calibri" panose="020F0502020204030204" pitchFamily="34" charset="0"/>
              </a:rPr>
              <a:t>of</a:t>
            </a:r>
            <a:r>
              <a:rPr lang="en-US" sz="2000" spc="75" dirty="0">
                <a:effectLst/>
                <a:ea typeface="Calibri" panose="020F0502020204030204" pitchFamily="34" charset="0"/>
              </a:rPr>
              <a:t> </a:t>
            </a:r>
            <a:r>
              <a:rPr lang="en-US" sz="2000" dirty="0">
                <a:effectLst/>
                <a:ea typeface="Calibri" panose="020F0502020204030204" pitchFamily="34" charset="0"/>
              </a:rPr>
              <a:t>the</a:t>
            </a:r>
            <a:r>
              <a:rPr lang="en-US" sz="2000" spc="60" dirty="0">
                <a:effectLst/>
                <a:ea typeface="Calibri" panose="020F0502020204030204" pitchFamily="34" charset="0"/>
              </a:rPr>
              <a:t> </a:t>
            </a:r>
            <a:r>
              <a:rPr lang="en-US" sz="2000" dirty="0">
                <a:effectLst/>
                <a:ea typeface="Calibri" panose="020F0502020204030204" pitchFamily="34" charset="0"/>
              </a:rPr>
              <a:t>same</a:t>
            </a:r>
            <a:r>
              <a:rPr lang="en-US" sz="2000" spc="60" dirty="0">
                <a:effectLst/>
                <a:ea typeface="Calibri" panose="020F0502020204030204" pitchFamily="34" charset="0"/>
              </a:rPr>
              <a:t> </a:t>
            </a:r>
            <a:r>
              <a:rPr lang="en-US" sz="2000" dirty="0">
                <a:effectLst/>
                <a:ea typeface="Calibri" panose="020F0502020204030204" pitchFamily="34" charset="0"/>
              </a:rPr>
              <a:t>employee</a:t>
            </a:r>
            <a:r>
              <a:rPr lang="en-US" sz="2000" spc="60" dirty="0">
                <a:effectLst/>
                <a:ea typeface="Calibri" panose="020F0502020204030204" pitchFamily="34" charset="0"/>
              </a:rPr>
              <a:t> </a:t>
            </a:r>
            <a:r>
              <a:rPr lang="en-US" sz="2000" dirty="0">
                <a:effectLst/>
                <a:ea typeface="Calibri" panose="020F0502020204030204" pitchFamily="34" charset="0"/>
              </a:rPr>
              <a:t>ever</a:t>
            </a:r>
            <a:r>
              <a:rPr lang="en-US" sz="2000" spc="55" dirty="0">
                <a:effectLst/>
                <a:ea typeface="Calibri" panose="020F0502020204030204" pitchFamily="34" charset="0"/>
              </a:rPr>
              <a:t> </a:t>
            </a:r>
            <a:r>
              <a:rPr lang="en-US" sz="2000" dirty="0">
                <a:effectLst/>
                <a:ea typeface="Calibri" panose="020F0502020204030204" pitchFamily="34" charset="0"/>
              </a:rPr>
              <a:t>have</a:t>
            </a:r>
            <a:r>
              <a:rPr lang="en-US" sz="2000" spc="60" dirty="0">
                <a:effectLst/>
                <a:ea typeface="Calibri" panose="020F0502020204030204" pitchFamily="34" charset="0"/>
              </a:rPr>
              <a:t> </a:t>
            </a:r>
            <a:r>
              <a:rPr lang="en-US" sz="2000" dirty="0">
                <a:effectLst/>
                <a:ea typeface="Calibri" panose="020F0502020204030204" pitchFamily="34" charset="0"/>
              </a:rPr>
              <a:t>the</a:t>
            </a:r>
            <a:r>
              <a:rPr lang="en-US" sz="2000" spc="60" dirty="0">
                <a:effectLst/>
                <a:ea typeface="Calibri" panose="020F0502020204030204" pitchFamily="34" charset="0"/>
              </a:rPr>
              <a:t> </a:t>
            </a:r>
            <a:r>
              <a:rPr lang="en-US" sz="2000" dirty="0">
                <a:effectLst/>
                <a:ea typeface="Calibri" panose="020F0502020204030204" pitchFamily="34" charset="0"/>
              </a:rPr>
              <a:t>same</a:t>
            </a:r>
            <a:r>
              <a:rPr lang="en-US" sz="2000" spc="60" dirty="0">
                <a:effectLst/>
                <a:ea typeface="Calibri" panose="020F0502020204030204" pitchFamily="34" charset="0"/>
              </a:rPr>
              <a:t> </a:t>
            </a:r>
            <a:r>
              <a:rPr lang="en-US" sz="2000" dirty="0">
                <a:effectLst/>
                <a:ea typeface="Calibri" panose="020F0502020204030204" pitchFamily="34" charset="0"/>
              </a:rPr>
              <a:t>first</a:t>
            </a:r>
            <a:r>
              <a:rPr lang="en-US" sz="2000" spc="45" dirty="0">
                <a:effectLst/>
                <a:ea typeface="Calibri" panose="020F0502020204030204" pitchFamily="34" charset="0"/>
              </a:rPr>
              <a:t> </a:t>
            </a:r>
            <a:r>
              <a:rPr lang="en-US" sz="2000" dirty="0">
                <a:effectLst/>
                <a:ea typeface="Calibri" panose="020F0502020204030204" pitchFamily="34" charset="0"/>
              </a:rPr>
              <a:t>name,</a:t>
            </a:r>
            <a:r>
              <a:rPr lang="en-US" sz="2000" spc="45" dirty="0">
                <a:effectLst/>
                <a:ea typeface="Calibri" panose="020F0502020204030204" pitchFamily="34" charset="0"/>
              </a:rPr>
              <a:t> </a:t>
            </a:r>
            <a:r>
              <a:rPr lang="en-US" sz="2000" dirty="0">
                <a:effectLst/>
                <a:ea typeface="Calibri" panose="020F0502020204030204" pitchFamily="34" charset="0"/>
              </a:rPr>
              <a:t>the</a:t>
            </a:r>
            <a:r>
              <a:rPr lang="en-US" sz="2000" spc="60" dirty="0">
                <a:effectLst/>
                <a:ea typeface="Calibri" panose="020F0502020204030204" pitchFamily="34" charset="0"/>
              </a:rPr>
              <a:t> </a:t>
            </a:r>
            <a:r>
              <a:rPr lang="en-US" sz="2000" dirty="0">
                <a:effectLst/>
                <a:ea typeface="Calibri" panose="020F0502020204030204" pitchFamily="34" charset="0"/>
              </a:rPr>
              <a:t>attribute</a:t>
            </a:r>
            <a:r>
              <a:rPr lang="en-US" sz="2000" spc="60" dirty="0">
                <a:effectLst/>
                <a:ea typeface="Calibri" panose="020F0502020204030204" pitchFamily="34" charset="0"/>
              </a:rPr>
              <a:t> </a:t>
            </a:r>
            <a:r>
              <a:rPr lang="en-US" sz="2000" dirty="0">
                <a:effectLst/>
                <a:ea typeface="Calibri" panose="020F0502020204030204" pitchFamily="34" charset="0"/>
              </a:rPr>
              <a:t>Name</a:t>
            </a:r>
            <a:r>
              <a:rPr lang="en-US" sz="2000" spc="60" dirty="0">
                <a:effectLst/>
                <a:ea typeface="Calibri" panose="020F0502020204030204" pitchFamily="34" charset="0"/>
              </a:rPr>
              <a:t> </a:t>
            </a:r>
            <a:r>
              <a:rPr lang="en-US" sz="2000" dirty="0">
                <a:effectLst/>
                <a:ea typeface="Calibri" panose="020F0502020204030204" pitchFamily="34" charset="0"/>
              </a:rPr>
              <a:t>of</a:t>
            </a:r>
            <a:r>
              <a:rPr lang="en-US" sz="2000" spc="-230" dirty="0">
                <a:effectLst/>
                <a:ea typeface="Calibri" panose="020F0502020204030204" pitchFamily="34" charset="0"/>
              </a:rPr>
              <a:t> </a:t>
            </a:r>
            <a:r>
              <a:rPr lang="en-US" sz="2000" dirty="0">
                <a:effectLst/>
                <a:ea typeface="Calibri" panose="020F0502020204030204" pitchFamily="34" charset="0"/>
              </a:rPr>
              <a:t>DEPENDENT</a:t>
            </a:r>
            <a:r>
              <a:rPr lang="en-US" sz="2000" spc="-25"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partial</a:t>
            </a:r>
            <a:r>
              <a:rPr lang="en-US" sz="2000" spc="-5" dirty="0">
                <a:effectLst/>
                <a:ea typeface="Calibri" panose="020F0502020204030204" pitchFamily="34" charset="0"/>
              </a:rPr>
              <a:t> </a:t>
            </a:r>
            <a:r>
              <a:rPr lang="en-US" sz="2000" dirty="0">
                <a:effectLst/>
                <a:ea typeface="Calibri" panose="020F0502020204030204" pitchFamily="34" charset="0"/>
              </a:rPr>
              <a:t>key.</a:t>
            </a:r>
          </a:p>
          <a:p>
            <a:pPr marL="285750" indent="-285750" algn="just">
              <a:buFont typeface="Wingdings" panose="05000000000000000000" pitchFamily="2" charset="2"/>
              <a:buChar char="ü"/>
            </a:pPr>
            <a:r>
              <a:rPr lang="en-US" sz="2000" b="0" i="0" u="none" strike="noStrike" baseline="0" dirty="0"/>
              <a:t>In ER diagrams, both a weak entity type and its identifying relationship are distinguished by surrounding their boxes and diamonds with double lines.</a:t>
            </a:r>
          </a:p>
          <a:p>
            <a:pPr marL="285750" indent="-285750" algn="just">
              <a:buFont typeface="Wingdings" panose="05000000000000000000" pitchFamily="2" charset="2"/>
              <a:buChar char="ü"/>
            </a:pPr>
            <a:r>
              <a:rPr lang="en-US" sz="2000" b="0" i="0" u="none" strike="noStrike" baseline="0" dirty="0"/>
              <a:t>The partial key attribute is underlined with a dashed or dotted line.</a:t>
            </a:r>
            <a:endParaRPr lang="en-US" sz="2000" dirty="0">
              <a:effectLst/>
              <a:ea typeface="Calibri" panose="020F0502020204030204" pitchFamily="34" charset="0"/>
            </a:endParaRPr>
          </a:p>
          <a:p>
            <a:pPr algn="just"/>
            <a:endParaRPr lang="en-US" sz="2000" dirty="0"/>
          </a:p>
        </p:txBody>
      </p:sp>
    </p:spTree>
    <p:extLst>
      <p:ext uri="{BB962C8B-B14F-4D97-AF65-F5344CB8AC3E}">
        <p14:creationId xmlns:p14="http://schemas.microsoft.com/office/powerpoint/2010/main" val="22139127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9D6472-AEBE-F1DF-D07D-B5D655C55B33}"/>
              </a:ext>
            </a:extLst>
          </p:cNvPr>
          <p:cNvPicPr>
            <a:picLocks noChangeAspect="1"/>
          </p:cNvPicPr>
          <p:nvPr/>
        </p:nvPicPr>
        <p:blipFill>
          <a:blip r:embed="rId2"/>
          <a:stretch>
            <a:fillRect/>
          </a:stretch>
        </p:blipFill>
        <p:spPr>
          <a:xfrm>
            <a:off x="2375518" y="178435"/>
            <a:ext cx="6845973" cy="6071256"/>
          </a:xfrm>
          <a:prstGeom prst="rect">
            <a:avLst/>
          </a:prstGeom>
        </p:spPr>
      </p:pic>
    </p:spTree>
    <p:extLst>
      <p:ext uri="{BB962C8B-B14F-4D97-AF65-F5344CB8AC3E}">
        <p14:creationId xmlns:p14="http://schemas.microsoft.com/office/powerpoint/2010/main" val="27263373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1C8036AC-018D-2E18-F0D8-0FA21EDBAD52}"/>
              </a:ext>
            </a:extLst>
          </p:cNvPr>
          <p:cNvGraphicFramePr/>
          <p:nvPr>
            <p:extLst>
              <p:ext uri="{D42A27DB-BD31-4B8C-83A1-F6EECF244321}">
                <p14:modId xmlns:p14="http://schemas.microsoft.com/office/powerpoint/2010/main" val="3764880417"/>
              </p:ext>
            </p:extLst>
          </p:nvPr>
        </p:nvGraphicFramePr>
        <p:xfrm>
          <a:off x="325464" y="340962"/>
          <a:ext cx="11685722" cy="11623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70AA1908-5F37-7352-8DAC-2716718C7DC7}"/>
              </a:ext>
            </a:extLst>
          </p:cNvPr>
          <p:cNvSpPr txBox="1"/>
          <p:nvPr/>
        </p:nvSpPr>
        <p:spPr>
          <a:xfrm>
            <a:off x="325464" y="1797803"/>
            <a:ext cx="11685722" cy="3005438"/>
          </a:xfrm>
          <a:prstGeom prst="rect">
            <a:avLst/>
          </a:prstGeom>
          <a:noFill/>
        </p:spPr>
        <p:txBody>
          <a:bodyPr wrap="square" rtlCol="0">
            <a:spAutoFit/>
          </a:bodyPr>
          <a:lstStyle/>
          <a:p>
            <a:pPr marL="342900" marR="0" lvl="0" indent="-342900" algn="just">
              <a:spcBef>
                <a:spcPts val="920"/>
              </a:spcBef>
              <a:buFont typeface="Wingdings" panose="05000000000000000000" pitchFamily="2" charset="2"/>
              <a:buChar char=""/>
              <a:tabLst>
                <a:tab pos="655320" algn="l"/>
              </a:tabLst>
            </a:pPr>
            <a:r>
              <a:rPr lang="en-US" sz="2000" dirty="0">
                <a:ea typeface="Calibri" panose="020F0502020204030204" pitchFamily="34" charset="0"/>
              </a:rPr>
              <a:t>C</a:t>
            </a:r>
            <a:r>
              <a:rPr lang="en-US" sz="2000" dirty="0">
                <a:effectLst/>
                <a:ea typeface="Calibri" panose="020F0502020204030204" pitchFamily="34" charset="0"/>
              </a:rPr>
              <a:t>hoose</a:t>
            </a:r>
            <a:r>
              <a:rPr lang="en-US" sz="2000" spc="-20" dirty="0">
                <a:effectLst/>
                <a:ea typeface="Calibri" panose="020F0502020204030204" pitchFamily="34" charset="0"/>
              </a:rPr>
              <a:t> </a:t>
            </a:r>
            <a:r>
              <a:rPr lang="en-US" sz="2000" dirty="0">
                <a:effectLst/>
                <a:ea typeface="Calibri" panose="020F0502020204030204" pitchFamily="34" charset="0"/>
              </a:rPr>
              <a:t>names</a:t>
            </a:r>
            <a:r>
              <a:rPr lang="en-US" sz="2000" spc="-15" dirty="0">
                <a:effectLst/>
                <a:ea typeface="Calibri" panose="020F0502020204030204" pitchFamily="34" charset="0"/>
              </a:rPr>
              <a:t> </a:t>
            </a:r>
            <a:r>
              <a:rPr lang="en-US" sz="2000" dirty="0">
                <a:effectLst/>
                <a:ea typeface="Calibri" panose="020F0502020204030204" pitchFamily="34" charset="0"/>
              </a:rPr>
              <a:t>that</a:t>
            </a:r>
            <a:r>
              <a:rPr lang="en-US" sz="2000" spc="-5" dirty="0">
                <a:effectLst/>
                <a:ea typeface="Calibri" panose="020F0502020204030204" pitchFamily="34" charset="0"/>
              </a:rPr>
              <a:t> </a:t>
            </a:r>
            <a:r>
              <a:rPr lang="en-US" sz="2000" dirty="0">
                <a:effectLst/>
                <a:ea typeface="Calibri" panose="020F0502020204030204" pitchFamily="34" charset="0"/>
              </a:rPr>
              <a:t>convey</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meanings</a:t>
            </a:r>
            <a:r>
              <a:rPr lang="en-US" sz="2000" spc="-20" dirty="0">
                <a:effectLst/>
                <a:ea typeface="Calibri" panose="020F0502020204030204" pitchFamily="34" charset="0"/>
              </a:rPr>
              <a:t> </a:t>
            </a:r>
            <a:r>
              <a:rPr lang="en-US" sz="2000" dirty="0">
                <a:effectLst/>
                <a:ea typeface="Calibri" panose="020F0502020204030204" pitchFamily="34" charset="0"/>
              </a:rPr>
              <a:t>attached to the</a:t>
            </a:r>
            <a:r>
              <a:rPr lang="en-US" sz="2000" spc="-20" dirty="0">
                <a:effectLst/>
                <a:ea typeface="Calibri" panose="020F0502020204030204" pitchFamily="34" charset="0"/>
              </a:rPr>
              <a:t> </a:t>
            </a:r>
            <a:r>
              <a:rPr lang="en-US" sz="2000" dirty="0">
                <a:effectLst/>
                <a:ea typeface="Calibri" panose="020F0502020204030204" pitchFamily="34" charset="0"/>
              </a:rPr>
              <a:t>different</a:t>
            </a:r>
            <a:r>
              <a:rPr lang="en-US" sz="2000" spc="-30" dirty="0">
                <a:effectLst/>
                <a:ea typeface="Calibri" panose="020F0502020204030204" pitchFamily="34" charset="0"/>
              </a:rPr>
              <a:t> </a:t>
            </a:r>
            <a:r>
              <a:rPr lang="en-US" sz="2000" dirty="0">
                <a:effectLst/>
                <a:ea typeface="Calibri" panose="020F0502020204030204" pitchFamily="34" charset="0"/>
              </a:rPr>
              <a:t>constructs</a:t>
            </a:r>
            <a:r>
              <a:rPr lang="en-US" sz="2000" spc="-20" dirty="0">
                <a:effectLst/>
                <a:ea typeface="Calibri" panose="020F0502020204030204" pitchFamily="34" charset="0"/>
              </a:rPr>
              <a:t> </a:t>
            </a:r>
            <a:r>
              <a:rPr lang="en-US" sz="2000" dirty="0">
                <a:effectLst/>
                <a:ea typeface="Calibri" panose="020F0502020204030204" pitchFamily="34" charset="0"/>
              </a:rPr>
              <a:t>in</a:t>
            </a:r>
            <a:r>
              <a:rPr lang="en-US" sz="2000" spc="-20" dirty="0">
                <a:effectLst/>
                <a:ea typeface="Calibri" panose="020F0502020204030204" pitchFamily="34" charset="0"/>
              </a:rPr>
              <a:t> </a:t>
            </a: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dirty="0">
                <a:effectLst/>
                <a:ea typeface="Calibri" panose="020F0502020204030204" pitchFamily="34" charset="0"/>
              </a:rPr>
              <a:t>schema.</a:t>
            </a:r>
          </a:p>
          <a:p>
            <a:pPr marL="342900" marR="0" lvl="0" indent="-342900" algn="just">
              <a:spcBef>
                <a:spcPts val="100"/>
              </a:spcBef>
              <a:buFont typeface="Wingdings" panose="05000000000000000000" pitchFamily="2" charset="2"/>
              <a:buChar char=""/>
              <a:tabLst>
                <a:tab pos="658495" algn="l"/>
              </a:tabLst>
            </a:pPr>
            <a:r>
              <a:rPr lang="en-US" sz="2000" dirty="0">
                <a:ea typeface="Calibri" panose="020F0502020204030204" pitchFamily="34" charset="0"/>
              </a:rPr>
              <a:t>U</a:t>
            </a:r>
            <a:r>
              <a:rPr lang="en-US" sz="2000" dirty="0">
                <a:effectLst/>
                <a:ea typeface="Calibri" panose="020F0502020204030204" pitchFamily="34" charset="0"/>
              </a:rPr>
              <a:t>se</a:t>
            </a:r>
            <a:r>
              <a:rPr lang="en-US" sz="2000" spc="-15" dirty="0">
                <a:effectLst/>
                <a:ea typeface="Calibri" panose="020F0502020204030204" pitchFamily="34" charset="0"/>
              </a:rPr>
              <a:t> </a:t>
            </a:r>
            <a:r>
              <a:rPr lang="en-US" sz="2000" dirty="0">
                <a:effectLst/>
                <a:ea typeface="Calibri" panose="020F0502020204030204" pitchFamily="34" charset="0"/>
              </a:rPr>
              <a:t>singular</a:t>
            </a:r>
            <a:r>
              <a:rPr lang="en-US" sz="2000" spc="-20" dirty="0">
                <a:effectLst/>
                <a:ea typeface="Calibri" panose="020F0502020204030204" pitchFamily="34" charset="0"/>
              </a:rPr>
              <a:t> </a:t>
            </a:r>
            <a:r>
              <a:rPr lang="en-US" sz="2000" dirty="0">
                <a:effectLst/>
                <a:ea typeface="Calibri" panose="020F0502020204030204" pitchFamily="34" charset="0"/>
              </a:rPr>
              <a:t>names</a:t>
            </a:r>
            <a:r>
              <a:rPr lang="en-US" sz="2000" spc="-5" dirty="0">
                <a:effectLst/>
                <a:ea typeface="Calibri" panose="020F0502020204030204" pitchFamily="34" charset="0"/>
              </a:rPr>
              <a:t> </a:t>
            </a:r>
            <a:r>
              <a:rPr lang="en-US" sz="2000" dirty="0">
                <a:effectLst/>
                <a:ea typeface="Calibri" panose="020F0502020204030204" pitchFamily="34" charset="0"/>
              </a:rPr>
              <a:t>for</a:t>
            </a:r>
            <a:r>
              <a:rPr lang="en-US" sz="2000" spc="-15" dirty="0">
                <a:effectLst/>
                <a:ea typeface="Calibri" panose="020F0502020204030204" pitchFamily="34" charset="0"/>
              </a:rPr>
              <a:t> </a:t>
            </a:r>
            <a:r>
              <a:rPr lang="en-US" sz="2000" dirty="0">
                <a:effectLst/>
                <a:ea typeface="Calibri" panose="020F0502020204030204" pitchFamily="34" charset="0"/>
              </a:rPr>
              <a:t>entity</a:t>
            </a:r>
            <a:r>
              <a:rPr lang="en-US" sz="2000" spc="-15" dirty="0">
                <a:effectLst/>
                <a:ea typeface="Calibri" panose="020F0502020204030204" pitchFamily="34" charset="0"/>
              </a:rPr>
              <a:t> </a:t>
            </a:r>
            <a:r>
              <a:rPr lang="en-US" sz="2000" dirty="0">
                <a:effectLst/>
                <a:ea typeface="Calibri" panose="020F0502020204030204" pitchFamily="34" charset="0"/>
              </a:rPr>
              <a:t>types,</a:t>
            </a:r>
            <a:r>
              <a:rPr lang="en-US" sz="2000" spc="-20" dirty="0">
                <a:effectLst/>
                <a:ea typeface="Calibri" panose="020F0502020204030204" pitchFamily="34" charset="0"/>
              </a:rPr>
              <a:t> </a:t>
            </a:r>
            <a:r>
              <a:rPr lang="en-US" sz="2000" dirty="0">
                <a:effectLst/>
                <a:ea typeface="Calibri" panose="020F0502020204030204" pitchFamily="34" charset="0"/>
              </a:rPr>
              <a:t>rather</a:t>
            </a:r>
            <a:r>
              <a:rPr lang="en-US" sz="2000" spc="10" dirty="0">
                <a:effectLst/>
                <a:ea typeface="Calibri" panose="020F0502020204030204" pitchFamily="34" charset="0"/>
              </a:rPr>
              <a:t> </a:t>
            </a:r>
            <a:r>
              <a:rPr lang="en-US" sz="2000" dirty="0">
                <a:effectLst/>
                <a:ea typeface="Calibri" panose="020F0502020204030204" pitchFamily="34" charset="0"/>
              </a:rPr>
              <a:t>than</a:t>
            </a:r>
            <a:r>
              <a:rPr lang="en-US" sz="2000" spc="-15" dirty="0">
                <a:effectLst/>
                <a:ea typeface="Calibri" panose="020F0502020204030204" pitchFamily="34" charset="0"/>
              </a:rPr>
              <a:t> </a:t>
            </a:r>
            <a:r>
              <a:rPr lang="en-US" sz="2000" dirty="0">
                <a:effectLst/>
                <a:ea typeface="Calibri" panose="020F0502020204030204" pitchFamily="34" charset="0"/>
              </a:rPr>
              <a:t>plural</a:t>
            </a:r>
            <a:r>
              <a:rPr lang="en-US" sz="2000" spc="-10" dirty="0">
                <a:effectLst/>
                <a:ea typeface="Calibri" panose="020F0502020204030204" pitchFamily="34" charset="0"/>
              </a:rPr>
              <a:t> </a:t>
            </a:r>
            <a:r>
              <a:rPr lang="en-US" sz="2000" dirty="0">
                <a:effectLst/>
                <a:ea typeface="Calibri" panose="020F0502020204030204" pitchFamily="34" charset="0"/>
              </a:rPr>
              <a:t>ones.</a:t>
            </a:r>
          </a:p>
          <a:p>
            <a:pPr marL="342900" marR="226060" lvl="0" indent="-342900" algn="just">
              <a:lnSpc>
                <a:spcPct val="105000"/>
              </a:lnSpc>
              <a:spcBef>
                <a:spcPts val="105"/>
              </a:spcBef>
              <a:buFont typeface="Wingdings" panose="05000000000000000000" pitchFamily="2" charset="2"/>
              <a:buChar char=""/>
              <a:tabLst>
                <a:tab pos="655320" algn="l"/>
              </a:tabLst>
            </a:pPr>
            <a:r>
              <a:rPr lang="en-US" sz="2000" dirty="0">
                <a:ea typeface="Calibri" panose="020F0502020204030204" pitchFamily="34" charset="0"/>
              </a:rPr>
              <a:t>U</a:t>
            </a:r>
            <a:r>
              <a:rPr lang="en-US" sz="2000" dirty="0">
                <a:effectLst/>
                <a:ea typeface="Calibri" panose="020F0502020204030204" pitchFamily="34" charset="0"/>
              </a:rPr>
              <a:t>se</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convention</a:t>
            </a:r>
            <a:r>
              <a:rPr lang="en-US" sz="2000" spc="5" dirty="0">
                <a:effectLst/>
                <a:ea typeface="Calibri" panose="020F0502020204030204" pitchFamily="34" charset="0"/>
              </a:rPr>
              <a:t> </a:t>
            </a:r>
            <a:r>
              <a:rPr lang="en-US" sz="2000" dirty="0">
                <a:effectLst/>
                <a:ea typeface="Calibri" panose="020F0502020204030204" pitchFamily="34" charset="0"/>
              </a:rPr>
              <a:t>that</a:t>
            </a:r>
            <a:r>
              <a:rPr lang="en-US" sz="2000" spc="-5" dirty="0">
                <a:effectLst/>
                <a:ea typeface="Calibri" panose="020F0502020204030204" pitchFamily="34" charset="0"/>
              </a:rPr>
              <a:t> </a:t>
            </a:r>
            <a:r>
              <a:rPr lang="en-US" sz="2000" dirty="0">
                <a:effectLst/>
                <a:ea typeface="Calibri" panose="020F0502020204030204" pitchFamily="34" charset="0"/>
              </a:rPr>
              <a:t>entity</a:t>
            </a:r>
            <a:r>
              <a:rPr lang="en-US" sz="2000" spc="10" dirty="0">
                <a:effectLst/>
                <a:ea typeface="Calibri" panose="020F0502020204030204" pitchFamily="34" charset="0"/>
              </a:rPr>
              <a:t> </a:t>
            </a:r>
            <a:r>
              <a:rPr lang="en-US" sz="2000" dirty="0">
                <a:effectLst/>
                <a:ea typeface="Calibri" panose="020F0502020204030204" pitchFamily="34" charset="0"/>
              </a:rPr>
              <a:t>type</a:t>
            </a:r>
            <a:r>
              <a:rPr lang="en-US" sz="2000" spc="15" dirty="0">
                <a:effectLst/>
                <a:ea typeface="Calibri" panose="020F0502020204030204" pitchFamily="34" charset="0"/>
              </a:rPr>
              <a:t> </a:t>
            </a:r>
            <a:r>
              <a:rPr lang="en-US" sz="2000" dirty="0">
                <a:effectLst/>
                <a:ea typeface="Calibri" panose="020F0502020204030204" pitchFamily="34" charset="0"/>
              </a:rPr>
              <a:t>and</a:t>
            </a:r>
            <a:r>
              <a:rPr lang="en-US" sz="2000" spc="5" dirty="0">
                <a:effectLst/>
                <a:ea typeface="Calibri" panose="020F0502020204030204" pitchFamily="34" charset="0"/>
              </a:rPr>
              <a:t> </a:t>
            </a:r>
            <a:r>
              <a:rPr lang="en-US" sz="2000" dirty="0">
                <a:effectLst/>
                <a:ea typeface="Calibri" panose="020F0502020204030204" pitchFamily="34" charset="0"/>
              </a:rPr>
              <a:t>relationship</a:t>
            </a:r>
            <a:r>
              <a:rPr lang="en-US" sz="2000" spc="5" dirty="0">
                <a:effectLst/>
                <a:ea typeface="Calibri" panose="020F0502020204030204" pitchFamily="34" charset="0"/>
              </a:rPr>
              <a:t> </a:t>
            </a:r>
            <a:r>
              <a:rPr lang="en-US" sz="2000" dirty="0">
                <a:effectLst/>
                <a:ea typeface="Calibri" panose="020F0502020204030204" pitchFamily="34" charset="0"/>
              </a:rPr>
              <a:t>type</a:t>
            </a:r>
            <a:r>
              <a:rPr lang="en-US" sz="2000" spc="10" dirty="0">
                <a:effectLst/>
                <a:ea typeface="Calibri" panose="020F0502020204030204" pitchFamily="34" charset="0"/>
              </a:rPr>
              <a:t> </a:t>
            </a:r>
            <a:r>
              <a:rPr lang="en-US" sz="2000" dirty="0">
                <a:effectLst/>
                <a:ea typeface="Calibri" panose="020F0502020204030204" pitchFamily="34" charset="0"/>
              </a:rPr>
              <a:t>names</a:t>
            </a:r>
            <a:r>
              <a:rPr lang="en-US" sz="2000" spc="10" dirty="0">
                <a:effectLst/>
                <a:ea typeface="Calibri" panose="020F0502020204030204" pitchFamily="34" charset="0"/>
              </a:rPr>
              <a:t> </a:t>
            </a:r>
            <a:r>
              <a:rPr lang="en-US" sz="2000" dirty="0">
                <a:effectLst/>
                <a:ea typeface="Calibri" panose="020F0502020204030204" pitchFamily="34" charset="0"/>
              </a:rPr>
              <a:t>are</a:t>
            </a:r>
            <a:r>
              <a:rPr lang="en-US" sz="2000" spc="5" dirty="0">
                <a:effectLst/>
                <a:ea typeface="Calibri" panose="020F0502020204030204" pitchFamily="34" charset="0"/>
              </a:rPr>
              <a:t> </a:t>
            </a:r>
            <a:r>
              <a:rPr lang="en-US" sz="2000" dirty="0">
                <a:effectLst/>
                <a:ea typeface="Calibri" panose="020F0502020204030204" pitchFamily="34" charset="0"/>
              </a:rPr>
              <a:t>in</a:t>
            </a:r>
            <a:r>
              <a:rPr lang="en-US" sz="2000" spc="10" dirty="0">
                <a:effectLst/>
                <a:ea typeface="Calibri" panose="020F0502020204030204" pitchFamily="34" charset="0"/>
              </a:rPr>
              <a:t> </a:t>
            </a:r>
            <a:r>
              <a:rPr lang="en-US" sz="2000" dirty="0">
                <a:effectLst/>
                <a:ea typeface="Calibri" panose="020F0502020204030204" pitchFamily="34" charset="0"/>
              </a:rPr>
              <a:t>uppercase</a:t>
            </a:r>
            <a:r>
              <a:rPr lang="en-US" sz="2000" spc="45" dirty="0">
                <a:effectLst/>
                <a:ea typeface="Calibri" panose="020F0502020204030204" pitchFamily="34" charset="0"/>
              </a:rPr>
              <a:t> </a:t>
            </a:r>
            <a:r>
              <a:rPr lang="en-US" sz="2000" dirty="0">
                <a:effectLst/>
                <a:ea typeface="Calibri" panose="020F0502020204030204" pitchFamily="34" charset="0"/>
              </a:rPr>
              <a:t>letters,</a:t>
            </a:r>
            <a:r>
              <a:rPr lang="en-US" sz="2000" spc="-5" dirty="0">
                <a:effectLst/>
                <a:ea typeface="Calibri" panose="020F0502020204030204" pitchFamily="34" charset="0"/>
              </a:rPr>
              <a:t> </a:t>
            </a:r>
            <a:r>
              <a:rPr lang="en-US" sz="2000" dirty="0">
                <a:effectLst/>
                <a:ea typeface="Calibri" panose="020F0502020204030204" pitchFamily="34" charset="0"/>
              </a:rPr>
              <a:t>attribute</a:t>
            </a:r>
            <a:r>
              <a:rPr lang="en-US" sz="2000" spc="10" dirty="0">
                <a:effectLst/>
                <a:ea typeface="Calibri" panose="020F0502020204030204" pitchFamily="34" charset="0"/>
              </a:rPr>
              <a:t> </a:t>
            </a:r>
            <a:r>
              <a:rPr lang="en-US" sz="2000" dirty="0">
                <a:effectLst/>
                <a:ea typeface="Calibri" panose="020F0502020204030204" pitchFamily="34" charset="0"/>
              </a:rPr>
              <a:t>names</a:t>
            </a:r>
            <a:r>
              <a:rPr lang="en-US" sz="2000" spc="10" dirty="0">
                <a:effectLst/>
                <a:ea typeface="Calibri" panose="020F0502020204030204" pitchFamily="34" charset="0"/>
              </a:rPr>
              <a:t> </a:t>
            </a:r>
            <a:r>
              <a:rPr lang="en-US" sz="2000" dirty="0">
                <a:effectLst/>
                <a:ea typeface="Calibri" panose="020F0502020204030204" pitchFamily="34" charset="0"/>
              </a:rPr>
              <a:t>have</a:t>
            </a:r>
            <a:r>
              <a:rPr lang="en-US" sz="2000" spc="-230" dirty="0">
                <a:effectLst/>
                <a:ea typeface="Calibri" panose="020F0502020204030204" pitchFamily="34" charset="0"/>
              </a:rPr>
              <a:t> </a:t>
            </a:r>
            <a:r>
              <a:rPr lang="en-US" sz="2000" dirty="0">
                <a:effectLst/>
                <a:ea typeface="Calibri" panose="020F0502020204030204" pitchFamily="34" charset="0"/>
              </a:rPr>
              <a:t>their</a:t>
            </a:r>
            <a:r>
              <a:rPr lang="en-US" sz="2000" spc="-10" dirty="0">
                <a:effectLst/>
                <a:ea typeface="Calibri" panose="020F0502020204030204" pitchFamily="34" charset="0"/>
              </a:rPr>
              <a:t> </a:t>
            </a:r>
            <a:r>
              <a:rPr lang="en-US" sz="2000" dirty="0">
                <a:effectLst/>
                <a:ea typeface="Calibri" panose="020F0502020204030204" pitchFamily="34" charset="0"/>
              </a:rPr>
              <a:t>initial</a:t>
            </a:r>
            <a:r>
              <a:rPr lang="en-US" sz="2000" spc="-25" dirty="0">
                <a:effectLst/>
                <a:ea typeface="Calibri" panose="020F0502020204030204" pitchFamily="34" charset="0"/>
              </a:rPr>
              <a:t> </a:t>
            </a:r>
            <a:r>
              <a:rPr lang="en-US" sz="2000" dirty="0">
                <a:effectLst/>
                <a:ea typeface="Calibri" panose="020F0502020204030204" pitchFamily="34" charset="0"/>
              </a:rPr>
              <a:t>letter</a:t>
            </a:r>
            <a:r>
              <a:rPr lang="en-US" sz="2000" spc="-10" dirty="0">
                <a:effectLst/>
                <a:ea typeface="Calibri" panose="020F0502020204030204" pitchFamily="34" charset="0"/>
              </a:rPr>
              <a:t> </a:t>
            </a:r>
            <a:r>
              <a:rPr lang="en-US" sz="2000" dirty="0">
                <a:effectLst/>
                <a:ea typeface="Calibri" panose="020F0502020204030204" pitchFamily="34" charset="0"/>
              </a:rPr>
              <a:t>capitalized,</a:t>
            </a:r>
            <a:r>
              <a:rPr lang="en-US" sz="2000" spc="-25"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role</a:t>
            </a:r>
            <a:r>
              <a:rPr lang="en-US" sz="2000" spc="-10" dirty="0">
                <a:effectLst/>
                <a:ea typeface="Calibri" panose="020F0502020204030204" pitchFamily="34" charset="0"/>
              </a:rPr>
              <a:t> </a:t>
            </a:r>
            <a:r>
              <a:rPr lang="en-US" sz="2000" dirty="0">
                <a:effectLst/>
                <a:ea typeface="Calibri" panose="020F0502020204030204" pitchFamily="34" charset="0"/>
              </a:rPr>
              <a:t>names</a:t>
            </a:r>
            <a:r>
              <a:rPr lang="en-US" sz="2000" spc="-5" dirty="0">
                <a:effectLst/>
                <a:ea typeface="Calibri" panose="020F0502020204030204" pitchFamily="34" charset="0"/>
              </a:rPr>
              <a:t> </a:t>
            </a:r>
            <a:r>
              <a:rPr lang="en-US" sz="2000" dirty="0">
                <a:effectLst/>
                <a:ea typeface="Calibri" panose="020F0502020204030204" pitchFamily="34" charset="0"/>
              </a:rPr>
              <a:t>are</a:t>
            </a:r>
            <a:r>
              <a:rPr lang="en-US" sz="2000" spc="-10" dirty="0">
                <a:effectLst/>
                <a:ea typeface="Calibri" panose="020F0502020204030204" pitchFamily="34" charset="0"/>
              </a:rPr>
              <a:t> </a:t>
            </a:r>
            <a:r>
              <a:rPr lang="en-US" sz="2000" dirty="0">
                <a:effectLst/>
                <a:ea typeface="Calibri" panose="020F0502020204030204" pitchFamily="34" charset="0"/>
              </a:rPr>
              <a:t>in</a:t>
            </a:r>
            <a:r>
              <a:rPr lang="en-US" sz="2000" spc="-15" dirty="0">
                <a:effectLst/>
                <a:ea typeface="Calibri" panose="020F0502020204030204" pitchFamily="34" charset="0"/>
              </a:rPr>
              <a:t> </a:t>
            </a:r>
            <a:r>
              <a:rPr lang="en-US" sz="2000" dirty="0">
                <a:effectLst/>
                <a:ea typeface="Calibri" panose="020F0502020204030204" pitchFamily="34" charset="0"/>
              </a:rPr>
              <a:t>lowercase</a:t>
            </a:r>
            <a:r>
              <a:rPr lang="en-US" sz="2000" spc="-10" dirty="0">
                <a:effectLst/>
                <a:ea typeface="Calibri" panose="020F0502020204030204" pitchFamily="34" charset="0"/>
              </a:rPr>
              <a:t> </a:t>
            </a:r>
            <a:r>
              <a:rPr lang="en-US" sz="2000" dirty="0">
                <a:effectLst/>
                <a:ea typeface="Calibri" panose="020F0502020204030204" pitchFamily="34" charset="0"/>
              </a:rPr>
              <a:t>letters.</a:t>
            </a:r>
          </a:p>
          <a:p>
            <a:pPr marL="342900" marR="228600" lvl="0" indent="-342900" algn="just">
              <a:lnSpc>
                <a:spcPct val="105000"/>
              </a:lnSpc>
              <a:spcBef>
                <a:spcPts val="50"/>
              </a:spcBef>
              <a:buFont typeface="Wingdings" panose="05000000000000000000" pitchFamily="2" charset="2"/>
              <a:buChar char=""/>
              <a:tabLst>
                <a:tab pos="655320" algn="l"/>
              </a:tabLst>
            </a:pPr>
            <a:r>
              <a:rPr lang="en-US" sz="2000" dirty="0">
                <a:ea typeface="Calibri" panose="020F0502020204030204" pitchFamily="34" charset="0"/>
              </a:rPr>
              <a:t>N</a:t>
            </a:r>
            <a:r>
              <a:rPr lang="en-US" sz="2000" dirty="0">
                <a:effectLst/>
                <a:ea typeface="Calibri" panose="020F0502020204030204" pitchFamily="34" charset="0"/>
              </a:rPr>
              <a:t>ouns appearing in the narrative tend to give rise to entity type names, and the verbs tend to indicate names of</a:t>
            </a:r>
            <a:r>
              <a:rPr lang="en-US" sz="2000" spc="-235" dirty="0">
                <a:effectLst/>
                <a:ea typeface="Calibri" panose="020F0502020204030204" pitchFamily="34" charset="0"/>
              </a:rPr>
              <a:t> </a:t>
            </a:r>
            <a:r>
              <a:rPr lang="en-US" sz="2000" dirty="0">
                <a:effectLst/>
                <a:ea typeface="Calibri" panose="020F0502020204030204" pitchFamily="34" charset="0"/>
              </a:rPr>
              <a:t>relationship</a:t>
            </a:r>
            <a:r>
              <a:rPr lang="en-US" sz="2000" spc="-15" dirty="0">
                <a:effectLst/>
                <a:ea typeface="Calibri" panose="020F0502020204030204" pitchFamily="34" charset="0"/>
              </a:rPr>
              <a:t> </a:t>
            </a:r>
            <a:r>
              <a:rPr lang="en-US" sz="2000" dirty="0">
                <a:effectLst/>
                <a:ea typeface="Calibri" panose="020F0502020204030204" pitchFamily="34" charset="0"/>
              </a:rPr>
              <a:t>types.</a:t>
            </a:r>
          </a:p>
          <a:p>
            <a:pPr marL="342900" marR="231140" lvl="0" indent="-342900" algn="just">
              <a:lnSpc>
                <a:spcPct val="107000"/>
              </a:lnSpc>
              <a:spcBef>
                <a:spcPts val="25"/>
              </a:spcBef>
              <a:buFont typeface="Wingdings" panose="05000000000000000000" pitchFamily="2" charset="2"/>
              <a:buChar char=""/>
              <a:tabLst>
                <a:tab pos="655320" algn="l"/>
              </a:tabLst>
            </a:pPr>
            <a:r>
              <a:rPr lang="en-US" sz="2000" dirty="0">
                <a:effectLst/>
                <a:ea typeface="Calibri" panose="020F0502020204030204" pitchFamily="34" charset="0"/>
              </a:rPr>
              <a:t>Choosing</a:t>
            </a:r>
            <a:r>
              <a:rPr lang="en-US" sz="2000" spc="15" dirty="0">
                <a:effectLst/>
                <a:ea typeface="Calibri" panose="020F0502020204030204" pitchFamily="34" charset="0"/>
              </a:rPr>
              <a:t> </a:t>
            </a:r>
            <a:r>
              <a:rPr lang="en-US" sz="2000" dirty="0">
                <a:effectLst/>
                <a:ea typeface="Calibri" panose="020F0502020204030204" pitchFamily="34" charset="0"/>
              </a:rPr>
              <a:t>binary</a:t>
            </a:r>
            <a:r>
              <a:rPr lang="en-US" sz="2000" spc="20" dirty="0">
                <a:effectLst/>
                <a:ea typeface="Calibri" panose="020F0502020204030204" pitchFamily="34" charset="0"/>
              </a:rPr>
              <a:t> </a:t>
            </a:r>
            <a:r>
              <a:rPr lang="en-US" sz="2000" dirty="0">
                <a:effectLst/>
                <a:ea typeface="Calibri" panose="020F0502020204030204" pitchFamily="34" charset="0"/>
              </a:rPr>
              <a:t>relationship</a:t>
            </a:r>
            <a:r>
              <a:rPr lang="en-US" sz="2000" spc="5" dirty="0">
                <a:effectLst/>
                <a:ea typeface="Calibri" panose="020F0502020204030204" pitchFamily="34" charset="0"/>
              </a:rPr>
              <a:t> </a:t>
            </a:r>
            <a:r>
              <a:rPr lang="en-US" sz="2000" dirty="0">
                <a:effectLst/>
                <a:ea typeface="Calibri" panose="020F0502020204030204" pitchFamily="34" charset="0"/>
              </a:rPr>
              <a:t>names</a:t>
            </a:r>
            <a:r>
              <a:rPr lang="en-US" sz="2000" spc="10" dirty="0">
                <a:effectLst/>
                <a:ea typeface="Calibri" panose="020F0502020204030204" pitchFamily="34" charset="0"/>
              </a:rPr>
              <a:t> </a:t>
            </a:r>
            <a:r>
              <a:rPr lang="en-US" sz="2000" dirty="0">
                <a:effectLst/>
                <a:ea typeface="Calibri" panose="020F0502020204030204" pitchFamily="34" charset="0"/>
              </a:rPr>
              <a:t>to make</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ER</a:t>
            </a:r>
            <a:r>
              <a:rPr lang="en-US" sz="2000" spc="10" dirty="0">
                <a:effectLst/>
                <a:ea typeface="Calibri" panose="020F0502020204030204" pitchFamily="34" charset="0"/>
              </a:rPr>
              <a:t> </a:t>
            </a:r>
            <a:r>
              <a:rPr lang="en-US" sz="2000" dirty="0">
                <a:effectLst/>
                <a:ea typeface="Calibri" panose="020F0502020204030204" pitchFamily="34" charset="0"/>
              </a:rPr>
              <a:t>diagram</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schema</a:t>
            </a:r>
            <a:r>
              <a:rPr lang="en-US" sz="2000" spc="5" dirty="0">
                <a:effectLst/>
                <a:ea typeface="Calibri" panose="020F0502020204030204" pitchFamily="34" charset="0"/>
              </a:rPr>
              <a:t> </a:t>
            </a:r>
            <a:r>
              <a:rPr lang="en-US" sz="2000" dirty="0">
                <a:effectLst/>
                <a:ea typeface="Calibri" panose="020F0502020204030204" pitchFamily="34" charset="0"/>
              </a:rPr>
              <a:t>readable</a:t>
            </a:r>
            <a:r>
              <a:rPr lang="en-US" sz="2000" spc="10" dirty="0">
                <a:effectLst/>
                <a:ea typeface="Calibri" panose="020F0502020204030204" pitchFamily="34" charset="0"/>
              </a:rPr>
              <a:t> </a:t>
            </a:r>
            <a:r>
              <a:rPr lang="en-US" sz="2000" dirty="0">
                <a:effectLst/>
                <a:ea typeface="Calibri" panose="020F0502020204030204" pitchFamily="34" charset="0"/>
              </a:rPr>
              <a:t>from</a:t>
            </a:r>
            <a:r>
              <a:rPr lang="en-US" sz="2000" spc="-5" dirty="0">
                <a:effectLst/>
                <a:ea typeface="Calibri" panose="020F0502020204030204" pitchFamily="34" charset="0"/>
              </a:rPr>
              <a:t> </a:t>
            </a:r>
            <a:r>
              <a:rPr lang="en-US" sz="2000" dirty="0">
                <a:effectLst/>
                <a:ea typeface="Calibri" panose="020F0502020204030204" pitchFamily="34" charset="0"/>
              </a:rPr>
              <a:t>left to right</a:t>
            </a:r>
            <a:r>
              <a:rPr lang="en-US" sz="2000" spc="-5" dirty="0">
                <a:effectLst/>
                <a:ea typeface="Calibri" panose="020F0502020204030204" pitchFamily="34" charset="0"/>
              </a:rPr>
              <a:t> </a:t>
            </a:r>
            <a:r>
              <a:rPr lang="en-US" sz="2000" dirty="0">
                <a:effectLst/>
                <a:ea typeface="Calibri" panose="020F0502020204030204" pitchFamily="34" charset="0"/>
              </a:rPr>
              <a:t>and</a:t>
            </a:r>
            <a:r>
              <a:rPr lang="en-US" sz="2000" spc="5" dirty="0">
                <a:effectLst/>
                <a:ea typeface="Calibri" panose="020F0502020204030204" pitchFamily="34" charset="0"/>
              </a:rPr>
              <a:t> </a:t>
            </a:r>
            <a:r>
              <a:rPr lang="en-US" sz="2000" dirty="0">
                <a:effectLst/>
                <a:ea typeface="Calibri" panose="020F0502020204030204" pitchFamily="34" charset="0"/>
              </a:rPr>
              <a:t>from</a:t>
            </a:r>
            <a:r>
              <a:rPr lang="en-US" sz="2000" spc="-235" dirty="0">
                <a:effectLst/>
                <a:ea typeface="Calibri" panose="020F0502020204030204" pitchFamily="34" charset="0"/>
              </a:rPr>
              <a:t> </a:t>
            </a:r>
            <a:r>
              <a:rPr lang="en-US" sz="2000" dirty="0">
                <a:effectLst/>
                <a:ea typeface="Calibri" panose="020F0502020204030204" pitchFamily="34" charset="0"/>
              </a:rPr>
              <a:t>top</a:t>
            </a:r>
            <a:r>
              <a:rPr lang="en-US" sz="2000" spc="-20" dirty="0">
                <a:effectLst/>
                <a:ea typeface="Calibri" panose="020F0502020204030204" pitchFamily="34" charset="0"/>
              </a:rPr>
              <a:t> </a:t>
            </a:r>
            <a:r>
              <a:rPr lang="en-US" sz="2000" dirty="0">
                <a:effectLst/>
                <a:ea typeface="Calibri" panose="020F0502020204030204" pitchFamily="34" charset="0"/>
              </a:rPr>
              <a:t>to</a:t>
            </a:r>
            <a:r>
              <a:rPr lang="en-US" sz="2000" spc="5" dirty="0">
                <a:effectLst/>
                <a:ea typeface="Calibri" panose="020F0502020204030204" pitchFamily="34" charset="0"/>
              </a:rPr>
              <a:t> </a:t>
            </a:r>
            <a:r>
              <a:rPr lang="en-US" sz="2000" dirty="0">
                <a:effectLst/>
                <a:ea typeface="Calibri" panose="020F0502020204030204" pitchFamily="34" charset="0"/>
              </a:rPr>
              <a:t>bottom.</a:t>
            </a:r>
          </a:p>
          <a:p>
            <a:endParaRPr lang="en-US" sz="2000" dirty="0"/>
          </a:p>
        </p:txBody>
      </p:sp>
    </p:spTree>
    <p:extLst>
      <p:ext uri="{BB962C8B-B14F-4D97-AF65-F5344CB8AC3E}">
        <p14:creationId xmlns:p14="http://schemas.microsoft.com/office/powerpoint/2010/main" val="26900553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DDA234A1-0F2A-F077-509D-E416AAB21469}"/>
              </a:ext>
            </a:extLst>
          </p:cNvPr>
          <p:cNvGraphicFramePr/>
          <p:nvPr>
            <p:extLst>
              <p:ext uri="{D42A27DB-BD31-4B8C-83A1-F6EECF244321}">
                <p14:modId xmlns:p14="http://schemas.microsoft.com/office/powerpoint/2010/main" val="3995713574"/>
              </p:ext>
            </p:extLst>
          </p:nvPr>
        </p:nvGraphicFramePr>
        <p:xfrm>
          <a:off x="526942" y="387458"/>
          <a:ext cx="11344760" cy="4494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16A2BE77-817A-F928-C256-CDA1645E7D9F}"/>
              </a:ext>
            </a:extLst>
          </p:cNvPr>
          <p:cNvSpPr txBox="1"/>
          <p:nvPr/>
        </p:nvSpPr>
        <p:spPr>
          <a:xfrm>
            <a:off x="526942" y="1084881"/>
            <a:ext cx="11344760" cy="5102935"/>
          </a:xfrm>
          <a:prstGeom prst="rect">
            <a:avLst/>
          </a:prstGeom>
          <a:noFill/>
        </p:spPr>
        <p:txBody>
          <a:bodyPr wrap="square" rtlCol="0">
            <a:spAutoFit/>
          </a:bodyPr>
          <a:lstStyle/>
          <a:p>
            <a:pPr marR="227330" algn="just">
              <a:lnSpc>
                <a:spcPct val="107000"/>
              </a:lnSpc>
              <a:spcBef>
                <a:spcPts val="915"/>
              </a:spcBef>
            </a:pPr>
            <a:r>
              <a:rPr lang="en-US" sz="2000" dirty="0">
                <a:ea typeface="Calibri" panose="020F0502020204030204" pitchFamily="34" charset="0"/>
              </a:rPr>
              <a:t>S</a:t>
            </a:r>
            <a:r>
              <a:rPr lang="en-US" sz="2000" dirty="0">
                <a:effectLst/>
                <a:ea typeface="Calibri" panose="020F0502020204030204" pitchFamily="34" charset="0"/>
              </a:rPr>
              <a:t>chema</a:t>
            </a:r>
            <a:r>
              <a:rPr lang="en-US" sz="2000" spc="125" dirty="0">
                <a:effectLst/>
                <a:ea typeface="Calibri" panose="020F0502020204030204" pitchFamily="34" charset="0"/>
              </a:rPr>
              <a:t> </a:t>
            </a:r>
            <a:r>
              <a:rPr lang="en-US" sz="2000" dirty="0">
                <a:effectLst/>
                <a:ea typeface="Calibri" panose="020F0502020204030204" pitchFamily="34" charset="0"/>
              </a:rPr>
              <a:t>design</a:t>
            </a:r>
            <a:r>
              <a:rPr lang="en-US" sz="2000" spc="130" dirty="0">
                <a:effectLst/>
                <a:ea typeface="Calibri" panose="020F0502020204030204" pitchFamily="34" charset="0"/>
              </a:rPr>
              <a:t> </a:t>
            </a:r>
            <a:r>
              <a:rPr lang="en-US" sz="2000" dirty="0">
                <a:effectLst/>
                <a:ea typeface="Calibri" panose="020F0502020204030204" pitchFamily="34" charset="0"/>
              </a:rPr>
              <a:t>process</a:t>
            </a:r>
            <a:r>
              <a:rPr lang="en-US" sz="2000" spc="130" dirty="0">
                <a:effectLst/>
                <a:ea typeface="Calibri" panose="020F0502020204030204" pitchFamily="34" charset="0"/>
              </a:rPr>
              <a:t> </a:t>
            </a:r>
            <a:r>
              <a:rPr lang="en-US" sz="2000" dirty="0">
                <a:effectLst/>
                <a:ea typeface="Calibri" panose="020F0502020204030204" pitchFamily="34" charset="0"/>
              </a:rPr>
              <a:t>should</a:t>
            </a:r>
            <a:r>
              <a:rPr lang="en-US" sz="2000" spc="130" dirty="0">
                <a:effectLst/>
                <a:ea typeface="Calibri" panose="020F0502020204030204" pitchFamily="34" charset="0"/>
              </a:rPr>
              <a:t> </a:t>
            </a:r>
            <a:r>
              <a:rPr lang="en-US" sz="2000" dirty="0">
                <a:effectLst/>
                <a:ea typeface="Calibri" panose="020F0502020204030204" pitchFamily="34" charset="0"/>
              </a:rPr>
              <a:t>be</a:t>
            </a:r>
            <a:r>
              <a:rPr lang="en-US" sz="2000" spc="130" dirty="0">
                <a:effectLst/>
                <a:ea typeface="Calibri" panose="020F0502020204030204" pitchFamily="34" charset="0"/>
              </a:rPr>
              <a:t> </a:t>
            </a:r>
            <a:r>
              <a:rPr lang="en-US" sz="2000" dirty="0">
                <a:effectLst/>
                <a:ea typeface="Calibri" panose="020F0502020204030204" pitchFamily="34" charset="0"/>
              </a:rPr>
              <a:t>considered</a:t>
            </a:r>
            <a:r>
              <a:rPr lang="en-US" sz="2000" spc="135" dirty="0">
                <a:effectLst/>
                <a:ea typeface="Calibri" panose="020F0502020204030204" pitchFamily="34" charset="0"/>
              </a:rPr>
              <a:t> </a:t>
            </a:r>
            <a:r>
              <a:rPr lang="en-US" sz="2000" dirty="0">
                <a:effectLst/>
                <a:ea typeface="Calibri" panose="020F0502020204030204" pitchFamily="34" charset="0"/>
              </a:rPr>
              <a:t>an</a:t>
            </a:r>
            <a:r>
              <a:rPr lang="en-US" sz="2000" spc="135" dirty="0">
                <a:effectLst/>
                <a:ea typeface="Calibri" panose="020F0502020204030204" pitchFamily="34" charset="0"/>
              </a:rPr>
              <a:t> </a:t>
            </a:r>
            <a:r>
              <a:rPr lang="en-US" sz="2000" b="1" dirty="0">
                <a:effectLst/>
                <a:ea typeface="Calibri" panose="020F0502020204030204" pitchFamily="34" charset="0"/>
              </a:rPr>
              <a:t>iterative</a:t>
            </a:r>
            <a:r>
              <a:rPr lang="en-US" sz="2000" b="1" spc="130" dirty="0">
                <a:effectLst/>
                <a:ea typeface="Calibri" panose="020F0502020204030204" pitchFamily="34" charset="0"/>
              </a:rPr>
              <a:t> </a:t>
            </a:r>
            <a:r>
              <a:rPr lang="en-US" sz="2000" b="1" dirty="0">
                <a:effectLst/>
                <a:ea typeface="Calibri" panose="020F0502020204030204" pitchFamily="34" charset="0"/>
              </a:rPr>
              <a:t>refinement</a:t>
            </a:r>
            <a:r>
              <a:rPr lang="en-US" sz="2000" b="1" spc="130" dirty="0">
                <a:effectLst/>
                <a:ea typeface="Calibri" panose="020F0502020204030204" pitchFamily="34" charset="0"/>
              </a:rPr>
              <a:t> </a:t>
            </a:r>
            <a:r>
              <a:rPr lang="en-US" sz="2000" b="1" dirty="0">
                <a:effectLst/>
                <a:ea typeface="Calibri" panose="020F0502020204030204" pitchFamily="34" charset="0"/>
              </a:rPr>
              <a:t>process</a:t>
            </a:r>
            <a:r>
              <a:rPr lang="en-US" sz="2000" dirty="0">
                <a:effectLst/>
                <a:ea typeface="Calibri" panose="020F0502020204030204" pitchFamily="34" charset="0"/>
              </a:rPr>
              <a:t>,</a:t>
            </a:r>
            <a:r>
              <a:rPr lang="en-US" sz="2000" spc="120" dirty="0">
                <a:effectLst/>
                <a:ea typeface="Calibri" panose="020F0502020204030204" pitchFamily="34" charset="0"/>
              </a:rPr>
              <a:t> </a:t>
            </a:r>
            <a:r>
              <a:rPr lang="en-US" sz="2000" dirty="0">
                <a:effectLst/>
                <a:ea typeface="Calibri" panose="020F0502020204030204" pitchFamily="34" charset="0"/>
              </a:rPr>
              <a:t>where</a:t>
            </a:r>
            <a:r>
              <a:rPr lang="en-US" sz="2000" spc="135" dirty="0">
                <a:effectLst/>
                <a:ea typeface="Calibri" panose="020F0502020204030204" pitchFamily="34" charset="0"/>
              </a:rPr>
              <a:t> </a:t>
            </a:r>
            <a:r>
              <a:rPr lang="en-US" sz="2000" dirty="0">
                <a:effectLst/>
                <a:ea typeface="Calibri" panose="020F0502020204030204" pitchFamily="34" charset="0"/>
              </a:rPr>
              <a:t>an</a:t>
            </a:r>
            <a:r>
              <a:rPr lang="en-US" sz="2000" spc="125" dirty="0">
                <a:effectLst/>
                <a:ea typeface="Calibri" panose="020F0502020204030204" pitchFamily="34" charset="0"/>
              </a:rPr>
              <a:t> </a:t>
            </a:r>
            <a:r>
              <a:rPr lang="en-US" sz="2000" dirty="0">
                <a:effectLst/>
                <a:ea typeface="Calibri" panose="020F0502020204030204" pitchFamily="34" charset="0"/>
              </a:rPr>
              <a:t>initial</a:t>
            </a:r>
            <a:r>
              <a:rPr lang="en-US" sz="2000" spc="140" dirty="0">
                <a:effectLst/>
                <a:ea typeface="Calibri" panose="020F0502020204030204" pitchFamily="34" charset="0"/>
              </a:rPr>
              <a:t> </a:t>
            </a:r>
            <a:r>
              <a:rPr lang="en-US" sz="2000" dirty="0">
                <a:effectLst/>
                <a:ea typeface="Calibri" panose="020F0502020204030204" pitchFamily="34" charset="0"/>
              </a:rPr>
              <a:t>design</a:t>
            </a:r>
            <a:r>
              <a:rPr lang="en-US" sz="2000" spc="125" dirty="0">
                <a:ea typeface="Calibri" panose="020F0502020204030204" pitchFamily="34" charset="0"/>
              </a:rPr>
              <a:t> </a:t>
            </a:r>
            <a:r>
              <a:rPr lang="en-US" sz="2000" dirty="0">
                <a:effectLst/>
                <a:ea typeface="Calibri" panose="020F0502020204030204" pitchFamily="34" charset="0"/>
              </a:rPr>
              <a:t>is</a:t>
            </a:r>
            <a:r>
              <a:rPr lang="en-US" sz="2000" spc="105" dirty="0">
                <a:effectLst/>
                <a:ea typeface="Calibri" panose="020F0502020204030204" pitchFamily="34" charset="0"/>
              </a:rPr>
              <a:t> </a:t>
            </a:r>
            <a:r>
              <a:rPr lang="en-US" sz="2000" dirty="0">
                <a:effectLst/>
                <a:ea typeface="Calibri" panose="020F0502020204030204" pitchFamily="34" charset="0"/>
              </a:rPr>
              <a:t>created</a:t>
            </a:r>
            <a:r>
              <a:rPr lang="en-US" sz="2000" spc="130" dirty="0">
                <a:effectLst/>
                <a:ea typeface="Calibri" panose="020F0502020204030204" pitchFamily="34" charset="0"/>
              </a:rPr>
              <a:t> </a:t>
            </a:r>
            <a:r>
              <a:rPr lang="en-US" sz="2000" dirty="0">
                <a:effectLst/>
                <a:ea typeface="Calibri" panose="020F0502020204030204" pitchFamily="34" charset="0"/>
              </a:rPr>
              <a:t>and</a:t>
            </a:r>
            <a:r>
              <a:rPr lang="en-US" sz="2000" spc="-240" dirty="0">
                <a:effectLst/>
                <a:ea typeface="Calibri" panose="020F0502020204030204" pitchFamily="34" charset="0"/>
              </a:rPr>
              <a:t> </a:t>
            </a:r>
            <a:r>
              <a:rPr lang="en-US" sz="2000" dirty="0">
                <a:effectLst/>
                <a:ea typeface="Calibri" panose="020F0502020204030204" pitchFamily="34" charset="0"/>
              </a:rPr>
              <a:t>then iteratively refined until the most suitable design is reached. Some of the refinements that are often used</a:t>
            </a:r>
            <a:r>
              <a:rPr lang="en-US" sz="2000" spc="5" dirty="0">
                <a:effectLst/>
                <a:ea typeface="Calibri" panose="020F0502020204030204" pitchFamily="34" charset="0"/>
              </a:rPr>
              <a:t> </a:t>
            </a:r>
            <a:r>
              <a:rPr lang="en-US" sz="2000" dirty="0">
                <a:effectLst/>
                <a:ea typeface="Calibri" panose="020F0502020204030204" pitchFamily="34" charset="0"/>
              </a:rPr>
              <a:t>include</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15" dirty="0">
                <a:effectLst/>
                <a:ea typeface="Calibri" panose="020F0502020204030204" pitchFamily="34" charset="0"/>
              </a:rPr>
              <a:t> </a:t>
            </a:r>
            <a:r>
              <a:rPr lang="en-US" sz="2000" dirty="0">
                <a:effectLst/>
                <a:ea typeface="Calibri" panose="020F0502020204030204" pitchFamily="34" charset="0"/>
              </a:rPr>
              <a:t>following:</a:t>
            </a:r>
          </a:p>
          <a:p>
            <a:pPr marL="342900" marR="229870" lvl="2" indent="-342900" algn="just">
              <a:lnSpc>
                <a:spcPct val="107000"/>
              </a:lnSpc>
              <a:spcBef>
                <a:spcPts val="790"/>
              </a:spcBef>
              <a:buFont typeface="Wingdings" panose="05000000000000000000" pitchFamily="2" charset="2"/>
              <a:buChar char="ü"/>
              <a:tabLst>
                <a:tab pos="597535" algn="l"/>
              </a:tabLst>
            </a:pPr>
            <a:r>
              <a:rPr lang="en-US" sz="2000" dirty="0">
                <a:effectLst/>
                <a:ea typeface="Calibri" panose="020F0502020204030204" pitchFamily="34" charset="0"/>
              </a:rPr>
              <a:t>A</a:t>
            </a:r>
            <a:r>
              <a:rPr lang="en-US" sz="2000" spc="5" dirty="0">
                <a:effectLst/>
                <a:ea typeface="Calibri" panose="020F0502020204030204" pitchFamily="34" charset="0"/>
              </a:rPr>
              <a:t> </a:t>
            </a:r>
            <a:r>
              <a:rPr lang="en-US" sz="2000" dirty="0">
                <a:effectLst/>
                <a:ea typeface="Calibri" panose="020F0502020204030204" pitchFamily="34" charset="0"/>
              </a:rPr>
              <a:t>concept may be first modeled as an attribute and</a:t>
            </a:r>
            <a:r>
              <a:rPr lang="en-US" sz="2000" spc="245" dirty="0">
                <a:effectLst/>
                <a:ea typeface="Calibri" panose="020F0502020204030204" pitchFamily="34" charset="0"/>
              </a:rPr>
              <a:t> </a:t>
            </a:r>
            <a:r>
              <a:rPr lang="en-US" sz="2000" dirty="0">
                <a:effectLst/>
                <a:ea typeface="Calibri" panose="020F0502020204030204" pitchFamily="34" charset="0"/>
              </a:rPr>
              <a:t>then refined into a relationship because it is determined</a:t>
            </a:r>
            <a:r>
              <a:rPr lang="en-US" sz="2000" spc="5" dirty="0">
                <a:effectLst/>
                <a:ea typeface="Calibri" panose="020F0502020204030204" pitchFamily="34" charset="0"/>
              </a:rPr>
              <a:t> </a:t>
            </a:r>
            <a:r>
              <a:rPr lang="en-US" sz="2000" dirty="0">
                <a:effectLst/>
                <a:ea typeface="Calibri" panose="020F0502020204030204" pitchFamily="34" charset="0"/>
              </a:rPr>
              <a:t>that</a:t>
            </a:r>
            <a:r>
              <a:rPr lang="en-US" sz="2000" spc="-2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attribute</a:t>
            </a:r>
            <a:r>
              <a:rPr lang="en-US" sz="2000" spc="-10"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reference</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another</a:t>
            </a:r>
            <a:r>
              <a:rPr lang="en-US" sz="2000" spc="-10" dirty="0">
                <a:effectLst/>
                <a:ea typeface="Calibri" panose="020F0502020204030204" pitchFamily="34" charset="0"/>
              </a:rPr>
              <a:t> </a:t>
            </a:r>
            <a:r>
              <a:rPr lang="en-US" sz="2000" dirty="0">
                <a:effectLst/>
                <a:ea typeface="Calibri" panose="020F0502020204030204" pitchFamily="34" charset="0"/>
              </a:rPr>
              <a:t>entity</a:t>
            </a:r>
            <a:r>
              <a:rPr lang="en-US" sz="2000" spc="15" dirty="0">
                <a:effectLst/>
                <a:ea typeface="Calibri" panose="020F0502020204030204" pitchFamily="34" charset="0"/>
              </a:rPr>
              <a:t> </a:t>
            </a:r>
            <a:r>
              <a:rPr lang="en-US" sz="2000" dirty="0">
                <a:effectLst/>
                <a:ea typeface="Calibri" panose="020F0502020204030204" pitchFamily="34" charset="0"/>
              </a:rPr>
              <a:t>type</a:t>
            </a:r>
          </a:p>
          <a:p>
            <a:pPr marL="342900" marR="223520" lvl="2" indent="-342900" algn="just">
              <a:lnSpc>
                <a:spcPct val="106000"/>
              </a:lnSpc>
              <a:buFont typeface="Wingdings" panose="05000000000000000000" pitchFamily="2" charset="2"/>
              <a:buChar char="ü"/>
              <a:tabLst>
                <a:tab pos="597535" algn="l"/>
              </a:tabLst>
            </a:pPr>
            <a:r>
              <a:rPr lang="en-US" sz="2000" dirty="0">
                <a:effectLst/>
                <a:ea typeface="Calibri" panose="020F0502020204030204" pitchFamily="34" charset="0"/>
              </a:rPr>
              <a:t>Similarly, an attribute that exists in several entity types may be elevated or promoted to an independent entity</a:t>
            </a:r>
            <a:r>
              <a:rPr lang="en-US" sz="2000" spc="5" dirty="0">
                <a:effectLst/>
                <a:ea typeface="Calibri" panose="020F0502020204030204" pitchFamily="34" charset="0"/>
              </a:rPr>
              <a:t> </a:t>
            </a:r>
            <a:r>
              <a:rPr lang="en-US" sz="2000" dirty="0">
                <a:effectLst/>
                <a:ea typeface="Calibri" panose="020F0502020204030204" pitchFamily="34" charset="0"/>
              </a:rPr>
              <a:t>type. For example, suppose that each of several entity types in a UNIVERSITY database, such as STUDENT,</a:t>
            </a:r>
            <a:r>
              <a:rPr lang="en-US" sz="2000" spc="5" dirty="0">
                <a:effectLst/>
                <a:ea typeface="Calibri" panose="020F0502020204030204" pitchFamily="34" charset="0"/>
              </a:rPr>
              <a:t> </a:t>
            </a:r>
            <a:r>
              <a:rPr lang="en-US" sz="2000" dirty="0">
                <a:effectLst/>
                <a:ea typeface="Calibri" panose="020F0502020204030204" pitchFamily="34" charset="0"/>
              </a:rPr>
              <a:t>INSTRUCTOR, and COURSE, has an attribute Department in the initial design; the designer may then choose to</a:t>
            </a:r>
            <a:r>
              <a:rPr lang="en-US" sz="2000" spc="5" dirty="0">
                <a:effectLst/>
                <a:ea typeface="Calibri" panose="020F0502020204030204" pitchFamily="34" charset="0"/>
              </a:rPr>
              <a:t> </a:t>
            </a:r>
            <a:r>
              <a:rPr lang="en-US" sz="2000" dirty="0">
                <a:effectLst/>
                <a:ea typeface="Calibri" panose="020F0502020204030204" pitchFamily="34" charset="0"/>
              </a:rPr>
              <a:t>create an entity type DEPARTMENT with a single attribute </a:t>
            </a:r>
            <a:r>
              <a:rPr lang="en-US" sz="2000" dirty="0" err="1">
                <a:effectLst/>
                <a:ea typeface="Calibri" panose="020F0502020204030204" pitchFamily="34" charset="0"/>
              </a:rPr>
              <a:t>Dept_name</a:t>
            </a:r>
            <a:r>
              <a:rPr lang="en-US" sz="2000" dirty="0">
                <a:effectLst/>
                <a:ea typeface="Calibri" panose="020F0502020204030204" pitchFamily="34" charset="0"/>
              </a:rPr>
              <a:t> and relate it to the three entity types</a:t>
            </a:r>
            <a:r>
              <a:rPr lang="en-US" sz="2000" spc="5" dirty="0">
                <a:effectLst/>
                <a:ea typeface="Calibri" panose="020F0502020204030204" pitchFamily="34" charset="0"/>
              </a:rPr>
              <a:t> </a:t>
            </a:r>
            <a:r>
              <a:rPr lang="en-US" sz="2000" dirty="0">
                <a:effectLst/>
                <a:ea typeface="Calibri" panose="020F0502020204030204" pitchFamily="34" charset="0"/>
              </a:rPr>
              <a:t>(STUDENT,</a:t>
            </a:r>
            <a:r>
              <a:rPr lang="en-US" sz="2000" spc="-30" dirty="0">
                <a:effectLst/>
                <a:ea typeface="Calibri" panose="020F0502020204030204" pitchFamily="34" charset="0"/>
              </a:rPr>
              <a:t> </a:t>
            </a:r>
            <a:r>
              <a:rPr lang="en-US" sz="2000" dirty="0">
                <a:effectLst/>
                <a:ea typeface="Calibri" panose="020F0502020204030204" pitchFamily="34" charset="0"/>
              </a:rPr>
              <a:t>INSTRUCTOR,</a:t>
            </a:r>
            <a:r>
              <a:rPr lang="en-US" sz="2000" spc="-25" dirty="0">
                <a:effectLst/>
                <a:ea typeface="Calibri" panose="020F0502020204030204" pitchFamily="34" charset="0"/>
              </a:rPr>
              <a:t> </a:t>
            </a:r>
            <a:r>
              <a:rPr lang="en-US" sz="2000" dirty="0">
                <a:effectLst/>
                <a:ea typeface="Calibri" panose="020F0502020204030204" pitchFamily="34" charset="0"/>
              </a:rPr>
              <a:t>and</a:t>
            </a:r>
            <a:r>
              <a:rPr lang="en-US" sz="2000" spc="-15" dirty="0">
                <a:effectLst/>
                <a:ea typeface="Calibri" panose="020F0502020204030204" pitchFamily="34" charset="0"/>
              </a:rPr>
              <a:t> </a:t>
            </a:r>
            <a:r>
              <a:rPr lang="en-US" sz="2000" dirty="0">
                <a:effectLst/>
                <a:ea typeface="Calibri" panose="020F0502020204030204" pitchFamily="34" charset="0"/>
              </a:rPr>
              <a:t>COURSE)</a:t>
            </a:r>
            <a:r>
              <a:rPr lang="en-US" sz="2000" spc="-10" dirty="0">
                <a:effectLst/>
                <a:ea typeface="Calibri" panose="020F0502020204030204" pitchFamily="34" charset="0"/>
              </a:rPr>
              <a:t> </a:t>
            </a:r>
            <a:r>
              <a:rPr lang="en-US" sz="2000" dirty="0">
                <a:effectLst/>
                <a:ea typeface="Calibri" panose="020F0502020204030204" pitchFamily="34" charset="0"/>
              </a:rPr>
              <a:t>via</a:t>
            </a:r>
            <a:r>
              <a:rPr lang="en-US" sz="2000" spc="-10" dirty="0">
                <a:effectLst/>
                <a:ea typeface="Calibri" panose="020F0502020204030204" pitchFamily="34" charset="0"/>
              </a:rPr>
              <a:t> </a:t>
            </a:r>
            <a:r>
              <a:rPr lang="en-US" sz="2000" dirty="0">
                <a:effectLst/>
                <a:ea typeface="Calibri" panose="020F0502020204030204" pitchFamily="34" charset="0"/>
              </a:rPr>
              <a:t>appropriate</a:t>
            </a:r>
            <a:r>
              <a:rPr lang="en-US" sz="2000" spc="-10" dirty="0">
                <a:effectLst/>
                <a:ea typeface="Calibri" panose="020F0502020204030204" pitchFamily="34" charset="0"/>
              </a:rPr>
              <a:t> </a:t>
            </a:r>
            <a:r>
              <a:rPr lang="en-US" sz="2000" dirty="0">
                <a:effectLst/>
                <a:ea typeface="Calibri" panose="020F0502020204030204" pitchFamily="34" charset="0"/>
              </a:rPr>
              <a:t>relationships</a:t>
            </a:r>
          </a:p>
          <a:p>
            <a:pPr marL="342900" marR="227330" lvl="2" indent="-342900" algn="just">
              <a:lnSpc>
                <a:spcPct val="106000"/>
              </a:lnSpc>
              <a:spcBef>
                <a:spcPts val="50"/>
              </a:spcBef>
              <a:buFont typeface="Wingdings" panose="05000000000000000000" pitchFamily="2" charset="2"/>
              <a:buChar char="ü"/>
              <a:tabLst>
                <a:tab pos="597535" algn="l"/>
              </a:tabLst>
            </a:pPr>
            <a:r>
              <a:rPr lang="en-US" sz="2000" dirty="0">
                <a:effectLst/>
                <a:ea typeface="Calibri" panose="020F0502020204030204" pitchFamily="34" charset="0"/>
              </a:rPr>
              <a:t>An</a:t>
            </a:r>
            <a:r>
              <a:rPr lang="en-US" sz="2000" spc="45" dirty="0">
                <a:effectLst/>
                <a:ea typeface="Calibri" panose="020F0502020204030204" pitchFamily="34" charset="0"/>
              </a:rPr>
              <a:t> </a:t>
            </a:r>
            <a:r>
              <a:rPr lang="en-US" sz="2000" dirty="0">
                <a:effectLst/>
                <a:ea typeface="Calibri" panose="020F0502020204030204" pitchFamily="34" charset="0"/>
              </a:rPr>
              <a:t>inverse</a:t>
            </a:r>
            <a:r>
              <a:rPr lang="en-US" sz="2000" spc="60" dirty="0">
                <a:effectLst/>
                <a:ea typeface="Calibri" panose="020F0502020204030204" pitchFamily="34" charset="0"/>
              </a:rPr>
              <a:t> </a:t>
            </a:r>
            <a:r>
              <a:rPr lang="en-US" sz="2000" dirty="0">
                <a:effectLst/>
                <a:ea typeface="Calibri" panose="020F0502020204030204" pitchFamily="34" charset="0"/>
              </a:rPr>
              <a:t>refinement</a:t>
            </a:r>
            <a:r>
              <a:rPr lang="en-US" sz="2000" spc="40" dirty="0">
                <a:effectLst/>
                <a:ea typeface="Calibri" panose="020F0502020204030204" pitchFamily="34" charset="0"/>
              </a:rPr>
              <a:t> </a:t>
            </a:r>
            <a:r>
              <a:rPr lang="en-US" sz="2000" dirty="0">
                <a:effectLst/>
                <a:ea typeface="Calibri" panose="020F0502020204030204" pitchFamily="34" charset="0"/>
              </a:rPr>
              <a:t>to</a:t>
            </a:r>
            <a:r>
              <a:rPr lang="en-US" sz="2000" spc="50" dirty="0">
                <a:effectLst/>
                <a:ea typeface="Calibri" panose="020F0502020204030204" pitchFamily="34" charset="0"/>
              </a:rPr>
              <a:t> </a:t>
            </a:r>
            <a:r>
              <a:rPr lang="en-US" sz="2000" dirty="0">
                <a:effectLst/>
                <a:ea typeface="Calibri" panose="020F0502020204030204" pitchFamily="34" charset="0"/>
              </a:rPr>
              <a:t>the</a:t>
            </a:r>
            <a:r>
              <a:rPr lang="en-US" sz="2000" spc="60" dirty="0">
                <a:effectLst/>
                <a:ea typeface="Calibri" panose="020F0502020204030204" pitchFamily="34" charset="0"/>
              </a:rPr>
              <a:t> </a:t>
            </a:r>
            <a:r>
              <a:rPr lang="en-US" sz="2000" dirty="0">
                <a:effectLst/>
                <a:ea typeface="Calibri" panose="020F0502020204030204" pitchFamily="34" charset="0"/>
              </a:rPr>
              <a:t>previous</a:t>
            </a:r>
            <a:r>
              <a:rPr lang="en-US" sz="2000" spc="50" dirty="0">
                <a:effectLst/>
                <a:ea typeface="Calibri" panose="020F0502020204030204" pitchFamily="34" charset="0"/>
              </a:rPr>
              <a:t> </a:t>
            </a:r>
            <a:r>
              <a:rPr lang="en-US" sz="2000" dirty="0">
                <a:effectLst/>
                <a:ea typeface="Calibri" panose="020F0502020204030204" pitchFamily="34" charset="0"/>
              </a:rPr>
              <a:t>case</a:t>
            </a:r>
            <a:r>
              <a:rPr lang="en-US" sz="2000" spc="35" dirty="0">
                <a:effectLst/>
                <a:ea typeface="Calibri" panose="020F0502020204030204" pitchFamily="34" charset="0"/>
              </a:rPr>
              <a:t> </a:t>
            </a:r>
            <a:r>
              <a:rPr lang="en-US" sz="2000" dirty="0">
                <a:effectLst/>
                <a:ea typeface="Calibri" panose="020F0502020204030204" pitchFamily="34" charset="0"/>
              </a:rPr>
              <a:t>may</a:t>
            </a:r>
            <a:r>
              <a:rPr lang="en-US" sz="2000" spc="30" dirty="0">
                <a:effectLst/>
                <a:ea typeface="Calibri" panose="020F0502020204030204" pitchFamily="34" charset="0"/>
              </a:rPr>
              <a:t> </a:t>
            </a:r>
            <a:r>
              <a:rPr lang="en-US" sz="2000" dirty="0">
                <a:effectLst/>
                <a:ea typeface="Calibri" panose="020F0502020204030204" pitchFamily="34" charset="0"/>
              </a:rPr>
              <a:t>be</a:t>
            </a:r>
            <a:r>
              <a:rPr lang="en-US" sz="2000" spc="60" dirty="0">
                <a:effectLst/>
                <a:ea typeface="Calibri" panose="020F0502020204030204" pitchFamily="34" charset="0"/>
              </a:rPr>
              <a:t> </a:t>
            </a:r>
            <a:r>
              <a:rPr lang="en-US" sz="2000" dirty="0">
                <a:effectLst/>
                <a:ea typeface="Calibri" panose="020F0502020204030204" pitchFamily="34" charset="0"/>
              </a:rPr>
              <a:t>applied—for</a:t>
            </a:r>
            <a:r>
              <a:rPr lang="en-US" sz="2000" spc="30" dirty="0">
                <a:effectLst/>
                <a:ea typeface="Calibri" panose="020F0502020204030204" pitchFamily="34" charset="0"/>
              </a:rPr>
              <a:t> </a:t>
            </a:r>
            <a:r>
              <a:rPr lang="en-US" sz="2000" dirty="0">
                <a:effectLst/>
                <a:ea typeface="Calibri" panose="020F0502020204030204" pitchFamily="34" charset="0"/>
              </a:rPr>
              <a:t>example,</a:t>
            </a:r>
            <a:r>
              <a:rPr lang="en-US" sz="2000" spc="40" dirty="0">
                <a:effectLst/>
                <a:ea typeface="Calibri" panose="020F0502020204030204" pitchFamily="34" charset="0"/>
              </a:rPr>
              <a:t> </a:t>
            </a:r>
            <a:r>
              <a:rPr lang="en-US" sz="2000" dirty="0">
                <a:effectLst/>
                <a:ea typeface="Calibri" panose="020F0502020204030204" pitchFamily="34" charset="0"/>
              </a:rPr>
              <a:t>if</a:t>
            </a:r>
            <a:r>
              <a:rPr lang="en-US" sz="2000" spc="30" dirty="0">
                <a:effectLst/>
                <a:ea typeface="Calibri" panose="020F0502020204030204" pitchFamily="34" charset="0"/>
              </a:rPr>
              <a:t> </a:t>
            </a:r>
            <a:r>
              <a:rPr lang="en-US" sz="2000" dirty="0">
                <a:effectLst/>
                <a:ea typeface="Calibri" panose="020F0502020204030204" pitchFamily="34" charset="0"/>
              </a:rPr>
              <a:t>an</a:t>
            </a:r>
            <a:r>
              <a:rPr lang="en-US" sz="2000" spc="50" dirty="0">
                <a:effectLst/>
                <a:ea typeface="Calibri" panose="020F0502020204030204" pitchFamily="34" charset="0"/>
              </a:rPr>
              <a:t> </a:t>
            </a:r>
            <a:r>
              <a:rPr lang="en-US" sz="2000" dirty="0">
                <a:effectLst/>
                <a:ea typeface="Calibri" panose="020F0502020204030204" pitchFamily="34" charset="0"/>
              </a:rPr>
              <a:t>entity</a:t>
            </a:r>
            <a:r>
              <a:rPr lang="en-US" sz="2000" spc="55" dirty="0">
                <a:effectLst/>
                <a:ea typeface="Calibri" panose="020F0502020204030204" pitchFamily="34" charset="0"/>
              </a:rPr>
              <a:t> </a:t>
            </a:r>
            <a:r>
              <a:rPr lang="en-US" sz="2000" dirty="0">
                <a:effectLst/>
                <a:ea typeface="Calibri" panose="020F0502020204030204" pitchFamily="34" charset="0"/>
              </a:rPr>
              <a:t>type</a:t>
            </a:r>
            <a:r>
              <a:rPr lang="en-US" sz="2000" spc="35" dirty="0">
                <a:effectLst/>
                <a:ea typeface="Calibri" panose="020F0502020204030204" pitchFamily="34" charset="0"/>
              </a:rPr>
              <a:t> </a:t>
            </a:r>
            <a:r>
              <a:rPr lang="en-US" sz="2000" dirty="0">
                <a:effectLst/>
                <a:ea typeface="Calibri" panose="020F0502020204030204" pitchFamily="34" charset="0"/>
              </a:rPr>
              <a:t>DEPARTMENT</a:t>
            </a:r>
            <a:r>
              <a:rPr lang="en-US" sz="2000" spc="45" dirty="0">
                <a:effectLst/>
                <a:ea typeface="Calibri" panose="020F0502020204030204" pitchFamily="34" charset="0"/>
              </a:rPr>
              <a:t> </a:t>
            </a:r>
            <a:r>
              <a:rPr lang="en-US" sz="2000" dirty="0">
                <a:effectLst/>
                <a:ea typeface="Calibri" panose="020F0502020204030204" pitchFamily="34" charset="0"/>
              </a:rPr>
              <a:t>exists</a:t>
            </a:r>
            <a:r>
              <a:rPr lang="en-US" sz="2000" spc="-240" dirty="0">
                <a:effectLst/>
                <a:ea typeface="Calibri" panose="020F0502020204030204" pitchFamily="34" charset="0"/>
              </a:rPr>
              <a:t> </a:t>
            </a:r>
            <a:r>
              <a:rPr lang="en-US" sz="2000" dirty="0">
                <a:effectLst/>
                <a:ea typeface="Calibri" panose="020F0502020204030204" pitchFamily="34" charset="0"/>
              </a:rPr>
              <a:t>in the initial design with a single attribute </a:t>
            </a:r>
            <a:r>
              <a:rPr lang="en-US" sz="2000" dirty="0" err="1">
                <a:effectLst/>
                <a:ea typeface="Calibri" panose="020F0502020204030204" pitchFamily="34" charset="0"/>
              </a:rPr>
              <a:t>Dept_name</a:t>
            </a:r>
            <a:r>
              <a:rPr lang="en-US" sz="2000" dirty="0">
                <a:effectLst/>
                <a:ea typeface="Calibri" panose="020F0502020204030204" pitchFamily="34" charset="0"/>
              </a:rPr>
              <a:t> and is related to only one other entity type, STUDENT. In</a:t>
            </a:r>
            <a:r>
              <a:rPr lang="en-US" sz="2000" spc="5" dirty="0">
                <a:effectLst/>
                <a:ea typeface="Calibri" panose="020F0502020204030204" pitchFamily="34" charset="0"/>
              </a:rPr>
              <a:t> </a:t>
            </a:r>
            <a:r>
              <a:rPr lang="en-US" sz="2000" dirty="0">
                <a:effectLst/>
                <a:ea typeface="Calibri" panose="020F0502020204030204" pitchFamily="34" charset="0"/>
              </a:rPr>
              <a:t>this</a:t>
            </a:r>
            <a:r>
              <a:rPr lang="en-US" sz="2000" spc="-15" dirty="0">
                <a:effectLst/>
                <a:ea typeface="Calibri" panose="020F0502020204030204" pitchFamily="34" charset="0"/>
              </a:rPr>
              <a:t> </a:t>
            </a:r>
            <a:r>
              <a:rPr lang="en-US" sz="2000" dirty="0">
                <a:effectLst/>
                <a:ea typeface="Calibri" panose="020F0502020204030204" pitchFamily="34" charset="0"/>
              </a:rPr>
              <a:t>case,</a:t>
            </a:r>
            <a:r>
              <a:rPr lang="en-US" sz="2000" spc="-20" dirty="0">
                <a:effectLst/>
                <a:ea typeface="Calibri" panose="020F0502020204030204" pitchFamily="34" charset="0"/>
              </a:rPr>
              <a:t> </a:t>
            </a:r>
            <a:r>
              <a:rPr lang="en-US" sz="2000" dirty="0">
                <a:effectLst/>
                <a:ea typeface="Calibri" panose="020F0502020204030204" pitchFamily="34" charset="0"/>
              </a:rPr>
              <a:t>DEPARTMENT</a:t>
            </a:r>
            <a:r>
              <a:rPr lang="en-US" sz="2000" spc="-20" dirty="0">
                <a:effectLst/>
                <a:ea typeface="Calibri" panose="020F0502020204030204" pitchFamily="34" charset="0"/>
              </a:rPr>
              <a:t> </a:t>
            </a:r>
            <a:r>
              <a:rPr lang="en-US" sz="2000" dirty="0">
                <a:effectLst/>
                <a:ea typeface="Calibri" panose="020F0502020204030204" pitchFamily="34" charset="0"/>
              </a:rPr>
              <a:t>may</a:t>
            </a:r>
            <a:r>
              <a:rPr lang="en-US" sz="2000" spc="-10" dirty="0">
                <a:effectLst/>
                <a:ea typeface="Calibri" panose="020F0502020204030204" pitchFamily="34" charset="0"/>
              </a:rPr>
              <a:t> </a:t>
            </a:r>
            <a:r>
              <a:rPr lang="en-US" sz="2000" dirty="0">
                <a:effectLst/>
                <a:ea typeface="Calibri" panose="020F0502020204030204" pitchFamily="34" charset="0"/>
              </a:rPr>
              <a:t>be</a:t>
            </a:r>
            <a:r>
              <a:rPr lang="en-US" sz="2000" spc="-10" dirty="0">
                <a:effectLst/>
                <a:ea typeface="Calibri" panose="020F0502020204030204" pitchFamily="34" charset="0"/>
              </a:rPr>
              <a:t> </a:t>
            </a:r>
            <a:r>
              <a:rPr lang="en-US" sz="2000" dirty="0">
                <a:effectLst/>
                <a:ea typeface="Calibri" panose="020F0502020204030204" pitchFamily="34" charset="0"/>
              </a:rPr>
              <a:t>reduced</a:t>
            </a:r>
            <a:r>
              <a:rPr lang="en-US" sz="2000" spc="-10" dirty="0">
                <a:effectLst/>
                <a:ea typeface="Calibri" panose="020F0502020204030204" pitchFamily="34" charset="0"/>
              </a:rPr>
              <a:t> </a:t>
            </a:r>
            <a:r>
              <a:rPr lang="en-US" sz="2000" dirty="0">
                <a:effectLst/>
                <a:ea typeface="Calibri" panose="020F0502020204030204" pitchFamily="34" charset="0"/>
              </a:rPr>
              <a:t>or</a:t>
            </a:r>
            <a:r>
              <a:rPr lang="en-US" sz="2000" spc="10" dirty="0">
                <a:effectLst/>
                <a:ea typeface="Calibri" panose="020F0502020204030204" pitchFamily="34" charset="0"/>
              </a:rPr>
              <a:t> </a:t>
            </a:r>
            <a:r>
              <a:rPr lang="en-US" sz="2000" dirty="0">
                <a:effectLst/>
                <a:ea typeface="Calibri" panose="020F0502020204030204" pitchFamily="34" charset="0"/>
              </a:rPr>
              <a:t>demoted</a:t>
            </a:r>
            <a:r>
              <a:rPr lang="en-US" sz="2000" spc="-10"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an</a:t>
            </a:r>
            <a:r>
              <a:rPr lang="en-US" sz="2000" spc="-15" dirty="0">
                <a:effectLst/>
                <a:ea typeface="Calibri" panose="020F0502020204030204" pitchFamily="34" charset="0"/>
              </a:rPr>
              <a:t> </a:t>
            </a:r>
            <a:r>
              <a:rPr lang="en-US" sz="2000" dirty="0">
                <a:effectLst/>
                <a:ea typeface="Calibri" panose="020F0502020204030204" pitchFamily="34" charset="0"/>
              </a:rPr>
              <a:t>attribute</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STUDENT</a:t>
            </a:r>
          </a:p>
        </p:txBody>
      </p:sp>
    </p:spTree>
    <p:extLst>
      <p:ext uri="{BB962C8B-B14F-4D97-AF65-F5344CB8AC3E}">
        <p14:creationId xmlns:p14="http://schemas.microsoft.com/office/powerpoint/2010/main" val="11312685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BA476C7B-CB04-A953-70AE-87AA1A0BB463}"/>
              </a:ext>
            </a:extLst>
          </p:cNvPr>
          <p:cNvGraphicFramePr/>
          <p:nvPr>
            <p:extLst>
              <p:ext uri="{D42A27DB-BD31-4B8C-83A1-F6EECF244321}">
                <p14:modId xmlns:p14="http://schemas.microsoft.com/office/powerpoint/2010/main" val="488721311"/>
              </p:ext>
            </p:extLst>
          </p:nvPr>
        </p:nvGraphicFramePr>
        <p:xfrm>
          <a:off x="309966" y="340963"/>
          <a:ext cx="11499742" cy="4494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5F1AE332-533B-F13F-285D-DEDD52C62336}"/>
              </a:ext>
            </a:extLst>
          </p:cNvPr>
          <p:cNvSpPr txBox="1"/>
          <p:nvPr/>
        </p:nvSpPr>
        <p:spPr>
          <a:xfrm>
            <a:off x="294468" y="1193369"/>
            <a:ext cx="11608230" cy="373794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000" dirty="0"/>
              <a:t>W</a:t>
            </a:r>
            <a:r>
              <a:rPr lang="en-US" sz="2000" b="0" i="0" u="none" strike="noStrike" baseline="0" dirty="0"/>
              <a:t>e describe one alternative ER notation for specifying structural constraints on relationships, which replaces the cardinality ratio (1:1, 1:N, M:N) and single/double-line notation for participation constraints. </a:t>
            </a:r>
          </a:p>
          <a:p>
            <a:pPr marL="285750" indent="-285750" algn="just">
              <a:lnSpc>
                <a:spcPct val="150000"/>
              </a:lnSpc>
              <a:buFont typeface="Arial" panose="020B0604020202020204" pitchFamily="34" charset="0"/>
              <a:buChar char="•"/>
            </a:pPr>
            <a:r>
              <a:rPr lang="en-US" sz="2000" b="0" i="0" u="none" strike="noStrike" baseline="0" dirty="0"/>
              <a:t>This notation involves associating a pair of integer numbers (min, max) with each </a:t>
            </a:r>
            <a:r>
              <a:rPr lang="en-US" sz="2000" b="0" i="1" u="none" strike="noStrike" baseline="0" dirty="0"/>
              <a:t>participation </a:t>
            </a:r>
            <a:r>
              <a:rPr lang="en-US" sz="2000" b="0" i="0" u="none" strike="noStrike" baseline="0" dirty="0"/>
              <a:t>of an entity type </a:t>
            </a:r>
            <a:r>
              <a:rPr lang="en-US" sz="2000" b="0" i="1" u="none" strike="noStrike" baseline="0" dirty="0"/>
              <a:t>E </a:t>
            </a:r>
            <a:r>
              <a:rPr lang="en-US" sz="2000" b="0" i="0" u="none" strike="noStrike" baseline="0" dirty="0"/>
              <a:t>in a relationship type </a:t>
            </a:r>
            <a:r>
              <a:rPr lang="en-US" sz="2000" b="0" i="1" u="none" strike="noStrike" baseline="0" dirty="0"/>
              <a:t>R</a:t>
            </a:r>
            <a:r>
              <a:rPr lang="en-US" sz="2000" b="0" i="0" u="none" strike="noStrike" baseline="0" dirty="0"/>
              <a:t>, where 0 ≤ min ≤ max and max ≥ 1. </a:t>
            </a:r>
          </a:p>
          <a:p>
            <a:pPr marL="285750" indent="-285750" algn="just">
              <a:lnSpc>
                <a:spcPct val="150000"/>
              </a:lnSpc>
              <a:buFont typeface="Arial" panose="020B0604020202020204" pitchFamily="34" charset="0"/>
              <a:buChar char="•"/>
            </a:pPr>
            <a:r>
              <a:rPr lang="en-US" sz="2000" b="0" i="0" u="none" strike="noStrike" baseline="0" dirty="0"/>
              <a:t>The numbers mean that for each entity </a:t>
            </a:r>
            <a:r>
              <a:rPr lang="en-US" sz="2000" b="0" i="1" u="none" strike="noStrike" baseline="0" dirty="0"/>
              <a:t>e </a:t>
            </a:r>
            <a:r>
              <a:rPr lang="en-US" sz="2000" b="0" i="0" u="none" strike="noStrike" baseline="0" dirty="0"/>
              <a:t>in </a:t>
            </a:r>
            <a:r>
              <a:rPr lang="en-US" sz="2000" b="0" i="1" u="none" strike="noStrike" baseline="0" dirty="0"/>
              <a:t>E</a:t>
            </a:r>
            <a:r>
              <a:rPr lang="en-US" sz="2000" b="0" i="0" u="none" strike="noStrike" baseline="0" dirty="0"/>
              <a:t>, </a:t>
            </a:r>
            <a:r>
              <a:rPr lang="en-US" sz="2000" b="0" i="1" u="none" strike="noStrike" baseline="0" dirty="0"/>
              <a:t>e </a:t>
            </a:r>
            <a:r>
              <a:rPr lang="en-US" sz="2000" b="0" i="0" u="none" strike="noStrike" baseline="0" dirty="0"/>
              <a:t>must participate in at least </a:t>
            </a:r>
            <a:r>
              <a:rPr lang="en-US" sz="2000" b="0" i="1" u="none" strike="noStrike" baseline="0" dirty="0"/>
              <a:t>min </a:t>
            </a:r>
            <a:r>
              <a:rPr lang="en-US" sz="2000" b="0" i="0" u="none" strike="noStrike" baseline="0" dirty="0"/>
              <a:t>and at most </a:t>
            </a:r>
            <a:r>
              <a:rPr lang="en-US" sz="2000" b="0" i="1" u="none" strike="noStrike" baseline="0" dirty="0"/>
              <a:t>max </a:t>
            </a:r>
            <a:r>
              <a:rPr lang="en-US" sz="2000" b="0" i="0" u="none" strike="noStrike" baseline="0" dirty="0"/>
              <a:t>relationship instances in </a:t>
            </a:r>
            <a:r>
              <a:rPr lang="en-US" sz="2000" b="0" i="1" u="none" strike="noStrike" baseline="0" dirty="0"/>
              <a:t>R at any point in time</a:t>
            </a:r>
            <a:r>
              <a:rPr lang="en-US" sz="2000" b="0" i="0" u="none" strike="noStrike" baseline="0" dirty="0"/>
              <a:t>. </a:t>
            </a:r>
          </a:p>
          <a:p>
            <a:pPr marL="285750" indent="-285750" algn="just">
              <a:lnSpc>
                <a:spcPct val="150000"/>
              </a:lnSpc>
              <a:buFont typeface="Arial" panose="020B0604020202020204" pitchFamily="34" charset="0"/>
              <a:buChar char="•"/>
            </a:pPr>
            <a:r>
              <a:rPr lang="en-US" sz="2000" b="0" i="0" u="none" strike="noStrike" baseline="0" dirty="0"/>
              <a:t>In this method, min = 0 implies partial participation, whereas min &gt; 0 implies total participation.</a:t>
            </a:r>
          </a:p>
          <a:p>
            <a:pPr marL="342900" indent="-342900" algn="l">
              <a:lnSpc>
                <a:spcPct val="150000"/>
              </a:lnSpc>
              <a:buFont typeface="Arial" panose="020B0604020202020204" pitchFamily="34" charset="0"/>
              <a:buChar char="•"/>
            </a:pPr>
            <a:r>
              <a:rPr lang="en-US" sz="2000" b="0" i="0" u="none" strike="noStrike" baseline="0" dirty="0"/>
              <a:t>Usually, one uses either the cardinality ratio/single-line/double-line notation </a:t>
            </a:r>
            <a:r>
              <a:rPr lang="en-US" sz="2000" b="0" i="1" u="none" strike="noStrike" baseline="0" dirty="0"/>
              <a:t>or </a:t>
            </a:r>
            <a:r>
              <a:rPr lang="en-US" sz="2000" b="0" i="0" u="none" strike="noStrike" baseline="0" dirty="0"/>
              <a:t>the (min, max) notation.</a:t>
            </a:r>
            <a:endParaRPr lang="en-US" sz="2000" dirty="0"/>
          </a:p>
        </p:txBody>
      </p:sp>
    </p:spTree>
    <p:extLst>
      <p:ext uri="{BB962C8B-B14F-4D97-AF65-F5344CB8AC3E}">
        <p14:creationId xmlns:p14="http://schemas.microsoft.com/office/powerpoint/2010/main" val="10960382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941247-0574-82F9-63F1-95C4BA04489F}"/>
              </a:ext>
            </a:extLst>
          </p:cNvPr>
          <p:cNvPicPr>
            <a:picLocks noChangeAspect="1"/>
          </p:cNvPicPr>
          <p:nvPr/>
        </p:nvPicPr>
        <p:blipFill>
          <a:blip r:embed="rId2"/>
          <a:stretch>
            <a:fillRect/>
          </a:stretch>
        </p:blipFill>
        <p:spPr>
          <a:xfrm>
            <a:off x="2783237" y="7573"/>
            <a:ext cx="6391760" cy="6850428"/>
          </a:xfrm>
          <a:prstGeom prst="rect">
            <a:avLst/>
          </a:prstGeom>
        </p:spPr>
      </p:pic>
    </p:spTree>
    <p:extLst>
      <p:ext uri="{BB962C8B-B14F-4D97-AF65-F5344CB8AC3E}">
        <p14:creationId xmlns:p14="http://schemas.microsoft.com/office/powerpoint/2010/main" val="28296810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B5107576-AFB5-862E-FCE3-E0B145E7522D}"/>
              </a:ext>
            </a:extLst>
          </p:cNvPr>
          <p:cNvGraphicFramePr/>
          <p:nvPr>
            <p:extLst>
              <p:ext uri="{D42A27DB-BD31-4B8C-83A1-F6EECF244321}">
                <p14:modId xmlns:p14="http://schemas.microsoft.com/office/powerpoint/2010/main" val="985078968"/>
              </p:ext>
            </p:extLst>
          </p:nvPr>
        </p:nvGraphicFramePr>
        <p:xfrm>
          <a:off x="480447" y="294469"/>
          <a:ext cx="10337370" cy="4029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D184DE20-62FC-A4D9-5A0E-E1E5AF4F236B}"/>
              </a:ext>
            </a:extLst>
          </p:cNvPr>
          <p:cNvPicPr>
            <a:picLocks noChangeAspect="1"/>
          </p:cNvPicPr>
          <p:nvPr/>
        </p:nvPicPr>
        <p:blipFill>
          <a:blip r:embed="rId7"/>
          <a:stretch>
            <a:fillRect/>
          </a:stretch>
        </p:blipFill>
        <p:spPr>
          <a:xfrm>
            <a:off x="4760886" y="0"/>
            <a:ext cx="5266518" cy="6791722"/>
          </a:xfrm>
          <a:prstGeom prst="rect">
            <a:avLst/>
          </a:prstGeom>
        </p:spPr>
      </p:pic>
    </p:spTree>
    <p:extLst>
      <p:ext uri="{BB962C8B-B14F-4D97-AF65-F5344CB8AC3E}">
        <p14:creationId xmlns:p14="http://schemas.microsoft.com/office/powerpoint/2010/main" val="35131522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F2459758-2A6F-4A13-9A37-8C597FE21BBE}"/>
              </a:ext>
            </a:extLst>
          </p:cNvPr>
          <p:cNvGraphicFramePr/>
          <p:nvPr>
            <p:extLst>
              <p:ext uri="{D42A27DB-BD31-4B8C-83A1-F6EECF244321}">
                <p14:modId xmlns:p14="http://schemas.microsoft.com/office/powerpoint/2010/main" val="2401906300"/>
              </p:ext>
            </p:extLst>
          </p:nvPr>
        </p:nvGraphicFramePr>
        <p:xfrm>
          <a:off x="526942" y="340965"/>
          <a:ext cx="11143282" cy="9298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0D69FCBA-AD52-75CD-E823-3C92EDED3575}"/>
              </a:ext>
            </a:extLst>
          </p:cNvPr>
          <p:cNvPicPr>
            <a:picLocks noChangeAspect="1"/>
          </p:cNvPicPr>
          <p:nvPr/>
        </p:nvPicPr>
        <p:blipFill>
          <a:blip r:embed="rId7"/>
          <a:stretch>
            <a:fillRect/>
          </a:stretch>
        </p:blipFill>
        <p:spPr>
          <a:xfrm>
            <a:off x="3538698" y="763199"/>
            <a:ext cx="8126360" cy="5753836"/>
          </a:xfrm>
          <a:prstGeom prst="rect">
            <a:avLst/>
          </a:prstGeom>
        </p:spPr>
      </p:pic>
      <p:sp>
        <p:nvSpPr>
          <p:cNvPr id="6" name="TextBox 5">
            <a:extLst>
              <a:ext uri="{FF2B5EF4-FFF2-40B4-BE49-F238E27FC236}">
                <a16:creationId xmlns:a16="http://schemas.microsoft.com/office/drawing/2014/main" id="{064E6AB5-6FAB-6C79-C2E0-0C9FF6843AA3}"/>
              </a:ext>
            </a:extLst>
          </p:cNvPr>
          <p:cNvSpPr txBox="1"/>
          <p:nvPr/>
        </p:nvSpPr>
        <p:spPr>
          <a:xfrm>
            <a:off x="526942" y="1596325"/>
            <a:ext cx="2789695" cy="1477328"/>
          </a:xfrm>
          <a:prstGeom prst="rect">
            <a:avLst/>
          </a:prstGeom>
          <a:noFill/>
        </p:spPr>
        <p:txBody>
          <a:bodyPr wrap="square" rtlCol="0">
            <a:spAutoFit/>
          </a:bodyPr>
          <a:lstStyle/>
          <a:p>
            <a:pPr algn="l"/>
            <a:r>
              <a:rPr lang="en-US" sz="1800" b="0" i="0" u="none" strike="noStrike" baseline="0" dirty="0">
                <a:latin typeface="MinionPro-Regular"/>
              </a:rPr>
              <a:t>The </a:t>
            </a:r>
            <a:r>
              <a:rPr lang="en-US" sz="1800" b="0" i="1" u="none" strike="noStrike" baseline="0" dirty="0">
                <a:latin typeface="MinionPro-It"/>
              </a:rPr>
              <a:t>entity types </a:t>
            </a:r>
            <a:r>
              <a:rPr lang="en-US" sz="1800" b="0" i="0" u="none" strike="noStrike" baseline="0" dirty="0">
                <a:latin typeface="MinionPro-Regular"/>
              </a:rPr>
              <a:t>are modeled as </a:t>
            </a:r>
            <a:r>
              <a:rPr lang="en-US" sz="1800" b="0" i="1" u="none" strike="noStrike" baseline="0" dirty="0">
                <a:latin typeface="MinionPro-It"/>
              </a:rPr>
              <a:t>Classes in UML.</a:t>
            </a:r>
          </a:p>
          <a:p>
            <a:pPr algn="l"/>
            <a:endParaRPr lang="en-US" sz="1800" b="0" i="1" u="none" strike="noStrike" baseline="0" dirty="0">
              <a:latin typeface="MinionPro-It"/>
            </a:endParaRPr>
          </a:p>
          <a:p>
            <a:pPr algn="l"/>
            <a:r>
              <a:rPr lang="en-US" sz="1800" b="0" i="0" u="none" strike="noStrike" baseline="0" dirty="0">
                <a:latin typeface="MinionPro-Regular"/>
              </a:rPr>
              <a:t>An </a:t>
            </a:r>
            <a:r>
              <a:rPr lang="en-US" sz="1800" b="0" i="1" u="none" strike="noStrike" baseline="0" dirty="0">
                <a:latin typeface="MinionPro-It"/>
              </a:rPr>
              <a:t>entity </a:t>
            </a:r>
            <a:r>
              <a:rPr lang="en-US" sz="1800" b="0" i="0" u="none" strike="noStrike" baseline="0" dirty="0">
                <a:latin typeface="MinionPro-Regular"/>
              </a:rPr>
              <a:t>in ER corresponds to an </a:t>
            </a:r>
            <a:r>
              <a:rPr lang="en-US" sz="1800" b="0" i="1" u="none" strike="noStrike" baseline="0" dirty="0">
                <a:latin typeface="MinionPro-It"/>
              </a:rPr>
              <a:t>object </a:t>
            </a:r>
            <a:r>
              <a:rPr lang="en-US" sz="1800" b="0" i="0" u="none" strike="noStrike" baseline="0" dirty="0">
                <a:latin typeface="MinionPro-Regular"/>
              </a:rPr>
              <a:t>in UML.</a:t>
            </a:r>
            <a:endParaRPr lang="en-US" dirty="0"/>
          </a:p>
        </p:txBody>
      </p:sp>
    </p:spTree>
    <p:extLst>
      <p:ext uri="{BB962C8B-B14F-4D97-AF65-F5344CB8AC3E}">
        <p14:creationId xmlns:p14="http://schemas.microsoft.com/office/powerpoint/2010/main" val="458753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20D633-3FDE-B523-A4A3-B46341F9CFFF}"/>
              </a:ext>
            </a:extLst>
          </p:cNvPr>
          <p:cNvSpPr txBox="1"/>
          <p:nvPr/>
        </p:nvSpPr>
        <p:spPr>
          <a:xfrm>
            <a:off x="418454" y="356461"/>
            <a:ext cx="11468746" cy="2554545"/>
          </a:xfrm>
          <a:prstGeom prst="rect">
            <a:avLst/>
          </a:prstGeom>
          <a:noFill/>
        </p:spPr>
        <p:txBody>
          <a:bodyPr wrap="square" rtlCol="0">
            <a:spAutoFit/>
          </a:bodyPr>
          <a:lstStyle/>
          <a:p>
            <a:pPr algn="just"/>
            <a:r>
              <a:rPr lang="en-US" sz="2000" b="0" i="0" u="none" strike="noStrike" baseline="0" dirty="0"/>
              <a:t>In UML class diagrams, a </a:t>
            </a:r>
            <a:r>
              <a:rPr lang="en-US" sz="2000" b="1" i="0" u="none" strike="noStrike" baseline="0" dirty="0"/>
              <a:t>class </a:t>
            </a:r>
            <a:r>
              <a:rPr lang="en-US" sz="2000" b="0" i="0" u="none" strike="noStrike" baseline="0" dirty="0"/>
              <a:t>(similar to an entity type in ER) is displayed as a box that includes three sections: </a:t>
            </a:r>
          </a:p>
          <a:p>
            <a:pPr marL="342900" indent="-342900" algn="just">
              <a:buFont typeface="Arial" panose="020B0604020202020204" pitchFamily="34" charset="0"/>
              <a:buChar char="•"/>
            </a:pPr>
            <a:r>
              <a:rPr lang="en-US" sz="2000" b="0" i="0" u="none" strike="noStrike" baseline="0" dirty="0"/>
              <a:t>The top section gives the </a:t>
            </a:r>
            <a:r>
              <a:rPr lang="en-US" sz="2000" b="1" i="0" u="none" strike="noStrike" baseline="0" dirty="0"/>
              <a:t>class name </a:t>
            </a:r>
            <a:r>
              <a:rPr lang="en-US" sz="2000" b="0" i="0" u="none" strike="noStrike" baseline="0" dirty="0"/>
              <a:t>(similar to entity type name); </a:t>
            </a:r>
          </a:p>
          <a:p>
            <a:pPr marL="342900" indent="-342900" algn="just">
              <a:buFont typeface="Arial" panose="020B0604020202020204" pitchFamily="34" charset="0"/>
              <a:buChar char="•"/>
            </a:pPr>
            <a:r>
              <a:rPr lang="en-US" sz="2000" b="0" i="0" u="none" strike="noStrike" baseline="0" dirty="0"/>
              <a:t>the middle section includes the </a:t>
            </a:r>
            <a:r>
              <a:rPr lang="en-US" sz="2000" b="1" i="0" u="none" strike="noStrike" baseline="0" dirty="0"/>
              <a:t>attributes</a:t>
            </a:r>
            <a:r>
              <a:rPr lang="en-US" sz="2000" b="0" i="0" u="none" strike="noStrike" baseline="0" dirty="0"/>
              <a:t>;</a:t>
            </a:r>
          </a:p>
          <a:p>
            <a:pPr marL="342900" indent="-342900" algn="just">
              <a:buFont typeface="Arial" panose="020B0604020202020204" pitchFamily="34" charset="0"/>
              <a:buChar char="•"/>
            </a:pPr>
            <a:r>
              <a:rPr lang="en-US" sz="2000" b="0" i="0" u="none" strike="noStrike" baseline="0" dirty="0"/>
              <a:t>The</a:t>
            </a:r>
            <a:r>
              <a:rPr lang="en-US" sz="2000" dirty="0"/>
              <a:t> </a:t>
            </a:r>
            <a:r>
              <a:rPr lang="en-US" sz="2000" b="0" i="0" u="none" strike="noStrike" baseline="0" dirty="0"/>
              <a:t>last section includes </a:t>
            </a:r>
            <a:r>
              <a:rPr lang="en-US" sz="2000" b="1" i="0" u="none" strike="noStrike" baseline="0" dirty="0"/>
              <a:t>operations </a:t>
            </a:r>
            <a:r>
              <a:rPr lang="en-US" sz="2000" b="0" i="0" u="none" strike="noStrike" baseline="0" dirty="0"/>
              <a:t>that can be applied to individual objects (similar to individual entities in an entity set) of the class.</a:t>
            </a:r>
          </a:p>
          <a:p>
            <a:pPr marL="342900" indent="-342900" algn="just">
              <a:buFont typeface="Arial" panose="020B0604020202020204" pitchFamily="34" charset="0"/>
              <a:buChar char="•"/>
            </a:pPr>
            <a:endParaRPr lang="en-US" sz="2000" dirty="0"/>
          </a:p>
          <a:p>
            <a:pPr algn="l"/>
            <a:r>
              <a:rPr lang="en-US" sz="2000" b="0" i="0" u="none" strike="noStrike" baseline="0" dirty="0"/>
              <a:t>Operations are </a:t>
            </a:r>
            <a:r>
              <a:rPr lang="en-US" sz="2000" b="0" i="1" u="none" strike="noStrike" baseline="0" dirty="0"/>
              <a:t>not </a:t>
            </a:r>
            <a:r>
              <a:rPr lang="en-US" sz="2000" b="0" i="0" u="none" strike="noStrike" baseline="0" dirty="0"/>
              <a:t>specified in ER diagrams.</a:t>
            </a:r>
            <a:endParaRPr lang="en-US" sz="2000" dirty="0"/>
          </a:p>
        </p:txBody>
      </p:sp>
    </p:spTree>
    <p:extLst>
      <p:ext uri="{BB962C8B-B14F-4D97-AF65-F5344CB8AC3E}">
        <p14:creationId xmlns:p14="http://schemas.microsoft.com/office/powerpoint/2010/main" val="34642470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18B0F620-1B21-78CB-796F-965BE4E3CCDE}"/>
              </a:ext>
            </a:extLst>
          </p:cNvPr>
          <p:cNvGraphicFramePr/>
          <p:nvPr>
            <p:extLst>
              <p:ext uri="{D42A27DB-BD31-4B8C-83A1-F6EECF244321}">
                <p14:modId xmlns:p14="http://schemas.microsoft.com/office/powerpoint/2010/main" val="1389491427"/>
              </p:ext>
            </p:extLst>
          </p:nvPr>
        </p:nvGraphicFramePr>
        <p:xfrm>
          <a:off x="216976" y="325463"/>
          <a:ext cx="11732217" cy="12243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B23710D9-943F-FB52-EAC4-2FF60F32C58D}"/>
              </a:ext>
            </a:extLst>
          </p:cNvPr>
          <p:cNvSpPr txBox="1"/>
          <p:nvPr/>
        </p:nvSpPr>
        <p:spPr>
          <a:xfrm>
            <a:off x="242808" y="1828800"/>
            <a:ext cx="11706386" cy="4199611"/>
          </a:xfrm>
          <a:prstGeom prst="rect">
            <a:avLst/>
          </a:prstGeom>
          <a:noFill/>
        </p:spPr>
        <p:txBody>
          <a:bodyPr wrap="square" rtlCol="0">
            <a:spAutoFit/>
          </a:bodyPr>
          <a:lstStyle/>
          <a:p>
            <a:pPr marL="228600" marR="427355" lvl="2" indent="-228600" algn="just">
              <a:lnSpc>
                <a:spcPct val="150000"/>
              </a:lnSpc>
              <a:buFont typeface="Wingdings" panose="05000000000000000000" pitchFamily="2" charset="2"/>
              <a:buChar char=""/>
              <a:tabLst>
                <a:tab pos="597535" algn="l"/>
              </a:tabLst>
            </a:pP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dirty="0">
                <a:effectLst/>
                <a:ea typeface="Calibri" panose="020F0502020204030204" pitchFamily="34" charset="0"/>
              </a:rPr>
              <a:t>ER</a:t>
            </a:r>
            <a:r>
              <a:rPr lang="en-US" sz="2000" spc="20" dirty="0">
                <a:effectLst/>
                <a:ea typeface="Calibri" panose="020F0502020204030204" pitchFamily="34" charset="0"/>
              </a:rPr>
              <a:t> </a:t>
            </a:r>
            <a:r>
              <a:rPr lang="en-US" sz="2000" dirty="0">
                <a:effectLst/>
                <a:ea typeface="Calibri" panose="020F0502020204030204" pitchFamily="34" charset="0"/>
              </a:rPr>
              <a:t>diagram</a:t>
            </a:r>
            <a:r>
              <a:rPr lang="en-US" sz="2000" spc="25" dirty="0">
                <a:effectLst/>
                <a:ea typeface="Calibri" panose="020F0502020204030204" pitchFamily="34" charset="0"/>
              </a:rPr>
              <a:t> </a:t>
            </a:r>
            <a:r>
              <a:rPr lang="en-US" sz="2000" dirty="0">
                <a:effectLst/>
                <a:ea typeface="Calibri" panose="020F0502020204030204" pitchFamily="34" charset="0"/>
              </a:rPr>
              <a:t>notation</a:t>
            </a:r>
            <a:r>
              <a:rPr lang="en-US" sz="2000" spc="-5" dirty="0">
                <a:effectLst/>
                <a:ea typeface="Calibri" panose="020F0502020204030204" pitchFamily="34" charset="0"/>
              </a:rPr>
              <a:t> </a:t>
            </a:r>
            <a:r>
              <a:rPr lang="en-US" sz="2000" dirty="0">
                <a:effectLst/>
                <a:ea typeface="Calibri" panose="020F0502020204030204" pitchFamily="34" charset="0"/>
              </a:rPr>
              <a:t>for</a:t>
            </a:r>
            <a:r>
              <a:rPr lang="en-US" sz="2000" spc="20" dirty="0">
                <a:effectLst/>
                <a:ea typeface="Calibri" panose="020F0502020204030204" pitchFamily="34" charset="0"/>
              </a:rPr>
              <a:t> </a:t>
            </a:r>
            <a:r>
              <a:rPr lang="en-US" sz="2000" dirty="0">
                <a:effectLst/>
                <a:ea typeface="Calibri" panose="020F0502020204030204" pitchFamily="34" charset="0"/>
              </a:rPr>
              <a:t>a</a:t>
            </a:r>
            <a:r>
              <a:rPr lang="en-US" sz="2000" spc="20" dirty="0">
                <a:effectLst/>
                <a:ea typeface="Calibri" panose="020F0502020204030204" pitchFamily="34" charset="0"/>
              </a:rPr>
              <a:t> </a:t>
            </a:r>
            <a:r>
              <a:rPr lang="en-US" sz="2000" dirty="0">
                <a:effectLst/>
                <a:ea typeface="Calibri" panose="020F0502020204030204" pitchFamily="34" charset="0"/>
              </a:rPr>
              <a:t>ternary relationship</a:t>
            </a:r>
            <a:r>
              <a:rPr lang="en-US" sz="2000" spc="20" dirty="0">
                <a:effectLst/>
                <a:ea typeface="Calibri" panose="020F0502020204030204" pitchFamily="34" charset="0"/>
              </a:rPr>
              <a:t> </a:t>
            </a:r>
            <a:r>
              <a:rPr lang="en-US" sz="2000" dirty="0">
                <a:effectLst/>
                <a:ea typeface="Calibri" panose="020F0502020204030204" pitchFamily="34" charset="0"/>
              </a:rPr>
              <a:t>type is shown</a:t>
            </a:r>
            <a:r>
              <a:rPr lang="en-US" sz="2000" spc="20" dirty="0">
                <a:effectLst/>
                <a:ea typeface="Calibri" panose="020F0502020204030204" pitchFamily="34" charset="0"/>
              </a:rPr>
              <a:t> </a:t>
            </a:r>
            <a:r>
              <a:rPr lang="en-US" sz="2000" dirty="0">
                <a:effectLst/>
                <a:ea typeface="Calibri" panose="020F0502020204030204" pitchFamily="34" charset="0"/>
              </a:rPr>
              <a:t>in</a:t>
            </a:r>
            <a:r>
              <a:rPr lang="en-US" sz="2000" spc="-10" dirty="0">
                <a:effectLst/>
                <a:ea typeface="Calibri" panose="020F0502020204030204" pitchFamily="34" charset="0"/>
              </a:rPr>
              <a:t> </a:t>
            </a:r>
            <a:r>
              <a:rPr lang="en-US" sz="2000" dirty="0">
                <a:effectLst/>
                <a:ea typeface="Calibri" panose="020F0502020204030204" pitchFamily="34" charset="0"/>
              </a:rPr>
              <a:t>Figure</a:t>
            </a:r>
            <a:r>
              <a:rPr lang="en-US" sz="2000" spc="25"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which</a:t>
            </a:r>
            <a:r>
              <a:rPr lang="en-US" sz="2000" spc="15" dirty="0">
                <a:effectLst/>
                <a:ea typeface="Calibri" panose="020F0502020204030204" pitchFamily="34" charset="0"/>
              </a:rPr>
              <a:t> </a:t>
            </a:r>
            <a:r>
              <a:rPr lang="en-US" sz="2000" dirty="0">
                <a:effectLst/>
                <a:ea typeface="Calibri" panose="020F0502020204030204" pitchFamily="34" charset="0"/>
              </a:rPr>
              <a:t>displays</a:t>
            </a:r>
            <a:r>
              <a:rPr lang="en-US" sz="2000" spc="50" dirty="0">
                <a:effectLst/>
                <a:ea typeface="Calibri" panose="020F0502020204030204" pitchFamily="34" charset="0"/>
              </a:rPr>
              <a:t> </a:t>
            </a:r>
            <a:r>
              <a:rPr lang="en-US" sz="2000" dirty="0">
                <a:effectLst/>
                <a:ea typeface="Calibri" panose="020F0502020204030204" pitchFamily="34" charset="0"/>
              </a:rPr>
              <a:t>the</a:t>
            </a:r>
            <a:r>
              <a:rPr lang="en-US" sz="2000" spc="25" dirty="0">
                <a:effectLst/>
                <a:ea typeface="Calibri" panose="020F0502020204030204" pitchFamily="34" charset="0"/>
              </a:rPr>
              <a:t> </a:t>
            </a:r>
            <a:r>
              <a:rPr lang="en-US" sz="2000" dirty="0">
                <a:effectLst/>
                <a:ea typeface="Calibri" panose="020F0502020204030204" pitchFamily="34" charset="0"/>
              </a:rPr>
              <a:t>schema</a:t>
            </a:r>
            <a:r>
              <a:rPr lang="en-US" sz="2000" spc="20" dirty="0">
                <a:effectLst/>
                <a:ea typeface="Calibri" panose="020F0502020204030204" pitchFamily="34" charset="0"/>
              </a:rPr>
              <a:t> </a:t>
            </a:r>
            <a:r>
              <a:rPr lang="en-US" sz="2000" dirty="0">
                <a:effectLst/>
                <a:ea typeface="Calibri" panose="020F0502020204030204" pitchFamily="34" charset="0"/>
              </a:rPr>
              <a:t>for</a:t>
            </a:r>
            <a:r>
              <a:rPr lang="en-US" sz="2000" spc="-235" dirty="0">
                <a:effectLst/>
                <a:ea typeface="Calibri" panose="020F0502020204030204" pitchFamily="34" charset="0"/>
              </a:rPr>
              <a:t> </a:t>
            </a: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dirty="0">
                <a:effectLst/>
                <a:ea typeface="Calibri" panose="020F0502020204030204" pitchFamily="34" charset="0"/>
              </a:rPr>
              <a:t>SUPPLY</a:t>
            </a:r>
            <a:r>
              <a:rPr lang="en-US" sz="2000" spc="5" dirty="0">
                <a:effectLst/>
                <a:ea typeface="Calibri" panose="020F0502020204030204" pitchFamily="34" charset="0"/>
              </a:rPr>
              <a:t> </a:t>
            </a:r>
            <a:r>
              <a:rPr lang="en-US" sz="2000" dirty="0">
                <a:effectLst/>
                <a:ea typeface="Calibri" panose="020F0502020204030204" pitchFamily="34" charset="0"/>
              </a:rPr>
              <a:t>relationship</a:t>
            </a:r>
            <a:r>
              <a:rPr lang="en-US" sz="2000" spc="10" dirty="0">
                <a:effectLst/>
                <a:ea typeface="Calibri" panose="020F0502020204030204" pitchFamily="34" charset="0"/>
              </a:rPr>
              <a:t> </a:t>
            </a:r>
            <a:r>
              <a:rPr lang="en-US" sz="2000" dirty="0">
                <a:effectLst/>
                <a:ea typeface="Calibri" panose="020F0502020204030204" pitchFamily="34" charset="0"/>
              </a:rPr>
              <a:t>type</a:t>
            </a:r>
            <a:r>
              <a:rPr lang="en-US" sz="2000" spc="45" dirty="0">
                <a:effectLst/>
                <a:ea typeface="Calibri" panose="020F0502020204030204" pitchFamily="34" charset="0"/>
              </a:rPr>
              <a:t> </a:t>
            </a:r>
            <a:r>
              <a:rPr lang="en-US" sz="2000" dirty="0">
                <a:effectLst/>
                <a:ea typeface="Calibri" panose="020F0502020204030204" pitchFamily="34" charset="0"/>
              </a:rPr>
              <a:t>that</a:t>
            </a:r>
            <a:r>
              <a:rPr lang="en-US" sz="2000" spc="-15" dirty="0">
                <a:effectLst/>
                <a:ea typeface="Calibri" panose="020F0502020204030204" pitchFamily="34" charset="0"/>
              </a:rPr>
              <a:t> </a:t>
            </a:r>
            <a:r>
              <a:rPr lang="en-US" sz="2000" dirty="0">
                <a:effectLst/>
                <a:ea typeface="Calibri" panose="020F0502020204030204" pitchFamily="34" charset="0"/>
              </a:rPr>
              <a:t>was</a:t>
            </a:r>
            <a:r>
              <a:rPr lang="en-US" sz="2000" spc="20" dirty="0">
                <a:effectLst/>
                <a:ea typeface="Calibri" panose="020F0502020204030204" pitchFamily="34" charset="0"/>
              </a:rPr>
              <a:t> </a:t>
            </a:r>
            <a:r>
              <a:rPr lang="en-US" sz="2000" dirty="0">
                <a:effectLst/>
                <a:ea typeface="Calibri" panose="020F0502020204030204" pitchFamily="34" charset="0"/>
              </a:rPr>
              <a:t>displayed</a:t>
            </a:r>
            <a:r>
              <a:rPr lang="en-US" sz="2000" spc="-10" dirty="0">
                <a:effectLst/>
                <a:ea typeface="Calibri" panose="020F0502020204030204" pitchFamily="34" charset="0"/>
              </a:rPr>
              <a:t> </a:t>
            </a:r>
            <a:r>
              <a:rPr lang="en-US" sz="2000" dirty="0">
                <a:effectLst/>
                <a:ea typeface="Calibri" panose="020F0502020204030204" pitchFamily="34" charset="0"/>
              </a:rPr>
              <a:t>at</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5" dirty="0">
                <a:effectLst/>
                <a:ea typeface="Calibri" panose="020F0502020204030204" pitchFamily="34" charset="0"/>
              </a:rPr>
              <a:t> </a:t>
            </a:r>
            <a:r>
              <a:rPr lang="en-US" sz="2000" dirty="0">
                <a:effectLst/>
                <a:ea typeface="Calibri" panose="020F0502020204030204" pitchFamily="34" charset="0"/>
              </a:rPr>
              <a:t>entity</a:t>
            </a:r>
            <a:r>
              <a:rPr lang="en-US" sz="2000" spc="-5" dirty="0">
                <a:effectLst/>
                <a:ea typeface="Calibri" panose="020F0502020204030204" pitchFamily="34" charset="0"/>
              </a:rPr>
              <a:t> </a:t>
            </a:r>
            <a:r>
              <a:rPr lang="en-US" sz="2000" dirty="0">
                <a:effectLst/>
                <a:ea typeface="Calibri" panose="020F0502020204030204" pitchFamily="34" charset="0"/>
              </a:rPr>
              <a:t>set/relationship</a:t>
            </a:r>
            <a:r>
              <a:rPr lang="en-US" sz="2000" spc="10" dirty="0">
                <a:effectLst/>
                <a:ea typeface="Calibri" panose="020F0502020204030204" pitchFamily="34" charset="0"/>
              </a:rPr>
              <a:t> </a:t>
            </a:r>
            <a:r>
              <a:rPr lang="en-US" sz="2000" dirty="0">
                <a:effectLst/>
                <a:ea typeface="Calibri" panose="020F0502020204030204" pitchFamily="34" charset="0"/>
              </a:rPr>
              <a:t>set</a:t>
            </a:r>
            <a:r>
              <a:rPr lang="en-US" sz="2000" spc="65" dirty="0">
                <a:effectLst/>
                <a:ea typeface="Calibri" panose="020F0502020204030204" pitchFamily="34" charset="0"/>
              </a:rPr>
              <a:t> </a:t>
            </a:r>
            <a:r>
              <a:rPr lang="en-US" sz="2000" dirty="0">
                <a:effectLst/>
                <a:ea typeface="Calibri" panose="020F0502020204030204" pitchFamily="34" charset="0"/>
              </a:rPr>
              <a:t>or</a:t>
            </a:r>
            <a:r>
              <a:rPr lang="en-US" sz="2000" spc="-5" dirty="0">
                <a:effectLst/>
                <a:ea typeface="Calibri" panose="020F0502020204030204" pitchFamily="34" charset="0"/>
              </a:rPr>
              <a:t> </a:t>
            </a:r>
            <a:r>
              <a:rPr lang="en-US" sz="2000" dirty="0">
                <a:effectLst/>
                <a:ea typeface="Calibri" panose="020F0502020204030204" pitchFamily="34" charset="0"/>
              </a:rPr>
              <a:t>instance</a:t>
            </a:r>
            <a:r>
              <a:rPr lang="en-US" sz="2000" spc="20" dirty="0">
                <a:effectLst/>
                <a:ea typeface="Calibri" panose="020F0502020204030204" pitchFamily="34" charset="0"/>
              </a:rPr>
              <a:t> </a:t>
            </a:r>
            <a:r>
              <a:rPr lang="en-US" sz="2000" dirty="0">
                <a:effectLst/>
                <a:ea typeface="Calibri" panose="020F0502020204030204" pitchFamily="34" charset="0"/>
              </a:rPr>
              <a:t>level</a:t>
            </a:r>
          </a:p>
          <a:p>
            <a:pPr marL="228600" marR="248920" lvl="2" indent="-228600" algn="just">
              <a:lnSpc>
                <a:spcPct val="150000"/>
              </a:lnSpc>
              <a:buFont typeface="Wingdings" panose="05000000000000000000" pitchFamily="2" charset="2"/>
              <a:buChar char=""/>
              <a:tabLst>
                <a:tab pos="627380" algn="l"/>
                <a:tab pos="628015" algn="l"/>
              </a:tabLst>
            </a:pPr>
            <a:r>
              <a:rPr lang="en-US" sz="2000" dirty="0">
                <a:effectLst/>
                <a:ea typeface="Calibri" panose="020F0502020204030204" pitchFamily="34" charset="0"/>
              </a:rPr>
              <a:t>Recall</a:t>
            </a:r>
            <a:r>
              <a:rPr lang="en-US" sz="2000" spc="30" dirty="0">
                <a:effectLst/>
                <a:ea typeface="Calibri" panose="020F0502020204030204" pitchFamily="34" charset="0"/>
              </a:rPr>
              <a:t> </a:t>
            </a:r>
            <a:r>
              <a:rPr lang="en-US" sz="2000" dirty="0">
                <a:effectLst/>
                <a:ea typeface="Calibri" panose="020F0502020204030204" pitchFamily="34" charset="0"/>
              </a:rPr>
              <a:t>that</a:t>
            </a:r>
            <a:r>
              <a:rPr lang="en-US" sz="2000" spc="10" dirty="0">
                <a:effectLst/>
                <a:ea typeface="Calibri" panose="020F0502020204030204" pitchFamily="34" charset="0"/>
              </a:rPr>
              <a:t> </a:t>
            </a:r>
            <a:r>
              <a:rPr lang="en-US" sz="2000" dirty="0">
                <a:effectLst/>
                <a:ea typeface="Calibri" panose="020F0502020204030204" pitchFamily="34" charset="0"/>
              </a:rPr>
              <a:t>the</a:t>
            </a:r>
            <a:r>
              <a:rPr lang="en-US" sz="2000" spc="25" dirty="0">
                <a:effectLst/>
                <a:ea typeface="Calibri" panose="020F0502020204030204" pitchFamily="34" charset="0"/>
              </a:rPr>
              <a:t> </a:t>
            </a:r>
            <a:r>
              <a:rPr lang="en-US" sz="2000" dirty="0">
                <a:effectLst/>
                <a:ea typeface="Calibri" panose="020F0502020204030204" pitchFamily="34" charset="0"/>
              </a:rPr>
              <a:t>relationship</a:t>
            </a:r>
            <a:r>
              <a:rPr lang="en-US" sz="2000" spc="15" dirty="0">
                <a:effectLst/>
                <a:ea typeface="Calibri" panose="020F0502020204030204" pitchFamily="34" charset="0"/>
              </a:rPr>
              <a:t> </a:t>
            </a:r>
            <a:r>
              <a:rPr lang="en-US" sz="2000" dirty="0">
                <a:effectLst/>
                <a:ea typeface="Calibri" panose="020F0502020204030204" pitchFamily="34" charset="0"/>
              </a:rPr>
              <a:t>set</a:t>
            </a:r>
            <a:r>
              <a:rPr lang="en-US" sz="2000" spc="10" dirty="0">
                <a:effectLst/>
                <a:ea typeface="Calibri" panose="020F0502020204030204" pitchFamily="34" charset="0"/>
              </a:rPr>
              <a:t> </a:t>
            </a:r>
            <a:r>
              <a:rPr lang="en-US" sz="2000" dirty="0">
                <a:effectLst/>
                <a:ea typeface="Calibri" panose="020F0502020204030204" pitchFamily="34" charset="0"/>
              </a:rPr>
              <a:t>of</a:t>
            </a:r>
            <a:r>
              <a:rPr lang="en-US" sz="2000" spc="20" dirty="0">
                <a:effectLst/>
                <a:ea typeface="Calibri" panose="020F0502020204030204" pitchFamily="34" charset="0"/>
              </a:rPr>
              <a:t> </a:t>
            </a:r>
            <a:r>
              <a:rPr lang="en-US" sz="2000" dirty="0">
                <a:effectLst/>
                <a:ea typeface="Calibri" panose="020F0502020204030204" pitchFamily="34" charset="0"/>
              </a:rPr>
              <a:t>SUPPLY</a:t>
            </a:r>
            <a:r>
              <a:rPr lang="en-US" sz="2000" spc="45" dirty="0">
                <a:effectLst/>
                <a:ea typeface="Calibri" panose="020F0502020204030204" pitchFamily="34" charset="0"/>
              </a:rPr>
              <a:t> </a:t>
            </a:r>
            <a:r>
              <a:rPr lang="en-US" sz="2000" dirty="0">
                <a:effectLst/>
                <a:ea typeface="Calibri" panose="020F0502020204030204" pitchFamily="34" charset="0"/>
              </a:rPr>
              <a:t>is a</a:t>
            </a:r>
            <a:r>
              <a:rPr lang="en-US" sz="2000" spc="20" dirty="0">
                <a:effectLst/>
                <a:ea typeface="Calibri" panose="020F0502020204030204" pitchFamily="34" charset="0"/>
              </a:rPr>
              <a:t> </a:t>
            </a:r>
            <a:r>
              <a:rPr lang="en-US" sz="2000" dirty="0">
                <a:effectLst/>
                <a:ea typeface="Calibri" panose="020F0502020204030204" pitchFamily="34" charset="0"/>
              </a:rPr>
              <a:t>set</a:t>
            </a:r>
            <a:r>
              <a:rPr lang="en-US" sz="2000" spc="15" dirty="0">
                <a:effectLst/>
                <a:ea typeface="Calibri" panose="020F0502020204030204" pitchFamily="34" charset="0"/>
              </a:rPr>
              <a:t> </a:t>
            </a:r>
            <a:r>
              <a:rPr lang="en-US" sz="2000" dirty="0">
                <a:effectLst/>
                <a:ea typeface="Calibri" panose="020F0502020204030204" pitchFamily="34" charset="0"/>
              </a:rPr>
              <a:t>of relationship</a:t>
            </a:r>
            <a:r>
              <a:rPr lang="en-US" sz="2000" spc="15" dirty="0">
                <a:effectLst/>
                <a:ea typeface="Calibri" panose="020F0502020204030204" pitchFamily="34" charset="0"/>
              </a:rPr>
              <a:t> </a:t>
            </a:r>
            <a:r>
              <a:rPr lang="en-US" sz="2000" dirty="0">
                <a:effectLst/>
                <a:ea typeface="Calibri" panose="020F0502020204030204" pitchFamily="34" charset="0"/>
              </a:rPr>
              <a:t>instances</a:t>
            </a:r>
            <a:r>
              <a:rPr lang="en-US" sz="2000" spc="5" dirty="0">
                <a:effectLst/>
                <a:ea typeface="Calibri" panose="020F0502020204030204" pitchFamily="34" charset="0"/>
              </a:rPr>
              <a:t> </a:t>
            </a:r>
            <a:r>
              <a:rPr lang="en-US" sz="2000" dirty="0">
                <a:effectLst/>
                <a:ea typeface="Calibri" panose="020F0502020204030204" pitchFamily="34" charset="0"/>
              </a:rPr>
              <a:t>(s,</a:t>
            </a:r>
            <a:r>
              <a:rPr lang="en-US" sz="2000" spc="10" dirty="0">
                <a:effectLst/>
                <a:ea typeface="Calibri" panose="020F0502020204030204" pitchFamily="34" charset="0"/>
              </a:rPr>
              <a:t> </a:t>
            </a:r>
            <a:r>
              <a:rPr lang="en-US" sz="2000" dirty="0">
                <a:effectLst/>
                <a:ea typeface="Calibri" panose="020F0502020204030204" pitchFamily="34" charset="0"/>
              </a:rPr>
              <a:t>j,</a:t>
            </a:r>
            <a:r>
              <a:rPr lang="en-US" sz="2000" spc="-15" dirty="0">
                <a:effectLst/>
                <a:ea typeface="Calibri" panose="020F0502020204030204" pitchFamily="34" charset="0"/>
              </a:rPr>
              <a:t> </a:t>
            </a:r>
            <a:r>
              <a:rPr lang="en-US" sz="2000" dirty="0">
                <a:effectLst/>
                <a:ea typeface="Calibri" panose="020F0502020204030204" pitchFamily="34" charset="0"/>
              </a:rPr>
              <a:t>p),</a:t>
            </a:r>
            <a:r>
              <a:rPr lang="en-US" sz="2000" spc="10" dirty="0">
                <a:effectLst/>
                <a:ea typeface="Calibri" panose="020F0502020204030204" pitchFamily="34" charset="0"/>
              </a:rPr>
              <a:t> </a:t>
            </a:r>
            <a:r>
              <a:rPr lang="en-US" sz="2000" dirty="0">
                <a:effectLst/>
                <a:ea typeface="Calibri" panose="020F0502020204030204" pitchFamily="34" charset="0"/>
              </a:rPr>
              <a:t>where</a:t>
            </a:r>
            <a:r>
              <a:rPr lang="en-US" sz="2000" spc="25" dirty="0">
                <a:effectLst/>
                <a:ea typeface="Calibri" panose="020F0502020204030204" pitchFamily="34" charset="0"/>
              </a:rPr>
              <a:t> </a:t>
            </a:r>
            <a:r>
              <a:rPr lang="en-US" sz="2000" dirty="0">
                <a:effectLst/>
                <a:ea typeface="Calibri" panose="020F0502020204030204" pitchFamily="34" charset="0"/>
              </a:rPr>
              <a:t>s is</a:t>
            </a:r>
            <a:r>
              <a:rPr lang="en-US" sz="2000" spc="20" dirty="0">
                <a:effectLst/>
                <a:ea typeface="Calibri" panose="020F0502020204030204" pitchFamily="34" charset="0"/>
              </a:rPr>
              <a:t> </a:t>
            </a:r>
            <a:r>
              <a:rPr lang="en-US" sz="2000" dirty="0">
                <a:effectLst/>
                <a:ea typeface="Calibri" panose="020F0502020204030204" pitchFamily="34" charset="0"/>
              </a:rPr>
              <a:t>a</a:t>
            </a:r>
            <a:r>
              <a:rPr lang="en-US" sz="2000" spc="20" dirty="0">
                <a:effectLst/>
                <a:ea typeface="Calibri" panose="020F0502020204030204" pitchFamily="34" charset="0"/>
              </a:rPr>
              <a:t> </a:t>
            </a:r>
            <a:r>
              <a:rPr lang="en-US" sz="2000" dirty="0">
                <a:effectLst/>
                <a:ea typeface="Calibri" panose="020F0502020204030204" pitchFamily="34" charset="0"/>
              </a:rPr>
              <a:t>SUPPLIER</a:t>
            </a:r>
            <a:r>
              <a:rPr lang="en-US" sz="2000" spc="20" dirty="0">
                <a:effectLst/>
                <a:ea typeface="Calibri" panose="020F0502020204030204" pitchFamily="34" charset="0"/>
              </a:rPr>
              <a:t> </a:t>
            </a:r>
            <a:r>
              <a:rPr lang="en-US" sz="2000" dirty="0">
                <a:effectLst/>
                <a:ea typeface="Calibri" panose="020F0502020204030204" pitchFamily="34" charset="0"/>
              </a:rPr>
              <a:t>who</a:t>
            </a:r>
            <a:r>
              <a:rPr lang="en-US" sz="2000" spc="-5" dirty="0">
                <a:effectLst/>
                <a:ea typeface="Calibri" panose="020F0502020204030204" pitchFamily="34" charset="0"/>
              </a:rPr>
              <a:t> </a:t>
            </a:r>
            <a:r>
              <a:rPr lang="en-US" sz="2000" dirty="0">
                <a:effectLst/>
                <a:ea typeface="Calibri" panose="020F0502020204030204" pitchFamily="34" charset="0"/>
              </a:rPr>
              <a:t>is</a:t>
            </a:r>
            <a:r>
              <a:rPr lang="en-US" sz="2000" spc="-235" dirty="0">
                <a:effectLst/>
                <a:ea typeface="Calibri" panose="020F0502020204030204" pitchFamily="34" charset="0"/>
              </a:rPr>
              <a:t> </a:t>
            </a:r>
            <a:r>
              <a:rPr lang="en-US" sz="2000" dirty="0">
                <a:effectLst/>
                <a:ea typeface="Calibri" panose="020F0502020204030204" pitchFamily="34" charset="0"/>
              </a:rPr>
              <a:t>currently</a:t>
            </a:r>
            <a:r>
              <a:rPr lang="en-US" sz="2000" spc="-10" dirty="0">
                <a:effectLst/>
                <a:ea typeface="Calibri" panose="020F0502020204030204" pitchFamily="34" charset="0"/>
              </a:rPr>
              <a:t> </a:t>
            </a:r>
            <a:r>
              <a:rPr lang="en-US" sz="2000" dirty="0">
                <a:effectLst/>
                <a:ea typeface="Calibri" panose="020F0502020204030204" pitchFamily="34" charset="0"/>
              </a:rPr>
              <a:t>supplying</a:t>
            </a:r>
            <a:r>
              <a:rPr lang="en-US" sz="2000" spc="20"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PART p</a:t>
            </a:r>
            <a:r>
              <a:rPr lang="en-US" sz="2000" spc="5" dirty="0">
                <a:effectLst/>
                <a:ea typeface="Calibri" panose="020F0502020204030204" pitchFamily="34" charset="0"/>
              </a:rPr>
              <a:t> </a:t>
            </a:r>
            <a:r>
              <a:rPr lang="en-US" sz="2000" dirty="0">
                <a:effectLst/>
                <a:ea typeface="Calibri" panose="020F0502020204030204" pitchFamily="34" charset="0"/>
              </a:rPr>
              <a:t>to</a:t>
            </a:r>
            <a:r>
              <a:rPr lang="en-US" sz="2000" spc="-15" dirty="0">
                <a:effectLst/>
                <a:ea typeface="Calibri" panose="020F0502020204030204" pitchFamily="34" charset="0"/>
              </a:rPr>
              <a:t> </a:t>
            </a:r>
            <a:r>
              <a:rPr lang="en-US" sz="2000" dirty="0">
                <a:effectLst/>
                <a:ea typeface="Calibri" panose="020F0502020204030204" pitchFamily="34" charset="0"/>
              </a:rPr>
              <a:t>a</a:t>
            </a:r>
            <a:r>
              <a:rPr lang="en-US" sz="2000" spc="10" dirty="0">
                <a:effectLst/>
                <a:ea typeface="Calibri" panose="020F0502020204030204" pitchFamily="34" charset="0"/>
              </a:rPr>
              <a:t> </a:t>
            </a:r>
            <a:r>
              <a:rPr lang="en-US" sz="2000" dirty="0">
                <a:effectLst/>
                <a:ea typeface="Calibri" panose="020F0502020204030204" pitchFamily="34" charset="0"/>
              </a:rPr>
              <a:t>PROJECT</a:t>
            </a:r>
            <a:r>
              <a:rPr lang="en-US" sz="2000" spc="5" dirty="0">
                <a:effectLst/>
                <a:ea typeface="Calibri" panose="020F0502020204030204" pitchFamily="34" charset="0"/>
              </a:rPr>
              <a:t> </a:t>
            </a:r>
            <a:r>
              <a:rPr lang="en-US" sz="2000" dirty="0">
                <a:effectLst/>
                <a:ea typeface="Calibri" panose="020F0502020204030204" pitchFamily="34" charset="0"/>
              </a:rPr>
              <a:t>j</a:t>
            </a:r>
          </a:p>
          <a:p>
            <a:pPr marL="228600" marR="572770" lvl="2" indent="-228600" algn="just">
              <a:lnSpc>
                <a:spcPct val="150000"/>
              </a:lnSpc>
              <a:buFont typeface="Wingdings" panose="05000000000000000000" pitchFamily="2" charset="2"/>
              <a:buChar char=""/>
              <a:tabLst>
                <a:tab pos="627380" algn="l"/>
                <a:tab pos="628015" algn="l"/>
              </a:tabLst>
            </a:pPr>
            <a:r>
              <a:rPr lang="en-US" sz="2000" dirty="0">
                <a:effectLst/>
                <a:ea typeface="Calibri" panose="020F0502020204030204" pitchFamily="34" charset="0"/>
              </a:rPr>
              <a:t>In</a:t>
            </a:r>
            <a:r>
              <a:rPr lang="en-US" sz="2000" spc="-10" dirty="0">
                <a:effectLst/>
                <a:ea typeface="Calibri" panose="020F0502020204030204" pitchFamily="34" charset="0"/>
              </a:rPr>
              <a:t> </a:t>
            </a:r>
            <a:r>
              <a:rPr lang="en-US" sz="2000" dirty="0">
                <a:effectLst/>
                <a:ea typeface="Calibri" panose="020F0502020204030204" pitchFamily="34" charset="0"/>
              </a:rPr>
              <a:t>general,</a:t>
            </a:r>
            <a:r>
              <a:rPr lang="en-US" sz="2000" spc="10" dirty="0">
                <a:effectLst/>
                <a:ea typeface="Calibri" panose="020F0502020204030204" pitchFamily="34" charset="0"/>
              </a:rPr>
              <a:t> </a:t>
            </a:r>
            <a:r>
              <a:rPr lang="en-US" sz="2000" dirty="0">
                <a:effectLst/>
                <a:ea typeface="Calibri" panose="020F0502020204030204" pitchFamily="34" charset="0"/>
              </a:rPr>
              <a:t>a relationship</a:t>
            </a:r>
            <a:r>
              <a:rPr lang="en-US" sz="2000" spc="20" dirty="0">
                <a:effectLst/>
                <a:ea typeface="Calibri" panose="020F0502020204030204" pitchFamily="34" charset="0"/>
              </a:rPr>
              <a:t> </a:t>
            </a:r>
            <a:r>
              <a:rPr lang="en-US" sz="2000" dirty="0">
                <a:effectLst/>
                <a:ea typeface="Calibri" panose="020F0502020204030204" pitchFamily="34" charset="0"/>
              </a:rPr>
              <a:t>type</a:t>
            </a:r>
            <a:r>
              <a:rPr lang="en-US" sz="2000" spc="25" dirty="0">
                <a:effectLst/>
                <a:ea typeface="Calibri" panose="020F0502020204030204" pitchFamily="34" charset="0"/>
              </a:rPr>
              <a:t> </a:t>
            </a:r>
            <a:r>
              <a:rPr lang="en-US" sz="2000" dirty="0">
                <a:effectLst/>
                <a:ea typeface="Calibri" panose="020F0502020204030204" pitchFamily="34" charset="0"/>
              </a:rPr>
              <a:t>R</a:t>
            </a:r>
            <a:r>
              <a:rPr lang="en-US" sz="2000" spc="25" dirty="0">
                <a:effectLst/>
                <a:ea typeface="Calibri" panose="020F0502020204030204" pitchFamily="34" charset="0"/>
              </a:rPr>
              <a:t> </a:t>
            </a:r>
            <a:r>
              <a:rPr lang="en-US" sz="2000" dirty="0">
                <a:effectLst/>
                <a:ea typeface="Calibri" panose="020F0502020204030204" pitchFamily="34" charset="0"/>
              </a:rPr>
              <a:t>of</a:t>
            </a:r>
            <a:r>
              <a:rPr lang="en-US" sz="2000" spc="20" dirty="0">
                <a:effectLst/>
                <a:ea typeface="Calibri" panose="020F0502020204030204" pitchFamily="34" charset="0"/>
              </a:rPr>
              <a:t> </a:t>
            </a:r>
            <a:r>
              <a:rPr lang="en-US" sz="2000" dirty="0">
                <a:effectLst/>
                <a:ea typeface="Calibri" panose="020F0502020204030204" pitchFamily="34" charset="0"/>
              </a:rPr>
              <a:t>degree</a:t>
            </a:r>
            <a:r>
              <a:rPr lang="en-US" sz="2000" spc="25" dirty="0">
                <a:effectLst/>
                <a:ea typeface="Calibri" panose="020F0502020204030204" pitchFamily="34" charset="0"/>
              </a:rPr>
              <a:t> </a:t>
            </a:r>
            <a:r>
              <a:rPr lang="en-US" sz="2000" dirty="0">
                <a:effectLst/>
                <a:ea typeface="Calibri" panose="020F0502020204030204" pitchFamily="34" charset="0"/>
              </a:rPr>
              <a:t>n</a:t>
            </a:r>
            <a:r>
              <a:rPr lang="en-US" sz="2000" spc="-5" dirty="0">
                <a:effectLst/>
                <a:ea typeface="Calibri" panose="020F0502020204030204" pitchFamily="34" charset="0"/>
              </a:rPr>
              <a:t> </a:t>
            </a:r>
            <a:r>
              <a:rPr lang="en-US" sz="2000" dirty="0">
                <a:effectLst/>
                <a:ea typeface="Calibri" panose="020F0502020204030204" pitchFamily="34" charset="0"/>
              </a:rPr>
              <a:t>will</a:t>
            </a:r>
            <a:r>
              <a:rPr lang="en-US" sz="2000" spc="5" dirty="0">
                <a:effectLst/>
                <a:ea typeface="Calibri" panose="020F0502020204030204" pitchFamily="34" charset="0"/>
              </a:rPr>
              <a:t> </a:t>
            </a:r>
            <a:r>
              <a:rPr lang="en-US" sz="2000" dirty="0">
                <a:effectLst/>
                <a:ea typeface="Calibri" panose="020F0502020204030204" pitchFamily="34" charset="0"/>
              </a:rPr>
              <a:t>have</a:t>
            </a:r>
            <a:r>
              <a:rPr lang="en-US" sz="2000" spc="50" dirty="0">
                <a:effectLst/>
                <a:ea typeface="Calibri" panose="020F0502020204030204" pitchFamily="34" charset="0"/>
              </a:rPr>
              <a:t> </a:t>
            </a:r>
            <a:r>
              <a:rPr lang="en-US" sz="2000" dirty="0">
                <a:effectLst/>
                <a:ea typeface="Calibri" panose="020F0502020204030204" pitchFamily="34" charset="0"/>
              </a:rPr>
              <a:t>n</a:t>
            </a:r>
            <a:r>
              <a:rPr lang="en-US" sz="2000" spc="-10" dirty="0">
                <a:effectLst/>
                <a:ea typeface="Calibri" panose="020F0502020204030204" pitchFamily="34" charset="0"/>
              </a:rPr>
              <a:t> </a:t>
            </a:r>
            <a:r>
              <a:rPr lang="en-US" sz="2000" dirty="0">
                <a:effectLst/>
                <a:ea typeface="Calibri" panose="020F0502020204030204" pitchFamily="34" charset="0"/>
              </a:rPr>
              <a:t>edges</a:t>
            </a:r>
            <a:r>
              <a:rPr lang="en-US" sz="2000" spc="25" dirty="0">
                <a:effectLst/>
                <a:ea typeface="Calibri" panose="020F0502020204030204" pitchFamily="34" charset="0"/>
              </a:rPr>
              <a:t> </a:t>
            </a:r>
            <a:r>
              <a:rPr lang="en-US" sz="2000" dirty="0">
                <a:effectLst/>
                <a:ea typeface="Calibri" panose="020F0502020204030204" pitchFamily="34" charset="0"/>
              </a:rPr>
              <a:t>in</a:t>
            </a:r>
            <a:r>
              <a:rPr lang="en-US" sz="2000" spc="-5" dirty="0">
                <a:effectLst/>
                <a:ea typeface="Calibri" panose="020F0502020204030204" pitchFamily="34" charset="0"/>
              </a:rPr>
              <a:t> </a:t>
            </a:r>
            <a:r>
              <a:rPr lang="en-US" sz="2000" dirty="0">
                <a:effectLst/>
                <a:ea typeface="Calibri" panose="020F0502020204030204" pitchFamily="34" charset="0"/>
              </a:rPr>
              <a:t>an</a:t>
            </a:r>
            <a:r>
              <a:rPr lang="en-US" sz="2000" spc="20" dirty="0">
                <a:effectLst/>
                <a:ea typeface="Calibri" panose="020F0502020204030204" pitchFamily="34" charset="0"/>
              </a:rPr>
              <a:t> </a:t>
            </a:r>
            <a:r>
              <a:rPr lang="en-US" sz="2000" dirty="0">
                <a:effectLst/>
                <a:ea typeface="Calibri" panose="020F0502020204030204" pitchFamily="34" charset="0"/>
              </a:rPr>
              <a:t>ER</a:t>
            </a:r>
            <a:r>
              <a:rPr lang="en-US" sz="2000" spc="25" dirty="0">
                <a:effectLst/>
                <a:ea typeface="Calibri" panose="020F0502020204030204" pitchFamily="34" charset="0"/>
              </a:rPr>
              <a:t> </a:t>
            </a:r>
            <a:r>
              <a:rPr lang="en-US" sz="2000" dirty="0">
                <a:effectLst/>
                <a:ea typeface="Calibri" panose="020F0502020204030204" pitchFamily="34" charset="0"/>
              </a:rPr>
              <a:t>diagram,</a:t>
            </a:r>
            <a:r>
              <a:rPr lang="en-US" sz="2000" spc="10" dirty="0">
                <a:effectLst/>
                <a:ea typeface="Calibri" panose="020F0502020204030204" pitchFamily="34" charset="0"/>
              </a:rPr>
              <a:t> </a:t>
            </a:r>
            <a:r>
              <a:rPr lang="en-US" sz="2000" dirty="0">
                <a:effectLst/>
                <a:ea typeface="Calibri" panose="020F0502020204030204" pitchFamily="34" charset="0"/>
              </a:rPr>
              <a:t>one</a:t>
            </a:r>
            <a:r>
              <a:rPr lang="en-US" sz="2000" spc="45" dirty="0">
                <a:effectLst/>
                <a:ea typeface="Calibri" panose="020F0502020204030204" pitchFamily="34" charset="0"/>
              </a:rPr>
              <a:t> </a:t>
            </a:r>
            <a:r>
              <a:rPr lang="en-US" sz="2000" dirty="0">
                <a:effectLst/>
                <a:ea typeface="Calibri" panose="020F0502020204030204" pitchFamily="34" charset="0"/>
              </a:rPr>
              <a:t>connecting</a:t>
            </a:r>
            <a:r>
              <a:rPr lang="en-US" sz="2000" spc="5" dirty="0">
                <a:effectLst/>
                <a:ea typeface="Calibri" panose="020F0502020204030204" pitchFamily="34" charset="0"/>
              </a:rPr>
              <a:t> </a:t>
            </a:r>
            <a:r>
              <a:rPr lang="en-US" sz="2000" dirty="0">
                <a:effectLst/>
                <a:ea typeface="Calibri" panose="020F0502020204030204" pitchFamily="34" charset="0"/>
              </a:rPr>
              <a:t>R</a:t>
            </a:r>
            <a:r>
              <a:rPr lang="en-US" sz="2000" spc="20" dirty="0">
                <a:effectLst/>
                <a:ea typeface="Calibri" panose="020F0502020204030204" pitchFamily="34" charset="0"/>
              </a:rPr>
              <a:t> </a:t>
            </a:r>
            <a:r>
              <a:rPr lang="en-US" sz="2000" dirty="0">
                <a:effectLst/>
                <a:ea typeface="Calibri" panose="020F0502020204030204" pitchFamily="34" charset="0"/>
              </a:rPr>
              <a:t>to</a:t>
            </a:r>
            <a:r>
              <a:rPr lang="en-US" sz="2000" spc="-5" dirty="0">
                <a:effectLst/>
                <a:ea typeface="Calibri" panose="020F0502020204030204" pitchFamily="34" charset="0"/>
              </a:rPr>
              <a:t> </a:t>
            </a:r>
            <a:r>
              <a:rPr lang="en-US" sz="2000" dirty="0">
                <a:effectLst/>
                <a:ea typeface="Calibri" panose="020F0502020204030204" pitchFamily="34" charset="0"/>
              </a:rPr>
              <a:t>each</a:t>
            </a:r>
            <a:r>
              <a:rPr lang="en-US" sz="2000" spc="-235" dirty="0">
                <a:effectLst/>
                <a:ea typeface="Calibri" panose="020F0502020204030204" pitchFamily="34" charset="0"/>
              </a:rPr>
              <a:t> </a:t>
            </a:r>
            <a:r>
              <a:rPr lang="en-US" sz="2000" dirty="0">
                <a:effectLst/>
                <a:ea typeface="Calibri" panose="020F0502020204030204" pitchFamily="34" charset="0"/>
              </a:rPr>
              <a:t>participating</a:t>
            </a:r>
            <a:r>
              <a:rPr lang="en-US" sz="2000" spc="20" dirty="0">
                <a:effectLst/>
                <a:ea typeface="Calibri" panose="020F0502020204030204" pitchFamily="34" charset="0"/>
              </a:rPr>
              <a:t> </a:t>
            </a:r>
            <a:r>
              <a:rPr lang="en-US" sz="2000" dirty="0">
                <a:effectLst/>
                <a:ea typeface="Calibri" panose="020F0502020204030204" pitchFamily="34" charset="0"/>
              </a:rPr>
              <a:t>entity</a:t>
            </a:r>
            <a:r>
              <a:rPr lang="en-US" sz="2000" spc="15" dirty="0">
                <a:effectLst/>
                <a:ea typeface="Calibri" panose="020F0502020204030204" pitchFamily="34" charset="0"/>
              </a:rPr>
              <a:t> </a:t>
            </a:r>
            <a:r>
              <a:rPr lang="en-US" sz="2000" dirty="0">
                <a:effectLst/>
                <a:ea typeface="Calibri" panose="020F0502020204030204" pitchFamily="34" charset="0"/>
              </a:rPr>
              <a:t>type.</a:t>
            </a:r>
          </a:p>
          <a:p>
            <a:pPr marL="228600" marR="0" lvl="2" indent="-228600" algn="just">
              <a:lnSpc>
                <a:spcPct val="150000"/>
              </a:lnSpc>
              <a:buFont typeface="Wingdings" panose="05000000000000000000" pitchFamily="2" charset="2"/>
              <a:buChar char=""/>
              <a:tabLst>
                <a:tab pos="597535" algn="l"/>
              </a:tabLst>
            </a:pPr>
            <a:r>
              <a:rPr lang="en-US" sz="2000" dirty="0">
                <a:effectLst/>
                <a:ea typeface="Calibri" panose="020F0502020204030204" pitchFamily="34" charset="0"/>
              </a:rPr>
              <a:t>Figure</a:t>
            </a:r>
            <a:r>
              <a:rPr lang="en-US" sz="2000" spc="5" dirty="0">
                <a:effectLst/>
                <a:ea typeface="Calibri" panose="020F0502020204030204" pitchFamily="34" charset="0"/>
              </a:rPr>
              <a:t> </a:t>
            </a:r>
            <a:r>
              <a:rPr lang="en-US" sz="2000" dirty="0">
                <a:effectLst/>
                <a:ea typeface="Calibri" panose="020F0502020204030204" pitchFamily="34" charset="0"/>
              </a:rPr>
              <a:t>(b)</a:t>
            </a:r>
            <a:r>
              <a:rPr lang="en-US" sz="2000" spc="30" dirty="0">
                <a:effectLst/>
                <a:ea typeface="Calibri" panose="020F0502020204030204" pitchFamily="34" charset="0"/>
              </a:rPr>
              <a:t> </a:t>
            </a:r>
            <a:r>
              <a:rPr lang="en-US" sz="2000" dirty="0">
                <a:effectLst/>
                <a:ea typeface="Calibri" panose="020F0502020204030204" pitchFamily="34" charset="0"/>
              </a:rPr>
              <a:t>shows</a:t>
            </a:r>
            <a:r>
              <a:rPr lang="en-US" sz="2000" spc="5" dirty="0">
                <a:effectLst/>
                <a:ea typeface="Calibri" panose="020F0502020204030204" pitchFamily="34" charset="0"/>
              </a:rPr>
              <a:t> </a:t>
            </a:r>
            <a:r>
              <a:rPr lang="en-US" sz="2000" dirty="0">
                <a:effectLst/>
                <a:ea typeface="Calibri" panose="020F0502020204030204" pitchFamily="34" charset="0"/>
              </a:rPr>
              <a:t>an</a:t>
            </a:r>
            <a:r>
              <a:rPr lang="en-US" sz="2000" spc="25" dirty="0">
                <a:effectLst/>
                <a:ea typeface="Calibri" panose="020F0502020204030204" pitchFamily="34" charset="0"/>
              </a:rPr>
              <a:t> </a:t>
            </a:r>
            <a:r>
              <a:rPr lang="en-US" sz="2000" dirty="0">
                <a:effectLst/>
                <a:ea typeface="Calibri" panose="020F0502020204030204" pitchFamily="34" charset="0"/>
              </a:rPr>
              <a:t>ER</a:t>
            </a:r>
            <a:r>
              <a:rPr lang="en-US" sz="2000" spc="25" dirty="0">
                <a:effectLst/>
                <a:ea typeface="Calibri" panose="020F0502020204030204" pitchFamily="34" charset="0"/>
              </a:rPr>
              <a:t> </a:t>
            </a:r>
            <a:r>
              <a:rPr lang="en-US" sz="2000" dirty="0">
                <a:effectLst/>
                <a:ea typeface="Calibri" panose="020F0502020204030204" pitchFamily="34" charset="0"/>
              </a:rPr>
              <a:t>diagram</a:t>
            </a:r>
            <a:r>
              <a:rPr lang="en-US" sz="2000" spc="5" dirty="0">
                <a:effectLst/>
                <a:ea typeface="Calibri" panose="020F0502020204030204" pitchFamily="34" charset="0"/>
              </a:rPr>
              <a:t> </a:t>
            </a:r>
            <a:r>
              <a:rPr lang="en-US" sz="2000" dirty="0">
                <a:effectLst/>
                <a:ea typeface="Calibri" panose="020F0502020204030204" pitchFamily="34" charset="0"/>
              </a:rPr>
              <a:t>for</a:t>
            </a:r>
            <a:r>
              <a:rPr lang="en-US" sz="2000" spc="25" dirty="0">
                <a:effectLst/>
                <a:ea typeface="Calibri" panose="020F0502020204030204" pitchFamily="34" charset="0"/>
              </a:rPr>
              <a:t> </a:t>
            </a:r>
            <a:r>
              <a:rPr lang="en-US" sz="2000" dirty="0">
                <a:effectLst/>
                <a:ea typeface="Calibri" panose="020F0502020204030204" pitchFamily="34" charset="0"/>
              </a:rPr>
              <a:t>three</a:t>
            </a:r>
            <a:r>
              <a:rPr lang="en-US" sz="2000" spc="10" dirty="0">
                <a:effectLst/>
                <a:ea typeface="Calibri" panose="020F0502020204030204" pitchFamily="34" charset="0"/>
              </a:rPr>
              <a:t> </a:t>
            </a:r>
            <a:r>
              <a:rPr lang="en-US" sz="2000" dirty="0">
                <a:effectLst/>
                <a:ea typeface="Calibri" panose="020F0502020204030204" pitchFamily="34" charset="0"/>
              </a:rPr>
              <a:t>binary</a:t>
            </a:r>
            <a:r>
              <a:rPr lang="en-US" sz="2000" spc="30" dirty="0">
                <a:effectLst/>
                <a:ea typeface="Calibri" panose="020F0502020204030204" pitchFamily="34" charset="0"/>
              </a:rPr>
              <a:t> </a:t>
            </a:r>
            <a:r>
              <a:rPr lang="en-US" sz="2000" dirty="0">
                <a:effectLst/>
                <a:ea typeface="Calibri" panose="020F0502020204030204" pitchFamily="34" charset="0"/>
              </a:rPr>
              <a:t>relationship</a:t>
            </a:r>
            <a:r>
              <a:rPr lang="en-US" sz="2000" spc="20" dirty="0">
                <a:effectLst/>
                <a:ea typeface="Calibri" panose="020F0502020204030204" pitchFamily="34" charset="0"/>
              </a:rPr>
              <a:t> </a:t>
            </a:r>
            <a:r>
              <a:rPr lang="en-US" sz="2000" dirty="0">
                <a:effectLst/>
                <a:ea typeface="Calibri" panose="020F0502020204030204" pitchFamily="34" charset="0"/>
              </a:rPr>
              <a:t>types</a:t>
            </a:r>
            <a:r>
              <a:rPr lang="en-US" sz="2000" spc="40" dirty="0">
                <a:effectLst/>
                <a:ea typeface="Calibri" panose="020F0502020204030204" pitchFamily="34" charset="0"/>
              </a:rPr>
              <a:t> </a:t>
            </a:r>
            <a:r>
              <a:rPr lang="en-US" sz="2000" dirty="0">
                <a:effectLst/>
                <a:ea typeface="Calibri" panose="020F0502020204030204" pitchFamily="34" charset="0"/>
              </a:rPr>
              <a:t>CAN_SUPPLY,</a:t>
            </a:r>
            <a:r>
              <a:rPr lang="en-US" sz="2000" spc="-15" dirty="0">
                <a:effectLst/>
                <a:ea typeface="Calibri" panose="020F0502020204030204" pitchFamily="34" charset="0"/>
              </a:rPr>
              <a:t> </a:t>
            </a:r>
            <a:r>
              <a:rPr lang="en-US" sz="2000" dirty="0">
                <a:effectLst/>
                <a:ea typeface="Calibri" panose="020F0502020204030204" pitchFamily="34" charset="0"/>
              </a:rPr>
              <a:t>USES,</a:t>
            </a:r>
            <a:r>
              <a:rPr lang="en-US" sz="2000" spc="-10" dirty="0">
                <a:effectLst/>
                <a:ea typeface="Calibri" panose="020F0502020204030204" pitchFamily="34" charset="0"/>
              </a:rPr>
              <a:t> </a:t>
            </a:r>
            <a:r>
              <a:rPr lang="en-US" sz="2000" dirty="0">
                <a:effectLst/>
                <a:ea typeface="Calibri" panose="020F0502020204030204" pitchFamily="34" charset="0"/>
              </a:rPr>
              <a:t>and</a:t>
            </a:r>
            <a:r>
              <a:rPr lang="en-US" sz="2000" spc="25" dirty="0">
                <a:effectLst/>
                <a:ea typeface="Calibri" panose="020F0502020204030204" pitchFamily="34" charset="0"/>
              </a:rPr>
              <a:t> </a:t>
            </a:r>
            <a:r>
              <a:rPr lang="en-US" sz="2000" dirty="0">
                <a:effectLst/>
                <a:ea typeface="Calibri" panose="020F0502020204030204" pitchFamily="34" charset="0"/>
              </a:rPr>
              <a:t>SUPPLIES</a:t>
            </a:r>
          </a:p>
          <a:p>
            <a:pPr marL="228600" marR="0" lvl="2" indent="-228600" algn="just">
              <a:lnSpc>
                <a:spcPct val="150000"/>
              </a:lnSpc>
              <a:spcBef>
                <a:spcPts val="5"/>
              </a:spcBef>
              <a:buFont typeface="Wingdings" panose="05000000000000000000" pitchFamily="2" charset="2"/>
              <a:buChar char=""/>
              <a:tabLst>
                <a:tab pos="627380" algn="l"/>
                <a:tab pos="628015" algn="l"/>
              </a:tabLst>
            </a:pPr>
            <a:r>
              <a:rPr lang="en-US" sz="2000" dirty="0">
                <a:effectLst/>
                <a:ea typeface="Calibri" panose="020F0502020204030204" pitchFamily="34" charset="0"/>
              </a:rPr>
              <a:t>In</a:t>
            </a:r>
            <a:r>
              <a:rPr lang="en-US" sz="2000" spc="-5" dirty="0">
                <a:effectLst/>
                <a:ea typeface="Calibri" panose="020F0502020204030204" pitchFamily="34" charset="0"/>
              </a:rPr>
              <a:t> </a:t>
            </a:r>
            <a:r>
              <a:rPr lang="en-US" sz="2000" dirty="0">
                <a:effectLst/>
                <a:ea typeface="Calibri" panose="020F0502020204030204" pitchFamily="34" charset="0"/>
              </a:rPr>
              <a:t>general,</a:t>
            </a:r>
            <a:r>
              <a:rPr lang="en-US" sz="2000" spc="15" dirty="0">
                <a:effectLst/>
                <a:ea typeface="Calibri" panose="020F0502020204030204" pitchFamily="34" charset="0"/>
              </a:rPr>
              <a:t> </a:t>
            </a:r>
            <a:r>
              <a:rPr lang="en-US" sz="2000" dirty="0">
                <a:effectLst/>
                <a:ea typeface="Calibri" panose="020F0502020204030204" pitchFamily="34" charset="0"/>
              </a:rPr>
              <a:t>a</a:t>
            </a:r>
            <a:r>
              <a:rPr lang="en-US" sz="2000" spc="25" dirty="0">
                <a:effectLst/>
                <a:ea typeface="Calibri" panose="020F0502020204030204" pitchFamily="34" charset="0"/>
              </a:rPr>
              <a:t> </a:t>
            </a:r>
            <a:r>
              <a:rPr lang="en-US" sz="2000" dirty="0">
                <a:effectLst/>
                <a:ea typeface="Calibri" panose="020F0502020204030204" pitchFamily="34" charset="0"/>
              </a:rPr>
              <a:t>ternary</a:t>
            </a:r>
            <a:r>
              <a:rPr lang="en-US" sz="2000" spc="10" dirty="0">
                <a:effectLst/>
                <a:ea typeface="Calibri" panose="020F0502020204030204" pitchFamily="34" charset="0"/>
              </a:rPr>
              <a:t> </a:t>
            </a:r>
            <a:r>
              <a:rPr lang="en-US" sz="2000" dirty="0">
                <a:effectLst/>
                <a:ea typeface="Calibri" panose="020F0502020204030204" pitchFamily="34" charset="0"/>
              </a:rPr>
              <a:t>relationship</a:t>
            </a:r>
            <a:r>
              <a:rPr lang="en-US" sz="2000" spc="25" dirty="0">
                <a:effectLst/>
                <a:ea typeface="Calibri" panose="020F0502020204030204" pitchFamily="34" charset="0"/>
              </a:rPr>
              <a:t> </a:t>
            </a:r>
            <a:r>
              <a:rPr lang="en-US" sz="2000" dirty="0">
                <a:effectLst/>
                <a:ea typeface="Calibri" panose="020F0502020204030204" pitchFamily="34" charset="0"/>
              </a:rPr>
              <a:t>type</a:t>
            </a:r>
            <a:r>
              <a:rPr lang="en-US" sz="2000" spc="30" dirty="0">
                <a:effectLst/>
                <a:ea typeface="Calibri" panose="020F0502020204030204" pitchFamily="34" charset="0"/>
              </a:rPr>
              <a:t> </a:t>
            </a:r>
            <a:r>
              <a:rPr lang="en-US" sz="2000" dirty="0">
                <a:effectLst/>
                <a:ea typeface="Calibri" panose="020F0502020204030204" pitchFamily="34" charset="0"/>
              </a:rPr>
              <a:t>represents</a:t>
            </a:r>
            <a:r>
              <a:rPr lang="en-US" sz="2000" spc="25" dirty="0">
                <a:effectLst/>
                <a:ea typeface="Calibri" panose="020F0502020204030204" pitchFamily="34" charset="0"/>
              </a:rPr>
              <a:t> </a:t>
            </a:r>
            <a:r>
              <a:rPr lang="en-US" sz="2000" dirty="0">
                <a:effectLst/>
                <a:ea typeface="Calibri" panose="020F0502020204030204" pitchFamily="34" charset="0"/>
              </a:rPr>
              <a:t>different</a:t>
            </a:r>
            <a:r>
              <a:rPr lang="en-US" sz="2000" spc="15" dirty="0">
                <a:effectLst/>
                <a:ea typeface="Calibri" panose="020F0502020204030204" pitchFamily="34" charset="0"/>
              </a:rPr>
              <a:t> </a:t>
            </a:r>
            <a:r>
              <a:rPr lang="en-US" sz="2000" dirty="0">
                <a:effectLst/>
                <a:ea typeface="Calibri" panose="020F0502020204030204" pitchFamily="34" charset="0"/>
              </a:rPr>
              <a:t>information</a:t>
            </a:r>
            <a:r>
              <a:rPr lang="en-US" sz="2000" spc="20" dirty="0">
                <a:effectLst/>
                <a:ea typeface="Calibri" panose="020F0502020204030204" pitchFamily="34" charset="0"/>
              </a:rPr>
              <a:t> </a:t>
            </a:r>
            <a:r>
              <a:rPr lang="en-US" sz="2000" dirty="0">
                <a:effectLst/>
                <a:ea typeface="Calibri" panose="020F0502020204030204" pitchFamily="34" charset="0"/>
              </a:rPr>
              <a:t>than</a:t>
            </a:r>
            <a:r>
              <a:rPr lang="en-US" sz="2000" spc="20" dirty="0">
                <a:effectLst/>
                <a:ea typeface="Calibri" panose="020F0502020204030204" pitchFamily="34" charset="0"/>
              </a:rPr>
              <a:t> </a:t>
            </a:r>
            <a:r>
              <a:rPr lang="en-US" sz="2000" dirty="0">
                <a:effectLst/>
                <a:ea typeface="Calibri" panose="020F0502020204030204" pitchFamily="34" charset="0"/>
              </a:rPr>
              <a:t>do</a:t>
            </a:r>
            <a:r>
              <a:rPr lang="en-US" sz="2000" spc="45" dirty="0">
                <a:effectLst/>
                <a:ea typeface="Calibri" panose="020F0502020204030204" pitchFamily="34" charset="0"/>
              </a:rPr>
              <a:t> </a:t>
            </a:r>
            <a:r>
              <a:rPr lang="en-US" sz="2000" dirty="0">
                <a:effectLst/>
                <a:ea typeface="Calibri" panose="020F0502020204030204" pitchFamily="34" charset="0"/>
              </a:rPr>
              <a:t>three</a:t>
            </a:r>
            <a:r>
              <a:rPr lang="en-US" sz="2000" spc="35" dirty="0">
                <a:effectLst/>
                <a:ea typeface="Calibri" panose="020F0502020204030204" pitchFamily="34" charset="0"/>
              </a:rPr>
              <a:t> </a:t>
            </a:r>
            <a:r>
              <a:rPr lang="en-US" sz="2000" dirty="0">
                <a:effectLst/>
                <a:ea typeface="Calibri" panose="020F0502020204030204" pitchFamily="34" charset="0"/>
              </a:rPr>
              <a:t>binary</a:t>
            </a:r>
            <a:r>
              <a:rPr lang="en-US" sz="2000" spc="30" dirty="0">
                <a:effectLst/>
                <a:ea typeface="Calibri" panose="020F0502020204030204" pitchFamily="34" charset="0"/>
              </a:rPr>
              <a:t> </a:t>
            </a:r>
            <a:r>
              <a:rPr lang="en-US" sz="2000" dirty="0">
                <a:effectLst/>
                <a:ea typeface="Calibri" panose="020F0502020204030204" pitchFamily="34" charset="0"/>
              </a:rPr>
              <a:t>relationship</a:t>
            </a:r>
            <a:r>
              <a:rPr lang="en-US" sz="2000" spc="20" dirty="0">
                <a:effectLst/>
                <a:ea typeface="Calibri" panose="020F0502020204030204" pitchFamily="34" charset="0"/>
              </a:rPr>
              <a:t> </a:t>
            </a:r>
            <a:r>
              <a:rPr lang="en-US" sz="2000" dirty="0">
                <a:effectLst/>
                <a:ea typeface="Calibri" panose="020F0502020204030204" pitchFamily="34" charset="0"/>
              </a:rPr>
              <a:t>types</a:t>
            </a:r>
          </a:p>
        </p:txBody>
      </p:sp>
    </p:spTree>
    <p:extLst>
      <p:ext uri="{BB962C8B-B14F-4D97-AF65-F5344CB8AC3E}">
        <p14:creationId xmlns:p14="http://schemas.microsoft.com/office/powerpoint/2010/main" val="22158688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1484B5-0BF3-1FCE-B29C-F481C71D48AE}"/>
              </a:ext>
            </a:extLst>
          </p:cNvPr>
          <p:cNvPicPr>
            <a:picLocks noChangeAspect="1"/>
          </p:cNvPicPr>
          <p:nvPr/>
        </p:nvPicPr>
        <p:blipFill>
          <a:blip r:embed="rId2"/>
          <a:stretch>
            <a:fillRect/>
          </a:stretch>
        </p:blipFill>
        <p:spPr>
          <a:xfrm>
            <a:off x="3484463" y="57754"/>
            <a:ext cx="5179090" cy="6800246"/>
          </a:xfrm>
          <a:prstGeom prst="rect">
            <a:avLst/>
          </a:prstGeom>
        </p:spPr>
      </p:pic>
    </p:spTree>
    <p:extLst>
      <p:ext uri="{BB962C8B-B14F-4D97-AF65-F5344CB8AC3E}">
        <p14:creationId xmlns:p14="http://schemas.microsoft.com/office/powerpoint/2010/main" val="21751087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EE5DD7-9A46-2BFA-0EE7-E771FB53B3DA}"/>
              </a:ext>
            </a:extLst>
          </p:cNvPr>
          <p:cNvSpPr txBox="1"/>
          <p:nvPr/>
        </p:nvSpPr>
        <p:spPr>
          <a:xfrm>
            <a:off x="263471" y="263471"/>
            <a:ext cx="11623729" cy="5122941"/>
          </a:xfrm>
          <a:prstGeom prst="rect">
            <a:avLst/>
          </a:prstGeom>
          <a:noFill/>
        </p:spPr>
        <p:txBody>
          <a:bodyPr wrap="square" rtlCol="0">
            <a:spAutoFit/>
          </a:bodyPr>
          <a:lstStyle/>
          <a:p>
            <a:pPr marL="231775" marR="227330" lvl="2" indent="-228600" algn="just">
              <a:lnSpc>
                <a:spcPct val="150000"/>
              </a:lnSpc>
              <a:buFont typeface="Wingdings" panose="05000000000000000000" pitchFamily="2" charset="2"/>
              <a:buChar char=""/>
              <a:tabLst>
                <a:tab pos="597535" algn="l"/>
              </a:tabLst>
            </a:pPr>
            <a:r>
              <a:rPr lang="en-US" sz="2000" dirty="0">
                <a:effectLst/>
                <a:ea typeface="Calibri" panose="020F0502020204030204" pitchFamily="34" charset="0"/>
              </a:rPr>
              <a:t>Consider the three binary relationship types CAN_SUPPLY, USES, and SUPPLIES. Suppose that CAN_SUPPLY,</a:t>
            </a:r>
            <a:r>
              <a:rPr lang="en-US" sz="2000" spc="5" dirty="0">
                <a:effectLst/>
                <a:ea typeface="Calibri" panose="020F0502020204030204" pitchFamily="34" charset="0"/>
              </a:rPr>
              <a:t> </a:t>
            </a:r>
            <a:r>
              <a:rPr lang="en-US" sz="2000" dirty="0">
                <a:effectLst/>
                <a:ea typeface="Calibri" panose="020F0502020204030204" pitchFamily="34" charset="0"/>
              </a:rPr>
              <a:t>between SUPPLIER and PART, includes an instance (s, p) whenever supplier s can supply part p (to any project);</a:t>
            </a:r>
            <a:r>
              <a:rPr lang="en-US" sz="2000" spc="5" dirty="0">
                <a:effectLst/>
                <a:ea typeface="Calibri" panose="020F0502020204030204" pitchFamily="34" charset="0"/>
              </a:rPr>
              <a:t> </a:t>
            </a:r>
            <a:r>
              <a:rPr lang="en-US" sz="2000" dirty="0">
                <a:effectLst/>
                <a:ea typeface="Calibri" panose="020F0502020204030204" pitchFamily="34" charset="0"/>
              </a:rPr>
              <a:t>USES, between PROJECT and PART, includes an instance (j, p) whenever project j uses part p; and SUPPLIES,</a:t>
            </a:r>
            <a:r>
              <a:rPr lang="en-US" sz="2000" spc="5" dirty="0">
                <a:effectLst/>
                <a:ea typeface="Calibri" panose="020F0502020204030204" pitchFamily="34" charset="0"/>
              </a:rPr>
              <a:t> </a:t>
            </a:r>
            <a:r>
              <a:rPr lang="en-US" sz="2000" dirty="0">
                <a:effectLst/>
                <a:ea typeface="Calibri" panose="020F0502020204030204" pitchFamily="34" charset="0"/>
              </a:rPr>
              <a:t>between SUPPLIER and PROJECT, includes an instance (s, j) whenever supplier s supplies some part to project j.</a:t>
            </a:r>
            <a:r>
              <a:rPr lang="en-US" sz="2000" spc="5" dirty="0">
                <a:effectLst/>
                <a:ea typeface="Calibri" panose="020F0502020204030204" pitchFamily="34" charset="0"/>
              </a:rPr>
              <a:t> </a:t>
            </a:r>
            <a:r>
              <a:rPr lang="en-US" sz="2000" dirty="0">
                <a:effectLst/>
                <a:ea typeface="Calibri" panose="020F0502020204030204" pitchFamily="34" charset="0"/>
              </a:rPr>
              <a:t>The</a:t>
            </a:r>
            <a:r>
              <a:rPr lang="en-US" sz="2000" spc="5" dirty="0">
                <a:effectLst/>
                <a:ea typeface="Calibri" panose="020F0502020204030204" pitchFamily="34" charset="0"/>
              </a:rPr>
              <a:t> </a:t>
            </a:r>
            <a:r>
              <a:rPr lang="en-US" sz="2000" dirty="0">
                <a:effectLst/>
                <a:ea typeface="Calibri" panose="020F0502020204030204" pitchFamily="34" charset="0"/>
              </a:rPr>
              <a:t>existence</a:t>
            </a:r>
            <a:r>
              <a:rPr lang="en-US" sz="2000" spc="5" dirty="0">
                <a:effectLst/>
                <a:ea typeface="Calibri" panose="020F0502020204030204" pitchFamily="34" charset="0"/>
              </a:rPr>
              <a:t> </a:t>
            </a:r>
            <a:r>
              <a:rPr lang="en-US" sz="2000" dirty="0">
                <a:effectLst/>
                <a:ea typeface="Calibri" panose="020F0502020204030204" pitchFamily="34" charset="0"/>
              </a:rPr>
              <a:t>of</a:t>
            </a:r>
            <a:r>
              <a:rPr lang="en-US" sz="2000" spc="5" dirty="0">
                <a:effectLst/>
                <a:ea typeface="Calibri" panose="020F0502020204030204" pitchFamily="34" charset="0"/>
              </a:rPr>
              <a:t> </a:t>
            </a:r>
            <a:r>
              <a:rPr lang="en-US" sz="2000" dirty="0">
                <a:effectLst/>
                <a:ea typeface="Calibri" panose="020F0502020204030204" pitchFamily="34" charset="0"/>
              </a:rPr>
              <a:t>three</a:t>
            </a:r>
            <a:r>
              <a:rPr lang="en-US" sz="2000" spc="5" dirty="0">
                <a:effectLst/>
                <a:ea typeface="Calibri" panose="020F0502020204030204" pitchFamily="34" charset="0"/>
              </a:rPr>
              <a:t> </a:t>
            </a:r>
            <a:r>
              <a:rPr lang="en-US" sz="2000" dirty="0">
                <a:effectLst/>
                <a:ea typeface="Calibri" panose="020F0502020204030204" pitchFamily="34" charset="0"/>
              </a:rPr>
              <a:t>relationship instances</a:t>
            </a:r>
            <a:r>
              <a:rPr lang="en-US" sz="2000" spc="5" dirty="0">
                <a:effectLst/>
                <a:ea typeface="Calibri" panose="020F0502020204030204" pitchFamily="34" charset="0"/>
              </a:rPr>
              <a:t> </a:t>
            </a:r>
            <a:r>
              <a:rPr lang="en-US" sz="2000" dirty="0">
                <a:effectLst/>
                <a:ea typeface="Calibri" panose="020F0502020204030204" pitchFamily="34" charset="0"/>
              </a:rPr>
              <a:t>(s, p),</a:t>
            </a:r>
            <a:r>
              <a:rPr lang="en-US" sz="2000" spc="5" dirty="0">
                <a:effectLst/>
                <a:ea typeface="Calibri" panose="020F0502020204030204" pitchFamily="34" charset="0"/>
              </a:rPr>
              <a:t> </a:t>
            </a:r>
            <a:r>
              <a:rPr lang="en-US" sz="2000" dirty="0">
                <a:effectLst/>
                <a:ea typeface="Calibri" panose="020F0502020204030204" pitchFamily="34" charset="0"/>
              </a:rPr>
              <a:t>(j, p), and (s, j)</a:t>
            </a:r>
            <a:r>
              <a:rPr lang="en-US" sz="2000" spc="5" dirty="0">
                <a:effectLst/>
                <a:ea typeface="Calibri" panose="020F0502020204030204" pitchFamily="34" charset="0"/>
              </a:rPr>
              <a:t> </a:t>
            </a:r>
            <a:r>
              <a:rPr lang="en-US" sz="2000" dirty="0">
                <a:effectLst/>
                <a:ea typeface="Calibri" panose="020F0502020204030204" pitchFamily="34" charset="0"/>
              </a:rPr>
              <a:t>in CAN_SUPPLY, USES, and SUPPLIES,</a:t>
            </a:r>
            <a:r>
              <a:rPr lang="en-US" sz="2000" spc="5" dirty="0">
                <a:effectLst/>
                <a:ea typeface="Calibri" panose="020F0502020204030204" pitchFamily="34" charset="0"/>
              </a:rPr>
              <a:t> </a:t>
            </a:r>
            <a:r>
              <a:rPr lang="en-US" sz="2000" dirty="0">
                <a:effectLst/>
                <a:ea typeface="Calibri" panose="020F0502020204030204" pitchFamily="34" charset="0"/>
              </a:rPr>
              <a:t>respectively, does not necessarily imply that an instance (s, j, p) exists in the ternary relationship SUPPLY,</a:t>
            </a:r>
            <a:r>
              <a:rPr lang="en-US" sz="2000" spc="5" dirty="0">
                <a:effectLst/>
                <a:ea typeface="Calibri" panose="020F0502020204030204" pitchFamily="34" charset="0"/>
              </a:rPr>
              <a:t> </a:t>
            </a:r>
            <a:r>
              <a:rPr lang="en-US" sz="2000" dirty="0">
                <a:effectLst/>
                <a:ea typeface="Calibri" panose="020F0502020204030204" pitchFamily="34" charset="0"/>
              </a:rPr>
              <a:t>because</a:t>
            </a:r>
            <a:r>
              <a:rPr lang="en-US" sz="2000" spc="35" dirty="0">
                <a:effectLst/>
                <a:ea typeface="Calibri" panose="020F0502020204030204" pitchFamily="34" charset="0"/>
              </a:rPr>
              <a:t> </a:t>
            </a:r>
            <a:r>
              <a:rPr lang="en-US" sz="2000" dirty="0">
                <a:effectLst/>
                <a:ea typeface="Calibri" panose="020F0502020204030204" pitchFamily="34" charset="0"/>
              </a:rPr>
              <a:t>the</a:t>
            </a:r>
            <a:r>
              <a:rPr lang="en-US" sz="2000" spc="-10" dirty="0">
                <a:effectLst/>
                <a:ea typeface="Calibri" panose="020F0502020204030204" pitchFamily="34" charset="0"/>
              </a:rPr>
              <a:t> </a:t>
            </a:r>
            <a:r>
              <a:rPr lang="en-US" sz="2000" dirty="0">
                <a:effectLst/>
                <a:ea typeface="Calibri" panose="020F0502020204030204" pitchFamily="34" charset="0"/>
              </a:rPr>
              <a:t>meaning</a:t>
            </a:r>
            <a:r>
              <a:rPr lang="en-US" sz="2000" spc="-5" dirty="0">
                <a:effectLst/>
                <a:ea typeface="Calibri" panose="020F0502020204030204" pitchFamily="34" charset="0"/>
              </a:rPr>
              <a:t> </a:t>
            </a:r>
            <a:r>
              <a:rPr lang="en-US" sz="2000" dirty="0">
                <a:effectLst/>
                <a:ea typeface="Calibri" panose="020F0502020204030204" pitchFamily="34" charset="0"/>
              </a:rPr>
              <a:t>is</a:t>
            </a:r>
            <a:r>
              <a:rPr lang="en-US" sz="2000" spc="10" dirty="0">
                <a:effectLst/>
                <a:ea typeface="Calibri" panose="020F0502020204030204" pitchFamily="34" charset="0"/>
              </a:rPr>
              <a:t> </a:t>
            </a:r>
            <a:r>
              <a:rPr lang="en-US" sz="2000" dirty="0">
                <a:effectLst/>
                <a:ea typeface="Calibri" panose="020F0502020204030204" pitchFamily="34" charset="0"/>
              </a:rPr>
              <a:t>different.</a:t>
            </a:r>
          </a:p>
          <a:p>
            <a:pPr marL="231775" marR="234950" lvl="2" indent="-228600" algn="just">
              <a:lnSpc>
                <a:spcPct val="150000"/>
              </a:lnSpc>
              <a:spcBef>
                <a:spcPts val="10"/>
              </a:spcBef>
              <a:buFont typeface="Wingdings" panose="05000000000000000000" pitchFamily="2" charset="2"/>
              <a:buChar char=""/>
              <a:tabLst>
                <a:tab pos="597535" algn="l"/>
              </a:tabLst>
            </a:pPr>
            <a:r>
              <a:rPr lang="en-US" sz="2000" dirty="0">
                <a:effectLst/>
                <a:ea typeface="Calibri" panose="020F0502020204030204" pitchFamily="34" charset="0"/>
              </a:rPr>
              <a:t>It is often tricky to decide whether a particular relationship should be represented as a relationship type of</a:t>
            </a:r>
            <a:r>
              <a:rPr lang="en-US" sz="2000" spc="5" dirty="0">
                <a:effectLst/>
                <a:ea typeface="Calibri" panose="020F0502020204030204" pitchFamily="34" charset="0"/>
              </a:rPr>
              <a:t> </a:t>
            </a:r>
            <a:r>
              <a:rPr lang="en-US" sz="2000" dirty="0">
                <a:effectLst/>
                <a:ea typeface="Calibri" panose="020F0502020204030204" pitchFamily="34" charset="0"/>
              </a:rPr>
              <a:t>degree</a:t>
            </a:r>
            <a:r>
              <a:rPr lang="en-US" sz="2000" spc="-5" dirty="0">
                <a:effectLst/>
                <a:ea typeface="Calibri" panose="020F0502020204030204" pitchFamily="34" charset="0"/>
              </a:rPr>
              <a:t> </a:t>
            </a:r>
            <a:r>
              <a:rPr lang="en-US" sz="2000" dirty="0">
                <a:effectLst/>
                <a:ea typeface="Calibri" panose="020F0502020204030204" pitchFamily="34" charset="0"/>
              </a:rPr>
              <a:t>n</a:t>
            </a:r>
            <a:r>
              <a:rPr lang="en-US" sz="2000" spc="5" dirty="0">
                <a:effectLst/>
                <a:ea typeface="Calibri" panose="020F0502020204030204" pitchFamily="34" charset="0"/>
              </a:rPr>
              <a:t> </a:t>
            </a:r>
            <a:r>
              <a:rPr lang="en-US" sz="2000" dirty="0">
                <a:effectLst/>
                <a:ea typeface="Calibri" panose="020F0502020204030204" pitchFamily="34" charset="0"/>
              </a:rPr>
              <a:t>or</a:t>
            </a:r>
            <a:r>
              <a:rPr lang="en-US" sz="2000" spc="15" dirty="0">
                <a:effectLst/>
                <a:ea typeface="Calibri" panose="020F0502020204030204" pitchFamily="34" charset="0"/>
              </a:rPr>
              <a:t> </a:t>
            </a:r>
            <a:r>
              <a:rPr lang="en-US" sz="2000" dirty="0">
                <a:effectLst/>
                <a:ea typeface="Calibri" panose="020F0502020204030204" pitchFamily="34" charset="0"/>
              </a:rPr>
              <a:t>should</a:t>
            </a:r>
            <a:r>
              <a:rPr lang="en-US" sz="2000" spc="15" dirty="0">
                <a:effectLst/>
                <a:ea typeface="Calibri" panose="020F0502020204030204" pitchFamily="34" charset="0"/>
              </a:rPr>
              <a:t> </a:t>
            </a:r>
            <a:r>
              <a:rPr lang="en-US" sz="2000" dirty="0">
                <a:effectLst/>
                <a:ea typeface="Calibri" panose="020F0502020204030204" pitchFamily="34" charset="0"/>
              </a:rPr>
              <a:t>be</a:t>
            </a:r>
            <a:r>
              <a:rPr lang="en-US" sz="2000" spc="20" dirty="0">
                <a:effectLst/>
                <a:ea typeface="Calibri" panose="020F0502020204030204" pitchFamily="34" charset="0"/>
              </a:rPr>
              <a:t> </a:t>
            </a:r>
            <a:r>
              <a:rPr lang="en-US" sz="2000" dirty="0">
                <a:effectLst/>
                <a:ea typeface="Calibri" panose="020F0502020204030204" pitchFamily="34" charset="0"/>
              </a:rPr>
              <a:t>broken</a:t>
            </a:r>
            <a:r>
              <a:rPr lang="en-US" sz="2000" spc="-15" dirty="0">
                <a:effectLst/>
                <a:ea typeface="Calibri" panose="020F0502020204030204" pitchFamily="34" charset="0"/>
              </a:rPr>
              <a:t> </a:t>
            </a:r>
            <a:r>
              <a:rPr lang="en-US" sz="2000" dirty="0">
                <a:effectLst/>
                <a:ea typeface="Calibri" panose="020F0502020204030204" pitchFamily="34" charset="0"/>
              </a:rPr>
              <a:t>down</a:t>
            </a:r>
            <a:r>
              <a:rPr lang="en-US" sz="2000" spc="15" dirty="0">
                <a:effectLst/>
                <a:ea typeface="Calibri" panose="020F0502020204030204" pitchFamily="34" charset="0"/>
              </a:rPr>
              <a:t> </a:t>
            </a:r>
            <a:r>
              <a:rPr lang="en-US" sz="2000" dirty="0">
                <a:effectLst/>
                <a:ea typeface="Calibri" panose="020F0502020204030204" pitchFamily="34" charset="0"/>
              </a:rPr>
              <a:t>into</a:t>
            </a:r>
            <a:r>
              <a:rPr lang="en-US" sz="2000" spc="-15" dirty="0">
                <a:effectLst/>
                <a:ea typeface="Calibri" panose="020F0502020204030204" pitchFamily="34" charset="0"/>
              </a:rPr>
              <a:t> </a:t>
            </a:r>
            <a:r>
              <a:rPr lang="en-US" sz="2000" dirty="0">
                <a:effectLst/>
                <a:ea typeface="Calibri" panose="020F0502020204030204" pitchFamily="34" charset="0"/>
              </a:rPr>
              <a:t>several</a:t>
            </a:r>
            <a:r>
              <a:rPr lang="en-US" sz="2000" spc="25" dirty="0">
                <a:effectLst/>
                <a:ea typeface="Calibri" panose="020F0502020204030204" pitchFamily="34" charset="0"/>
              </a:rPr>
              <a:t> </a:t>
            </a:r>
            <a:r>
              <a:rPr lang="en-US" sz="2000" dirty="0">
                <a:effectLst/>
                <a:ea typeface="Calibri" panose="020F0502020204030204" pitchFamily="34" charset="0"/>
              </a:rPr>
              <a:t>relationship</a:t>
            </a:r>
            <a:r>
              <a:rPr lang="en-US" sz="2000" spc="5" dirty="0">
                <a:effectLst/>
                <a:ea typeface="Calibri" panose="020F0502020204030204" pitchFamily="34" charset="0"/>
              </a:rPr>
              <a:t> </a:t>
            </a:r>
            <a:r>
              <a:rPr lang="en-US" sz="2000" dirty="0">
                <a:effectLst/>
                <a:ea typeface="Calibri" panose="020F0502020204030204" pitchFamily="34" charset="0"/>
              </a:rPr>
              <a:t>types</a:t>
            </a:r>
            <a:r>
              <a:rPr lang="en-US" sz="2000" spc="15" dirty="0">
                <a:effectLst/>
                <a:ea typeface="Calibri" panose="020F0502020204030204" pitchFamily="34" charset="0"/>
              </a:rPr>
              <a:t> </a:t>
            </a:r>
            <a:r>
              <a:rPr lang="en-US" sz="2000" dirty="0">
                <a:effectLst/>
                <a:ea typeface="Calibri" panose="020F0502020204030204" pitchFamily="34" charset="0"/>
              </a:rPr>
              <a:t>of</a:t>
            </a:r>
            <a:r>
              <a:rPr lang="en-US" sz="2000" spc="-10" dirty="0">
                <a:effectLst/>
                <a:ea typeface="Calibri" panose="020F0502020204030204" pitchFamily="34" charset="0"/>
              </a:rPr>
              <a:t> </a:t>
            </a:r>
            <a:r>
              <a:rPr lang="en-US" sz="2000" dirty="0">
                <a:effectLst/>
                <a:ea typeface="Calibri" panose="020F0502020204030204" pitchFamily="34" charset="0"/>
              </a:rPr>
              <a:t>smaller</a:t>
            </a:r>
            <a:r>
              <a:rPr lang="en-US" sz="2000" spc="20" dirty="0">
                <a:effectLst/>
                <a:ea typeface="Calibri" panose="020F0502020204030204" pitchFamily="34" charset="0"/>
              </a:rPr>
              <a:t> </a:t>
            </a:r>
            <a:r>
              <a:rPr lang="en-US" sz="2000" dirty="0">
                <a:effectLst/>
                <a:ea typeface="Calibri" panose="020F0502020204030204" pitchFamily="34" charset="0"/>
              </a:rPr>
              <a:t>degrees</a:t>
            </a:r>
          </a:p>
          <a:p>
            <a:pPr marL="342900" indent="-342900">
              <a:lnSpc>
                <a:spcPct val="150000"/>
              </a:lnSpc>
              <a:buFont typeface="Wingdings" panose="05000000000000000000" pitchFamily="2" charset="2"/>
              <a:buChar char="ü"/>
            </a:pPr>
            <a:r>
              <a:rPr lang="en-US" sz="2000" dirty="0">
                <a:effectLst/>
                <a:ea typeface="Calibri" panose="020F0502020204030204" pitchFamily="34" charset="0"/>
              </a:rPr>
              <a:t>The</a:t>
            </a:r>
            <a:r>
              <a:rPr lang="en-US" sz="2000" spc="20" dirty="0">
                <a:effectLst/>
                <a:ea typeface="Calibri" panose="020F0502020204030204" pitchFamily="34" charset="0"/>
              </a:rPr>
              <a:t> </a:t>
            </a:r>
            <a:r>
              <a:rPr lang="en-US" sz="2000" dirty="0">
                <a:effectLst/>
                <a:ea typeface="Calibri" panose="020F0502020204030204" pitchFamily="34" charset="0"/>
              </a:rPr>
              <a:t>designer must</a:t>
            </a:r>
            <a:r>
              <a:rPr lang="en-US" sz="2000" spc="10" dirty="0">
                <a:effectLst/>
                <a:ea typeface="Calibri" panose="020F0502020204030204" pitchFamily="34" charset="0"/>
              </a:rPr>
              <a:t> </a:t>
            </a:r>
            <a:r>
              <a:rPr lang="en-US" sz="2000" dirty="0">
                <a:effectLst/>
                <a:ea typeface="Calibri" panose="020F0502020204030204" pitchFamily="34" charset="0"/>
              </a:rPr>
              <a:t>base</a:t>
            </a:r>
            <a:r>
              <a:rPr lang="en-US" sz="2000" spc="25" dirty="0">
                <a:effectLst/>
                <a:ea typeface="Calibri" panose="020F0502020204030204" pitchFamily="34" charset="0"/>
              </a:rPr>
              <a:t> </a:t>
            </a:r>
            <a:r>
              <a:rPr lang="en-US" sz="2000" dirty="0">
                <a:effectLst/>
                <a:ea typeface="Calibri" panose="020F0502020204030204" pitchFamily="34" charset="0"/>
              </a:rPr>
              <a:t>this</a:t>
            </a:r>
            <a:r>
              <a:rPr lang="en-US" sz="2000" spc="-5" dirty="0">
                <a:effectLst/>
                <a:ea typeface="Calibri" panose="020F0502020204030204" pitchFamily="34" charset="0"/>
              </a:rPr>
              <a:t> </a:t>
            </a:r>
            <a:r>
              <a:rPr lang="en-US" sz="2000" dirty="0">
                <a:effectLst/>
                <a:ea typeface="Calibri" panose="020F0502020204030204" pitchFamily="34" charset="0"/>
              </a:rPr>
              <a:t>decision</a:t>
            </a:r>
            <a:r>
              <a:rPr lang="en-US" sz="2000" spc="15" dirty="0">
                <a:effectLst/>
                <a:ea typeface="Calibri" panose="020F0502020204030204" pitchFamily="34" charset="0"/>
              </a:rPr>
              <a:t> </a:t>
            </a:r>
            <a:r>
              <a:rPr lang="en-US" sz="2000" dirty="0">
                <a:effectLst/>
                <a:ea typeface="Calibri" panose="020F0502020204030204" pitchFamily="34" charset="0"/>
              </a:rPr>
              <a:t>on</a:t>
            </a:r>
            <a:r>
              <a:rPr lang="en-US" sz="2000" spc="20" dirty="0">
                <a:effectLst/>
                <a:ea typeface="Calibri" panose="020F0502020204030204" pitchFamily="34" charset="0"/>
              </a:rPr>
              <a:t> </a:t>
            </a:r>
            <a:r>
              <a:rPr lang="en-US" sz="2000" dirty="0">
                <a:effectLst/>
                <a:ea typeface="Calibri" panose="020F0502020204030204" pitchFamily="34" charset="0"/>
              </a:rPr>
              <a:t>the</a:t>
            </a:r>
            <a:r>
              <a:rPr lang="en-US" sz="2000" spc="25" dirty="0">
                <a:effectLst/>
                <a:ea typeface="Calibri" panose="020F0502020204030204" pitchFamily="34" charset="0"/>
              </a:rPr>
              <a:t> </a:t>
            </a:r>
            <a:r>
              <a:rPr lang="en-US" sz="2000" dirty="0">
                <a:effectLst/>
                <a:ea typeface="Calibri" panose="020F0502020204030204" pitchFamily="34" charset="0"/>
              </a:rPr>
              <a:t>semantics</a:t>
            </a:r>
            <a:r>
              <a:rPr lang="en-US" sz="2000" spc="20" dirty="0">
                <a:effectLst/>
                <a:ea typeface="Calibri" panose="020F0502020204030204" pitchFamily="34" charset="0"/>
              </a:rPr>
              <a:t> </a:t>
            </a:r>
            <a:r>
              <a:rPr lang="en-US" sz="2000" dirty="0">
                <a:effectLst/>
                <a:ea typeface="Calibri" panose="020F0502020204030204" pitchFamily="34" charset="0"/>
              </a:rPr>
              <a:t>or</a:t>
            </a:r>
            <a:r>
              <a:rPr lang="en-US" sz="2000" spc="15" dirty="0">
                <a:effectLst/>
                <a:ea typeface="Calibri" panose="020F0502020204030204" pitchFamily="34" charset="0"/>
              </a:rPr>
              <a:t> </a:t>
            </a:r>
            <a:r>
              <a:rPr lang="en-US" sz="2000" dirty="0">
                <a:effectLst/>
                <a:ea typeface="Calibri" panose="020F0502020204030204" pitchFamily="34" charset="0"/>
              </a:rPr>
              <a:t>meaning</a:t>
            </a:r>
            <a:r>
              <a:rPr lang="en-US" sz="2000" spc="30" dirty="0">
                <a:effectLst/>
                <a:ea typeface="Calibri" panose="020F0502020204030204" pitchFamily="34" charset="0"/>
              </a:rPr>
              <a:t> </a:t>
            </a:r>
            <a:r>
              <a:rPr lang="en-US" sz="2000" dirty="0">
                <a:effectLst/>
                <a:ea typeface="Calibri" panose="020F0502020204030204" pitchFamily="34" charset="0"/>
              </a:rPr>
              <a:t>of</a:t>
            </a:r>
            <a:r>
              <a:rPr lang="en-US" sz="2000" spc="20" dirty="0">
                <a:effectLst/>
                <a:ea typeface="Calibri" panose="020F0502020204030204" pitchFamily="34" charset="0"/>
              </a:rPr>
              <a:t> </a:t>
            </a:r>
            <a:r>
              <a:rPr lang="en-US" sz="2000" dirty="0">
                <a:effectLst/>
                <a:ea typeface="Calibri" panose="020F0502020204030204" pitchFamily="34" charset="0"/>
              </a:rPr>
              <a:t>the</a:t>
            </a:r>
            <a:r>
              <a:rPr lang="en-US" sz="2000" spc="25" dirty="0">
                <a:effectLst/>
                <a:ea typeface="Calibri" panose="020F0502020204030204" pitchFamily="34" charset="0"/>
              </a:rPr>
              <a:t> </a:t>
            </a:r>
            <a:r>
              <a:rPr lang="en-US" sz="2000" dirty="0">
                <a:effectLst/>
                <a:ea typeface="Calibri" panose="020F0502020204030204" pitchFamily="34" charset="0"/>
              </a:rPr>
              <a:t>particular</a:t>
            </a:r>
            <a:r>
              <a:rPr lang="en-US" sz="2000" spc="-5" dirty="0">
                <a:effectLst/>
                <a:ea typeface="Calibri" panose="020F0502020204030204" pitchFamily="34" charset="0"/>
              </a:rPr>
              <a:t> </a:t>
            </a:r>
            <a:r>
              <a:rPr lang="en-US" sz="2000" dirty="0">
                <a:effectLst/>
                <a:ea typeface="Calibri" panose="020F0502020204030204" pitchFamily="34" charset="0"/>
              </a:rPr>
              <a:t>situation</a:t>
            </a:r>
            <a:r>
              <a:rPr lang="en-US" sz="2000" spc="10" dirty="0">
                <a:effectLst/>
                <a:ea typeface="Calibri" panose="020F0502020204030204" pitchFamily="34" charset="0"/>
              </a:rPr>
              <a:t> </a:t>
            </a:r>
            <a:r>
              <a:rPr lang="en-US" sz="2000" dirty="0">
                <a:effectLst/>
                <a:ea typeface="Calibri" panose="020F0502020204030204" pitchFamily="34" charset="0"/>
              </a:rPr>
              <a:t>being</a:t>
            </a:r>
            <a:r>
              <a:rPr lang="en-US" sz="2000" spc="30" dirty="0">
                <a:effectLst/>
                <a:ea typeface="Calibri" panose="020F0502020204030204" pitchFamily="34" charset="0"/>
              </a:rPr>
              <a:t> </a:t>
            </a:r>
            <a:r>
              <a:rPr lang="en-US" sz="2000" dirty="0">
                <a:effectLst/>
                <a:ea typeface="Calibri" panose="020F0502020204030204" pitchFamily="34" charset="0"/>
              </a:rPr>
              <a:t>represented</a:t>
            </a:r>
            <a:endParaRPr lang="en-US" sz="2000" dirty="0"/>
          </a:p>
        </p:txBody>
      </p:sp>
    </p:spTree>
    <p:extLst>
      <p:ext uri="{BB962C8B-B14F-4D97-AF65-F5344CB8AC3E}">
        <p14:creationId xmlns:p14="http://schemas.microsoft.com/office/powerpoint/2010/main" val="8546113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2954BA-E7E9-1AEC-5C14-2DEBED7154EE}"/>
              </a:ext>
            </a:extLst>
          </p:cNvPr>
          <p:cNvSpPr txBox="1"/>
          <p:nvPr/>
        </p:nvSpPr>
        <p:spPr>
          <a:xfrm>
            <a:off x="309966" y="402956"/>
            <a:ext cx="11654726" cy="2352952"/>
          </a:xfrm>
          <a:prstGeom prst="rect">
            <a:avLst/>
          </a:prstGeom>
          <a:noFill/>
        </p:spPr>
        <p:txBody>
          <a:bodyPr wrap="square" rtlCol="0">
            <a:spAutoFit/>
          </a:bodyPr>
          <a:lstStyle/>
          <a:p>
            <a:pPr algn="just">
              <a:lnSpc>
                <a:spcPct val="150000"/>
              </a:lnSpc>
            </a:pPr>
            <a:r>
              <a:rPr lang="en-US" sz="2000" b="0" i="0" u="none" strike="noStrike" baseline="0" dirty="0"/>
              <a:t>Some database design tools are based on variations of the ER model that permit only binary relationships. </a:t>
            </a:r>
          </a:p>
          <a:p>
            <a:pPr algn="just">
              <a:lnSpc>
                <a:spcPct val="150000"/>
              </a:lnSpc>
            </a:pPr>
            <a:r>
              <a:rPr lang="en-US" sz="2000" b="0" i="0" u="none" strike="noStrike" baseline="0" dirty="0"/>
              <a:t>In this case, a ternary relationship such as SUPPLY must be represented as a weak entity type, with no partial key and with three identifying relationships. The three participating entity types SUPPLIER, PART, and PROJECT</a:t>
            </a:r>
          </a:p>
          <a:p>
            <a:pPr algn="just">
              <a:lnSpc>
                <a:spcPct val="150000"/>
              </a:lnSpc>
            </a:pPr>
            <a:r>
              <a:rPr lang="en-US" sz="2000" b="0" i="0" u="none" strike="noStrike" baseline="0" dirty="0"/>
              <a:t>are together the owner entity types (see Figure (c)). Hence, an entity in the weak entity type SUPPLY in Figure (c) is identified by the combination of its three owner entities from SUPPLIER, PART, and PROJECT.</a:t>
            </a:r>
            <a:endParaRPr lang="en-US" sz="2000" dirty="0"/>
          </a:p>
        </p:txBody>
      </p:sp>
    </p:spTree>
    <p:extLst>
      <p:ext uri="{BB962C8B-B14F-4D97-AF65-F5344CB8AC3E}">
        <p14:creationId xmlns:p14="http://schemas.microsoft.com/office/powerpoint/2010/main" val="9493474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2F40B000-EA0F-45D9-1CBE-A3040CBEBDF2}"/>
              </a:ext>
            </a:extLst>
          </p:cNvPr>
          <p:cNvGraphicFramePr/>
          <p:nvPr/>
        </p:nvGraphicFramePr>
        <p:xfrm>
          <a:off x="402956" y="356461"/>
          <a:ext cx="4479010" cy="3693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9F528047-4C27-7F56-ABF3-F3522E15238A}"/>
              </a:ext>
            </a:extLst>
          </p:cNvPr>
          <p:cNvPicPr>
            <a:picLocks noChangeAspect="1"/>
          </p:cNvPicPr>
          <p:nvPr/>
        </p:nvPicPr>
        <p:blipFill>
          <a:blip r:embed="rId7"/>
          <a:stretch>
            <a:fillRect/>
          </a:stretch>
        </p:blipFill>
        <p:spPr>
          <a:xfrm>
            <a:off x="3882325" y="0"/>
            <a:ext cx="6907818" cy="6858001"/>
          </a:xfrm>
          <a:prstGeom prst="rect">
            <a:avLst/>
          </a:prstGeom>
        </p:spPr>
      </p:pic>
    </p:spTree>
    <p:extLst>
      <p:ext uri="{BB962C8B-B14F-4D97-AF65-F5344CB8AC3E}">
        <p14:creationId xmlns:p14="http://schemas.microsoft.com/office/powerpoint/2010/main" val="23562066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D7E9F87A-F738-52CD-07DD-1CFBF1933615}"/>
              </a:ext>
            </a:extLst>
          </p:cNvPr>
          <p:cNvGraphicFramePr/>
          <p:nvPr/>
        </p:nvGraphicFramePr>
        <p:xfrm>
          <a:off x="309966" y="263471"/>
          <a:ext cx="3890075" cy="6463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28542416-C29F-73AC-BC2C-C9F2A55F1C21}"/>
              </a:ext>
            </a:extLst>
          </p:cNvPr>
          <p:cNvPicPr>
            <a:picLocks noChangeAspect="1"/>
          </p:cNvPicPr>
          <p:nvPr/>
        </p:nvPicPr>
        <p:blipFill>
          <a:blip r:embed="rId7"/>
          <a:stretch>
            <a:fillRect/>
          </a:stretch>
        </p:blipFill>
        <p:spPr>
          <a:xfrm>
            <a:off x="4372458" y="67780"/>
            <a:ext cx="6894809" cy="6722439"/>
          </a:xfrm>
          <a:prstGeom prst="rect">
            <a:avLst/>
          </a:prstGeom>
        </p:spPr>
      </p:pic>
    </p:spTree>
    <p:extLst>
      <p:ext uri="{BB962C8B-B14F-4D97-AF65-F5344CB8AC3E}">
        <p14:creationId xmlns:p14="http://schemas.microsoft.com/office/powerpoint/2010/main" val="8610698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2B733F8A-C7D3-5F62-A3FE-B20EBA880F39}"/>
              </a:ext>
            </a:extLst>
          </p:cNvPr>
          <p:cNvGraphicFramePr/>
          <p:nvPr/>
        </p:nvGraphicFramePr>
        <p:xfrm>
          <a:off x="418454" y="294468"/>
          <a:ext cx="4014061" cy="6463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2FE248C9-F062-243D-368B-F02D1F1FEA3E}"/>
              </a:ext>
            </a:extLst>
          </p:cNvPr>
          <p:cNvPicPr>
            <a:picLocks noChangeAspect="1"/>
          </p:cNvPicPr>
          <p:nvPr/>
        </p:nvPicPr>
        <p:blipFill>
          <a:blip r:embed="rId7"/>
          <a:stretch>
            <a:fillRect/>
          </a:stretch>
        </p:blipFill>
        <p:spPr>
          <a:xfrm>
            <a:off x="4791640" y="0"/>
            <a:ext cx="7188550" cy="6814352"/>
          </a:xfrm>
          <a:prstGeom prst="rect">
            <a:avLst/>
          </a:prstGeom>
        </p:spPr>
      </p:pic>
    </p:spTree>
    <p:extLst>
      <p:ext uri="{BB962C8B-B14F-4D97-AF65-F5344CB8AC3E}">
        <p14:creationId xmlns:p14="http://schemas.microsoft.com/office/powerpoint/2010/main" val="69625360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13393</TotalTime>
  <Words>8711</Words>
  <Application>Microsoft Office PowerPoint</Application>
  <PresentationFormat>Widescreen</PresentationFormat>
  <Paragraphs>528</Paragraphs>
  <Slides>72</Slides>
  <Notes>0</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72</vt:i4>
      </vt:variant>
    </vt:vector>
  </HeadingPairs>
  <TitlesOfParts>
    <vt:vector size="90" baseType="lpstr">
      <vt:lpstr>AkzidenzGroteskBE-Bold</vt:lpstr>
      <vt:lpstr>AkzidenzGroteskBE-Regular</vt:lpstr>
      <vt:lpstr>Arial</vt:lpstr>
      <vt:lpstr>Calibri</vt:lpstr>
      <vt:lpstr>Calibri Light</vt:lpstr>
      <vt:lpstr>CIDFont+F1</vt:lpstr>
      <vt:lpstr>CIDFont+F2</vt:lpstr>
      <vt:lpstr>ff1</vt:lpstr>
      <vt:lpstr>ff2</vt:lpstr>
      <vt:lpstr>ff4</vt:lpstr>
      <vt:lpstr>ffb</vt:lpstr>
      <vt:lpstr>MinionPro-Bold</vt:lpstr>
      <vt:lpstr>MinionPro-It</vt:lpstr>
      <vt:lpstr>MinionPro-Regular</vt:lpstr>
      <vt:lpstr>Times New Roman</vt:lpstr>
      <vt:lpstr>unset</vt:lpstr>
      <vt:lpstr>Wingdings</vt:lpstr>
      <vt:lpstr>Retrospect</vt:lpstr>
      <vt:lpstr>Database Management System</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Sharan Noola</dc:creator>
  <cp:lastModifiedBy>HP</cp:lastModifiedBy>
  <cp:revision>154</cp:revision>
  <dcterms:created xsi:type="dcterms:W3CDTF">2025-04-02T10:21:05Z</dcterms:created>
  <dcterms:modified xsi:type="dcterms:W3CDTF">2026-03-28T06:51:03Z</dcterms:modified>
</cp:coreProperties>
</file>